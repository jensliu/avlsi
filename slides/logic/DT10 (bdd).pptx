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>
  <p:sldMasterIdLst>
    <p:sldMasterId id="2147483650" r:id="rId1"/>
  </p:sldMasterIdLst>
  <p:notesMasterIdLst>
    <p:notesMasterId r:id="rId53"/>
  </p:notesMasterIdLst>
  <p:handoutMasterIdLst>
    <p:handoutMasterId r:id="rId54"/>
  </p:handoutMasterIdLst>
  <p:sldIdLst>
    <p:sldId id="862" r:id="rId2"/>
    <p:sldId id="856" r:id="rId3"/>
    <p:sldId id="867" r:id="rId4"/>
    <p:sldId id="876" r:id="rId5"/>
    <p:sldId id="869" r:id="rId6"/>
    <p:sldId id="809" r:id="rId7"/>
    <p:sldId id="810" r:id="rId8"/>
    <p:sldId id="811" r:id="rId9"/>
    <p:sldId id="812" r:id="rId10"/>
    <p:sldId id="813" r:id="rId11"/>
    <p:sldId id="814" r:id="rId12"/>
    <p:sldId id="815" r:id="rId13"/>
    <p:sldId id="816" r:id="rId14"/>
    <p:sldId id="817" r:id="rId15"/>
    <p:sldId id="818" r:id="rId16"/>
    <p:sldId id="820" r:id="rId17"/>
    <p:sldId id="819" r:id="rId18"/>
    <p:sldId id="821" r:id="rId19"/>
    <p:sldId id="822" r:id="rId20"/>
    <p:sldId id="825" r:id="rId21"/>
    <p:sldId id="824" r:id="rId22"/>
    <p:sldId id="871" r:id="rId23"/>
    <p:sldId id="870" r:id="rId24"/>
    <p:sldId id="852" r:id="rId25"/>
    <p:sldId id="863" r:id="rId26"/>
    <p:sldId id="872" r:id="rId27"/>
    <p:sldId id="873" r:id="rId28"/>
    <p:sldId id="829" r:id="rId29"/>
    <p:sldId id="830" r:id="rId30"/>
    <p:sldId id="831" r:id="rId31"/>
    <p:sldId id="864" r:id="rId32"/>
    <p:sldId id="832" r:id="rId33"/>
    <p:sldId id="835" r:id="rId34"/>
    <p:sldId id="865" r:id="rId35"/>
    <p:sldId id="808" r:id="rId36"/>
    <p:sldId id="836" r:id="rId37"/>
    <p:sldId id="837" r:id="rId38"/>
    <p:sldId id="838" r:id="rId39"/>
    <p:sldId id="839" r:id="rId40"/>
    <p:sldId id="840" r:id="rId41"/>
    <p:sldId id="841" r:id="rId42"/>
    <p:sldId id="842" r:id="rId43"/>
    <p:sldId id="843" r:id="rId44"/>
    <p:sldId id="844" r:id="rId45"/>
    <p:sldId id="845" r:id="rId46"/>
    <p:sldId id="846" r:id="rId47"/>
    <p:sldId id="858" r:id="rId48"/>
    <p:sldId id="868" r:id="rId49"/>
    <p:sldId id="874" r:id="rId50"/>
    <p:sldId id="875" r:id="rId51"/>
    <p:sldId id="857" r:id="rId52"/>
  </p:sldIdLst>
  <p:sldSz cx="9144000" cy="6858000" type="screen4x3"/>
  <p:notesSz cx="9163050" cy="6877050"/>
  <p:embeddedFontLst>
    <p:embeddedFont>
      <p:font typeface="ＭＳ Ｐゴシック" panose="020B0600070205080204" pitchFamily="34" charset="-128"/>
      <p:regular r:id="rId55"/>
    </p:embeddedFont>
    <p:embeddedFont>
      <p:font typeface="Arial Narrow" panose="020B0606020202030204" pitchFamily="34" charset="0"/>
      <p:regular r:id="rId56"/>
      <p:bold r:id="rId57"/>
      <p:italic r:id="rId58"/>
      <p:boldItalic r:id="rId59"/>
    </p:embeddedFont>
    <p:embeddedFont>
      <p:font typeface="Cambria Math" panose="02040503050406030204" pitchFamily="18" charset="0"/>
      <p:regular r:id="rId60"/>
    </p:embeddedFont>
    <p:embeddedFont>
      <p:font typeface="Monotype Sorts" panose="01010601010101010101" pitchFamily="2" charset="2"/>
      <p:regular r:id="rId61"/>
    </p:embeddedFont>
    <p:embeddedFont>
      <p:font typeface="Verdana" panose="020B0604030504040204" pitchFamily="34" charset="0"/>
      <p:regular r:id="rId62"/>
      <p:bold r:id="rId63"/>
      <p:italic r:id="rId64"/>
      <p:boldItalic r:id="rId65"/>
    </p:embeddedFont>
  </p:embeddedFontLst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charset="0"/>
        <a:ea typeface="ＭＳ Ｐゴシック" charset="0"/>
        <a:cs typeface="ＭＳ Ｐゴシック" charset="0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charset="0"/>
        <a:ea typeface="ＭＳ Ｐゴシック" charset="0"/>
        <a:cs typeface="ＭＳ Ｐゴシック" charset="0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charset="0"/>
        <a:ea typeface="ＭＳ Ｐゴシック" charset="0"/>
        <a:cs typeface="ＭＳ Ｐゴシック" charset="0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charset="0"/>
        <a:ea typeface="ＭＳ Ｐゴシック" charset="0"/>
        <a:cs typeface="ＭＳ Ｐゴシック" charset="0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b="1" kern="1200">
        <a:solidFill>
          <a:schemeClr val="tx1"/>
        </a:solidFill>
        <a:latin typeface="Arial Narrow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b="1" kern="1200">
        <a:solidFill>
          <a:schemeClr val="tx1"/>
        </a:solidFill>
        <a:latin typeface="Arial Narrow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b="1" kern="1200">
        <a:solidFill>
          <a:schemeClr val="tx1"/>
        </a:solidFill>
        <a:latin typeface="Arial Narrow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b="1" kern="1200">
        <a:solidFill>
          <a:schemeClr val="tx1"/>
        </a:solidFill>
        <a:latin typeface="Arial Narrow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569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6">
          <p15:clr>
            <a:srgbClr val="A4A3A4"/>
          </p15:clr>
        </p15:guide>
        <p15:guide id="2" pos="288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4" clrMode="bw" frameSlides="1"/>
  <p:clrMru>
    <a:srgbClr val="800000"/>
    <a:srgbClr val="32329A"/>
    <a:srgbClr val="FFCCCC"/>
    <a:srgbClr val="FFFFCC"/>
    <a:srgbClr val="CC6600"/>
    <a:srgbClr val="006600"/>
    <a:srgbClr val="FFFFFF"/>
    <a:srgbClr val="FF6600"/>
    <a:srgbClr val="99CCFF"/>
    <a:srgbClr val="00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0557"/>
    <p:restoredTop sz="77578" autoAdjust="0"/>
  </p:normalViewPr>
  <p:slideViewPr>
    <p:cSldViewPr snapToGrid="0">
      <p:cViewPr varScale="1">
        <p:scale>
          <a:sx n="80" d="100"/>
          <a:sy n="80" d="100"/>
        </p:scale>
        <p:origin x="2848" y="184"/>
      </p:cViewPr>
      <p:guideLst>
        <p:guide orient="horz"/>
        <p:guide pos="56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>
        <p:scale>
          <a:sx n="150" d="100"/>
          <a:sy n="150" d="100"/>
        </p:scale>
        <p:origin x="-72" y="5358"/>
      </p:cViewPr>
      <p:guideLst>
        <p:guide orient="horz" pos="2166"/>
        <p:guide pos="288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9.fntdata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font" Target="fonts/font4.fntdata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font" Target="fonts/font7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2.fntdata"/><Relationship Id="rId64" Type="http://schemas.openxmlformats.org/officeDocument/2006/relationships/font" Target="fonts/font10.fntdata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5.fntdata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62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6.fntdata"/><Relationship Id="rId65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font" Target="fonts/font1.fntdata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6500013" y="6327792"/>
            <a:ext cx="1910026" cy="255127"/>
          </a:xfrm>
          <a:prstGeom prst="rect">
            <a:avLst/>
          </a:prstGeom>
          <a:noFill/>
          <a:ln w="25400">
            <a:noFill/>
            <a:miter lim="800000"/>
            <a:headEnd type="none" w="sm" len="sm"/>
            <a:tailEnd type="none" w="sm" len="sm"/>
          </a:ln>
          <a:effectLst/>
        </p:spPr>
        <p:txBody>
          <a:bodyPr lIns="100261" tIns="50130" rIns="100261" bIns="50130">
            <a:spAutoFit/>
          </a:bodyPr>
          <a:lstStyle>
            <a:lvl1pPr defTabSz="1001713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1pPr>
            <a:lvl2pPr marL="742950" indent="-285750" defTabSz="1001713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 defTabSz="1001713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 defTabSz="1001713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 defTabSz="1001713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defTabSz="1001713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defTabSz="1001713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defTabSz="1001713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defTabSz="1001713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>
                <a:solidFill>
                  <a:schemeClr val="tx2"/>
                </a:solidFill>
                <a:cs typeface="+mn-cs"/>
              </a:rPr>
              <a:t>Page </a:t>
            </a:r>
            <a:fld id="{413A175D-5A4A-1F46-AE2A-186D123F964E}" type="slidenum">
              <a:rPr lang="en-US" sz="1000" smtClean="0">
                <a:solidFill>
                  <a:schemeClr val="tx2"/>
                </a:solidFill>
                <a:cs typeface="+mn-cs"/>
              </a:rPr>
              <a:pPr>
                <a:spcBef>
                  <a:spcPct val="50000"/>
                </a:spcBef>
                <a:defRPr/>
              </a:pPr>
              <a:t>‹#›</a:t>
            </a:fld>
            <a:endParaRPr lang="en-US" sz="1000">
              <a:solidFill>
                <a:schemeClr val="tx2"/>
              </a:solidFill>
              <a:cs typeface="+mn-cs"/>
            </a:endParaRPr>
          </a:p>
        </p:txBody>
      </p:sp>
      <p:sp>
        <p:nvSpPr>
          <p:cNvPr id="13315" name="Text Box 8"/>
          <p:cNvSpPr txBox="1">
            <a:spLocks noChangeArrowheads="1"/>
          </p:cNvSpPr>
          <p:nvPr/>
        </p:nvSpPr>
        <p:spPr bwMode="auto">
          <a:xfrm>
            <a:off x="8108145" y="238290"/>
            <a:ext cx="202480" cy="255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100261" tIns="50130" rIns="100261" bIns="50130">
            <a:spAutoFit/>
          </a:bodyPr>
          <a:lstStyle>
            <a:lvl1pPr defTabSz="1001713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 defTabSz="1001713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 defTabSz="1001713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 defTabSz="1001713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 defTabSz="1001713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defTabSz="1001713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defTabSz="1001713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defTabSz="1001713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defTabSz="1001713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pPr algn="r"/>
            <a:endParaRPr lang="en-US" sz="10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76037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-50765" y="-23828"/>
            <a:ext cx="4029458" cy="34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732" tIns="0" rIns="18732" bIns="0" numCol="1" anchor="t" anchorCtr="0" compatLnSpc="1">
            <a:prstTxWarp prst="textNoShape">
              <a:avLst/>
            </a:prstTxWarp>
          </a:bodyPr>
          <a:lstStyle>
            <a:lvl1pPr algn="l" defTabSz="898525">
              <a:defRPr sz="1000" b="0" i="1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184359" y="-23828"/>
            <a:ext cx="3927927" cy="34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732" tIns="0" rIns="18732" bIns="0" numCol="1" anchor="t" anchorCtr="0" compatLnSpc="1">
            <a:prstTxWarp prst="textNoShape">
              <a:avLst/>
            </a:prstTxWarp>
          </a:bodyPr>
          <a:lstStyle>
            <a:lvl1pPr algn="r" defTabSz="898525">
              <a:defRPr sz="1000" b="0" i="1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70200" y="508000"/>
            <a:ext cx="3425825" cy="2570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60660" y="3265765"/>
            <a:ext cx="6641731" cy="31156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537" tIns="45269" rIns="90537" bIns="4526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-50765" y="6554167"/>
            <a:ext cx="4029458" cy="34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732" tIns="0" rIns="18732" bIns="0" numCol="1" anchor="b" anchorCtr="0" compatLnSpc="1">
            <a:prstTxWarp prst="textNoShape">
              <a:avLst/>
            </a:prstTxWarp>
          </a:bodyPr>
          <a:lstStyle>
            <a:lvl1pPr algn="l" defTabSz="898525">
              <a:defRPr sz="1000" b="0" i="1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Page </a:t>
            </a: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4359" y="6554167"/>
            <a:ext cx="3927927" cy="34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732" tIns="0" rIns="18732" bIns="0" numCol="1" anchor="b" anchorCtr="0" compatLnSpc="1">
            <a:prstTxWarp prst="textNoShape">
              <a:avLst/>
            </a:prstTxWarp>
          </a:bodyPr>
          <a:lstStyle>
            <a:lvl1pPr algn="r" defTabSz="898525">
              <a:defRPr sz="1000" b="0" i="1" smtClean="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4EF7F234-2C00-3045-B6BE-60ED395AB4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6725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itchFamily="1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itchFamily="1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itchFamily="1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itchFamily="1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itchFamily="1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ECEFA140-AC45-F847-8DBE-A9DD375E6324}" type="slidenum">
              <a:rPr lang="en-US" sz="1000" b="0">
                <a:latin typeface="Arial" charset="0"/>
              </a:rPr>
              <a:pPr/>
              <a:t>1</a:t>
            </a:fld>
            <a:endParaRPr lang="en-US" sz="1000" b="0">
              <a:latin typeface="Arial" charset="0"/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 Narrow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431C84E3-E8BA-0145-99CA-74437B671041}" type="slidenum">
              <a:rPr lang="en-US" sz="1000" b="0">
                <a:latin typeface="Arial" charset="0"/>
              </a:rPr>
              <a:pPr/>
              <a:t>2</a:t>
            </a:fld>
            <a:endParaRPr lang="en-US" sz="1000" b="0">
              <a:latin typeface="Arial" charset="0"/>
            </a:endParaRPr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 Narrow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4FCBC7FA-532D-9540-B83D-D03C65F80790}" type="slidenum">
              <a:rPr lang="en-US" sz="1000" b="0">
                <a:latin typeface="Arial" charset="0"/>
              </a:rPr>
              <a:pPr/>
              <a:t>6</a:t>
            </a:fld>
            <a:endParaRPr lang="en-US" sz="1000" b="0">
              <a:latin typeface="Arial" charset="0"/>
            </a:endParaRPr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Arial Narrow" charset="0"/>
              </a:rPr>
              <a:t>Binary decision diagrams (or BDDs) were proposed by Lee and later by Akers to represent scalar Boolean functions.</a:t>
            </a:r>
          </a:p>
          <a:p>
            <a:r>
              <a:rPr lang="en-US">
                <a:latin typeface="Arial Narrow" charset="0"/>
              </a:rPr>
              <a:t>Many variations on this theme have been proposed.</a:t>
            </a:r>
          </a:p>
          <a:p>
            <a:r>
              <a:rPr lang="en-US">
                <a:latin typeface="Arial Narrow" charset="0"/>
              </a:rPr>
              <a:t>In Aker's model, the decisions are the evaluation of a variable.</a:t>
            </a:r>
          </a:p>
          <a:p>
            <a:r>
              <a:rPr lang="en-US">
                <a:latin typeface="Arial Narrow" charset="0"/>
              </a:rPr>
              <a:t>Bryant showed that efficient algorithms can manipulate decision diagrams under a mild assumption on the ordering of the decision variables. </a:t>
            </a:r>
          </a:p>
          <a:p>
            <a:r>
              <a:rPr lang="en-US">
                <a:latin typeface="Arial Narrow" charset="0"/>
              </a:rPr>
              <a:t>For this reason, Bryant's diagrams are called ordered binary decision diagrams or OBDDs.</a:t>
            </a:r>
          </a:p>
          <a:p>
            <a:r>
              <a:rPr lang="en-US">
                <a:latin typeface="Arial Narrow" charset="0"/>
              </a:rPr>
              <a:t>Moreover, these diagrams are canonical when reduced, i,e., for reduced ordered binary decision diagrams or ROBDDs</a:t>
            </a:r>
          </a:p>
          <a:p>
            <a:endParaRPr lang="en-US">
              <a:latin typeface="Arial Narrow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6C403FDA-C296-CC40-9962-6FB0AE8094F5}" type="slidenum">
              <a:rPr lang="en-US" sz="1000" b="0">
                <a:latin typeface="Arial" charset="0"/>
              </a:rPr>
              <a:pPr/>
              <a:t>7</a:t>
            </a:fld>
            <a:endParaRPr lang="en-US" sz="1000" b="0">
              <a:latin typeface="Arial" charset="0"/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Arial Narrow" charset="0"/>
              </a:rPr>
              <a:t>There are a few canonical representations of logic functions, such as</a:t>
            </a:r>
          </a:p>
          <a:p>
            <a:pPr>
              <a:buFontTx/>
              <a:buChar char="-"/>
            </a:pPr>
            <a:r>
              <a:rPr lang="en-US">
                <a:latin typeface="Arial Narrow" charset="0"/>
              </a:rPr>
              <a:t>Truth tables (exponential size)</a:t>
            </a:r>
          </a:p>
          <a:p>
            <a:pPr>
              <a:buFontTx/>
              <a:buChar char="-"/>
            </a:pPr>
            <a:r>
              <a:rPr lang="en-US">
                <a:latin typeface="Arial Narrow" charset="0"/>
              </a:rPr>
              <a:t>Sum of product of minterms</a:t>
            </a:r>
          </a:p>
          <a:p>
            <a:r>
              <a:rPr lang="en-US">
                <a:latin typeface="Arial Narrow" charset="0"/>
              </a:rPr>
              <a:t>Note that sum of product representations are NOT canonical.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9E8F2D6F-3156-914A-81D3-DC6478ACF035}" type="slidenum">
              <a:rPr lang="en-US" sz="1000" b="0">
                <a:latin typeface="Arial" charset="0"/>
              </a:rPr>
              <a:pPr/>
              <a:t>8</a:t>
            </a:fld>
            <a:endParaRPr lang="en-US" sz="1000" b="0">
              <a:latin typeface="Arial" charset="0"/>
            </a:endParaRPr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Arial Narrow" charset="0"/>
              </a:rPr>
              <a:t>Examples of non canonical representation include factored forms and logic networks.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9BE62650-8194-A743-AF19-DB448CB8405B}" type="slidenum">
              <a:rPr lang="en-US" sz="1000" b="0">
                <a:latin typeface="Arial" charset="0"/>
              </a:rPr>
              <a:pPr/>
              <a:t>9</a:t>
            </a:fld>
            <a:endParaRPr lang="en-US" sz="1000" b="0">
              <a:latin typeface="Arial" charset="0"/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Arial Narrow" charset="0"/>
              </a:rPr>
              <a:t>A binary decision diagram represents a set of binary-valued decisions, culminating in an overall decision that can be either true or false.</a:t>
            </a:r>
          </a:p>
          <a:p>
            <a:r>
              <a:rPr lang="en-US">
                <a:latin typeface="Arial Narrow" charset="0"/>
              </a:rPr>
              <a:t>Decision diagrams can be represented by trees or rooted dags, where decisions are associated with vertices.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B6AAEE14-F57C-EA46-8808-8FF4FB9CB2DD}" type="slidenum">
              <a:rPr lang="en-US" sz="1000" b="0">
                <a:latin typeface="Arial" charset="0"/>
              </a:rPr>
              <a:pPr/>
              <a:t>10</a:t>
            </a:fld>
            <a:endParaRPr lang="en-US" sz="1000" b="0">
              <a:latin typeface="Arial" charset="0"/>
            </a:endParaRPr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Arial Narrow" charset="0"/>
              </a:rPr>
              <a:t>This examples puts a truth table in correspondence with a BDD.</a:t>
            </a:r>
          </a:p>
          <a:p>
            <a:r>
              <a:rPr lang="en-US">
                <a:latin typeface="Arial Narrow" charset="0"/>
              </a:rPr>
              <a:t>Each line of the table corresponds to a leaf.</a:t>
            </a:r>
          </a:p>
          <a:p>
            <a:r>
              <a:rPr lang="en-US">
                <a:latin typeface="Arial Narrow" charset="0"/>
              </a:rPr>
              <a:t>The path from root to leaf determines the function.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2376AC83-9AB5-B144-A928-37AAE5E51BD6}" type="slidenum">
              <a:rPr lang="en-US" sz="1000" b="0">
                <a:latin typeface="Arial" charset="0"/>
              </a:rPr>
              <a:pPr/>
              <a:t>11</a:t>
            </a:fld>
            <a:endParaRPr lang="en-US" sz="1000" b="0">
              <a:latin typeface="Arial" charset="0"/>
            </a:endParaRPr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latin typeface="Arial Narrow" charset="0"/>
              </a:rPr>
              <a:t>For general BDDs  (also called free BDDs) there is no advantage over other forms.</a:t>
            </a:r>
          </a:p>
          <a:p>
            <a:r>
              <a:rPr lang="en-US" dirty="0">
                <a:latin typeface="Arial Narrow" charset="0"/>
              </a:rPr>
              <a:t>The size is still exponential in the input variable count.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7A6A3FA4-5283-E14A-924D-84061CDBF482}" type="slidenum">
              <a:rPr lang="en-US" sz="1000" b="0">
                <a:latin typeface="Arial" charset="0"/>
              </a:rPr>
              <a:pPr/>
              <a:t>12</a:t>
            </a:fld>
            <a:endParaRPr lang="en-US" sz="1000" b="0">
              <a:latin typeface="Arial" charset="0"/>
            </a:endParaRPr>
          </a:p>
        </p:txBody>
      </p:sp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Arial Narrow" charset="0"/>
              </a:rPr>
              <a:t>Bryant showed that efficient algorithms can manipulate decision diagrams under a mild assumption on the ordering of the decision variables. </a:t>
            </a:r>
          </a:p>
          <a:p>
            <a:r>
              <a:rPr lang="en-US">
                <a:latin typeface="Arial Narrow" charset="0"/>
              </a:rPr>
              <a:t>For this reason, Bryant's diagrams are called ordered binary decision diagrams or OBDDs.</a:t>
            </a:r>
          </a:p>
          <a:p>
            <a:endParaRPr lang="en-US">
              <a:latin typeface="Arial Narrow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776D178A-BE59-9C42-A44C-E69C4460155A}" type="slidenum">
              <a:rPr lang="en-US" sz="1000" b="0">
                <a:latin typeface="Arial" charset="0"/>
              </a:rPr>
              <a:pPr/>
              <a:t>13</a:t>
            </a:fld>
            <a:endParaRPr lang="en-US" sz="1000" b="0">
              <a:latin typeface="Arial" charset="0"/>
            </a:endParaRPr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Arial Narrow" charset="0"/>
              </a:rPr>
              <a:t>OBDDs have more practical applications than other types of decision diagrams.</a:t>
            </a:r>
          </a:p>
          <a:p>
            <a:r>
              <a:rPr lang="en-US">
                <a:latin typeface="Arial Narrow" charset="0"/>
              </a:rPr>
              <a:t>OBDDs can be transformed into canonical forms that uniquely characterize the function. </a:t>
            </a:r>
          </a:p>
          <a:p>
            <a:r>
              <a:rPr lang="en-US">
                <a:latin typeface="Arial Narrow" charset="0"/>
              </a:rPr>
              <a:t>This can be done by removing redundancy in the diagrams by two steps:</a:t>
            </a:r>
          </a:p>
          <a:p>
            <a:pPr>
              <a:buFontTx/>
              <a:buChar char="-"/>
            </a:pPr>
            <a:r>
              <a:rPr lang="en-US">
                <a:latin typeface="Arial Narrow" charset="0"/>
              </a:rPr>
              <a:t>Merging isomorphic subtrees</a:t>
            </a:r>
          </a:p>
          <a:p>
            <a:pPr>
              <a:buFontTx/>
              <a:buChar char="-"/>
            </a:pPr>
            <a:r>
              <a:rPr lang="en-US">
                <a:latin typeface="Arial Narrow" charset="0"/>
              </a:rPr>
              <a:t>Removing nodes with identical children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429567A5-1A52-2B4A-9629-E383B63C4A26}" type="slidenum">
              <a:rPr lang="en-US" sz="1000" b="0">
                <a:latin typeface="Arial" charset="0"/>
              </a:rPr>
              <a:pPr/>
              <a:t>14</a:t>
            </a:fld>
            <a:endParaRPr lang="en-US" sz="1000" b="0">
              <a:latin typeface="Arial" charset="0"/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Arial Narrow" charset="0"/>
              </a:rPr>
              <a:t>This example shows the first steps in reduction.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2CF9432C-7528-6141-945D-DFDA855804B9}" type="slidenum">
              <a:rPr lang="en-US" sz="1000" b="0">
                <a:latin typeface="Arial" charset="0"/>
              </a:rPr>
              <a:pPr/>
              <a:t>15</a:t>
            </a:fld>
            <a:endParaRPr lang="en-US" sz="1000" b="0">
              <a:latin typeface="Arial" charset="0"/>
            </a:endParaRPr>
          </a:p>
        </p:txBody>
      </p:sp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Arial Narrow" charset="0"/>
              </a:rPr>
              <a:t>This example shows the next steps to make a ROBDD.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82F39D55-1C9B-B84D-A797-E27A4AA64CFE}" type="slidenum">
              <a:rPr lang="en-US" sz="1000" b="0">
                <a:latin typeface="Arial" charset="0"/>
              </a:rPr>
              <a:pPr/>
              <a:t>16</a:t>
            </a:fld>
            <a:endParaRPr lang="en-US" sz="1000" b="0">
              <a:latin typeface="Arial" charset="0"/>
            </a:endParaRPr>
          </a:p>
        </p:txBody>
      </p:sp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Arial Narrow" charset="0"/>
              </a:rPr>
              <a:t>ROBDD are canonical form: this can be formally proved.</a:t>
            </a:r>
          </a:p>
          <a:p>
            <a:r>
              <a:rPr lang="en-US">
                <a:latin typeface="Arial Narrow" charset="0"/>
              </a:rPr>
              <a:t>They are usually very compact, and provide us with a very efficient representation of functions.</a:t>
            </a:r>
          </a:p>
          <a:p>
            <a:r>
              <a:rPr lang="en-US">
                <a:latin typeface="Arial Narrow" charset="0"/>
              </a:rPr>
              <a:t>Their size depends on the variable order: thus there are </a:t>
            </a:r>
            <a:r>
              <a:rPr lang="ja-JP" altLang="en-US">
                <a:latin typeface="Arial Narrow" charset="0"/>
              </a:rPr>
              <a:t>“</a:t>
            </a:r>
            <a:r>
              <a:rPr lang="en-US" altLang="ja-JP">
                <a:latin typeface="Arial Narrow" charset="0"/>
              </a:rPr>
              <a:t>good</a:t>
            </a:r>
            <a:r>
              <a:rPr lang="ja-JP" altLang="en-US">
                <a:latin typeface="Arial Narrow" charset="0"/>
              </a:rPr>
              <a:t>”</a:t>
            </a:r>
            <a:r>
              <a:rPr lang="en-US" altLang="ja-JP">
                <a:latin typeface="Arial Narrow" charset="0"/>
              </a:rPr>
              <a:t> and </a:t>
            </a:r>
            <a:r>
              <a:rPr lang="ja-JP" altLang="en-US">
                <a:latin typeface="Arial Narrow" charset="0"/>
              </a:rPr>
              <a:t>“</a:t>
            </a:r>
            <a:r>
              <a:rPr lang="en-US" altLang="ja-JP">
                <a:latin typeface="Arial Narrow" charset="0"/>
              </a:rPr>
              <a:t>bad</a:t>
            </a:r>
            <a:r>
              <a:rPr lang="ja-JP" altLang="en-US">
                <a:latin typeface="Arial Narrow" charset="0"/>
              </a:rPr>
              <a:t>”</a:t>
            </a:r>
            <a:r>
              <a:rPr lang="en-US" altLang="ja-JP">
                <a:latin typeface="Arial Narrow" charset="0"/>
              </a:rPr>
              <a:t> orders.</a:t>
            </a:r>
            <a:endParaRPr lang="en-US">
              <a:latin typeface="Arial Narrow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2185B999-12F0-1749-ADC3-FA8BB25694BF}" type="slidenum">
              <a:rPr lang="en-US" sz="1000" b="0">
                <a:latin typeface="Arial" charset="0"/>
              </a:rPr>
              <a:pPr/>
              <a:t>17</a:t>
            </a:fld>
            <a:endParaRPr lang="en-US" sz="1000" b="0">
              <a:latin typeface="Arial" charset="0"/>
            </a:endParaRPr>
          </a:p>
        </p:txBody>
      </p:sp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Arial Narrow" charset="0"/>
              </a:rPr>
              <a:t>In a ROBDD, the  root corresponds to the function itself and the leafs to the Boolean constants 0 and 1.</a:t>
            </a:r>
          </a:p>
          <a:p>
            <a:r>
              <a:rPr lang="en-US">
                <a:latin typeface="Arial Narrow" charset="0"/>
              </a:rPr>
              <a:t>Each other node has two children, with edges to the two cofactors with respect to the variable associate with the node (and its complement).</a:t>
            </a:r>
          </a:p>
          <a:p>
            <a:r>
              <a:rPr lang="en-US">
                <a:latin typeface="Arial Narrow" charset="0"/>
              </a:rPr>
              <a:t>Note that sometimes ROBDDs are just called BDDs for simplicity.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81A92DB0-C4D6-E943-8ED2-D3450996A7DC}" type="slidenum">
              <a:rPr lang="en-US" sz="1000" b="0">
                <a:latin typeface="Arial" charset="0"/>
              </a:rPr>
              <a:pPr/>
              <a:t>18</a:t>
            </a:fld>
            <a:endParaRPr lang="en-US" sz="1000" b="0">
              <a:latin typeface="Arial" charset="0"/>
            </a:endParaRPr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Arial Narrow" charset="0"/>
              </a:rPr>
              <a:t>This example shows a ROBDD for a simple function and its construction.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8506CC89-2AF0-C849-881E-4BF264206B4E}" type="slidenum">
              <a:rPr lang="en-US" sz="1000" b="0">
                <a:latin typeface="Arial" charset="0"/>
              </a:rPr>
              <a:pPr/>
              <a:t>19</a:t>
            </a:fld>
            <a:endParaRPr lang="en-US" sz="1000" b="0">
              <a:latin typeface="Arial" charset="0"/>
            </a:endParaRPr>
          </a:p>
        </p:txBody>
      </p:sp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Arial Narrow" charset="0"/>
              </a:rPr>
              <a:t>This example shows the construction of a ROBDD for the function representing the output of a loc network.</a:t>
            </a:r>
          </a:p>
          <a:p>
            <a:r>
              <a:rPr lang="en-US">
                <a:latin typeface="Arial Narrow" charset="0"/>
              </a:rPr>
              <a:t>Such ROBDD can be constructed by traversing the network from input to output.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D9E1D539-E4BE-ED4F-8E8B-2D5A197FA8C0}" type="slidenum">
              <a:rPr lang="en-US" sz="1000" b="0">
                <a:latin typeface="Arial" charset="0"/>
              </a:rPr>
              <a:pPr/>
              <a:t>20</a:t>
            </a:fld>
            <a:endParaRPr lang="en-US" sz="1000" b="0">
              <a:latin typeface="Arial" charset="0"/>
            </a:endParaRPr>
          </a:p>
        </p:txBody>
      </p:sp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latin typeface="Arial Narrow" charset="0"/>
              </a:rPr>
              <a:t>Multiple-output functions can be represented by multi-rooted ROBBDs.</a:t>
            </a:r>
          </a:p>
          <a:p>
            <a:r>
              <a:rPr lang="en-US" dirty="0">
                <a:latin typeface="Arial Narrow" charset="0"/>
              </a:rPr>
              <a:t>Sharing of subtrees is key to keeping the representation compact.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9F4146B8-AA56-B344-B976-B9D740863B34}" type="slidenum">
              <a:rPr lang="en-US" sz="1000" b="0">
                <a:latin typeface="Arial" charset="0"/>
              </a:rPr>
              <a:pPr/>
              <a:t>21</a:t>
            </a:fld>
            <a:endParaRPr lang="en-US" sz="1000" b="0">
              <a:latin typeface="Arial" charset="0"/>
            </a:endParaRPr>
          </a:p>
        </p:txBody>
      </p:sp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Arial Narrow" charset="0"/>
              </a:rPr>
              <a:t>With BDDs many important problems can be solved efficiently.</a:t>
            </a:r>
          </a:p>
          <a:p>
            <a:r>
              <a:rPr lang="en-US">
                <a:latin typeface="Arial Narrow" charset="0"/>
              </a:rPr>
              <a:t>Indeed, tautology checking is just verifying that the ROBDD is the leaf 1.</a:t>
            </a:r>
          </a:p>
          <a:p>
            <a:r>
              <a:rPr lang="en-US">
                <a:latin typeface="Arial Narrow" charset="0"/>
              </a:rPr>
              <a:t>Identity checking is verifying that two ROBDDs are the same.</a:t>
            </a:r>
          </a:p>
          <a:p>
            <a:r>
              <a:rPr lang="en-US">
                <a:latin typeface="Arial Narrow" charset="0"/>
              </a:rPr>
              <a:t>Satisfiability corresponds to looking for a path from root to leaf.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 Narrow" charset="0"/>
              </a:rPr>
              <a:t>The ROBDD construction and manipulation can be done with the </a:t>
            </a:r>
            <a:r>
              <a:rPr lang="en-US" dirty="0" err="1">
                <a:latin typeface="Arial Narrow" charset="0"/>
              </a:rPr>
              <a:t>ite</a:t>
            </a:r>
            <a:r>
              <a:rPr lang="en-US" dirty="0">
                <a:latin typeface="Arial Narrow" charset="0"/>
              </a:rPr>
              <a:t> operator, which</a:t>
            </a:r>
          </a:p>
          <a:p>
            <a:r>
              <a:rPr lang="en-US" dirty="0">
                <a:latin typeface="Arial Narrow" charset="0"/>
              </a:rPr>
              <a:t>takes its name from its operative definition. Given three scalar Boolean functions :</a:t>
            </a:r>
            <a:r>
              <a:rPr lang="en-US" dirty="0" err="1">
                <a:latin typeface="Arial Narrow" charset="0"/>
              </a:rPr>
              <a:t>f,g</a:t>
            </a:r>
            <a:r>
              <a:rPr lang="en-US" dirty="0">
                <a:latin typeface="Arial Narrow" charset="0"/>
              </a:rPr>
              <a:t>  and h, </a:t>
            </a:r>
            <a:r>
              <a:rPr lang="en-US" dirty="0" err="1">
                <a:latin typeface="Arial Narrow" charset="0"/>
              </a:rPr>
              <a:t>ite</a:t>
            </a:r>
            <a:r>
              <a:rPr lang="en-US" dirty="0">
                <a:latin typeface="Arial Narrow" charset="0"/>
              </a:rPr>
              <a:t>(</a:t>
            </a:r>
            <a:r>
              <a:rPr lang="en-US" dirty="0" err="1">
                <a:latin typeface="Arial Narrow" charset="0"/>
              </a:rPr>
              <a:t>f,g,h</a:t>
            </a:r>
            <a:r>
              <a:rPr lang="en-US" dirty="0">
                <a:latin typeface="Arial Narrow" charset="0"/>
              </a:rPr>
              <a:t>) = f g + f' h which is equivalent to: </a:t>
            </a:r>
            <a:r>
              <a:rPr lang="en-US" i="1" dirty="0">
                <a:latin typeface="Arial Narrow" charset="0"/>
              </a:rPr>
              <a:t>if f then g else h</a:t>
            </a:r>
            <a:r>
              <a:rPr lang="en-US" dirty="0">
                <a:latin typeface="Arial Narrow" charset="0"/>
              </a:rPr>
              <a:t>.</a:t>
            </a:r>
          </a:p>
          <a:p>
            <a:r>
              <a:rPr lang="en-US" dirty="0">
                <a:latin typeface="Arial Narrow" charset="0"/>
              </a:rPr>
              <a:t> In particular, functions </a:t>
            </a:r>
            <a:r>
              <a:rPr lang="en-US" dirty="0" err="1">
                <a:latin typeface="Arial Narrow" charset="0"/>
              </a:rPr>
              <a:t>f,g</a:t>
            </a:r>
            <a:r>
              <a:rPr lang="en-US" dirty="0">
                <a:latin typeface="Arial Narrow" charset="0"/>
              </a:rPr>
              <a:t> and h can be Boolean variables or constants.</a:t>
            </a:r>
          </a:p>
          <a:p>
            <a:r>
              <a:rPr lang="en-US" dirty="0">
                <a:latin typeface="Arial Narrow" charset="0"/>
              </a:rPr>
              <a:t>We assume that all variables are ordered and we call top variable of a function (or set of functions) the first variable in the support set (or in the union of the support sets.)</a:t>
            </a:r>
          </a:p>
          <a:p>
            <a:r>
              <a:rPr lang="en-US" dirty="0">
                <a:latin typeface="Arial Narrow" charset="0"/>
              </a:rPr>
              <a:t>The manipulation of the ROBDDs is done using the recursive paradigm.</a:t>
            </a:r>
          </a:p>
          <a:p>
            <a:r>
              <a:rPr lang="en-US" dirty="0">
                <a:latin typeface="Arial Narrow" charset="0"/>
              </a:rPr>
              <a:t>Indeed the </a:t>
            </a:r>
            <a:r>
              <a:rPr lang="en-US" dirty="0" err="1">
                <a:latin typeface="Arial Narrow" charset="0"/>
              </a:rPr>
              <a:t>ite</a:t>
            </a:r>
            <a:r>
              <a:rPr lang="en-US" dirty="0">
                <a:latin typeface="Arial Narrow" charset="0"/>
              </a:rPr>
              <a:t> of three arguments can be computed by the </a:t>
            </a:r>
            <a:r>
              <a:rPr lang="en-US" dirty="0" err="1">
                <a:latin typeface="Arial Narrow" charset="0"/>
              </a:rPr>
              <a:t>ite</a:t>
            </a:r>
            <a:r>
              <a:rPr lang="en-US" dirty="0">
                <a:latin typeface="Arial Narrow" charset="0"/>
              </a:rPr>
              <a:t> of their cofactors.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EF7F234-2C00-3045-B6BE-60ED395AB4D0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7478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A49EF6D3-4BC9-9744-AD7B-C1999A358680}" type="slidenum">
              <a:rPr lang="en-US" sz="1000" b="0">
                <a:latin typeface="Arial" charset="0"/>
              </a:rPr>
              <a:pPr/>
              <a:t>24</a:t>
            </a:fld>
            <a:endParaRPr lang="en-US" sz="1000" b="0">
              <a:latin typeface="Arial" charset="0"/>
            </a:endParaRPr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Arial Narrow" charset="0"/>
              </a:rPr>
              <a:t>Logic operations on functions can be reconduced to applying the ite operator to their BDDs.</a:t>
            </a:r>
          </a:p>
          <a:p>
            <a:r>
              <a:rPr lang="en-US">
                <a:latin typeface="Arial Narrow" charset="0"/>
              </a:rPr>
              <a:t>As an example, the AND of two functions is like an ite with an empty (0) else branch body.</a:t>
            </a:r>
          </a:p>
          <a:p>
            <a:r>
              <a:rPr lang="en-US">
                <a:latin typeface="Arial Narrow" charset="0"/>
              </a:rPr>
              <a:t>The OR of two functions f+g  is ite(f,1,g)= f.1 +f</a:t>
            </a:r>
            <a:r>
              <a:rPr lang="ja-JP" altLang="en-US">
                <a:latin typeface="Arial Narrow" charset="0"/>
              </a:rPr>
              <a:t>’</a:t>
            </a:r>
            <a:r>
              <a:rPr lang="en-US" altLang="ja-JP">
                <a:latin typeface="Arial Narrow" charset="0"/>
              </a:rPr>
              <a:t>g = f+f</a:t>
            </a:r>
            <a:r>
              <a:rPr lang="ja-JP" altLang="en-US">
                <a:latin typeface="Arial Narrow" charset="0"/>
              </a:rPr>
              <a:t>’</a:t>
            </a:r>
            <a:r>
              <a:rPr lang="en-US" altLang="ja-JP">
                <a:latin typeface="Arial Narrow" charset="0"/>
              </a:rPr>
              <a:t>g = f+g.</a:t>
            </a:r>
            <a:endParaRPr lang="en-US">
              <a:latin typeface="Arial Narrow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B95C2348-E64A-5546-8C52-9E8F95904926}" type="slidenum">
              <a:rPr lang="en-US" sz="1000" b="0">
                <a:latin typeface="Arial" charset="0"/>
              </a:rPr>
              <a:pPr/>
              <a:t>25</a:t>
            </a:fld>
            <a:endParaRPr lang="en-US" sz="1000" b="0">
              <a:latin typeface="Arial" charset="0"/>
            </a:endParaRPr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Arial Narrow" charset="0"/>
              </a:rPr>
              <a:t>There are 16 Boolean connectors, or ways to combine logic functions.</a:t>
            </a:r>
          </a:p>
          <a:p>
            <a:r>
              <a:rPr lang="en-US">
                <a:latin typeface="Arial Narrow" charset="0"/>
              </a:rPr>
              <a:t>This table shows how to compute each connector using the ite operator.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FB461751-BF42-D545-832C-857225B573F8}" type="slidenum">
              <a:rPr lang="en-US" sz="1000" b="0">
                <a:latin typeface="Arial" charset="0"/>
              </a:rPr>
              <a:pPr/>
              <a:t>26</a:t>
            </a:fld>
            <a:endParaRPr lang="en-US" sz="1000" b="0">
              <a:latin typeface="Arial" charset="0"/>
            </a:endParaRPr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Arial Narrow" charset="0"/>
              </a:rPr>
              <a:t>This slide is the beginning of an example showing how to operate on BDDs.</a:t>
            </a:r>
          </a:p>
          <a:p>
            <a:r>
              <a:rPr lang="en-US">
                <a:latin typeface="Arial Narrow" charset="0"/>
              </a:rPr>
              <a:t>In particular it shows ANDing two BDDs.</a:t>
            </a:r>
          </a:p>
          <a:p>
            <a:r>
              <a:rPr lang="en-US">
                <a:latin typeface="Arial Narrow" charset="0"/>
              </a:rPr>
              <a:t>The terminal cases, once a BDD is a constant leaf, are tabulated above.</a:t>
            </a:r>
          </a:p>
        </p:txBody>
      </p:sp>
    </p:spTree>
    <p:extLst>
      <p:ext uri="{BB962C8B-B14F-4D97-AF65-F5344CB8AC3E}">
        <p14:creationId xmlns:p14="http://schemas.microsoft.com/office/powerpoint/2010/main" val="10148752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FD1D5330-1806-8C4B-848D-089039CA6983}" type="slidenum">
              <a:rPr lang="en-US" sz="1000" b="0">
                <a:latin typeface="Arial" charset="0"/>
              </a:rPr>
              <a:pPr/>
              <a:t>27</a:t>
            </a:fld>
            <a:endParaRPr lang="en-US" sz="1000" b="0">
              <a:latin typeface="Arial" charset="0"/>
            </a:endParaRPr>
          </a:p>
        </p:txBody>
      </p:sp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latin typeface="Arial Narrow" charset="0"/>
              </a:rPr>
              <a:t>This slide continues the example.</a:t>
            </a:r>
          </a:p>
          <a:p>
            <a:r>
              <a:rPr lang="en-US" dirty="0">
                <a:latin typeface="Arial Narrow" charset="0"/>
              </a:rPr>
              <a:t>The AND of two BDDs can be done recursively by </a:t>
            </a:r>
            <a:r>
              <a:rPr lang="en-US" dirty="0" err="1">
                <a:latin typeface="Arial Narrow" charset="0"/>
              </a:rPr>
              <a:t>ANDing</a:t>
            </a:r>
            <a:r>
              <a:rPr lang="en-US" dirty="0">
                <a:latin typeface="Arial Narrow" charset="0"/>
              </a:rPr>
              <a:t> the cofactors.</a:t>
            </a:r>
          </a:p>
          <a:p>
            <a:r>
              <a:rPr lang="en-US" dirty="0">
                <a:latin typeface="Arial Narrow" charset="0"/>
              </a:rPr>
              <a:t>The AND of the cofactors gives two terms, as two other vanish.</a:t>
            </a:r>
          </a:p>
          <a:p>
            <a:r>
              <a:rPr lang="en-US" dirty="0">
                <a:latin typeface="Arial Narrow" charset="0"/>
              </a:rPr>
              <a:t>Thus, the AND of two BDDs can be trivially deduced by knowing the AND of the cofactors.</a:t>
            </a:r>
          </a:p>
          <a:p>
            <a:r>
              <a:rPr lang="en-US" dirty="0">
                <a:latin typeface="Arial Narrow" charset="0"/>
              </a:rPr>
              <a:t>In the end, you get to the terminal case when one (or both BDDs) are constant.</a:t>
            </a:r>
          </a:p>
        </p:txBody>
      </p:sp>
    </p:spTree>
    <p:extLst>
      <p:ext uri="{BB962C8B-B14F-4D97-AF65-F5344CB8AC3E}">
        <p14:creationId xmlns:p14="http://schemas.microsoft.com/office/powerpoint/2010/main" val="14288467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AF5C6E46-5AAA-834F-82E4-7FB4E9813F99}" type="slidenum">
              <a:rPr lang="en-US" sz="1000" b="0">
                <a:latin typeface="Arial" charset="0"/>
              </a:rPr>
              <a:pPr/>
              <a:t>28</a:t>
            </a:fld>
            <a:endParaRPr lang="en-US" sz="1000" b="0">
              <a:latin typeface="Arial" charset="0"/>
            </a:endParaRPr>
          </a:p>
        </p:txBody>
      </p:sp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Arial Narrow" charset="0"/>
              </a:rPr>
              <a:t>Finally, once we have the AND of two cofactors, we should introduce a new node, representing the AND.</a:t>
            </a:r>
          </a:p>
          <a:p>
            <a:r>
              <a:rPr lang="en-US">
                <a:latin typeface="Arial Narrow" charset="0"/>
              </a:rPr>
              <a:t>But we need to make sure that this node does not already exist: in this case we just need to add edges.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FDD71AA5-DADD-504C-9384-12C0FF18CD05}" type="slidenum">
              <a:rPr lang="en-US" sz="1000" b="0">
                <a:latin typeface="Arial" charset="0"/>
              </a:rPr>
              <a:pPr/>
              <a:t>29</a:t>
            </a:fld>
            <a:endParaRPr lang="en-US" sz="1000" b="0">
              <a:latin typeface="Arial" charset="0"/>
            </a:endParaRPr>
          </a:p>
        </p:txBody>
      </p:sp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Arial Narrow" charset="0"/>
              </a:rPr>
              <a:t>Thus, if the two cofactors of the AND of a function are the same functions, we keep only one.</a:t>
            </a:r>
          </a:p>
          <a:p>
            <a:r>
              <a:rPr lang="en-US">
                <a:latin typeface="Arial Narrow" charset="0"/>
              </a:rPr>
              <a:t>Next, if they are different, we introduce a new node only if such node does not exist.</a:t>
            </a:r>
          </a:p>
          <a:p>
            <a:r>
              <a:rPr lang="en-US">
                <a:latin typeface="Arial Narrow" charset="0"/>
              </a:rPr>
              <a:t>To check this, we keep a table, called unique table, that stores the triples </a:t>
            </a:r>
            <a:r>
              <a:rPr lang="en-US">
                <a:solidFill>
                  <a:schemeClr val="tx2"/>
                </a:solidFill>
                <a:latin typeface="Arial Narrow" charset="0"/>
              </a:rPr>
              <a:t>(x, F</a:t>
            </a:r>
            <a:r>
              <a:rPr lang="en-US" baseline="-25000">
                <a:solidFill>
                  <a:schemeClr val="tx2"/>
                </a:solidFill>
                <a:latin typeface="Arial Narrow" charset="0"/>
              </a:rPr>
              <a:t>x=0</a:t>
            </a:r>
            <a:r>
              <a:rPr lang="en-US">
                <a:solidFill>
                  <a:schemeClr val="tx2"/>
                </a:solidFill>
                <a:latin typeface="Arial Narrow" charset="0"/>
              </a:rPr>
              <a:t>, F</a:t>
            </a:r>
            <a:r>
              <a:rPr lang="en-US" baseline="-25000">
                <a:solidFill>
                  <a:schemeClr val="tx2"/>
                </a:solidFill>
                <a:latin typeface="Arial Narrow" charset="0"/>
              </a:rPr>
              <a:t>x=1</a:t>
            </a:r>
            <a:r>
              <a:rPr lang="en-US">
                <a:solidFill>
                  <a:schemeClr val="tx2"/>
                </a:solidFill>
                <a:latin typeface="Arial Narrow" charset="0"/>
              </a:rPr>
              <a:t>).</a:t>
            </a:r>
            <a:endParaRPr lang="en-US" baseline="-25000">
              <a:solidFill>
                <a:schemeClr val="tx2"/>
              </a:solidFill>
              <a:latin typeface="Arial Narrow" charset="0"/>
            </a:endParaRPr>
          </a:p>
          <a:p>
            <a:r>
              <a:rPr lang="en-US">
                <a:solidFill>
                  <a:schemeClr val="tx2"/>
                </a:solidFill>
                <a:latin typeface="Arial Narrow" charset="0"/>
              </a:rPr>
              <a:t>We keep the unique table updated at all times.</a:t>
            </a:r>
          </a:p>
          <a:p>
            <a:r>
              <a:rPr lang="en-US">
                <a:solidFill>
                  <a:schemeClr val="tx2"/>
                </a:solidFill>
                <a:latin typeface="Arial Narrow" charset="0"/>
              </a:rPr>
              <a:t>By doing so, operating on two ROBDDs always yields a reduced OBDD by construction.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88C5FE16-C6F2-7944-8EF0-99471E667AE1}" type="slidenum">
              <a:rPr lang="en-US" sz="1000" b="0">
                <a:latin typeface="Arial" charset="0"/>
              </a:rPr>
              <a:pPr/>
              <a:t>30</a:t>
            </a:fld>
            <a:endParaRPr lang="en-US" sz="1000" b="0">
              <a:latin typeface="Arial" charset="0"/>
            </a:endParaRPr>
          </a:p>
        </p:txBody>
      </p:sp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Arial Narrow" charset="0"/>
              </a:rPr>
              <a:t>This algorithm describes the ANDing of two functions G and H.</a:t>
            </a:r>
          </a:p>
          <a:p>
            <a:r>
              <a:rPr lang="en-US">
                <a:latin typeface="Arial Narrow" charset="0"/>
              </a:rPr>
              <a:t>At first, the trivial cases are considered, when a BDD is a leaf.</a:t>
            </a:r>
          </a:p>
          <a:p>
            <a:r>
              <a:rPr lang="en-US">
                <a:latin typeface="Arial Narrow" charset="0"/>
              </a:rPr>
              <a:t>Next, we do a lookup in a cache, called computed table, to see if the current computation was previously done and the result reused.</a:t>
            </a:r>
          </a:p>
          <a:p>
            <a:r>
              <a:rPr lang="en-US">
                <a:latin typeface="Arial Narrow" charset="0"/>
              </a:rPr>
              <a:t>This step is key to speeding up the algorithm by removing redundant computation.</a:t>
            </a:r>
          </a:p>
          <a:p>
            <a:r>
              <a:rPr lang="en-US">
                <a:latin typeface="Arial Narrow" charset="0"/>
              </a:rPr>
              <a:t>Then, the cofactors are computed with respect to the top variable.</a:t>
            </a:r>
          </a:p>
          <a:p>
            <a:r>
              <a:rPr lang="en-US">
                <a:latin typeface="Arial Narrow" charset="0"/>
              </a:rPr>
              <a:t>The AND of the cofactors is computed. If they match, one is discarded.</a:t>
            </a:r>
          </a:p>
          <a:p>
            <a:r>
              <a:rPr lang="en-US">
                <a:latin typeface="Arial Narrow" charset="0"/>
              </a:rPr>
              <a:t>Last, a lookup in the unique table is done to see if the new node is needed or not.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07378977-FA7F-1D4F-BC4A-40F0B675051D}" type="slidenum">
              <a:rPr lang="en-US" sz="1000" b="0">
                <a:latin typeface="Arial" charset="0"/>
              </a:rPr>
              <a:pPr/>
              <a:t>31</a:t>
            </a:fld>
            <a:endParaRPr lang="en-US" sz="1000" b="0">
              <a:latin typeface="Arial" charset="0"/>
            </a:endParaRPr>
          </a:p>
        </p:txBody>
      </p:sp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Arial Narrow" charset="0"/>
              </a:rPr>
              <a:t>This algorithm describes the ITE of three  functions, F, G and H. The ITE can be used to compute any function of these functions.</a:t>
            </a:r>
          </a:p>
          <a:p>
            <a:r>
              <a:rPr lang="en-US">
                <a:latin typeface="Arial Narrow" charset="0"/>
              </a:rPr>
              <a:t>The previous algorithm is just a special case.</a:t>
            </a:r>
          </a:p>
          <a:p>
            <a:r>
              <a:rPr lang="en-US">
                <a:latin typeface="Arial Narrow" charset="0"/>
              </a:rPr>
              <a:t>At first, the trivial cases are considered, when a BDD is a leaf.</a:t>
            </a:r>
          </a:p>
          <a:p>
            <a:r>
              <a:rPr lang="en-US">
                <a:latin typeface="Arial Narrow" charset="0"/>
              </a:rPr>
              <a:t>Next, we do a lookup in a cache, called computed table, to see if the current computation was previously done and the result reused.</a:t>
            </a:r>
          </a:p>
          <a:p>
            <a:r>
              <a:rPr lang="en-US">
                <a:latin typeface="Arial Narrow" charset="0"/>
              </a:rPr>
              <a:t>This step is key to speeding up the algorithm by removing redundant computation.</a:t>
            </a:r>
          </a:p>
          <a:p>
            <a:r>
              <a:rPr lang="en-US">
                <a:latin typeface="Arial Narrow" charset="0"/>
              </a:rPr>
              <a:t>Then, the cofactors are computed with respect to the top variable.</a:t>
            </a:r>
          </a:p>
          <a:p>
            <a:r>
              <a:rPr lang="en-US">
                <a:latin typeface="Arial Narrow" charset="0"/>
              </a:rPr>
              <a:t>The ITE of the cofactors is computed. If they match, one is discarded.</a:t>
            </a:r>
          </a:p>
          <a:p>
            <a:r>
              <a:rPr lang="en-US">
                <a:latin typeface="Arial Narrow" charset="0"/>
              </a:rPr>
              <a:t>Last, a lookup in the unique table is done to see if the new node is needed or not.</a:t>
            </a:r>
          </a:p>
          <a:p>
            <a:endParaRPr lang="en-US">
              <a:latin typeface="Arial Narrow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7FBC9228-92BE-C84A-BCDA-39408CE80DB5}" type="slidenum">
              <a:rPr lang="en-US" sz="1000" b="0">
                <a:latin typeface="Arial" charset="0"/>
              </a:rPr>
              <a:pPr/>
              <a:t>32</a:t>
            </a:fld>
            <a:endParaRPr lang="en-US" sz="1000" b="0">
              <a:latin typeface="Arial" charset="0"/>
            </a:endParaRPr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Arial Narrow" charset="0"/>
              </a:rPr>
              <a:t>In summary, operating on ROBDDs is efficient. It can be done in quadratic time.</a:t>
            </a:r>
          </a:p>
          <a:p>
            <a:r>
              <a:rPr lang="en-US">
                <a:latin typeface="Arial Narrow" charset="0"/>
              </a:rPr>
              <a:t>Two tables help speeding the computation: </a:t>
            </a:r>
          </a:p>
          <a:p>
            <a:pPr>
              <a:buFontTx/>
              <a:buChar char="-"/>
            </a:pPr>
            <a:r>
              <a:rPr lang="en-US">
                <a:latin typeface="Arial Narrow" charset="0"/>
              </a:rPr>
              <a:t>The unique table that stores the triples</a:t>
            </a:r>
          </a:p>
          <a:p>
            <a:pPr>
              <a:buFontTx/>
              <a:buChar char="-"/>
            </a:pPr>
            <a:r>
              <a:rPr lang="en-US">
                <a:latin typeface="Arial Narrow" charset="0"/>
              </a:rPr>
              <a:t>The computed table that acts as a cache.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93F24B1E-049D-064C-9DBE-C3E19DA313E5}" type="slidenum">
              <a:rPr lang="en-US" sz="1000" b="0">
                <a:latin typeface="Arial" charset="0"/>
              </a:rPr>
              <a:pPr/>
              <a:t>33</a:t>
            </a:fld>
            <a:endParaRPr lang="en-US" sz="1000" b="0">
              <a:latin typeface="Arial" charset="0"/>
            </a:endParaRPr>
          </a:p>
        </p:txBody>
      </p:sp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Arial Narrow" charset="0"/>
              </a:rPr>
              <a:t>This slide shows the complexity of various operations in the size of the BDD.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DB973C03-EECF-B74A-AC56-B92E5AB3426F}" type="slidenum">
              <a:rPr lang="en-US" sz="1000" b="0">
                <a:latin typeface="Arial" charset="0"/>
              </a:rPr>
              <a:pPr/>
              <a:t>34</a:t>
            </a:fld>
            <a:endParaRPr lang="en-US" sz="1000" b="0">
              <a:latin typeface="Arial" charset="0"/>
            </a:endParaRPr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Arial Narrow" charset="0"/>
              </a:rPr>
              <a:t>ROBDDs are popular because they enable fast computation of many problems.</a:t>
            </a:r>
          </a:p>
          <a:p>
            <a:r>
              <a:rPr lang="en-US">
                <a:latin typeface="Arial Narrow" charset="0"/>
              </a:rPr>
              <a:t>Note that the key is that in most instances, the ROBDD size grows mildly with the problem size.</a:t>
            </a:r>
          </a:p>
          <a:p>
            <a:r>
              <a:rPr lang="en-US">
                <a:latin typeface="Arial Narrow" charset="0"/>
              </a:rPr>
              <a:t>There are counterexample showing that in some cases the ROBDDs grow over-polynomially with the problem size.</a:t>
            </a:r>
          </a:p>
          <a:p>
            <a:r>
              <a:rPr lang="en-US">
                <a:latin typeface="Arial Narrow" charset="0"/>
              </a:rPr>
              <a:t>Thus, it is false that BDD solve in general intractable problems in polynomial time.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3F6B47B1-4753-9140-AC26-8EA029D8FE02}" type="slidenum">
              <a:rPr lang="en-US" sz="1000" b="0">
                <a:latin typeface="Arial" charset="0"/>
              </a:rPr>
              <a:pPr/>
              <a:t>35</a:t>
            </a:fld>
            <a:endParaRPr lang="en-US" sz="1000" b="0">
              <a:latin typeface="Arial" charset="0"/>
            </a:endParaRPr>
          </a:p>
        </p:txBody>
      </p:sp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 Narrow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EFFE367C-BFC3-124F-84BD-3F77B5B6C1D5}" type="slidenum">
              <a:rPr lang="en-US" sz="1000" b="0">
                <a:latin typeface="Arial" charset="0"/>
              </a:rPr>
              <a:pPr/>
              <a:t>36</a:t>
            </a:fld>
            <a:endParaRPr lang="en-US" sz="1000" b="0">
              <a:latin typeface="Arial" charset="0"/>
            </a:endParaRPr>
          </a:p>
        </p:txBody>
      </p:sp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Arial Narrow" charset="0"/>
              </a:rPr>
              <a:t>The same function may have ROBDDs with different size according to the order of the variables.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E8B0C6E0-8283-CD43-80CA-76F76E01413D}" type="slidenum">
              <a:rPr lang="en-US" sz="1000" b="0">
                <a:latin typeface="Arial" charset="0"/>
              </a:rPr>
              <a:pPr/>
              <a:t>37</a:t>
            </a:fld>
            <a:endParaRPr lang="en-US" sz="1000" b="0">
              <a:latin typeface="Arial" charset="0"/>
            </a:endParaRPr>
          </a:p>
        </p:txBody>
      </p:sp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Arial Narrow" charset="0"/>
              </a:rPr>
              <a:t>For some arithmetic functions, there are bounds on the size of the BDD representation.</a:t>
            </a:r>
          </a:p>
          <a:p>
            <a:r>
              <a:rPr lang="en-US">
                <a:latin typeface="Arial Narrow" charset="0"/>
              </a:rPr>
              <a:t>The multiplication operation gives always exponential-size ROBDDs.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70EA0088-B98B-F647-93A8-85A3DDB2E6CF}" type="slidenum">
              <a:rPr lang="en-US" sz="1000" b="0">
                <a:latin typeface="Arial" charset="0"/>
              </a:rPr>
              <a:pPr/>
              <a:t>38</a:t>
            </a:fld>
            <a:endParaRPr lang="en-US" sz="1000" b="0">
              <a:latin typeface="Arial" charset="0"/>
            </a:endParaRPr>
          </a:p>
        </p:txBody>
      </p:sp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Arial Narrow" charset="0"/>
              </a:rPr>
              <a:t>The variable ordering problems means finding n order of the variables that minimizes the ROBDD size.</a:t>
            </a:r>
          </a:p>
          <a:p>
            <a:r>
              <a:rPr lang="en-US">
                <a:latin typeface="Arial Narrow" charset="0"/>
              </a:rPr>
              <a:t>This problem is intractable. Exact and heuristic algorithms exist.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8C9235AE-E749-4F4C-97F9-FC71FFFD5E32}" type="slidenum">
              <a:rPr lang="en-US" sz="1000" b="0">
                <a:latin typeface="Arial" charset="0"/>
              </a:rPr>
              <a:pPr/>
              <a:t>39</a:t>
            </a:fld>
            <a:endParaRPr lang="en-US" sz="1000" b="0">
              <a:latin typeface="Arial" charset="0"/>
            </a:endParaRPr>
          </a:p>
        </p:txBody>
      </p:sp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Arial Narrow" charset="0"/>
              </a:rPr>
              <a:t>In static ordering, the variables are ordered according to the network topology.</a:t>
            </a:r>
          </a:p>
          <a:p>
            <a:r>
              <a:rPr lang="en-US">
                <a:latin typeface="Arial Narrow" charset="0"/>
              </a:rPr>
              <a:t>The strategy is to put at the bottom the variables that are closer to circuit</a:t>
            </a:r>
            <a:r>
              <a:rPr lang="ja-JP" altLang="en-US">
                <a:latin typeface="Arial Narrow" charset="0"/>
              </a:rPr>
              <a:t>’</a:t>
            </a:r>
            <a:r>
              <a:rPr lang="en-US" altLang="ja-JP">
                <a:latin typeface="Arial Narrow" charset="0"/>
              </a:rPr>
              <a:t>s outputs.</a:t>
            </a:r>
          </a:p>
          <a:p>
            <a:r>
              <a:rPr lang="en-US">
                <a:latin typeface="Arial Narrow" charset="0"/>
              </a:rPr>
              <a:t>This method works well in most cases, but not always.</a:t>
            </a:r>
          </a:p>
          <a:p>
            <a:r>
              <a:rPr lang="en-US">
                <a:latin typeface="Arial Narrow" charset="0"/>
              </a:rPr>
              <a:t>It is a simple idea, with little overhead.</a:t>
            </a:r>
          </a:p>
          <a:p>
            <a:endParaRPr lang="en-US">
              <a:latin typeface="Arial Narrow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AC752799-9431-384A-B39E-E0753585B417}" type="slidenum">
              <a:rPr lang="en-US" sz="1000" b="0">
                <a:latin typeface="Arial" charset="0"/>
              </a:rPr>
              <a:pPr/>
              <a:t>40</a:t>
            </a:fld>
            <a:endParaRPr lang="en-US" sz="1000" b="0">
              <a:latin typeface="Arial" charset="0"/>
            </a:endParaRPr>
          </a:p>
        </p:txBody>
      </p:sp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Arial Narrow" charset="0"/>
              </a:rPr>
              <a:t>In dynamic ordering, the order of the variables is changed when the BDD sizes passes over a threshold.</a:t>
            </a:r>
          </a:p>
          <a:p>
            <a:r>
              <a:rPr lang="en-US">
                <a:latin typeface="Arial Narrow" charset="0"/>
              </a:rPr>
              <a:t>The sifting algorithm is often used.</a:t>
            </a:r>
          </a:p>
          <a:p>
            <a:r>
              <a:rPr lang="en-US">
                <a:latin typeface="Arial Narrow" charset="0"/>
              </a:rPr>
              <a:t>It is a simple heuristic again.</a:t>
            </a:r>
          </a:p>
          <a:p>
            <a:r>
              <a:rPr lang="en-US">
                <a:latin typeface="Arial Narrow" charset="0"/>
              </a:rPr>
              <a:t>It takes a variables, and it move it in the order one position at a time.</a:t>
            </a:r>
          </a:p>
          <a:p>
            <a:r>
              <a:rPr lang="en-US">
                <a:latin typeface="Arial Narrow" charset="0"/>
              </a:rPr>
              <a:t>Eventually, it is placed in the position that minimizes the size.</a:t>
            </a:r>
          </a:p>
          <a:p>
            <a:r>
              <a:rPr lang="en-US">
                <a:latin typeface="Arial Narrow" charset="0"/>
              </a:rPr>
              <a:t>Then, another variable is considered, and so on…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300707EB-C40B-BD45-B57E-2A32867BC869}" type="slidenum">
              <a:rPr lang="en-US" sz="1000" b="0">
                <a:latin typeface="Arial" charset="0"/>
              </a:rPr>
              <a:pPr/>
              <a:t>41</a:t>
            </a:fld>
            <a:endParaRPr lang="en-US" sz="1000" b="0">
              <a:latin typeface="Arial" charset="0"/>
            </a:endParaRPr>
          </a:p>
        </p:txBody>
      </p:sp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Arial Narrow" charset="0"/>
              </a:rPr>
              <a:t>This example shows the effect of moving variable</a:t>
            </a:r>
            <a:r>
              <a:rPr lang="en-US" i="1">
                <a:latin typeface="Arial Narrow" charset="0"/>
              </a:rPr>
              <a:t> c</a:t>
            </a:r>
            <a:r>
              <a:rPr lang="en-US">
                <a:latin typeface="Arial Narrow" charset="0"/>
              </a:rPr>
              <a:t> through the order, and the corresponding ROBDDs.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9653A2AD-2517-CE45-9DFB-BA8886DE9CB8}" type="slidenum">
              <a:rPr lang="en-US" sz="1000" b="0">
                <a:latin typeface="Arial" charset="0"/>
              </a:rPr>
              <a:pPr/>
              <a:t>42</a:t>
            </a:fld>
            <a:endParaRPr lang="en-US" sz="1000" b="0">
              <a:latin typeface="Arial" charset="0"/>
            </a:endParaRPr>
          </a:p>
        </p:txBody>
      </p:sp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Arial Narrow" charset="0"/>
              </a:rPr>
              <a:t>The key idea in the sifting algorithm is to exchange position of variables that are adjacent in the order.</a:t>
            </a:r>
          </a:p>
          <a:p>
            <a:r>
              <a:rPr lang="en-US">
                <a:latin typeface="Arial Narrow" charset="0"/>
              </a:rPr>
              <a:t>This is because such a swap can create at worse an increase of 2 nodes in the ROBDD, and such ROBDD can be easily computed.</a:t>
            </a:r>
          </a:p>
          <a:p>
            <a:r>
              <a:rPr lang="en-US">
                <a:latin typeface="Arial Narrow" charset="0"/>
              </a:rPr>
              <a:t>The example shows how to construct the new ROBDD after the swap. </a:t>
            </a:r>
          </a:p>
          <a:p>
            <a:r>
              <a:rPr lang="en-US">
                <a:latin typeface="Arial Narrow" charset="0"/>
              </a:rPr>
              <a:t>Note that only a layer that is </a:t>
            </a:r>
            <a:r>
              <a:rPr lang="ja-JP" altLang="en-US">
                <a:latin typeface="Arial Narrow" charset="0"/>
              </a:rPr>
              <a:t>“</a:t>
            </a:r>
            <a:r>
              <a:rPr lang="en-US" altLang="ja-JP">
                <a:latin typeface="Arial Narrow" charset="0"/>
              </a:rPr>
              <a:t>two variable thick</a:t>
            </a:r>
            <a:r>
              <a:rPr lang="ja-JP" altLang="en-US">
                <a:latin typeface="Arial Narrow" charset="0"/>
              </a:rPr>
              <a:t>”</a:t>
            </a:r>
            <a:r>
              <a:rPr lang="en-US" altLang="ja-JP">
                <a:latin typeface="Arial Narrow" charset="0"/>
              </a:rPr>
              <a:t> is affected.</a:t>
            </a:r>
            <a:endParaRPr lang="en-US">
              <a:latin typeface="Arial Narrow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F01905D7-6B8E-5F40-BECE-05814EA15A15}" type="slidenum">
              <a:rPr lang="en-US" sz="1000" b="0">
                <a:latin typeface="Arial" charset="0"/>
              </a:rPr>
              <a:pPr/>
              <a:t>43</a:t>
            </a:fld>
            <a:endParaRPr lang="en-US" sz="1000" b="0">
              <a:latin typeface="Arial" charset="0"/>
            </a:endParaRPr>
          </a:p>
        </p:txBody>
      </p:sp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Arial Narrow" charset="0"/>
              </a:rPr>
              <a:t>In summary, the sifting algorithm is simple but efficient in many cases.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1DF76E59-064F-CD4D-B714-0202BE114579}" type="slidenum">
              <a:rPr lang="en-US" sz="1000" b="0">
                <a:latin typeface="Arial" charset="0"/>
              </a:rPr>
              <a:pPr/>
              <a:t>44</a:t>
            </a:fld>
            <a:endParaRPr lang="en-US" sz="1000" b="0">
              <a:latin typeface="Arial" charset="0"/>
            </a:endParaRPr>
          </a:p>
        </p:txBody>
      </p:sp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Arial Narrow" charset="0"/>
              </a:rPr>
              <a:t>There have been extension to the ROBDDs. The most important one is the use of complemented edges.</a:t>
            </a:r>
          </a:p>
          <a:p>
            <a:r>
              <a:rPr lang="en-US">
                <a:latin typeface="Arial Narrow" charset="0"/>
              </a:rPr>
              <a:t>A bubble on an edge denotes a local negation.</a:t>
            </a:r>
          </a:p>
          <a:p>
            <a:r>
              <a:rPr lang="en-US">
                <a:latin typeface="Arial Narrow" charset="0"/>
              </a:rPr>
              <a:t>Note that this gives more opportunities for subgraph sharing, and thus the ROBDD gets more compact.</a:t>
            </a:r>
          </a:p>
          <a:p>
            <a:r>
              <a:rPr lang="en-US">
                <a:latin typeface="Arial Narrow" charset="0"/>
              </a:rPr>
              <a:t>In particular, only one leaf is enough.</a:t>
            </a:r>
          </a:p>
          <a:p>
            <a:r>
              <a:rPr lang="en-US">
                <a:latin typeface="Arial Narrow" charset="0"/>
              </a:rPr>
              <a:t>It is important to note that there is a restriction: the </a:t>
            </a:r>
            <a:r>
              <a:rPr lang="ja-JP" altLang="en-US">
                <a:latin typeface="Arial Narrow" charset="0"/>
              </a:rPr>
              <a:t>‘</a:t>
            </a:r>
            <a:r>
              <a:rPr lang="en-US" altLang="ja-JP">
                <a:latin typeface="Arial Narrow" charset="0"/>
              </a:rPr>
              <a:t>then</a:t>
            </a:r>
            <a:r>
              <a:rPr lang="ja-JP" altLang="en-US">
                <a:latin typeface="Arial Narrow" charset="0"/>
              </a:rPr>
              <a:t>”</a:t>
            </a:r>
            <a:r>
              <a:rPr lang="en-US" altLang="ja-JP">
                <a:latin typeface="Arial Narrow" charset="0"/>
              </a:rPr>
              <a:t> edge cannot be complemented.</a:t>
            </a:r>
          </a:p>
          <a:p>
            <a:r>
              <a:rPr lang="en-US">
                <a:latin typeface="Arial Narrow" charset="0"/>
              </a:rPr>
              <a:t>This restriction is to preserve canonicity.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3D3031AE-FD3A-3345-8DA5-399583201639}" type="slidenum">
              <a:rPr lang="en-US" sz="1000" b="0">
                <a:latin typeface="Arial" charset="0"/>
              </a:rPr>
              <a:pPr/>
              <a:t>45</a:t>
            </a:fld>
            <a:endParaRPr lang="en-US" sz="1000" b="0">
              <a:latin typeface="Arial" charset="0"/>
            </a:endParaRPr>
          </a:p>
        </p:txBody>
      </p:sp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Arial Narrow" charset="0"/>
              </a:rPr>
              <a:t>These are examples of ROBDDS with complemented edges.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DB7F4141-E3A0-C04C-A16E-0518C7B8374A}" type="slidenum">
              <a:rPr lang="en-US" sz="1000" b="0">
                <a:latin typeface="Arial" charset="0"/>
              </a:rPr>
              <a:pPr/>
              <a:t>46</a:t>
            </a:fld>
            <a:endParaRPr lang="en-US" sz="1000" b="0">
              <a:latin typeface="Arial" charset="0"/>
            </a:endParaRPr>
          </a:p>
        </p:txBody>
      </p:sp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Arial Narrow" charset="0"/>
              </a:rPr>
              <a:t>There are some variations of BDDS.</a:t>
            </a:r>
          </a:p>
          <a:p>
            <a:r>
              <a:rPr lang="en-US">
                <a:latin typeface="Arial Narrow" charset="0"/>
              </a:rPr>
              <a:t>For example, ordered functional decision diagrams (OFDDs) are based on another decomposition.</a:t>
            </a:r>
          </a:p>
          <a:p>
            <a:r>
              <a:rPr lang="en-US">
                <a:latin typeface="Arial Narrow" charset="0"/>
              </a:rPr>
              <a:t>Algebraic decision diagrams (ADDs) are good to represent discrete functions.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92D4A814-B9EE-7540-A619-F26174D7ED68}" type="slidenum">
              <a:rPr lang="en-US" sz="1000" b="0">
                <a:latin typeface="Arial" charset="0"/>
              </a:rPr>
              <a:pPr/>
              <a:t>47</a:t>
            </a:fld>
            <a:endParaRPr lang="en-US" sz="1000" b="0">
              <a:latin typeface="Arial" charset="0"/>
            </a:endParaRPr>
          </a:p>
        </p:txBody>
      </p:sp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latin typeface="Arial Narrow" charset="0"/>
              </a:rPr>
              <a:t>Zero-suppressed decision diagrams (ZDDS) are BDDs with other reduction rules.</a:t>
            </a:r>
          </a:p>
          <a:p>
            <a:r>
              <a:rPr lang="en-US" dirty="0">
                <a:latin typeface="Arial Narrow" charset="0"/>
              </a:rPr>
              <a:t>In particular,  all nodes whose 1-edge points to the 0-leaf are eliminated and the incoming edges are redirected to the 0-subgraph.</a:t>
            </a:r>
          </a:p>
          <a:p>
            <a:r>
              <a:rPr lang="en-US" dirty="0">
                <a:latin typeface="Arial Narrow" charset="0"/>
              </a:rPr>
              <a:t>ZDDs are good to represent ensembles of subsets, which are typically very </a:t>
            </a:r>
            <a:r>
              <a:rPr lang="en-US">
                <a:latin typeface="Arial Narrow" charset="0"/>
              </a:rPr>
              <a:t>sparse.</a:t>
            </a:r>
            <a:endParaRPr lang="en-US" dirty="0">
              <a:latin typeface="Arial Narrow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92D4A814-B9EE-7540-A619-F26174D7ED68}" type="slidenum">
              <a:rPr lang="en-US" sz="1000" b="0">
                <a:latin typeface="Arial" charset="0"/>
              </a:rPr>
              <a:pPr/>
              <a:t>48</a:t>
            </a:fld>
            <a:endParaRPr lang="en-US" sz="1000" b="0">
              <a:latin typeface="Arial" charset="0"/>
            </a:endParaRPr>
          </a:p>
        </p:txBody>
      </p:sp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Arial Narrow" charset="0"/>
              </a:rPr>
              <a:t>Zero-suppressed decision diagrams (ZDDS) are BDDs with other reduction rules.</a:t>
            </a:r>
          </a:p>
          <a:p>
            <a:r>
              <a:rPr lang="en-US">
                <a:latin typeface="Arial Narrow" charset="0"/>
              </a:rPr>
              <a:t>In particular,  all nodes whose 1-edge points to the 0-leaf are eliminated and the incoming edges are redirected to the 0-subgraph.</a:t>
            </a:r>
          </a:p>
          <a:p>
            <a:r>
              <a:rPr lang="en-US">
                <a:latin typeface="Arial Narrow" charset="0"/>
              </a:rPr>
              <a:t>ZDDs are good to represent ensembles of subsets, which are typically very sparse.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Classical</a:t>
            </a:r>
            <a:r>
              <a:rPr lang="en-US" baseline="0" dirty="0"/>
              <a:t> BDDs represent completely specified Boolean functions.</a:t>
            </a:r>
          </a:p>
          <a:p>
            <a:r>
              <a:rPr lang="en-US" baseline="0" dirty="0"/>
              <a:t>To represent sets, a set is put in one-to-one correspondence with its char. function.</a:t>
            </a:r>
          </a:p>
          <a:p>
            <a:r>
              <a:rPr lang="en-US" dirty="0"/>
              <a:t>For each item,</a:t>
            </a:r>
            <a:r>
              <a:rPr lang="en-US" baseline="0" dirty="0"/>
              <a:t> a </a:t>
            </a:r>
            <a:r>
              <a:rPr lang="en-US" baseline="0" dirty="0" err="1"/>
              <a:t>minterm</a:t>
            </a:r>
            <a:r>
              <a:rPr lang="en-US" baseline="0" dirty="0"/>
              <a:t> is added to the on-set of the char. function.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EF7F234-2C00-3045-B6BE-60ED395AB4D0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8088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88C5FE16-C6F2-7944-8EF0-99471E667AE1}" type="slidenum">
              <a:rPr lang="en-US" sz="1000" b="0">
                <a:latin typeface="Arial" charset="0"/>
              </a:rPr>
              <a:pPr/>
              <a:t>50</a:t>
            </a:fld>
            <a:endParaRPr lang="en-US" sz="1000" b="0">
              <a:latin typeface="Arial" charset="0"/>
            </a:endParaRPr>
          </a:p>
        </p:txBody>
      </p:sp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latin typeface="Arial Narro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75585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 defTabSz="898525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defTabSz="89852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D24BEF79-9E83-C442-9D44-58A3A8990E32}" type="slidenum">
              <a:rPr lang="en-US" sz="1000" b="0">
                <a:latin typeface="Arial" charset="0"/>
              </a:rPr>
              <a:pPr/>
              <a:t>51</a:t>
            </a:fld>
            <a:endParaRPr lang="en-US" sz="1000" b="0">
              <a:latin typeface="Arial" charset="0"/>
            </a:endParaRPr>
          </a:p>
        </p:txBody>
      </p:sp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Arial Narrow" charset="0"/>
              </a:rPr>
              <a:t>Overall BDDs have been applied to many problems in CAD, such as synthesis and verification.</a:t>
            </a:r>
          </a:p>
          <a:p>
            <a:r>
              <a:rPr lang="en-US">
                <a:latin typeface="Arial Narrow" charset="0"/>
              </a:rPr>
              <a:t>They are very efficient for manipulating Boolean functions. They work well in most cases: notable exceptions are multipliers.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4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54000" y="609600"/>
            <a:ext cx="7772400" cy="11430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594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76350" y="2900363"/>
            <a:ext cx="6400800" cy="1752600"/>
          </a:xfrm>
        </p:spPr>
        <p:txBody>
          <a:bodyPr/>
          <a:lstStyle>
            <a:lvl1pPr marL="0" indent="0" algn="ctr">
              <a:lnSpc>
                <a:spcPct val="95000"/>
              </a:lnSpc>
              <a:buFont typeface="Monotype Sorts" pitchFamily="1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109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 Giovanni De Micheli</a:t>
            </a:r>
          </a:p>
        </p:txBody>
      </p:sp>
      <p:sp>
        <p:nvSpPr>
          <p:cNvPr id="5" name="Rectangle 110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4A8764D-E640-6643-B3C8-A9717B3B70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286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 Giovanni De Micheli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ED51B5-408C-0347-82E2-D7283C0E7E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464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 Giovanni De Micheli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41A072-801A-014C-850C-FA455B00F9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923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079500"/>
            <a:ext cx="4273550" cy="5207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4550" y="1079500"/>
            <a:ext cx="4273550" cy="5207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 Giovanni De Micheli</a:t>
            </a:r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C977D2-EC81-5A49-B4A9-3CF54CBF92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04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 Giovanni De Micheli</a:t>
            </a:r>
          </a:p>
        </p:txBody>
      </p:sp>
      <p:sp>
        <p:nvSpPr>
          <p:cNvPr id="8" name="Rectangle 1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253294-35BA-0149-94DC-7F34B2B892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782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 Giovanni De Micheli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19911E-E0E8-8647-813C-6A882B9E57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154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 Giovanni De Micheli</a:t>
            </a:r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66EFAE-EC29-7C4F-AD07-4F606817FD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413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 Giovanni De Micheli</a:t>
            </a:r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FE3BC-0EBE-D14A-B559-5C06883548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360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 Giovanni De Micheli</a:t>
            </a:r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654507-3E91-D140-B50D-0AE25594C4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97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 Giovanni De Micheli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057E9F-62AE-AC49-BA41-1DF6AB2FEA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084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2750" y="203200"/>
            <a:ext cx="2178050" cy="6083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203200"/>
            <a:ext cx="6381750" cy="6083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 Giovanni De Micheli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F8B881-4481-A14E-B871-2399923A47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531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1300" y="203200"/>
            <a:ext cx="8699500" cy="6858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079500"/>
            <a:ext cx="8699500" cy="5207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Line 17"/>
          <p:cNvSpPr>
            <a:spLocks noChangeShapeType="1"/>
          </p:cNvSpPr>
          <p:nvPr userDrawn="1"/>
        </p:nvSpPr>
        <p:spPr bwMode="auto">
          <a:xfrm>
            <a:off x="247650" y="912813"/>
            <a:ext cx="86868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8482" name="Rectangle 1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-76200" y="6356350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 Narrow" pitchFamily="1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(c)  Giovanni De Micheli</a:t>
            </a:r>
          </a:p>
        </p:txBody>
      </p:sp>
      <p:sp>
        <p:nvSpPr>
          <p:cNvPr id="95848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67463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 smtClean="0">
                <a:cs typeface="+mn-cs"/>
              </a:defRPr>
            </a:lvl1pPr>
          </a:lstStyle>
          <a:p>
            <a:pPr>
              <a:defRPr/>
            </a:pPr>
            <a:fld id="{3455D254-55E9-6B47-B6F3-F42F49BDE7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Arial Narrow" pitchFamily="1" charset="0"/>
          <a:ea typeface="ＭＳ Ｐゴシック" charset="0"/>
          <a:cs typeface="ＭＳ Ｐゴシック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Arial Narrow" pitchFamily="1" charset="0"/>
          <a:ea typeface="ＭＳ Ｐゴシック" charset="0"/>
          <a:cs typeface="ＭＳ Ｐゴシック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Arial Narrow" pitchFamily="1" charset="0"/>
          <a:ea typeface="ＭＳ Ｐゴシック" charset="0"/>
          <a:cs typeface="ＭＳ Ｐゴシック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Arial Narrow" pitchFamily="1" charset="0"/>
          <a:ea typeface="ＭＳ Ｐゴシック" charset="0"/>
          <a:cs typeface="ＭＳ Ｐゴシック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Arial Narrow" pitchFamily="1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Arial Narrow" pitchFamily="1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Arial Narrow" pitchFamily="1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Arial Narrow" pitchFamily="1" charset="0"/>
        </a:defRPr>
      </a:lvl9pPr>
    </p:titleStyle>
    <p:bodyStyle>
      <a:lvl1pPr marL="285750" indent="-285750" algn="l" rtl="0" eaLnBrk="0" fontAlgn="base" hangingPunct="0">
        <a:lnSpc>
          <a:spcPct val="125000"/>
        </a:lnSpc>
        <a:spcBef>
          <a:spcPct val="30000"/>
        </a:spcBef>
        <a:spcAft>
          <a:spcPct val="0"/>
        </a:spcAft>
        <a:buClr>
          <a:srgbClr val="660066"/>
        </a:buClr>
        <a:buSzPct val="85000"/>
        <a:buFont typeface="Monotype Sorts" charset="0"/>
        <a:buChar char="u"/>
        <a:defRPr sz="2800" b="1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628650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hlink"/>
        </a:buClr>
        <a:buSzPct val="75000"/>
        <a:buFont typeface="Monotype Sorts" charset="0"/>
        <a:buChar char="s"/>
        <a:defRPr sz="2400" b="1">
          <a:solidFill>
            <a:schemeClr val="tx1"/>
          </a:solidFill>
          <a:latin typeface="+mn-lt"/>
          <a:ea typeface="ＭＳ Ｐゴシック" charset="0"/>
        </a:defRPr>
      </a:lvl2pPr>
      <a:lvl3pPr marL="97155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1"/>
        </a:buClr>
        <a:buSzPct val="75000"/>
        <a:buFont typeface="Monotype Sorts" charset="0"/>
        <a:buChar char="t"/>
        <a:defRPr sz="2000" b="1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SzPct val="50000"/>
        <a:buFont typeface="Monotype Sorts" charset="0"/>
        <a:buChar char="u"/>
        <a:defRPr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1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2.bin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3.bin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1.emf"/><Relationship Id="rId4" Type="http://schemas.openxmlformats.org/officeDocument/2006/relationships/oleObject" Target="../embeddings/oleObject4.bin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5.bin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9388" y="793750"/>
            <a:ext cx="8915400" cy="1474788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br>
              <a:rPr lang="en-US" i="1">
                <a:solidFill>
                  <a:schemeClr val="accent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 Narrow" charset="0"/>
                <a:cs typeface="+mj-cs"/>
              </a:rPr>
            </a:br>
            <a:r>
              <a:rPr lang="en-US" sz="3600" i="1">
                <a:solidFill>
                  <a:schemeClr val="accent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 Narrow" charset="0"/>
                <a:cs typeface="+mj-cs"/>
              </a:rPr>
              <a:t>Binary Decision Diagrams</a:t>
            </a:r>
          </a:p>
        </p:txBody>
      </p:sp>
      <p:sp>
        <p:nvSpPr>
          <p:cNvPr id="1417219" name="Rectangle 3"/>
          <p:cNvSpPr>
            <a:spLocks noChangeArrowheads="1"/>
          </p:cNvSpPr>
          <p:nvPr/>
        </p:nvSpPr>
        <p:spPr bwMode="auto">
          <a:xfrm>
            <a:off x="1066800" y="304800"/>
            <a:ext cx="708660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lnSpc>
                <a:spcPct val="0"/>
              </a:lnSpc>
              <a:spcBef>
                <a:spcPct val="30000"/>
              </a:spcBef>
              <a:buClr>
                <a:srgbClr val="660066"/>
              </a:buClr>
              <a:buSzPct val="85000"/>
              <a:buFont typeface="Monotype Sorts" charset="0"/>
              <a:buNone/>
              <a:defRPr/>
            </a:pPr>
            <a:r>
              <a:rPr lang="it-IT" sz="1600">
                <a:solidFill>
                  <a:schemeClr val="bg1"/>
                </a:solidFill>
                <a:effectLst>
                  <a:outerShdw blurRad="38100" dist="38100" dir="2700000" algn="tl">
                    <a:srgbClr val="DDDDDD"/>
                  </a:outerShdw>
                </a:effectLst>
                <a:cs typeface="+mn-cs"/>
              </a:rPr>
              <a:t> </a:t>
            </a:r>
          </a:p>
        </p:txBody>
      </p:sp>
      <p:sp>
        <p:nvSpPr>
          <p:cNvPr id="15363" name="Rectangle 4"/>
          <p:cNvSpPr>
            <a:spLocks noGrp="1" noChangeArrowheads="1"/>
          </p:cNvSpPr>
          <p:nvPr/>
        </p:nvSpPr>
        <p:spPr bwMode="auto">
          <a:xfrm>
            <a:off x="498475" y="2859088"/>
            <a:ext cx="79248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r>
              <a:rPr lang="en-US" sz="3600" dirty="0"/>
              <a:t>Giovanni De </a:t>
            </a:r>
            <a:r>
              <a:rPr lang="en-US" sz="3600" dirty="0" err="1"/>
              <a:t>Micheli</a:t>
            </a:r>
            <a:endParaRPr lang="en-US" sz="3600" dirty="0"/>
          </a:p>
          <a:p>
            <a:r>
              <a:rPr lang="en-US" sz="3200" i="1" dirty="0"/>
              <a:t>Integrated Systems Laboratory</a:t>
            </a:r>
          </a:p>
          <a:p>
            <a:endParaRPr lang="en-US" sz="3200" i="1" dirty="0"/>
          </a:p>
        </p:txBody>
      </p:sp>
      <p:sp>
        <p:nvSpPr>
          <p:cNvPr id="15364" name="Text Box 5"/>
          <p:cNvSpPr txBox="1">
            <a:spLocks noChangeArrowheads="1"/>
          </p:cNvSpPr>
          <p:nvPr/>
        </p:nvSpPr>
        <p:spPr bwMode="auto">
          <a:xfrm>
            <a:off x="698500" y="5980113"/>
            <a:ext cx="7891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200"/>
              <a:t>This presentation can be used for non-commercial purposes as long as this note and the copyright footers are not removed</a:t>
            </a:r>
          </a:p>
          <a:p>
            <a:pPr>
              <a:spcBef>
                <a:spcPct val="50000"/>
              </a:spcBef>
            </a:pPr>
            <a:r>
              <a:rPr lang="en-US" sz="1200"/>
              <a:t>© Giovanni De Micheli – All rights reserved</a:t>
            </a:r>
          </a:p>
        </p:txBody>
      </p:sp>
      <p:sp>
        <p:nvSpPr>
          <p:cNvPr id="15367" name="Line 8"/>
          <p:cNvSpPr>
            <a:spLocks noChangeShapeType="1"/>
          </p:cNvSpPr>
          <p:nvPr/>
        </p:nvSpPr>
        <p:spPr bwMode="auto">
          <a:xfrm>
            <a:off x="1020763" y="5745163"/>
            <a:ext cx="7278687" cy="79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5368" name="Picture 9" descr="mcgraw1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625" y="4592638"/>
            <a:ext cx="598488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4" descr="isultati immagini per epfl lsi logo">
            <a:extLst>
              <a:ext uri="{FF2B5EF4-FFF2-40B4-BE49-F238E27FC236}">
                <a16:creationId xmlns:a16="http://schemas.microsoft.com/office/drawing/2014/main" id="{6576277D-9798-DA41-8EE0-9E8D972B87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919" y="4814888"/>
            <a:ext cx="1320651" cy="726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20B8428-8CB7-C145-A845-ADF645D54FCB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8600" y="4630737"/>
            <a:ext cx="1574800" cy="8858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r>
              <a:rPr lang="en-US" sz="1400" b="0"/>
              <a:t>(c)  Giovanni De Micheli</a:t>
            </a:r>
          </a:p>
        </p:txBody>
      </p:sp>
      <p:sp>
        <p:nvSpPr>
          <p:cNvPr id="1741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0E00D97A-2338-E846-B7D1-FCE8A7CDAE81}" type="slidenum">
              <a:rPr lang="en-US" sz="1400" b="0"/>
              <a:pPr/>
              <a:t>2</a:t>
            </a:fld>
            <a:endParaRPr lang="en-US" sz="1400" b="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>
                <a:latin typeface="Arial Narrow" charset="0"/>
              </a:rPr>
              <a:t>Module 1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Arial Narrow" charset="0"/>
              </a:rPr>
              <a:t>Objectives:</a:t>
            </a:r>
          </a:p>
          <a:p>
            <a:pPr lvl="1"/>
            <a:r>
              <a:rPr lang="en-US">
                <a:latin typeface="Arial Narrow" charset="0"/>
              </a:rPr>
              <a:t>Definitions of BDDs, OBDDs and ROBDDs</a:t>
            </a:r>
          </a:p>
          <a:p>
            <a:pPr lvl="1"/>
            <a:r>
              <a:rPr lang="en-US">
                <a:latin typeface="Arial Narrow" charset="0"/>
              </a:rPr>
              <a:t>Logic operations on BDDs</a:t>
            </a:r>
          </a:p>
          <a:p>
            <a:pPr lvl="1"/>
            <a:r>
              <a:rPr lang="en-US">
                <a:latin typeface="Arial Narrow" charset="0"/>
              </a:rPr>
              <a:t>The ITE operator</a:t>
            </a:r>
          </a:p>
          <a:p>
            <a:pPr>
              <a:buFont typeface="Monotype Sorts" charset="0"/>
              <a:buNone/>
            </a:pPr>
            <a:endParaRPr lang="en-US">
              <a:latin typeface="Arial Narrow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Narrow" charset="0"/>
              </a:rPr>
              <a:t>2020 US election – while counting one day after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A3814C70-0693-984B-9DE4-4D68615869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" y="1623929"/>
            <a:ext cx="9067595" cy="4732421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(c)  Giovanni De Micheli</a:t>
            </a:r>
          </a:p>
        </p:txBody>
      </p:sp>
      <p:sp>
        <p:nvSpPr>
          <p:cNvPr id="10854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9B5D9B30-105A-E848-8E1E-14033C5A3F2D}" type="slidenum">
              <a:rPr lang="en-US" sz="1400" b="0"/>
              <a:pPr/>
              <a:t>3</a:t>
            </a:fld>
            <a:endParaRPr lang="en-US" sz="1400" b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>
              <a:latin typeface="Arial Narrow" charset="0"/>
            </a:endParaRPr>
          </a:p>
        </p:txBody>
      </p:sp>
      <p:sp>
        <p:nvSpPr>
          <p:cNvPr id="10854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>
              <a:latin typeface="Arial Narrow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(c)  Giovanni De Micheli</a:t>
            </a:r>
          </a:p>
        </p:txBody>
      </p:sp>
      <p:sp>
        <p:nvSpPr>
          <p:cNvPr id="10854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9B5D9B30-105A-E848-8E1E-14033C5A3F2D}" type="slidenum">
              <a:rPr lang="en-US" sz="1400" b="0"/>
              <a:pPr/>
              <a:t>4</a:t>
            </a:fld>
            <a:endParaRPr lang="en-US" sz="1400" b="0"/>
          </a:p>
        </p:txBody>
      </p:sp>
      <p:pic>
        <p:nvPicPr>
          <p:cNvPr id="108549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750" y="438150"/>
            <a:ext cx="8374063" cy="618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2170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4500" y="203200"/>
            <a:ext cx="8699500" cy="685800"/>
          </a:xfrm>
        </p:spPr>
        <p:txBody>
          <a:bodyPr/>
          <a:lstStyle/>
          <a:p>
            <a:r>
              <a:rPr lang="en-US" dirty="0"/>
              <a:t>US 2016 elections</a:t>
            </a:r>
          </a:p>
        </p:txBody>
      </p:sp>
      <p:pic>
        <p:nvPicPr>
          <p:cNvPr id="6" name="Content Placeholder 5" descr="bdd.pdf"/>
          <p:cNvPicPr>
            <a:picLocks noGrp="1" noChangeAspect="1"/>
          </p:cNvPicPr>
          <p:nvPr>
            <p:ph idx="1"/>
          </p:nvPr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colorTemperature colorTemp="7200"/>
                    </a14:imgEffect>
                    <a14:imgEffect>
                      <a14:saturation sat="2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8852" b="28852"/>
          <a:stretch>
            <a:fillRect/>
          </a:stretch>
        </p:blipFill>
        <p:spPr>
          <a:xfrm>
            <a:off x="-628876" y="0"/>
            <a:ext cx="10503055" cy="6286500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(c)  Giovanni De Micheli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8ED51B5-408C-0347-82E2-D7283C0E7ED0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592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r>
              <a:rPr lang="en-US" sz="1400" b="0"/>
              <a:t>(c)  Giovanni De Micheli</a:t>
            </a:r>
          </a:p>
        </p:txBody>
      </p:sp>
      <p:sp>
        <p:nvSpPr>
          <p:cNvPr id="1945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0CBB2A44-AE7E-F540-9612-CC52D1486AE6}" type="slidenum">
              <a:rPr lang="en-US" sz="1400" b="0"/>
              <a:pPr/>
              <a:t>6</a:t>
            </a:fld>
            <a:endParaRPr lang="en-US" sz="1400" b="0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>
                <a:latin typeface="Arial Narrow" charset="0"/>
              </a:rPr>
              <a:t>Motivation</a:t>
            </a:r>
          </a:p>
        </p:txBody>
      </p:sp>
      <p:sp>
        <p:nvSpPr>
          <p:cNvPr id="1358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600">
                <a:latin typeface="Arial Narrow" charset="0"/>
              </a:rPr>
              <a:t>Efficient way to represent logic functions</a:t>
            </a:r>
            <a:endParaRPr lang="en-US">
              <a:latin typeface="Arial Narrow" charset="0"/>
            </a:endParaRPr>
          </a:p>
          <a:p>
            <a:r>
              <a:rPr lang="en-US" sz="2600">
                <a:latin typeface="Arial Narrow" charset="0"/>
              </a:rPr>
              <a:t>History</a:t>
            </a:r>
          </a:p>
          <a:p>
            <a:pPr lvl="1"/>
            <a:r>
              <a:rPr lang="en-US" sz="2300">
                <a:latin typeface="Arial Narrow" charset="0"/>
              </a:rPr>
              <a:t>Original idea for BDD due to Lee (1959) and Akers (1978)</a:t>
            </a:r>
          </a:p>
          <a:p>
            <a:pPr lvl="1"/>
            <a:r>
              <a:rPr lang="en-US" sz="2300">
                <a:latin typeface="Arial Narrow" charset="0"/>
              </a:rPr>
              <a:t>Refined, formalized and popularized by Bryant (1986)</a:t>
            </a:r>
          </a:p>
          <a:p>
            <a:pPr lvl="2"/>
            <a:r>
              <a:rPr lang="en-US">
                <a:latin typeface="Arial Narrow" charset="0"/>
              </a:rPr>
              <a:t>Smaller memory footprint</a:t>
            </a:r>
          </a:p>
          <a:p>
            <a:pPr lvl="2"/>
            <a:r>
              <a:rPr lang="en-US">
                <a:latin typeface="Arial Narrow" charset="0"/>
              </a:rPr>
              <a:t>Canonical form – each distinct function correspond to a unique distinct diagram</a:t>
            </a:r>
            <a:endParaRPr lang="en-US" sz="2100" i="1">
              <a:solidFill>
                <a:schemeClr val="accent2"/>
              </a:solidFill>
              <a:latin typeface="Arial Narrow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r>
              <a:rPr lang="en-US" sz="1400" b="0"/>
              <a:t>(c)  Giovanni De Micheli</a:t>
            </a:r>
          </a:p>
        </p:txBody>
      </p:sp>
      <p:sp>
        <p:nvSpPr>
          <p:cNvPr id="2150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25887CC9-3737-1E42-A081-5B2126B5BDFA}" type="slidenum">
              <a:rPr lang="en-US" sz="1400" b="0"/>
              <a:pPr/>
              <a:t>7</a:t>
            </a:fld>
            <a:endParaRPr lang="en-US" sz="1400" b="0"/>
          </a:p>
        </p:txBody>
      </p:sp>
      <p:sp>
        <p:nvSpPr>
          <p:cNvPr id="1359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69900" indent="-469900">
              <a:lnSpc>
                <a:spcPct val="105000"/>
              </a:lnSpc>
              <a:buFontTx/>
              <a:buNone/>
            </a:pPr>
            <a:endParaRPr lang="en-US" sz="1800" i="1">
              <a:latin typeface="Arial Narrow" charset="0"/>
            </a:endParaRPr>
          </a:p>
          <a:p>
            <a:pPr marL="469900" indent="-469900">
              <a:lnSpc>
                <a:spcPct val="105000"/>
              </a:lnSpc>
            </a:pPr>
            <a:r>
              <a:rPr lang="en-US" sz="2000">
                <a:latin typeface="Arial Narrow" charset="0"/>
              </a:rPr>
              <a:t>Each logic function has a unique representation</a:t>
            </a:r>
          </a:p>
          <a:p>
            <a:pPr marL="469900" indent="-469900">
              <a:lnSpc>
                <a:spcPct val="105000"/>
              </a:lnSpc>
            </a:pPr>
            <a:endParaRPr lang="en-US" sz="2000">
              <a:latin typeface="Arial Narrow" charset="0"/>
            </a:endParaRPr>
          </a:p>
          <a:p>
            <a:pPr marL="469900" indent="-469900">
              <a:lnSpc>
                <a:spcPct val="105000"/>
              </a:lnSpc>
            </a:pPr>
            <a:r>
              <a:rPr lang="en-US" sz="2000">
                <a:latin typeface="Arial Narrow" charset="0"/>
              </a:rPr>
              <a:t>Truth table</a:t>
            </a:r>
          </a:p>
          <a:p>
            <a:pPr marL="469900" indent="-469900">
              <a:lnSpc>
                <a:spcPct val="105000"/>
              </a:lnSpc>
              <a:buFont typeface="Monotype Sorts" charset="0"/>
              <a:buNone/>
            </a:pPr>
            <a:endParaRPr lang="en-US" sz="2000">
              <a:latin typeface="Arial Narrow" charset="0"/>
            </a:endParaRPr>
          </a:p>
          <a:p>
            <a:pPr marL="469900" indent="-469900">
              <a:lnSpc>
                <a:spcPct val="105000"/>
              </a:lnSpc>
              <a:buFont typeface="Monotype Sorts" charset="0"/>
              <a:buNone/>
            </a:pPr>
            <a:endParaRPr lang="en-US" sz="2000">
              <a:latin typeface="Arial Narrow" charset="0"/>
            </a:endParaRPr>
          </a:p>
          <a:p>
            <a:pPr marL="469900" indent="-469900">
              <a:lnSpc>
                <a:spcPct val="105000"/>
              </a:lnSpc>
            </a:pPr>
            <a:endParaRPr lang="en-US" sz="2000">
              <a:latin typeface="Arial Narrow" charset="0"/>
            </a:endParaRPr>
          </a:p>
          <a:p>
            <a:pPr marL="469900" indent="-469900">
              <a:lnSpc>
                <a:spcPct val="105000"/>
              </a:lnSpc>
            </a:pPr>
            <a:endParaRPr lang="en-US" sz="2000">
              <a:latin typeface="Arial Narrow" charset="0"/>
            </a:endParaRPr>
          </a:p>
          <a:p>
            <a:pPr marL="469900" indent="-469900">
              <a:lnSpc>
                <a:spcPct val="105000"/>
              </a:lnSpc>
            </a:pPr>
            <a:endParaRPr lang="en-US" sz="2000">
              <a:latin typeface="Arial Narrow" charset="0"/>
            </a:endParaRPr>
          </a:p>
          <a:p>
            <a:pPr marL="469900" indent="-469900">
              <a:lnSpc>
                <a:spcPct val="105000"/>
              </a:lnSpc>
            </a:pPr>
            <a:endParaRPr lang="en-US" sz="2000">
              <a:latin typeface="Arial Narrow" charset="0"/>
            </a:endParaRPr>
          </a:p>
          <a:p>
            <a:pPr marL="469900" indent="-469900">
              <a:lnSpc>
                <a:spcPct val="105000"/>
              </a:lnSpc>
            </a:pPr>
            <a:endParaRPr lang="en-US" sz="2000">
              <a:latin typeface="Arial Narrow" charset="0"/>
            </a:endParaRPr>
          </a:p>
          <a:p>
            <a:pPr marL="469900" indent="-469900">
              <a:lnSpc>
                <a:spcPct val="105000"/>
              </a:lnSpc>
            </a:pPr>
            <a:r>
              <a:rPr lang="en-US" sz="2000">
                <a:latin typeface="Arial Narrow" charset="0"/>
              </a:rPr>
              <a:t>Sum of minterms</a:t>
            </a:r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Narrow" charset="0"/>
              </a:rPr>
              <a:t>Canonical forms - review</a:t>
            </a:r>
          </a:p>
        </p:txBody>
      </p:sp>
      <p:graphicFrame>
        <p:nvGraphicFramePr>
          <p:cNvPr id="1359939" name="Group 67"/>
          <p:cNvGraphicFramePr>
            <a:graphicFrameLocks noGrp="1"/>
          </p:cNvGraphicFramePr>
          <p:nvPr/>
        </p:nvGraphicFramePr>
        <p:xfrm>
          <a:off x="4711700" y="2295525"/>
          <a:ext cx="990600" cy="2461455"/>
        </p:xfrm>
        <a:graphic>
          <a:graphicData uri="http://schemas.openxmlformats.org/drawingml/2006/table">
            <a:tbl>
              <a:tblPr/>
              <a:tblGrid>
                <a:gridCol w="258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7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a</a:t>
                      </a:r>
                    </a:p>
                  </a:txBody>
                  <a:tcPr marL="45720" marR="45720" marT="0" marB="0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b</a:t>
                      </a:r>
                    </a:p>
                  </a:txBody>
                  <a:tcPr marL="45720" marR="45720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c</a:t>
                      </a:r>
                    </a:p>
                  </a:txBody>
                  <a:tcPr marL="45720" marR="4572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F</a:t>
                      </a:r>
                    </a:p>
                  </a:txBody>
                  <a:tcPr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0</a:t>
                      </a:r>
                    </a:p>
                  </a:txBody>
                  <a:tcPr marL="45720" marR="45720" marT="0" marB="0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0</a:t>
                      </a:r>
                    </a:p>
                  </a:txBody>
                  <a:tcPr marL="45720" marR="45720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0</a:t>
                      </a:r>
                    </a:p>
                  </a:txBody>
                  <a:tcPr marL="45720" marR="4572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0</a:t>
                      </a:r>
                    </a:p>
                  </a:txBody>
                  <a:tcPr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0</a:t>
                      </a:r>
                    </a:p>
                  </a:txBody>
                  <a:tcPr marL="45720" marR="45720"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0</a:t>
                      </a:r>
                    </a:p>
                  </a:txBody>
                  <a:tcPr marL="45720" marR="4572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1</a:t>
                      </a:r>
                    </a:p>
                  </a:txBody>
                  <a:tcPr marL="45720" marR="4572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0</a:t>
                      </a:r>
                    </a:p>
                  </a:txBody>
                  <a:tcPr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0</a:t>
                      </a:r>
                    </a:p>
                  </a:txBody>
                  <a:tcPr marL="45720" marR="45720"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1</a:t>
                      </a:r>
                    </a:p>
                  </a:txBody>
                  <a:tcPr marL="45720" marR="4572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0</a:t>
                      </a:r>
                    </a:p>
                  </a:txBody>
                  <a:tcPr marL="45720" marR="4572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0</a:t>
                      </a:r>
                    </a:p>
                  </a:txBody>
                  <a:tcPr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0</a:t>
                      </a:r>
                    </a:p>
                  </a:txBody>
                  <a:tcPr marL="45720" marR="45720"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1</a:t>
                      </a:r>
                    </a:p>
                  </a:txBody>
                  <a:tcPr marL="45720" marR="4572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1</a:t>
                      </a:r>
                    </a:p>
                  </a:txBody>
                  <a:tcPr marL="45720" marR="4572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1</a:t>
                      </a:r>
                    </a:p>
                  </a:txBody>
                  <a:tcPr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1</a:t>
                      </a:r>
                    </a:p>
                  </a:txBody>
                  <a:tcPr marL="45720" marR="45720"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0</a:t>
                      </a:r>
                    </a:p>
                  </a:txBody>
                  <a:tcPr marL="45720" marR="4572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0</a:t>
                      </a:r>
                    </a:p>
                  </a:txBody>
                  <a:tcPr marL="45720" marR="4572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0</a:t>
                      </a:r>
                    </a:p>
                  </a:txBody>
                  <a:tcPr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1</a:t>
                      </a:r>
                    </a:p>
                  </a:txBody>
                  <a:tcPr marL="45720" marR="45720"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0</a:t>
                      </a:r>
                    </a:p>
                  </a:txBody>
                  <a:tcPr marL="45720" marR="4572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1</a:t>
                      </a:r>
                    </a:p>
                  </a:txBody>
                  <a:tcPr marL="45720" marR="4572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1</a:t>
                      </a:r>
                    </a:p>
                  </a:txBody>
                  <a:tcPr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1</a:t>
                      </a:r>
                    </a:p>
                  </a:txBody>
                  <a:tcPr marL="45720" marR="45720"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1</a:t>
                      </a:r>
                    </a:p>
                  </a:txBody>
                  <a:tcPr marL="45720" marR="4572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0</a:t>
                      </a:r>
                    </a:p>
                  </a:txBody>
                  <a:tcPr marL="45720" marR="4572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0</a:t>
                      </a:r>
                    </a:p>
                  </a:txBody>
                  <a:tcPr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1</a:t>
                      </a:r>
                    </a:p>
                  </a:txBody>
                  <a:tcPr marL="45720" marR="45720"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1</a:t>
                      </a:r>
                    </a:p>
                  </a:txBody>
                  <a:tcPr marL="45720" marR="4572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1</a:t>
                      </a:r>
                    </a:p>
                  </a:txBody>
                  <a:tcPr marL="45720" marR="4572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1</a:t>
                      </a:r>
                    </a:p>
                  </a:txBody>
                  <a:tcPr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59938" name="Text Box 66"/>
          <p:cNvSpPr txBox="1">
            <a:spLocks noChangeArrowheads="1"/>
          </p:cNvSpPr>
          <p:nvPr/>
        </p:nvSpPr>
        <p:spPr bwMode="auto">
          <a:xfrm>
            <a:off x="4648200" y="5424488"/>
            <a:ext cx="18780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800" b="0">
                <a:latin typeface="Verdana" charset="0"/>
                <a:cs typeface="Arial" charset="0"/>
              </a:rPr>
              <a:t>a</a:t>
            </a:r>
            <a:r>
              <a:rPr lang="ja-JP" altLang="en-US" sz="1800" b="0">
                <a:latin typeface="Verdana" charset="0"/>
                <a:cs typeface="Arial" charset="0"/>
              </a:rPr>
              <a:t>’</a:t>
            </a:r>
            <a:r>
              <a:rPr lang="en-US" altLang="ja-JP" sz="1800" b="0">
                <a:latin typeface="Verdana" charset="0"/>
                <a:cs typeface="Arial" charset="0"/>
              </a:rPr>
              <a:t>bc+ab</a:t>
            </a:r>
            <a:r>
              <a:rPr lang="ja-JP" altLang="en-US" sz="1800" b="0">
                <a:latin typeface="Verdana" charset="0"/>
                <a:cs typeface="Arial" charset="0"/>
              </a:rPr>
              <a:t>’</a:t>
            </a:r>
            <a:r>
              <a:rPr lang="en-US" altLang="ja-JP" sz="1800" b="0">
                <a:latin typeface="Verdana" charset="0"/>
                <a:cs typeface="Arial" charset="0"/>
              </a:rPr>
              <a:t>c+abc</a:t>
            </a:r>
            <a:endParaRPr lang="en-US" sz="1800" b="0">
              <a:latin typeface="Verdana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8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993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r>
              <a:rPr lang="en-US" sz="1400" b="0"/>
              <a:t>(c)  Giovanni De Micheli</a:t>
            </a:r>
          </a:p>
        </p:txBody>
      </p:sp>
      <p:sp>
        <p:nvSpPr>
          <p:cNvPr id="2355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483173B2-41E9-164F-91FA-252211CEA95E}" type="slidenum">
              <a:rPr lang="en-US" sz="1400" b="0"/>
              <a:pPr/>
              <a:t>8</a:t>
            </a:fld>
            <a:endParaRPr lang="en-US" sz="1400" b="0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Narrow" charset="0"/>
              </a:rPr>
              <a:t>Non canonical forms - review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712788"/>
            <a:ext cx="8699500" cy="5207000"/>
          </a:xfrm>
        </p:spPr>
        <p:txBody>
          <a:bodyPr/>
          <a:lstStyle/>
          <a:p>
            <a:pPr>
              <a:buFont typeface="Monotype Sorts" charset="0"/>
              <a:buNone/>
            </a:pPr>
            <a:endParaRPr lang="en-US">
              <a:latin typeface="Arial Narrow" charset="0"/>
            </a:endParaRPr>
          </a:p>
          <a:p>
            <a:r>
              <a:rPr lang="en-US">
                <a:latin typeface="Arial Narrow" charset="0"/>
              </a:rPr>
              <a:t>Each function has also multiple representations</a:t>
            </a:r>
          </a:p>
          <a:p>
            <a:pPr>
              <a:buFont typeface="Monotype Sorts" charset="0"/>
              <a:buNone/>
            </a:pPr>
            <a:endParaRPr lang="en-US">
              <a:latin typeface="Arial Narrow" charset="0"/>
            </a:endParaRPr>
          </a:p>
          <a:p>
            <a:r>
              <a:rPr lang="en-US">
                <a:latin typeface="Arial Narrow" charset="0"/>
              </a:rPr>
              <a:t>Factored form</a:t>
            </a:r>
          </a:p>
          <a:p>
            <a:pPr>
              <a:buFont typeface="Monotype Sorts" charset="0"/>
              <a:buNone/>
            </a:pPr>
            <a:endParaRPr lang="en-US">
              <a:latin typeface="Arial Narrow" charset="0"/>
            </a:endParaRPr>
          </a:p>
          <a:p>
            <a:r>
              <a:rPr lang="en-US">
                <a:latin typeface="Arial Narrow" charset="0"/>
              </a:rPr>
              <a:t>Logic network representation</a:t>
            </a: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4419600" y="2971800"/>
            <a:ext cx="977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800" b="0">
                <a:latin typeface="Verdana" charset="0"/>
                <a:cs typeface="Arial" charset="0"/>
              </a:rPr>
              <a:t>(a+b)c</a:t>
            </a: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6172200" y="2971800"/>
            <a:ext cx="889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800" b="0">
                <a:latin typeface="Verdana" charset="0"/>
                <a:cs typeface="Arial" charset="0"/>
              </a:rPr>
              <a:t>ac+bc</a:t>
            </a:r>
          </a:p>
        </p:txBody>
      </p:sp>
      <p:grpSp>
        <p:nvGrpSpPr>
          <p:cNvPr id="23559" name="Group 6"/>
          <p:cNvGrpSpPr>
            <a:grpSpLocks/>
          </p:cNvGrpSpPr>
          <p:nvPr/>
        </p:nvGrpSpPr>
        <p:grpSpPr bwMode="auto">
          <a:xfrm>
            <a:off x="3124200" y="4876800"/>
            <a:ext cx="1651000" cy="976313"/>
            <a:chOff x="2256" y="3120"/>
            <a:chExt cx="1040" cy="615"/>
          </a:xfrm>
        </p:grpSpPr>
        <p:grpSp>
          <p:nvGrpSpPr>
            <p:cNvPr id="23590" name="Group 7"/>
            <p:cNvGrpSpPr>
              <a:grpSpLocks noChangeAspect="1"/>
            </p:cNvGrpSpPr>
            <p:nvPr/>
          </p:nvGrpSpPr>
          <p:grpSpPr bwMode="auto">
            <a:xfrm>
              <a:off x="2496" y="3264"/>
              <a:ext cx="398" cy="199"/>
              <a:chOff x="1872" y="3024"/>
              <a:chExt cx="332" cy="166"/>
            </a:xfrm>
          </p:grpSpPr>
          <p:sp>
            <p:nvSpPr>
              <p:cNvPr id="23600" name="Freeform 8"/>
              <p:cNvSpPr>
                <a:spLocks noChangeAspect="1"/>
              </p:cNvSpPr>
              <p:nvPr/>
            </p:nvSpPr>
            <p:spPr bwMode="auto">
              <a:xfrm>
                <a:off x="1920" y="3024"/>
                <a:ext cx="216" cy="166"/>
              </a:xfrm>
              <a:custGeom>
                <a:avLst/>
                <a:gdLst>
                  <a:gd name="T0" fmla="*/ 216 w 578"/>
                  <a:gd name="T1" fmla="*/ 83 h 444"/>
                  <a:gd name="T2" fmla="*/ 65 w 578"/>
                  <a:gd name="T3" fmla="*/ 166 h 444"/>
                  <a:gd name="T4" fmla="*/ 65 w 578"/>
                  <a:gd name="T5" fmla="*/ 166 h 444"/>
                  <a:gd name="T6" fmla="*/ 0 w 578"/>
                  <a:gd name="T7" fmla="*/ 166 h 444"/>
                  <a:gd name="T8" fmla="*/ 0 w 578"/>
                  <a:gd name="T9" fmla="*/ 0 h 444"/>
                  <a:gd name="T10" fmla="*/ 0 w 578"/>
                  <a:gd name="T11" fmla="*/ 0 h 444"/>
                  <a:gd name="T12" fmla="*/ 65 w 578"/>
                  <a:gd name="T13" fmla="*/ 0 h 444"/>
                  <a:gd name="T14" fmla="*/ 216 w 578"/>
                  <a:gd name="T15" fmla="*/ 83 h 44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78"/>
                  <a:gd name="T25" fmla="*/ 0 h 444"/>
                  <a:gd name="T26" fmla="*/ 578 w 578"/>
                  <a:gd name="T27" fmla="*/ 444 h 44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78" h="444">
                    <a:moveTo>
                      <a:pt x="578" y="222"/>
                    </a:moveTo>
                    <a:cubicBezTo>
                      <a:pt x="509" y="332"/>
                      <a:pt x="359" y="414"/>
                      <a:pt x="174" y="444"/>
                    </a:cubicBezTo>
                    <a:lnTo>
                      <a:pt x="0" y="444"/>
                    </a:lnTo>
                    <a:cubicBezTo>
                      <a:pt x="108" y="304"/>
                      <a:pt x="108" y="141"/>
                      <a:pt x="0" y="0"/>
                    </a:cubicBezTo>
                    <a:lnTo>
                      <a:pt x="174" y="0"/>
                    </a:lnTo>
                    <a:cubicBezTo>
                      <a:pt x="360" y="29"/>
                      <a:pt x="510" y="112"/>
                      <a:pt x="578" y="222"/>
                    </a:cubicBezTo>
                    <a:close/>
                  </a:path>
                </a:pathLst>
              </a:custGeom>
              <a:solidFill>
                <a:srgbClr val="000080"/>
              </a:solidFill>
              <a:ln w="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01" name="Freeform 9"/>
              <p:cNvSpPr>
                <a:spLocks noChangeAspect="1"/>
              </p:cNvSpPr>
              <p:nvPr/>
            </p:nvSpPr>
            <p:spPr bwMode="auto">
              <a:xfrm>
                <a:off x="1920" y="3024"/>
                <a:ext cx="216" cy="166"/>
              </a:xfrm>
              <a:custGeom>
                <a:avLst/>
                <a:gdLst>
                  <a:gd name="T0" fmla="*/ 216 w 578"/>
                  <a:gd name="T1" fmla="*/ 83 h 444"/>
                  <a:gd name="T2" fmla="*/ 65 w 578"/>
                  <a:gd name="T3" fmla="*/ 166 h 444"/>
                  <a:gd name="T4" fmla="*/ 65 w 578"/>
                  <a:gd name="T5" fmla="*/ 166 h 444"/>
                  <a:gd name="T6" fmla="*/ 0 w 578"/>
                  <a:gd name="T7" fmla="*/ 166 h 444"/>
                  <a:gd name="T8" fmla="*/ 0 w 578"/>
                  <a:gd name="T9" fmla="*/ 0 h 444"/>
                  <a:gd name="T10" fmla="*/ 0 w 578"/>
                  <a:gd name="T11" fmla="*/ 0 h 444"/>
                  <a:gd name="T12" fmla="*/ 65 w 578"/>
                  <a:gd name="T13" fmla="*/ 0 h 444"/>
                  <a:gd name="T14" fmla="*/ 216 w 578"/>
                  <a:gd name="T15" fmla="*/ 83 h 44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78"/>
                  <a:gd name="T25" fmla="*/ 0 h 444"/>
                  <a:gd name="T26" fmla="*/ 578 w 578"/>
                  <a:gd name="T27" fmla="*/ 444 h 44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78" h="444">
                    <a:moveTo>
                      <a:pt x="578" y="222"/>
                    </a:moveTo>
                    <a:cubicBezTo>
                      <a:pt x="509" y="332"/>
                      <a:pt x="359" y="414"/>
                      <a:pt x="174" y="444"/>
                    </a:cubicBezTo>
                    <a:lnTo>
                      <a:pt x="0" y="444"/>
                    </a:lnTo>
                    <a:cubicBezTo>
                      <a:pt x="108" y="304"/>
                      <a:pt x="108" y="141"/>
                      <a:pt x="0" y="0"/>
                    </a:cubicBezTo>
                    <a:lnTo>
                      <a:pt x="174" y="0"/>
                    </a:lnTo>
                    <a:cubicBezTo>
                      <a:pt x="360" y="29"/>
                      <a:pt x="510" y="112"/>
                      <a:pt x="578" y="222"/>
                    </a:cubicBezTo>
                    <a:close/>
                  </a:path>
                </a:pathLst>
              </a:custGeom>
              <a:solidFill>
                <a:srgbClr val="000080"/>
              </a:solidFill>
              <a:ln w="31750" cap="rnd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02" name="Freeform 10"/>
              <p:cNvSpPr>
                <a:spLocks noChangeAspect="1" noEditPoints="1"/>
              </p:cNvSpPr>
              <p:nvPr/>
            </p:nvSpPr>
            <p:spPr bwMode="auto">
              <a:xfrm>
                <a:off x="1872" y="3069"/>
                <a:ext cx="332" cy="84"/>
              </a:xfrm>
              <a:custGeom>
                <a:avLst/>
                <a:gdLst>
                  <a:gd name="T0" fmla="*/ 0 w 332"/>
                  <a:gd name="T1" fmla="*/ 0 h 84"/>
                  <a:gd name="T2" fmla="*/ 165 w 332"/>
                  <a:gd name="T3" fmla="*/ 0 h 84"/>
                  <a:gd name="T4" fmla="*/ 0 w 332"/>
                  <a:gd name="T5" fmla="*/ 84 h 84"/>
                  <a:gd name="T6" fmla="*/ 165 w 332"/>
                  <a:gd name="T7" fmla="*/ 84 h 84"/>
                  <a:gd name="T8" fmla="*/ 332 w 332"/>
                  <a:gd name="T9" fmla="*/ 42 h 84"/>
                  <a:gd name="T10" fmla="*/ 165 w 332"/>
                  <a:gd name="T11" fmla="*/ 42 h 8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32"/>
                  <a:gd name="T19" fmla="*/ 0 h 84"/>
                  <a:gd name="T20" fmla="*/ 332 w 332"/>
                  <a:gd name="T21" fmla="*/ 84 h 8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32" h="84">
                    <a:moveTo>
                      <a:pt x="0" y="0"/>
                    </a:moveTo>
                    <a:lnTo>
                      <a:pt x="165" y="0"/>
                    </a:lnTo>
                    <a:moveTo>
                      <a:pt x="0" y="84"/>
                    </a:moveTo>
                    <a:lnTo>
                      <a:pt x="165" y="84"/>
                    </a:lnTo>
                    <a:moveTo>
                      <a:pt x="332" y="42"/>
                    </a:moveTo>
                    <a:lnTo>
                      <a:pt x="165" y="42"/>
                    </a:lnTo>
                  </a:path>
                </a:pathLst>
              </a:custGeom>
              <a:solidFill>
                <a:srgbClr val="000080"/>
              </a:solidFill>
              <a:ln w="31750" cap="rnd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3591" name="Freeform 11"/>
            <p:cNvSpPr>
              <a:spLocks noChangeAspect="1"/>
            </p:cNvSpPr>
            <p:nvPr/>
          </p:nvSpPr>
          <p:spPr bwMode="auto">
            <a:xfrm>
              <a:off x="2982" y="3320"/>
              <a:ext cx="259" cy="199"/>
            </a:xfrm>
            <a:custGeom>
              <a:avLst/>
              <a:gdLst>
                <a:gd name="T0" fmla="*/ 259 w 578"/>
                <a:gd name="T1" fmla="*/ 100 h 444"/>
                <a:gd name="T2" fmla="*/ 78 w 578"/>
                <a:gd name="T3" fmla="*/ 199 h 444"/>
                <a:gd name="T4" fmla="*/ 78 w 578"/>
                <a:gd name="T5" fmla="*/ 199 h 444"/>
                <a:gd name="T6" fmla="*/ 0 w 578"/>
                <a:gd name="T7" fmla="*/ 199 h 444"/>
                <a:gd name="T8" fmla="*/ 0 w 578"/>
                <a:gd name="T9" fmla="*/ 0 h 444"/>
                <a:gd name="T10" fmla="*/ 0 w 578"/>
                <a:gd name="T11" fmla="*/ 0 h 444"/>
                <a:gd name="T12" fmla="*/ 78 w 578"/>
                <a:gd name="T13" fmla="*/ 0 h 444"/>
                <a:gd name="T14" fmla="*/ 259 w 578"/>
                <a:gd name="T15" fmla="*/ 100 h 4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78"/>
                <a:gd name="T25" fmla="*/ 0 h 444"/>
                <a:gd name="T26" fmla="*/ 578 w 578"/>
                <a:gd name="T27" fmla="*/ 444 h 44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78" h="444">
                  <a:moveTo>
                    <a:pt x="578" y="222"/>
                  </a:moveTo>
                  <a:cubicBezTo>
                    <a:pt x="509" y="332"/>
                    <a:pt x="359" y="414"/>
                    <a:pt x="174" y="444"/>
                  </a:cubicBezTo>
                  <a:lnTo>
                    <a:pt x="0" y="444"/>
                  </a:lnTo>
                  <a:cubicBezTo>
                    <a:pt x="108" y="304"/>
                    <a:pt x="108" y="141"/>
                    <a:pt x="0" y="0"/>
                  </a:cubicBezTo>
                  <a:lnTo>
                    <a:pt x="174" y="0"/>
                  </a:lnTo>
                  <a:cubicBezTo>
                    <a:pt x="360" y="29"/>
                    <a:pt x="510" y="112"/>
                    <a:pt x="578" y="222"/>
                  </a:cubicBezTo>
                  <a:close/>
                </a:path>
              </a:pathLst>
            </a:custGeom>
            <a:solidFill>
              <a:srgbClr val="000080"/>
            </a:solidFill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92" name="Freeform 12"/>
            <p:cNvSpPr>
              <a:spLocks noChangeAspect="1"/>
            </p:cNvSpPr>
            <p:nvPr/>
          </p:nvSpPr>
          <p:spPr bwMode="auto">
            <a:xfrm>
              <a:off x="2982" y="3320"/>
              <a:ext cx="259" cy="199"/>
            </a:xfrm>
            <a:custGeom>
              <a:avLst/>
              <a:gdLst>
                <a:gd name="T0" fmla="*/ 259 w 578"/>
                <a:gd name="T1" fmla="*/ 100 h 444"/>
                <a:gd name="T2" fmla="*/ 78 w 578"/>
                <a:gd name="T3" fmla="*/ 199 h 444"/>
                <a:gd name="T4" fmla="*/ 78 w 578"/>
                <a:gd name="T5" fmla="*/ 199 h 444"/>
                <a:gd name="T6" fmla="*/ 0 w 578"/>
                <a:gd name="T7" fmla="*/ 199 h 444"/>
                <a:gd name="T8" fmla="*/ 0 w 578"/>
                <a:gd name="T9" fmla="*/ 0 h 444"/>
                <a:gd name="T10" fmla="*/ 0 w 578"/>
                <a:gd name="T11" fmla="*/ 0 h 444"/>
                <a:gd name="T12" fmla="*/ 78 w 578"/>
                <a:gd name="T13" fmla="*/ 0 h 444"/>
                <a:gd name="T14" fmla="*/ 259 w 578"/>
                <a:gd name="T15" fmla="*/ 100 h 4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78"/>
                <a:gd name="T25" fmla="*/ 0 h 444"/>
                <a:gd name="T26" fmla="*/ 578 w 578"/>
                <a:gd name="T27" fmla="*/ 444 h 44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78" h="444">
                  <a:moveTo>
                    <a:pt x="578" y="222"/>
                  </a:moveTo>
                  <a:cubicBezTo>
                    <a:pt x="509" y="332"/>
                    <a:pt x="359" y="414"/>
                    <a:pt x="174" y="444"/>
                  </a:cubicBezTo>
                  <a:lnTo>
                    <a:pt x="0" y="444"/>
                  </a:lnTo>
                  <a:cubicBezTo>
                    <a:pt x="108" y="304"/>
                    <a:pt x="108" y="141"/>
                    <a:pt x="0" y="0"/>
                  </a:cubicBezTo>
                  <a:lnTo>
                    <a:pt x="174" y="0"/>
                  </a:lnTo>
                  <a:cubicBezTo>
                    <a:pt x="360" y="29"/>
                    <a:pt x="510" y="112"/>
                    <a:pt x="578" y="222"/>
                  </a:cubicBezTo>
                  <a:close/>
                </a:path>
              </a:pathLst>
            </a:custGeom>
            <a:solidFill>
              <a:srgbClr val="000080"/>
            </a:solidFill>
            <a:ln w="31750" cap="rnd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93" name="Freeform 13"/>
            <p:cNvSpPr>
              <a:spLocks noChangeAspect="1"/>
            </p:cNvSpPr>
            <p:nvPr/>
          </p:nvSpPr>
          <p:spPr bwMode="auto">
            <a:xfrm>
              <a:off x="2982" y="3320"/>
              <a:ext cx="259" cy="199"/>
            </a:xfrm>
            <a:custGeom>
              <a:avLst/>
              <a:gdLst>
                <a:gd name="T0" fmla="*/ 160 w 578"/>
                <a:gd name="T1" fmla="*/ 199 h 444"/>
                <a:gd name="T2" fmla="*/ 0 w 578"/>
                <a:gd name="T3" fmla="*/ 199 h 444"/>
                <a:gd name="T4" fmla="*/ 0 w 578"/>
                <a:gd name="T5" fmla="*/ 0 h 444"/>
                <a:gd name="T6" fmla="*/ 160 w 578"/>
                <a:gd name="T7" fmla="*/ 0 h 444"/>
                <a:gd name="T8" fmla="*/ 259 w 578"/>
                <a:gd name="T9" fmla="*/ 100 h 444"/>
                <a:gd name="T10" fmla="*/ 160 w 578"/>
                <a:gd name="T11" fmla="*/ 199 h 444"/>
                <a:gd name="T12" fmla="*/ 160 w 578"/>
                <a:gd name="T13" fmla="*/ 199 h 4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78"/>
                <a:gd name="T22" fmla="*/ 0 h 444"/>
                <a:gd name="T23" fmla="*/ 578 w 578"/>
                <a:gd name="T24" fmla="*/ 444 h 44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78" h="444">
                  <a:moveTo>
                    <a:pt x="356" y="444"/>
                  </a:moveTo>
                  <a:lnTo>
                    <a:pt x="0" y="444"/>
                  </a:lnTo>
                  <a:lnTo>
                    <a:pt x="0" y="0"/>
                  </a:lnTo>
                  <a:lnTo>
                    <a:pt x="356" y="0"/>
                  </a:lnTo>
                  <a:cubicBezTo>
                    <a:pt x="479" y="0"/>
                    <a:pt x="578" y="99"/>
                    <a:pt x="578" y="222"/>
                  </a:cubicBezTo>
                  <a:cubicBezTo>
                    <a:pt x="578" y="345"/>
                    <a:pt x="479" y="444"/>
                    <a:pt x="356" y="444"/>
                  </a:cubicBezTo>
                  <a:cubicBezTo>
                    <a:pt x="356" y="444"/>
                    <a:pt x="356" y="444"/>
                    <a:pt x="356" y="444"/>
                  </a:cubicBezTo>
                  <a:close/>
                </a:path>
              </a:pathLst>
            </a:custGeom>
            <a:solidFill>
              <a:srgbClr val="000080"/>
            </a:solidFill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94" name="Freeform 14"/>
            <p:cNvSpPr>
              <a:spLocks noChangeAspect="1"/>
            </p:cNvSpPr>
            <p:nvPr/>
          </p:nvSpPr>
          <p:spPr bwMode="auto">
            <a:xfrm>
              <a:off x="2982" y="3320"/>
              <a:ext cx="259" cy="199"/>
            </a:xfrm>
            <a:custGeom>
              <a:avLst/>
              <a:gdLst>
                <a:gd name="T0" fmla="*/ 160 w 578"/>
                <a:gd name="T1" fmla="*/ 199 h 444"/>
                <a:gd name="T2" fmla="*/ 0 w 578"/>
                <a:gd name="T3" fmla="*/ 199 h 444"/>
                <a:gd name="T4" fmla="*/ 0 w 578"/>
                <a:gd name="T5" fmla="*/ 0 h 444"/>
                <a:gd name="T6" fmla="*/ 160 w 578"/>
                <a:gd name="T7" fmla="*/ 0 h 444"/>
                <a:gd name="T8" fmla="*/ 259 w 578"/>
                <a:gd name="T9" fmla="*/ 100 h 444"/>
                <a:gd name="T10" fmla="*/ 160 w 578"/>
                <a:gd name="T11" fmla="*/ 199 h 444"/>
                <a:gd name="T12" fmla="*/ 160 w 578"/>
                <a:gd name="T13" fmla="*/ 199 h 4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78"/>
                <a:gd name="T22" fmla="*/ 0 h 444"/>
                <a:gd name="T23" fmla="*/ 578 w 578"/>
                <a:gd name="T24" fmla="*/ 444 h 44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78" h="444">
                  <a:moveTo>
                    <a:pt x="356" y="444"/>
                  </a:moveTo>
                  <a:lnTo>
                    <a:pt x="0" y="444"/>
                  </a:lnTo>
                  <a:lnTo>
                    <a:pt x="0" y="0"/>
                  </a:lnTo>
                  <a:lnTo>
                    <a:pt x="356" y="0"/>
                  </a:lnTo>
                  <a:cubicBezTo>
                    <a:pt x="479" y="0"/>
                    <a:pt x="578" y="99"/>
                    <a:pt x="578" y="222"/>
                  </a:cubicBezTo>
                  <a:cubicBezTo>
                    <a:pt x="578" y="345"/>
                    <a:pt x="479" y="444"/>
                    <a:pt x="356" y="444"/>
                  </a:cubicBezTo>
                  <a:cubicBezTo>
                    <a:pt x="356" y="444"/>
                    <a:pt x="356" y="444"/>
                    <a:pt x="356" y="444"/>
                  </a:cubicBezTo>
                  <a:close/>
                </a:path>
              </a:pathLst>
            </a:custGeom>
            <a:solidFill>
              <a:srgbClr val="000080"/>
            </a:solidFill>
            <a:ln w="31750" cap="rnd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95" name="Freeform 15"/>
            <p:cNvSpPr>
              <a:spLocks noChangeAspect="1" noEditPoints="1"/>
            </p:cNvSpPr>
            <p:nvPr/>
          </p:nvSpPr>
          <p:spPr bwMode="auto">
            <a:xfrm>
              <a:off x="2898" y="3369"/>
              <a:ext cx="398" cy="101"/>
            </a:xfrm>
            <a:custGeom>
              <a:avLst/>
              <a:gdLst>
                <a:gd name="T0" fmla="*/ 0 w 332"/>
                <a:gd name="T1" fmla="*/ 0 h 84"/>
                <a:gd name="T2" fmla="*/ 198 w 332"/>
                <a:gd name="T3" fmla="*/ 0 h 84"/>
                <a:gd name="T4" fmla="*/ 0 w 332"/>
                <a:gd name="T5" fmla="*/ 101 h 84"/>
                <a:gd name="T6" fmla="*/ 198 w 332"/>
                <a:gd name="T7" fmla="*/ 101 h 84"/>
                <a:gd name="T8" fmla="*/ 398 w 332"/>
                <a:gd name="T9" fmla="*/ 51 h 84"/>
                <a:gd name="T10" fmla="*/ 198 w 332"/>
                <a:gd name="T11" fmla="*/ 51 h 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32"/>
                <a:gd name="T19" fmla="*/ 0 h 84"/>
                <a:gd name="T20" fmla="*/ 332 w 332"/>
                <a:gd name="T21" fmla="*/ 84 h 8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32" h="84">
                  <a:moveTo>
                    <a:pt x="0" y="0"/>
                  </a:moveTo>
                  <a:lnTo>
                    <a:pt x="165" y="0"/>
                  </a:lnTo>
                  <a:moveTo>
                    <a:pt x="0" y="84"/>
                  </a:moveTo>
                  <a:lnTo>
                    <a:pt x="165" y="84"/>
                  </a:lnTo>
                  <a:moveTo>
                    <a:pt x="332" y="42"/>
                  </a:moveTo>
                  <a:lnTo>
                    <a:pt x="165" y="42"/>
                  </a:lnTo>
                </a:path>
              </a:pathLst>
            </a:custGeom>
            <a:solidFill>
              <a:srgbClr val="000080"/>
            </a:solidFill>
            <a:ln w="31750" cap="rnd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96" name="Freeform 16"/>
            <p:cNvSpPr>
              <a:spLocks noChangeAspect="1"/>
            </p:cNvSpPr>
            <p:nvPr/>
          </p:nvSpPr>
          <p:spPr bwMode="auto">
            <a:xfrm>
              <a:off x="2600" y="3472"/>
              <a:ext cx="292" cy="144"/>
            </a:xfrm>
            <a:custGeom>
              <a:avLst/>
              <a:gdLst>
                <a:gd name="T0" fmla="*/ 292 w 244"/>
                <a:gd name="T1" fmla="*/ 0 h 120"/>
                <a:gd name="T2" fmla="*/ 196 w 244"/>
                <a:gd name="T3" fmla="*/ 0 h 120"/>
                <a:gd name="T4" fmla="*/ 196 w 244"/>
                <a:gd name="T5" fmla="*/ 144 h 120"/>
                <a:gd name="T6" fmla="*/ 0 w 244"/>
                <a:gd name="T7" fmla="*/ 144 h 12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4"/>
                <a:gd name="T13" fmla="*/ 0 h 120"/>
                <a:gd name="T14" fmla="*/ 244 w 244"/>
                <a:gd name="T15" fmla="*/ 120 h 12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4" h="120">
                  <a:moveTo>
                    <a:pt x="244" y="0"/>
                  </a:moveTo>
                  <a:lnTo>
                    <a:pt x="164" y="0"/>
                  </a:lnTo>
                  <a:lnTo>
                    <a:pt x="164" y="120"/>
                  </a:lnTo>
                  <a:lnTo>
                    <a:pt x="0" y="120"/>
                  </a:lnTo>
                </a:path>
              </a:pathLst>
            </a:custGeom>
            <a:noFill/>
            <a:ln w="3175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3597" name="Rectangle 17"/>
            <p:cNvSpPr>
              <a:spLocks noChangeArrowheads="1"/>
            </p:cNvSpPr>
            <p:nvPr/>
          </p:nvSpPr>
          <p:spPr bwMode="auto">
            <a:xfrm>
              <a:off x="2256" y="3120"/>
              <a:ext cx="20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sz="1800" b="0">
                  <a:latin typeface="Verdana" charset="0"/>
                  <a:cs typeface="Arial" charset="0"/>
                </a:rPr>
                <a:t>a</a:t>
              </a:r>
            </a:p>
          </p:txBody>
        </p:sp>
        <p:sp>
          <p:nvSpPr>
            <p:cNvPr id="23598" name="Rectangle 18"/>
            <p:cNvSpPr>
              <a:spLocks noChangeArrowheads="1"/>
            </p:cNvSpPr>
            <p:nvPr/>
          </p:nvSpPr>
          <p:spPr bwMode="auto">
            <a:xfrm>
              <a:off x="2256" y="3321"/>
              <a:ext cx="20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sz="1800" b="0">
                  <a:latin typeface="Verdana" charset="0"/>
                  <a:cs typeface="Arial" charset="0"/>
                </a:rPr>
                <a:t>b</a:t>
              </a:r>
            </a:p>
          </p:txBody>
        </p:sp>
        <p:sp>
          <p:nvSpPr>
            <p:cNvPr id="23599" name="Rectangle 19"/>
            <p:cNvSpPr>
              <a:spLocks noChangeArrowheads="1"/>
            </p:cNvSpPr>
            <p:nvPr/>
          </p:nvSpPr>
          <p:spPr bwMode="auto">
            <a:xfrm>
              <a:off x="2400" y="3504"/>
              <a:ext cx="19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sz="1800" b="0">
                  <a:latin typeface="Verdana" charset="0"/>
                  <a:cs typeface="Arial" charset="0"/>
                </a:rPr>
                <a:t>c</a:t>
              </a:r>
            </a:p>
          </p:txBody>
        </p:sp>
      </p:grpSp>
      <p:grpSp>
        <p:nvGrpSpPr>
          <p:cNvPr id="23560" name="Group 20"/>
          <p:cNvGrpSpPr>
            <a:grpSpLocks/>
          </p:cNvGrpSpPr>
          <p:nvPr/>
        </p:nvGrpSpPr>
        <p:grpSpPr bwMode="auto">
          <a:xfrm>
            <a:off x="5867400" y="4419600"/>
            <a:ext cx="1981200" cy="1585913"/>
            <a:chOff x="768" y="2841"/>
            <a:chExt cx="1248" cy="999"/>
          </a:xfrm>
        </p:grpSpPr>
        <p:sp>
          <p:nvSpPr>
            <p:cNvPr id="23561" name="Rectangle 21"/>
            <p:cNvSpPr>
              <a:spLocks noChangeArrowheads="1"/>
            </p:cNvSpPr>
            <p:nvPr/>
          </p:nvSpPr>
          <p:spPr bwMode="auto">
            <a:xfrm>
              <a:off x="768" y="2841"/>
              <a:ext cx="20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sz="1800" b="0">
                  <a:latin typeface="Verdana" charset="0"/>
                  <a:cs typeface="Arial" charset="0"/>
                </a:rPr>
                <a:t>a</a:t>
              </a:r>
            </a:p>
          </p:txBody>
        </p:sp>
        <p:grpSp>
          <p:nvGrpSpPr>
            <p:cNvPr id="23562" name="Group 22"/>
            <p:cNvGrpSpPr>
              <a:grpSpLocks/>
            </p:cNvGrpSpPr>
            <p:nvPr/>
          </p:nvGrpSpPr>
          <p:grpSpPr bwMode="auto">
            <a:xfrm>
              <a:off x="768" y="2928"/>
              <a:ext cx="1248" cy="912"/>
              <a:chOff x="528" y="2928"/>
              <a:chExt cx="1248" cy="912"/>
            </a:xfrm>
          </p:grpSpPr>
          <p:grpSp>
            <p:nvGrpSpPr>
              <p:cNvPr id="23563" name="Group 23"/>
              <p:cNvGrpSpPr>
                <a:grpSpLocks noChangeAspect="1"/>
              </p:cNvGrpSpPr>
              <p:nvPr/>
            </p:nvGrpSpPr>
            <p:grpSpPr bwMode="auto">
              <a:xfrm>
                <a:off x="1378" y="3209"/>
                <a:ext cx="398" cy="199"/>
                <a:chOff x="1872" y="3024"/>
                <a:chExt cx="332" cy="166"/>
              </a:xfrm>
            </p:grpSpPr>
            <p:sp>
              <p:nvSpPr>
                <p:cNvPr id="23587" name="Freeform 24"/>
                <p:cNvSpPr>
                  <a:spLocks noChangeAspect="1"/>
                </p:cNvSpPr>
                <p:nvPr/>
              </p:nvSpPr>
              <p:spPr bwMode="auto">
                <a:xfrm>
                  <a:off x="1920" y="3024"/>
                  <a:ext cx="216" cy="166"/>
                </a:xfrm>
                <a:custGeom>
                  <a:avLst/>
                  <a:gdLst>
                    <a:gd name="T0" fmla="*/ 216 w 578"/>
                    <a:gd name="T1" fmla="*/ 83 h 444"/>
                    <a:gd name="T2" fmla="*/ 65 w 578"/>
                    <a:gd name="T3" fmla="*/ 166 h 444"/>
                    <a:gd name="T4" fmla="*/ 65 w 578"/>
                    <a:gd name="T5" fmla="*/ 166 h 444"/>
                    <a:gd name="T6" fmla="*/ 0 w 578"/>
                    <a:gd name="T7" fmla="*/ 166 h 444"/>
                    <a:gd name="T8" fmla="*/ 0 w 578"/>
                    <a:gd name="T9" fmla="*/ 0 h 444"/>
                    <a:gd name="T10" fmla="*/ 0 w 578"/>
                    <a:gd name="T11" fmla="*/ 0 h 444"/>
                    <a:gd name="T12" fmla="*/ 65 w 578"/>
                    <a:gd name="T13" fmla="*/ 0 h 444"/>
                    <a:gd name="T14" fmla="*/ 216 w 578"/>
                    <a:gd name="T15" fmla="*/ 83 h 44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578"/>
                    <a:gd name="T25" fmla="*/ 0 h 444"/>
                    <a:gd name="T26" fmla="*/ 578 w 578"/>
                    <a:gd name="T27" fmla="*/ 444 h 44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578" h="444">
                      <a:moveTo>
                        <a:pt x="578" y="222"/>
                      </a:moveTo>
                      <a:cubicBezTo>
                        <a:pt x="509" y="332"/>
                        <a:pt x="359" y="414"/>
                        <a:pt x="174" y="444"/>
                      </a:cubicBezTo>
                      <a:lnTo>
                        <a:pt x="0" y="444"/>
                      </a:lnTo>
                      <a:cubicBezTo>
                        <a:pt x="108" y="304"/>
                        <a:pt x="108" y="141"/>
                        <a:pt x="0" y="0"/>
                      </a:cubicBezTo>
                      <a:lnTo>
                        <a:pt x="174" y="0"/>
                      </a:lnTo>
                      <a:cubicBezTo>
                        <a:pt x="360" y="29"/>
                        <a:pt x="510" y="112"/>
                        <a:pt x="578" y="222"/>
                      </a:cubicBezTo>
                      <a:close/>
                    </a:path>
                  </a:pathLst>
                </a:custGeom>
                <a:solidFill>
                  <a:srgbClr val="000080"/>
                </a:solidFill>
                <a:ln w="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588" name="Freeform 25"/>
                <p:cNvSpPr>
                  <a:spLocks noChangeAspect="1"/>
                </p:cNvSpPr>
                <p:nvPr/>
              </p:nvSpPr>
              <p:spPr bwMode="auto">
                <a:xfrm>
                  <a:off x="1920" y="3024"/>
                  <a:ext cx="216" cy="166"/>
                </a:xfrm>
                <a:custGeom>
                  <a:avLst/>
                  <a:gdLst>
                    <a:gd name="T0" fmla="*/ 216 w 578"/>
                    <a:gd name="T1" fmla="*/ 83 h 444"/>
                    <a:gd name="T2" fmla="*/ 65 w 578"/>
                    <a:gd name="T3" fmla="*/ 166 h 444"/>
                    <a:gd name="T4" fmla="*/ 65 w 578"/>
                    <a:gd name="T5" fmla="*/ 166 h 444"/>
                    <a:gd name="T6" fmla="*/ 0 w 578"/>
                    <a:gd name="T7" fmla="*/ 166 h 444"/>
                    <a:gd name="T8" fmla="*/ 0 w 578"/>
                    <a:gd name="T9" fmla="*/ 0 h 444"/>
                    <a:gd name="T10" fmla="*/ 0 w 578"/>
                    <a:gd name="T11" fmla="*/ 0 h 444"/>
                    <a:gd name="T12" fmla="*/ 65 w 578"/>
                    <a:gd name="T13" fmla="*/ 0 h 444"/>
                    <a:gd name="T14" fmla="*/ 216 w 578"/>
                    <a:gd name="T15" fmla="*/ 83 h 44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578"/>
                    <a:gd name="T25" fmla="*/ 0 h 444"/>
                    <a:gd name="T26" fmla="*/ 578 w 578"/>
                    <a:gd name="T27" fmla="*/ 444 h 44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578" h="444">
                      <a:moveTo>
                        <a:pt x="578" y="222"/>
                      </a:moveTo>
                      <a:cubicBezTo>
                        <a:pt x="509" y="332"/>
                        <a:pt x="359" y="414"/>
                        <a:pt x="174" y="444"/>
                      </a:cubicBezTo>
                      <a:lnTo>
                        <a:pt x="0" y="444"/>
                      </a:lnTo>
                      <a:cubicBezTo>
                        <a:pt x="108" y="304"/>
                        <a:pt x="108" y="141"/>
                        <a:pt x="0" y="0"/>
                      </a:cubicBezTo>
                      <a:lnTo>
                        <a:pt x="174" y="0"/>
                      </a:lnTo>
                      <a:cubicBezTo>
                        <a:pt x="360" y="29"/>
                        <a:pt x="510" y="112"/>
                        <a:pt x="578" y="222"/>
                      </a:cubicBezTo>
                      <a:close/>
                    </a:path>
                  </a:pathLst>
                </a:custGeom>
                <a:solidFill>
                  <a:srgbClr val="000080"/>
                </a:solidFill>
                <a:ln w="31750" cap="rnd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589" name="Freeform 26"/>
                <p:cNvSpPr>
                  <a:spLocks noChangeAspect="1" noEditPoints="1"/>
                </p:cNvSpPr>
                <p:nvPr/>
              </p:nvSpPr>
              <p:spPr bwMode="auto">
                <a:xfrm>
                  <a:off x="1872" y="3069"/>
                  <a:ext cx="332" cy="84"/>
                </a:xfrm>
                <a:custGeom>
                  <a:avLst/>
                  <a:gdLst>
                    <a:gd name="T0" fmla="*/ 0 w 332"/>
                    <a:gd name="T1" fmla="*/ 0 h 84"/>
                    <a:gd name="T2" fmla="*/ 165 w 332"/>
                    <a:gd name="T3" fmla="*/ 0 h 84"/>
                    <a:gd name="T4" fmla="*/ 0 w 332"/>
                    <a:gd name="T5" fmla="*/ 84 h 84"/>
                    <a:gd name="T6" fmla="*/ 165 w 332"/>
                    <a:gd name="T7" fmla="*/ 84 h 84"/>
                    <a:gd name="T8" fmla="*/ 332 w 332"/>
                    <a:gd name="T9" fmla="*/ 42 h 84"/>
                    <a:gd name="T10" fmla="*/ 165 w 332"/>
                    <a:gd name="T11" fmla="*/ 42 h 84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32"/>
                    <a:gd name="T19" fmla="*/ 0 h 84"/>
                    <a:gd name="T20" fmla="*/ 332 w 332"/>
                    <a:gd name="T21" fmla="*/ 84 h 84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32" h="84">
                      <a:moveTo>
                        <a:pt x="0" y="0"/>
                      </a:moveTo>
                      <a:lnTo>
                        <a:pt x="165" y="0"/>
                      </a:lnTo>
                      <a:moveTo>
                        <a:pt x="0" y="84"/>
                      </a:moveTo>
                      <a:lnTo>
                        <a:pt x="165" y="84"/>
                      </a:lnTo>
                      <a:moveTo>
                        <a:pt x="332" y="42"/>
                      </a:moveTo>
                      <a:lnTo>
                        <a:pt x="165" y="42"/>
                      </a:lnTo>
                    </a:path>
                  </a:pathLst>
                </a:custGeom>
                <a:solidFill>
                  <a:srgbClr val="000080"/>
                </a:solidFill>
                <a:ln w="31750" cap="rnd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3564" name="Group 27"/>
              <p:cNvGrpSpPr>
                <a:grpSpLocks/>
              </p:cNvGrpSpPr>
              <p:nvPr/>
            </p:nvGrpSpPr>
            <p:grpSpPr bwMode="auto">
              <a:xfrm>
                <a:off x="816" y="2928"/>
                <a:ext cx="398" cy="199"/>
                <a:chOff x="1170" y="3512"/>
                <a:chExt cx="398" cy="199"/>
              </a:xfrm>
            </p:grpSpPr>
            <p:sp>
              <p:nvSpPr>
                <p:cNvPr id="23582" name="Freeform 28"/>
                <p:cNvSpPr>
                  <a:spLocks noChangeAspect="1"/>
                </p:cNvSpPr>
                <p:nvPr/>
              </p:nvSpPr>
              <p:spPr bwMode="auto">
                <a:xfrm>
                  <a:off x="1254" y="3512"/>
                  <a:ext cx="259" cy="199"/>
                </a:xfrm>
                <a:custGeom>
                  <a:avLst/>
                  <a:gdLst>
                    <a:gd name="T0" fmla="*/ 259 w 578"/>
                    <a:gd name="T1" fmla="*/ 100 h 444"/>
                    <a:gd name="T2" fmla="*/ 78 w 578"/>
                    <a:gd name="T3" fmla="*/ 199 h 444"/>
                    <a:gd name="T4" fmla="*/ 78 w 578"/>
                    <a:gd name="T5" fmla="*/ 199 h 444"/>
                    <a:gd name="T6" fmla="*/ 0 w 578"/>
                    <a:gd name="T7" fmla="*/ 199 h 444"/>
                    <a:gd name="T8" fmla="*/ 0 w 578"/>
                    <a:gd name="T9" fmla="*/ 0 h 444"/>
                    <a:gd name="T10" fmla="*/ 0 w 578"/>
                    <a:gd name="T11" fmla="*/ 0 h 444"/>
                    <a:gd name="T12" fmla="*/ 78 w 578"/>
                    <a:gd name="T13" fmla="*/ 0 h 444"/>
                    <a:gd name="T14" fmla="*/ 259 w 578"/>
                    <a:gd name="T15" fmla="*/ 100 h 44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578"/>
                    <a:gd name="T25" fmla="*/ 0 h 444"/>
                    <a:gd name="T26" fmla="*/ 578 w 578"/>
                    <a:gd name="T27" fmla="*/ 444 h 44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578" h="444">
                      <a:moveTo>
                        <a:pt x="578" y="222"/>
                      </a:moveTo>
                      <a:cubicBezTo>
                        <a:pt x="509" y="332"/>
                        <a:pt x="359" y="414"/>
                        <a:pt x="174" y="444"/>
                      </a:cubicBezTo>
                      <a:lnTo>
                        <a:pt x="0" y="444"/>
                      </a:lnTo>
                      <a:cubicBezTo>
                        <a:pt x="108" y="304"/>
                        <a:pt x="108" y="141"/>
                        <a:pt x="0" y="0"/>
                      </a:cubicBezTo>
                      <a:lnTo>
                        <a:pt x="174" y="0"/>
                      </a:lnTo>
                      <a:cubicBezTo>
                        <a:pt x="360" y="29"/>
                        <a:pt x="510" y="112"/>
                        <a:pt x="578" y="222"/>
                      </a:cubicBezTo>
                      <a:close/>
                    </a:path>
                  </a:pathLst>
                </a:custGeom>
                <a:solidFill>
                  <a:srgbClr val="000080"/>
                </a:solidFill>
                <a:ln w="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583" name="Freeform 29"/>
                <p:cNvSpPr>
                  <a:spLocks noChangeAspect="1"/>
                </p:cNvSpPr>
                <p:nvPr/>
              </p:nvSpPr>
              <p:spPr bwMode="auto">
                <a:xfrm>
                  <a:off x="1254" y="3512"/>
                  <a:ext cx="259" cy="199"/>
                </a:xfrm>
                <a:custGeom>
                  <a:avLst/>
                  <a:gdLst>
                    <a:gd name="T0" fmla="*/ 259 w 578"/>
                    <a:gd name="T1" fmla="*/ 100 h 444"/>
                    <a:gd name="T2" fmla="*/ 78 w 578"/>
                    <a:gd name="T3" fmla="*/ 199 h 444"/>
                    <a:gd name="T4" fmla="*/ 78 w 578"/>
                    <a:gd name="T5" fmla="*/ 199 h 444"/>
                    <a:gd name="T6" fmla="*/ 0 w 578"/>
                    <a:gd name="T7" fmla="*/ 199 h 444"/>
                    <a:gd name="T8" fmla="*/ 0 w 578"/>
                    <a:gd name="T9" fmla="*/ 0 h 444"/>
                    <a:gd name="T10" fmla="*/ 0 w 578"/>
                    <a:gd name="T11" fmla="*/ 0 h 444"/>
                    <a:gd name="T12" fmla="*/ 78 w 578"/>
                    <a:gd name="T13" fmla="*/ 0 h 444"/>
                    <a:gd name="T14" fmla="*/ 259 w 578"/>
                    <a:gd name="T15" fmla="*/ 100 h 44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578"/>
                    <a:gd name="T25" fmla="*/ 0 h 444"/>
                    <a:gd name="T26" fmla="*/ 578 w 578"/>
                    <a:gd name="T27" fmla="*/ 444 h 44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578" h="444">
                      <a:moveTo>
                        <a:pt x="578" y="222"/>
                      </a:moveTo>
                      <a:cubicBezTo>
                        <a:pt x="509" y="332"/>
                        <a:pt x="359" y="414"/>
                        <a:pt x="174" y="444"/>
                      </a:cubicBezTo>
                      <a:lnTo>
                        <a:pt x="0" y="444"/>
                      </a:lnTo>
                      <a:cubicBezTo>
                        <a:pt x="108" y="304"/>
                        <a:pt x="108" y="141"/>
                        <a:pt x="0" y="0"/>
                      </a:cubicBezTo>
                      <a:lnTo>
                        <a:pt x="174" y="0"/>
                      </a:lnTo>
                      <a:cubicBezTo>
                        <a:pt x="360" y="29"/>
                        <a:pt x="510" y="112"/>
                        <a:pt x="578" y="222"/>
                      </a:cubicBezTo>
                      <a:close/>
                    </a:path>
                  </a:pathLst>
                </a:custGeom>
                <a:solidFill>
                  <a:srgbClr val="000080"/>
                </a:solidFill>
                <a:ln w="31750" cap="rnd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584" name="Freeform 30"/>
                <p:cNvSpPr>
                  <a:spLocks noChangeAspect="1"/>
                </p:cNvSpPr>
                <p:nvPr/>
              </p:nvSpPr>
              <p:spPr bwMode="auto">
                <a:xfrm>
                  <a:off x="1254" y="3512"/>
                  <a:ext cx="259" cy="199"/>
                </a:xfrm>
                <a:custGeom>
                  <a:avLst/>
                  <a:gdLst>
                    <a:gd name="T0" fmla="*/ 160 w 578"/>
                    <a:gd name="T1" fmla="*/ 199 h 444"/>
                    <a:gd name="T2" fmla="*/ 0 w 578"/>
                    <a:gd name="T3" fmla="*/ 199 h 444"/>
                    <a:gd name="T4" fmla="*/ 0 w 578"/>
                    <a:gd name="T5" fmla="*/ 0 h 444"/>
                    <a:gd name="T6" fmla="*/ 160 w 578"/>
                    <a:gd name="T7" fmla="*/ 0 h 444"/>
                    <a:gd name="T8" fmla="*/ 259 w 578"/>
                    <a:gd name="T9" fmla="*/ 100 h 444"/>
                    <a:gd name="T10" fmla="*/ 160 w 578"/>
                    <a:gd name="T11" fmla="*/ 199 h 444"/>
                    <a:gd name="T12" fmla="*/ 160 w 578"/>
                    <a:gd name="T13" fmla="*/ 199 h 44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578"/>
                    <a:gd name="T22" fmla="*/ 0 h 444"/>
                    <a:gd name="T23" fmla="*/ 578 w 578"/>
                    <a:gd name="T24" fmla="*/ 444 h 44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578" h="444">
                      <a:moveTo>
                        <a:pt x="356" y="444"/>
                      </a:moveTo>
                      <a:lnTo>
                        <a:pt x="0" y="444"/>
                      </a:lnTo>
                      <a:lnTo>
                        <a:pt x="0" y="0"/>
                      </a:lnTo>
                      <a:lnTo>
                        <a:pt x="356" y="0"/>
                      </a:lnTo>
                      <a:cubicBezTo>
                        <a:pt x="479" y="0"/>
                        <a:pt x="578" y="99"/>
                        <a:pt x="578" y="222"/>
                      </a:cubicBezTo>
                      <a:cubicBezTo>
                        <a:pt x="578" y="345"/>
                        <a:pt x="479" y="444"/>
                        <a:pt x="356" y="444"/>
                      </a:cubicBezTo>
                      <a:cubicBezTo>
                        <a:pt x="356" y="444"/>
                        <a:pt x="356" y="444"/>
                        <a:pt x="356" y="444"/>
                      </a:cubicBezTo>
                      <a:close/>
                    </a:path>
                  </a:pathLst>
                </a:custGeom>
                <a:solidFill>
                  <a:srgbClr val="000080"/>
                </a:solidFill>
                <a:ln w="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585" name="Freeform 31"/>
                <p:cNvSpPr>
                  <a:spLocks noChangeAspect="1"/>
                </p:cNvSpPr>
                <p:nvPr/>
              </p:nvSpPr>
              <p:spPr bwMode="auto">
                <a:xfrm>
                  <a:off x="1254" y="3512"/>
                  <a:ext cx="259" cy="199"/>
                </a:xfrm>
                <a:custGeom>
                  <a:avLst/>
                  <a:gdLst>
                    <a:gd name="T0" fmla="*/ 160 w 578"/>
                    <a:gd name="T1" fmla="*/ 199 h 444"/>
                    <a:gd name="T2" fmla="*/ 0 w 578"/>
                    <a:gd name="T3" fmla="*/ 199 h 444"/>
                    <a:gd name="T4" fmla="*/ 0 w 578"/>
                    <a:gd name="T5" fmla="*/ 0 h 444"/>
                    <a:gd name="T6" fmla="*/ 160 w 578"/>
                    <a:gd name="T7" fmla="*/ 0 h 444"/>
                    <a:gd name="T8" fmla="*/ 259 w 578"/>
                    <a:gd name="T9" fmla="*/ 100 h 444"/>
                    <a:gd name="T10" fmla="*/ 160 w 578"/>
                    <a:gd name="T11" fmla="*/ 199 h 444"/>
                    <a:gd name="T12" fmla="*/ 160 w 578"/>
                    <a:gd name="T13" fmla="*/ 199 h 44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578"/>
                    <a:gd name="T22" fmla="*/ 0 h 444"/>
                    <a:gd name="T23" fmla="*/ 578 w 578"/>
                    <a:gd name="T24" fmla="*/ 444 h 44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578" h="444">
                      <a:moveTo>
                        <a:pt x="356" y="444"/>
                      </a:moveTo>
                      <a:lnTo>
                        <a:pt x="0" y="444"/>
                      </a:lnTo>
                      <a:lnTo>
                        <a:pt x="0" y="0"/>
                      </a:lnTo>
                      <a:lnTo>
                        <a:pt x="356" y="0"/>
                      </a:lnTo>
                      <a:cubicBezTo>
                        <a:pt x="479" y="0"/>
                        <a:pt x="578" y="99"/>
                        <a:pt x="578" y="222"/>
                      </a:cubicBezTo>
                      <a:cubicBezTo>
                        <a:pt x="578" y="345"/>
                        <a:pt x="479" y="444"/>
                        <a:pt x="356" y="444"/>
                      </a:cubicBezTo>
                      <a:cubicBezTo>
                        <a:pt x="356" y="444"/>
                        <a:pt x="356" y="444"/>
                        <a:pt x="356" y="444"/>
                      </a:cubicBezTo>
                      <a:close/>
                    </a:path>
                  </a:pathLst>
                </a:custGeom>
                <a:solidFill>
                  <a:srgbClr val="000080"/>
                </a:solidFill>
                <a:ln w="31750" cap="rnd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586" name="Freeform 32"/>
                <p:cNvSpPr>
                  <a:spLocks noChangeAspect="1" noEditPoints="1"/>
                </p:cNvSpPr>
                <p:nvPr/>
              </p:nvSpPr>
              <p:spPr bwMode="auto">
                <a:xfrm>
                  <a:off x="1170" y="3561"/>
                  <a:ext cx="398" cy="101"/>
                </a:xfrm>
                <a:custGeom>
                  <a:avLst/>
                  <a:gdLst>
                    <a:gd name="T0" fmla="*/ 0 w 332"/>
                    <a:gd name="T1" fmla="*/ 0 h 84"/>
                    <a:gd name="T2" fmla="*/ 198 w 332"/>
                    <a:gd name="T3" fmla="*/ 0 h 84"/>
                    <a:gd name="T4" fmla="*/ 0 w 332"/>
                    <a:gd name="T5" fmla="*/ 101 h 84"/>
                    <a:gd name="T6" fmla="*/ 198 w 332"/>
                    <a:gd name="T7" fmla="*/ 101 h 84"/>
                    <a:gd name="T8" fmla="*/ 398 w 332"/>
                    <a:gd name="T9" fmla="*/ 51 h 84"/>
                    <a:gd name="T10" fmla="*/ 198 w 332"/>
                    <a:gd name="T11" fmla="*/ 51 h 84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32"/>
                    <a:gd name="T19" fmla="*/ 0 h 84"/>
                    <a:gd name="T20" fmla="*/ 332 w 332"/>
                    <a:gd name="T21" fmla="*/ 84 h 84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32" h="84">
                      <a:moveTo>
                        <a:pt x="0" y="0"/>
                      </a:moveTo>
                      <a:lnTo>
                        <a:pt x="165" y="0"/>
                      </a:lnTo>
                      <a:moveTo>
                        <a:pt x="0" y="84"/>
                      </a:moveTo>
                      <a:lnTo>
                        <a:pt x="165" y="84"/>
                      </a:lnTo>
                      <a:moveTo>
                        <a:pt x="332" y="42"/>
                      </a:moveTo>
                      <a:lnTo>
                        <a:pt x="165" y="42"/>
                      </a:lnTo>
                    </a:path>
                  </a:pathLst>
                </a:custGeom>
                <a:solidFill>
                  <a:srgbClr val="000080"/>
                </a:solidFill>
                <a:ln w="31750" cap="rnd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3565" name="Freeform 33"/>
              <p:cNvSpPr>
                <a:spLocks noChangeAspect="1"/>
              </p:cNvSpPr>
              <p:nvPr/>
            </p:nvSpPr>
            <p:spPr bwMode="auto">
              <a:xfrm>
                <a:off x="680" y="3076"/>
                <a:ext cx="132" cy="568"/>
              </a:xfrm>
              <a:custGeom>
                <a:avLst/>
                <a:gdLst>
                  <a:gd name="T0" fmla="*/ 128 w 132"/>
                  <a:gd name="T1" fmla="*/ 568 h 568"/>
                  <a:gd name="T2" fmla="*/ 132 w 132"/>
                  <a:gd name="T3" fmla="*/ 0 h 568"/>
                  <a:gd name="T4" fmla="*/ 0 w 132"/>
                  <a:gd name="T5" fmla="*/ 0 h 568"/>
                  <a:gd name="T6" fmla="*/ 0 60000 65536"/>
                  <a:gd name="T7" fmla="*/ 0 60000 65536"/>
                  <a:gd name="T8" fmla="*/ 0 60000 65536"/>
                  <a:gd name="T9" fmla="*/ 0 w 132"/>
                  <a:gd name="T10" fmla="*/ 0 h 568"/>
                  <a:gd name="T11" fmla="*/ 132 w 132"/>
                  <a:gd name="T12" fmla="*/ 568 h 56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2" h="568">
                    <a:moveTo>
                      <a:pt x="128" y="568"/>
                    </a:moveTo>
                    <a:lnTo>
                      <a:pt x="132" y="0"/>
                    </a:ln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3566" name="Rectangle 34"/>
              <p:cNvSpPr>
                <a:spLocks noChangeArrowheads="1"/>
              </p:cNvSpPr>
              <p:nvPr/>
            </p:nvSpPr>
            <p:spPr bwMode="auto">
              <a:xfrm>
                <a:off x="528" y="3609"/>
                <a:ext cx="20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1" hangingPunct="1"/>
                <a:r>
                  <a:rPr lang="en-US" sz="1800" b="0">
                    <a:latin typeface="Verdana" charset="0"/>
                    <a:cs typeface="Arial" charset="0"/>
                  </a:rPr>
                  <a:t>b</a:t>
                </a:r>
              </a:p>
            </p:txBody>
          </p:sp>
          <p:sp>
            <p:nvSpPr>
              <p:cNvPr id="23567" name="Rectangle 35"/>
              <p:cNvSpPr>
                <a:spLocks noChangeArrowheads="1"/>
              </p:cNvSpPr>
              <p:nvPr/>
            </p:nvSpPr>
            <p:spPr bwMode="auto">
              <a:xfrm>
                <a:off x="528" y="2976"/>
                <a:ext cx="19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1" hangingPunct="1"/>
                <a:r>
                  <a:rPr lang="en-US" sz="1800" b="0">
                    <a:latin typeface="Verdana" charset="0"/>
                    <a:cs typeface="Arial" charset="0"/>
                  </a:rPr>
                  <a:t>c</a:t>
                </a:r>
              </a:p>
            </p:txBody>
          </p:sp>
          <p:grpSp>
            <p:nvGrpSpPr>
              <p:cNvPr id="23568" name="Group 36"/>
              <p:cNvGrpSpPr>
                <a:grpSpLocks/>
              </p:cNvGrpSpPr>
              <p:nvPr/>
            </p:nvGrpSpPr>
            <p:grpSpPr bwMode="auto">
              <a:xfrm>
                <a:off x="816" y="3593"/>
                <a:ext cx="398" cy="199"/>
                <a:chOff x="1170" y="3512"/>
                <a:chExt cx="398" cy="199"/>
              </a:xfrm>
            </p:grpSpPr>
            <p:sp>
              <p:nvSpPr>
                <p:cNvPr id="23577" name="Freeform 37"/>
                <p:cNvSpPr>
                  <a:spLocks noChangeAspect="1"/>
                </p:cNvSpPr>
                <p:nvPr/>
              </p:nvSpPr>
              <p:spPr bwMode="auto">
                <a:xfrm>
                  <a:off x="1254" y="3512"/>
                  <a:ext cx="259" cy="199"/>
                </a:xfrm>
                <a:custGeom>
                  <a:avLst/>
                  <a:gdLst>
                    <a:gd name="T0" fmla="*/ 259 w 578"/>
                    <a:gd name="T1" fmla="*/ 100 h 444"/>
                    <a:gd name="T2" fmla="*/ 78 w 578"/>
                    <a:gd name="T3" fmla="*/ 199 h 444"/>
                    <a:gd name="T4" fmla="*/ 78 w 578"/>
                    <a:gd name="T5" fmla="*/ 199 h 444"/>
                    <a:gd name="T6" fmla="*/ 0 w 578"/>
                    <a:gd name="T7" fmla="*/ 199 h 444"/>
                    <a:gd name="T8" fmla="*/ 0 w 578"/>
                    <a:gd name="T9" fmla="*/ 0 h 444"/>
                    <a:gd name="T10" fmla="*/ 0 w 578"/>
                    <a:gd name="T11" fmla="*/ 0 h 444"/>
                    <a:gd name="T12" fmla="*/ 78 w 578"/>
                    <a:gd name="T13" fmla="*/ 0 h 444"/>
                    <a:gd name="T14" fmla="*/ 259 w 578"/>
                    <a:gd name="T15" fmla="*/ 100 h 44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578"/>
                    <a:gd name="T25" fmla="*/ 0 h 444"/>
                    <a:gd name="T26" fmla="*/ 578 w 578"/>
                    <a:gd name="T27" fmla="*/ 444 h 44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578" h="444">
                      <a:moveTo>
                        <a:pt x="578" y="222"/>
                      </a:moveTo>
                      <a:cubicBezTo>
                        <a:pt x="509" y="332"/>
                        <a:pt x="359" y="414"/>
                        <a:pt x="174" y="444"/>
                      </a:cubicBezTo>
                      <a:lnTo>
                        <a:pt x="0" y="444"/>
                      </a:lnTo>
                      <a:cubicBezTo>
                        <a:pt x="108" y="304"/>
                        <a:pt x="108" y="141"/>
                        <a:pt x="0" y="0"/>
                      </a:cubicBezTo>
                      <a:lnTo>
                        <a:pt x="174" y="0"/>
                      </a:lnTo>
                      <a:cubicBezTo>
                        <a:pt x="360" y="29"/>
                        <a:pt x="510" y="112"/>
                        <a:pt x="578" y="222"/>
                      </a:cubicBezTo>
                      <a:close/>
                    </a:path>
                  </a:pathLst>
                </a:custGeom>
                <a:solidFill>
                  <a:srgbClr val="000080"/>
                </a:solidFill>
                <a:ln w="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578" name="Freeform 38"/>
                <p:cNvSpPr>
                  <a:spLocks noChangeAspect="1"/>
                </p:cNvSpPr>
                <p:nvPr/>
              </p:nvSpPr>
              <p:spPr bwMode="auto">
                <a:xfrm>
                  <a:off x="1254" y="3512"/>
                  <a:ext cx="259" cy="199"/>
                </a:xfrm>
                <a:custGeom>
                  <a:avLst/>
                  <a:gdLst>
                    <a:gd name="T0" fmla="*/ 259 w 578"/>
                    <a:gd name="T1" fmla="*/ 100 h 444"/>
                    <a:gd name="T2" fmla="*/ 78 w 578"/>
                    <a:gd name="T3" fmla="*/ 199 h 444"/>
                    <a:gd name="T4" fmla="*/ 78 w 578"/>
                    <a:gd name="T5" fmla="*/ 199 h 444"/>
                    <a:gd name="T6" fmla="*/ 0 w 578"/>
                    <a:gd name="T7" fmla="*/ 199 h 444"/>
                    <a:gd name="T8" fmla="*/ 0 w 578"/>
                    <a:gd name="T9" fmla="*/ 0 h 444"/>
                    <a:gd name="T10" fmla="*/ 0 w 578"/>
                    <a:gd name="T11" fmla="*/ 0 h 444"/>
                    <a:gd name="T12" fmla="*/ 78 w 578"/>
                    <a:gd name="T13" fmla="*/ 0 h 444"/>
                    <a:gd name="T14" fmla="*/ 259 w 578"/>
                    <a:gd name="T15" fmla="*/ 100 h 44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578"/>
                    <a:gd name="T25" fmla="*/ 0 h 444"/>
                    <a:gd name="T26" fmla="*/ 578 w 578"/>
                    <a:gd name="T27" fmla="*/ 444 h 44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578" h="444">
                      <a:moveTo>
                        <a:pt x="578" y="222"/>
                      </a:moveTo>
                      <a:cubicBezTo>
                        <a:pt x="509" y="332"/>
                        <a:pt x="359" y="414"/>
                        <a:pt x="174" y="444"/>
                      </a:cubicBezTo>
                      <a:lnTo>
                        <a:pt x="0" y="444"/>
                      </a:lnTo>
                      <a:cubicBezTo>
                        <a:pt x="108" y="304"/>
                        <a:pt x="108" y="141"/>
                        <a:pt x="0" y="0"/>
                      </a:cubicBezTo>
                      <a:lnTo>
                        <a:pt x="174" y="0"/>
                      </a:lnTo>
                      <a:cubicBezTo>
                        <a:pt x="360" y="29"/>
                        <a:pt x="510" y="112"/>
                        <a:pt x="578" y="222"/>
                      </a:cubicBezTo>
                      <a:close/>
                    </a:path>
                  </a:pathLst>
                </a:custGeom>
                <a:solidFill>
                  <a:srgbClr val="000080"/>
                </a:solidFill>
                <a:ln w="31750" cap="rnd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579" name="Freeform 39"/>
                <p:cNvSpPr>
                  <a:spLocks noChangeAspect="1"/>
                </p:cNvSpPr>
                <p:nvPr/>
              </p:nvSpPr>
              <p:spPr bwMode="auto">
                <a:xfrm>
                  <a:off x="1254" y="3512"/>
                  <a:ext cx="259" cy="199"/>
                </a:xfrm>
                <a:custGeom>
                  <a:avLst/>
                  <a:gdLst>
                    <a:gd name="T0" fmla="*/ 160 w 578"/>
                    <a:gd name="T1" fmla="*/ 199 h 444"/>
                    <a:gd name="T2" fmla="*/ 0 w 578"/>
                    <a:gd name="T3" fmla="*/ 199 h 444"/>
                    <a:gd name="T4" fmla="*/ 0 w 578"/>
                    <a:gd name="T5" fmla="*/ 0 h 444"/>
                    <a:gd name="T6" fmla="*/ 160 w 578"/>
                    <a:gd name="T7" fmla="*/ 0 h 444"/>
                    <a:gd name="T8" fmla="*/ 259 w 578"/>
                    <a:gd name="T9" fmla="*/ 100 h 444"/>
                    <a:gd name="T10" fmla="*/ 160 w 578"/>
                    <a:gd name="T11" fmla="*/ 199 h 444"/>
                    <a:gd name="T12" fmla="*/ 160 w 578"/>
                    <a:gd name="T13" fmla="*/ 199 h 44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578"/>
                    <a:gd name="T22" fmla="*/ 0 h 444"/>
                    <a:gd name="T23" fmla="*/ 578 w 578"/>
                    <a:gd name="T24" fmla="*/ 444 h 44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578" h="444">
                      <a:moveTo>
                        <a:pt x="356" y="444"/>
                      </a:moveTo>
                      <a:lnTo>
                        <a:pt x="0" y="444"/>
                      </a:lnTo>
                      <a:lnTo>
                        <a:pt x="0" y="0"/>
                      </a:lnTo>
                      <a:lnTo>
                        <a:pt x="356" y="0"/>
                      </a:lnTo>
                      <a:cubicBezTo>
                        <a:pt x="479" y="0"/>
                        <a:pt x="578" y="99"/>
                        <a:pt x="578" y="222"/>
                      </a:cubicBezTo>
                      <a:cubicBezTo>
                        <a:pt x="578" y="345"/>
                        <a:pt x="479" y="444"/>
                        <a:pt x="356" y="444"/>
                      </a:cubicBezTo>
                      <a:cubicBezTo>
                        <a:pt x="356" y="444"/>
                        <a:pt x="356" y="444"/>
                        <a:pt x="356" y="444"/>
                      </a:cubicBezTo>
                      <a:close/>
                    </a:path>
                  </a:pathLst>
                </a:custGeom>
                <a:solidFill>
                  <a:srgbClr val="000080"/>
                </a:solidFill>
                <a:ln w="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580" name="Freeform 40"/>
                <p:cNvSpPr>
                  <a:spLocks noChangeAspect="1"/>
                </p:cNvSpPr>
                <p:nvPr/>
              </p:nvSpPr>
              <p:spPr bwMode="auto">
                <a:xfrm>
                  <a:off x="1254" y="3512"/>
                  <a:ext cx="259" cy="199"/>
                </a:xfrm>
                <a:custGeom>
                  <a:avLst/>
                  <a:gdLst>
                    <a:gd name="T0" fmla="*/ 160 w 578"/>
                    <a:gd name="T1" fmla="*/ 199 h 444"/>
                    <a:gd name="T2" fmla="*/ 0 w 578"/>
                    <a:gd name="T3" fmla="*/ 199 h 444"/>
                    <a:gd name="T4" fmla="*/ 0 w 578"/>
                    <a:gd name="T5" fmla="*/ 0 h 444"/>
                    <a:gd name="T6" fmla="*/ 160 w 578"/>
                    <a:gd name="T7" fmla="*/ 0 h 444"/>
                    <a:gd name="T8" fmla="*/ 259 w 578"/>
                    <a:gd name="T9" fmla="*/ 100 h 444"/>
                    <a:gd name="T10" fmla="*/ 160 w 578"/>
                    <a:gd name="T11" fmla="*/ 199 h 444"/>
                    <a:gd name="T12" fmla="*/ 160 w 578"/>
                    <a:gd name="T13" fmla="*/ 199 h 44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578"/>
                    <a:gd name="T22" fmla="*/ 0 h 444"/>
                    <a:gd name="T23" fmla="*/ 578 w 578"/>
                    <a:gd name="T24" fmla="*/ 444 h 44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578" h="444">
                      <a:moveTo>
                        <a:pt x="356" y="444"/>
                      </a:moveTo>
                      <a:lnTo>
                        <a:pt x="0" y="444"/>
                      </a:lnTo>
                      <a:lnTo>
                        <a:pt x="0" y="0"/>
                      </a:lnTo>
                      <a:lnTo>
                        <a:pt x="356" y="0"/>
                      </a:lnTo>
                      <a:cubicBezTo>
                        <a:pt x="479" y="0"/>
                        <a:pt x="578" y="99"/>
                        <a:pt x="578" y="222"/>
                      </a:cubicBezTo>
                      <a:cubicBezTo>
                        <a:pt x="578" y="345"/>
                        <a:pt x="479" y="444"/>
                        <a:pt x="356" y="444"/>
                      </a:cubicBezTo>
                      <a:cubicBezTo>
                        <a:pt x="356" y="444"/>
                        <a:pt x="356" y="444"/>
                        <a:pt x="356" y="444"/>
                      </a:cubicBezTo>
                      <a:close/>
                    </a:path>
                  </a:pathLst>
                </a:custGeom>
                <a:solidFill>
                  <a:srgbClr val="000080"/>
                </a:solidFill>
                <a:ln w="31750" cap="rnd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581" name="Freeform 41"/>
                <p:cNvSpPr>
                  <a:spLocks noChangeAspect="1" noEditPoints="1"/>
                </p:cNvSpPr>
                <p:nvPr/>
              </p:nvSpPr>
              <p:spPr bwMode="auto">
                <a:xfrm>
                  <a:off x="1170" y="3561"/>
                  <a:ext cx="398" cy="101"/>
                </a:xfrm>
                <a:custGeom>
                  <a:avLst/>
                  <a:gdLst>
                    <a:gd name="T0" fmla="*/ 0 w 332"/>
                    <a:gd name="T1" fmla="*/ 0 h 84"/>
                    <a:gd name="T2" fmla="*/ 198 w 332"/>
                    <a:gd name="T3" fmla="*/ 0 h 84"/>
                    <a:gd name="T4" fmla="*/ 0 w 332"/>
                    <a:gd name="T5" fmla="*/ 101 h 84"/>
                    <a:gd name="T6" fmla="*/ 198 w 332"/>
                    <a:gd name="T7" fmla="*/ 101 h 84"/>
                    <a:gd name="T8" fmla="*/ 398 w 332"/>
                    <a:gd name="T9" fmla="*/ 51 h 84"/>
                    <a:gd name="T10" fmla="*/ 198 w 332"/>
                    <a:gd name="T11" fmla="*/ 51 h 84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32"/>
                    <a:gd name="T19" fmla="*/ 0 h 84"/>
                    <a:gd name="T20" fmla="*/ 332 w 332"/>
                    <a:gd name="T21" fmla="*/ 84 h 84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32" h="84">
                      <a:moveTo>
                        <a:pt x="0" y="0"/>
                      </a:moveTo>
                      <a:lnTo>
                        <a:pt x="165" y="0"/>
                      </a:lnTo>
                      <a:moveTo>
                        <a:pt x="0" y="84"/>
                      </a:moveTo>
                      <a:lnTo>
                        <a:pt x="165" y="84"/>
                      </a:lnTo>
                      <a:moveTo>
                        <a:pt x="332" y="42"/>
                      </a:moveTo>
                      <a:lnTo>
                        <a:pt x="165" y="42"/>
                      </a:lnTo>
                    </a:path>
                  </a:pathLst>
                </a:custGeom>
                <a:solidFill>
                  <a:srgbClr val="000080"/>
                </a:solidFill>
                <a:ln w="31750" cap="rnd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3569" name="Group 42"/>
              <p:cNvGrpSpPr>
                <a:grpSpLocks/>
              </p:cNvGrpSpPr>
              <p:nvPr/>
            </p:nvGrpSpPr>
            <p:grpSpPr bwMode="auto">
              <a:xfrm flipV="1">
                <a:off x="742" y="3403"/>
                <a:ext cx="129" cy="149"/>
                <a:chOff x="1989" y="3093"/>
                <a:chExt cx="129" cy="149"/>
              </a:xfrm>
            </p:grpSpPr>
            <p:sp>
              <p:nvSpPr>
                <p:cNvPr id="23575" name="Freeform 43"/>
                <p:cNvSpPr>
                  <a:spLocks noEditPoints="1"/>
                </p:cNvSpPr>
                <p:nvPr/>
              </p:nvSpPr>
              <p:spPr bwMode="auto">
                <a:xfrm>
                  <a:off x="1989" y="3093"/>
                  <a:ext cx="129" cy="149"/>
                </a:xfrm>
                <a:custGeom>
                  <a:avLst/>
                  <a:gdLst>
                    <a:gd name="T0" fmla="*/ 65 w 344"/>
                    <a:gd name="T1" fmla="*/ 20 h 396"/>
                    <a:gd name="T2" fmla="*/ 74 w 344"/>
                    <a:gd name="T3" fmla="*/ 10 h 396"/>
                    <a:gd name="T4" fmla="*/ 65 w 344"/>
                    <a:gd name="T5" fmla="*/ 0 h 396"/>
                    <a:gd name="T6" fmla="*/ 65 w 344"/>
                    <a:gd name="T7" fmla="*/ 0 h 396"/>
                    <a:gd name="T8" fmla="*/ 55 w 344"/>
                    <a:gd name="T9" fmla="*/ 10 h 396"/>
                    <a:gd name="T10" fmla="*/ 65 w 344"/>
                    <a:gd name="T11" fmla="*/ 20 h 396"/>
                    <a:gd name="T12" fmla="*/ 0 w 344"/>
                    <a:gd name="T13" fmla="*/ 149 h 396"/>
                    <a:gd name="T14" fmla="*/ 65 w 344"/>
                    <a:gd name="T15" fmla="*/ 20 h 396"/>
                    <a:gd name="T16" fmla="*/ 129 w 344"/>
                    <a:gd name="T17" fmla="*/ 149 h 396"/>
                    <a:gd name="T18" fmla="*/ 0 w 344"/>
                    <a:gd name="T19" fmla="*/ 149 h 39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44"/>
                    <a:gd name="T31" fmla="*/ 0 h 396"/>
                    <a:gd name="T32" fmla="*/ 344 w 344"/>
                    <a:gd name="T33" fmla="*/ 396 h 39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44" h="396">
                      <a:moveTo>
                        <a:pt x="172" y="52"/>
                      </a:moveTo>
                      <a:cubicBezTo>
                        <a:pt x="186" y="52"/>
                        <a:pt x="198" y="40"/>
                        <a:pt x="198" y="26"/>
                      </a:cubicBezTo>
                      <a:cubicBezTo>
                        <a:pt x="198" y="11"/>
                        <a:pt x="186" y="0"/>
                        <a:pt x="172" y="0"/>
                      </a:cubicBezTo>
                      <a:cubicBezTo>
                        <a:pt x="172" y="0"/>
                        <a:pt x="172" y="0"/>
                        <a:pt x="172" y="0"/>
                      </a:cubicBezTo>
                      <a:cubicBezTo>
                        <a:pt x="158" y="0"/>
                        <a:pt x="146" y="11"/>
                        <a:pt x="146" y="26"/>
                      </a:cubicBezTo>
                      <a:cubicBezTo>
                        <a:pt x="146" y="40"/>
                        <a:pt x="158" y="52"/>
                        <a:pt x="172" y="52"/>
                      </a:cubicBezTo>
                      <a:close/>
                      <a:moveTo>
                        <a:pt x="0" y="396"/>
                      </a:moveTo>
                      <a:lnTo>
                        <a:pt x="172" y="52"/>
                      </a:lnTo>
                      <a:lnTo>
                        <a:pt x="344" y="396"/>
                      </a:lnTo>
                      <a:lnTo>
                        <a:pt x="0" y="396"/>
                      </a:lnTo>
                      <a:close/>
                    </a:path>
                  </a:pathLst>
                </a:custGeom>
                <a:solidFill>
                  <a:srgbClr val="000080"/>
                </a:solidFill>
                <a:ln w="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576" name="Freeform 44"/>
                <p:cNvSpPr>
                  <a:spLocks noEditPoints="1"/>
                </p:cNvSpPr>
                <p:nvPr/>
              </p:nvSpPr>
              <p:spPr bwMode="auto">
                <a:xfrm>
                  <a:off x="1989" y="3093"/>
                  <a:ext cx="129" cy="149"/>
                </a:xfrm>
                <a:custGeom>
                  <a:avLst/>
                  <a:gdLst>
                    <a:gd name="T0" fmla="*/ 65 w 344"/>
                    <a:gd name="T1" fmla="*/ 20 h 396"/>
                    <a:gd name="T2" fmla="*/ 74 w 344"/>
                    <a:gd name="T3" fmla="*/ 10 h 396"/>
                    <a:gd name="T4" fmla="*/ 65 w 344"/>
                    <a:gd name="T5" fmla="*/ 0 h 396"/>
                    <a:gd name="T6" fmla="*/ 65 w 344"/>
                    <a:gd name="T7" fmla="*/ 0 h 396"/>
                    <a:gd name="T8" fmla="*/ 55 w 344"/>
                    <a:gd name="T9" fmla="*/ 10 h 396"/>
                    <a:gd name="T10" fmla="*/ 65 w 344"/>
                    <a:gd name="T11" fmla="*/ 20 h 396"/>
                    <a:gd name="T12" fmla="*/ 0 w 344"/>
                    <a:gd name="T13" fmla="*/ 149 h 396"/>
                    <a:gd name="T14" fmla="*/ 65 w 344"/>
                    <a:gd name="T15" fmla="*/ 20 h 396"/>
                    <a:gd name="T16" fmla="*/ 129 w 344"/>
                    <a:gd name="T17" fmla="*/ 149 h 396"/>
                    <a:gd name="T18" fmla="*/ 0 w 344"/>
                    <a:gd name="T19" fmla="*/ 149 h 39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44"/>
                    <a:gd name="T31" fmla="*/ 0 h 396"/>
                    <a:gd name="T32" fmla="*/ 344 w 344"/>
                    <a:gd name="T33" fmla="*/ 396 h 39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44" h="396">
                      <a:moveTo>
                        <a:pt x="172" y="52"/>
                      </a:moveTo>
                      <a:cubicBezTo>
                        <a:pt x="186" y="52"/>
                        <a:pt x="198" y="40"/>
                        <a:pt x="198" y="26"/>
                      </a:cubicBezTo>
                      <a:cubicBezTo>
                        <a:pt x="198" y="11"/>
                        <a:pt x="186" y="0"/>
                        <a:pt x="172" y="0"/>
                      </a:cubicBezTo>
                      <a:cubicBezTo>
                        <a:pt x="172" y="0"/>
                        <a:pt x="172" y="0"/>
                        <a:pt x="172" y="0"/>
                      </a:cubicBezTo>
                      <a:cubicBezTo>
                        <a:pt x="158" y="0"/>
                        <a:pt x="146" y="11"/>
                        <a:pt x="146" y="26"/>
                      </a:cubicBezTo>
                      <a:cubicBezTo>
                        <a:pt x="146" y="40"/>
                        <a:pt x="158" y="52"/>
                        <a:pt x="172" y="52"/>
                      </a:cubicBezTo>
                      <a:close/>
                      <a:moveTo>
                        <a:pt x="0" y="396"/>
                      </a:moveTo>
                      <a:lnTo>
                        <a:pt x="172" y="52"/>
                      </a:lnTo>
                      <a:lnTo>
                        <a:pt x="344" y="396"/>
                      </a:lnTo>
                      <a:lnTo>
                        <a:pt x="0" y="396"/>
                      </a:lnTo>
                      <a:close/>
                    </a:path>
                  </a:pathLst>
                </a:custGeom>
                <a:solidFill>
                  <a:srgbClr val="000080"/>
                </a:solidFill>
                <a:ln w="31750" cap="rnd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3570" name="Group 45"/>
              <p:cNvGrpSpPr>
                <a:grpSpLocks/>
              </p:cNvGrpSpPr>
              <p:nvPr/>
            </p:nvGrpSpPr>
            <p:grpSpPr bwMode="auto">
              <a:xfrm flipV="1">
                <a:off x="742" y="3168"/>
                <a:ext cx="129" cy="149"/>
                <a:chOff x="1989" y="3093"/>
                <a:chExt cx="129" cy="149"/>
              </a:xfrm>
            </p:grpSpPr>
            <p:sp>
              <p:nvSpPr>
                <p:cNvPr id="23573" name="Freeform 46"/>
                <p:cNvSpPr>
                  <a:spLocks noEditPoints="1"/>
                </p:cNvSpPr>
                <p:nvPr/>
              </p:nvSpPr>
              <p:spPr bwMode="auto">
                <a:xfrm>
                  <a:off x="1989" y="3093"/>
                  <a:ext cx="129" cy="149"/>
                </a:xfrm>
                <a:custGeom>
                  <a:avLst/>
                  <a:gdLst>
                    <a:gd name="T0" fmla="*/ 65 w 344"/>
                    <a:gd name="T1" fmla="*/ 20 h 396"/>
                    <a:gd name="T2" fmla="*/ 74 w 344"/>
                    <a:gd name="T3" fmla="*/ 10 h 396"/>
                    <a:gd name="T4" fmla="*/ 65 w 344"/>
                    <a:gd name="T5" fmla="*/ 0 h 396"/>
                    <a:gd name="T6" fmla="*/ 65 w 344"/>
                    <a:gd name="T7" fmla="*/ 0 h 396"/>
                    <a:gd name="T8" fmla="*/ 55 w 344"/>
                    <a:gd name="T9" fmla="*/ 10 h 396"/>
                    <a:gd name="T10" fmla="*/ 65 w 344"/>
                    <a:gd name="T11" fmla="*/ 20 h 396"/>
                    <a:gd name="T12" fmla="*/ 0 w 344"/>
                    <a:gd name="T13" fmla="*/ 149 h 396"/>
                    <a:gd name="T14" fmla="*/ 65 w 344"/>
                    <a:gd name="T15" fmla="*/ 20 h 396"/>
                    <a:gd name="T16" fmla="*/ 129 w 344"/>
                    <a:gd name="T17" fmla="*/ 149 h 396"/>
                    <a:gd name="T18" fmla="*/ 0 w 344"/>
                    <a:gd name="T19" fmla="*/ 149 h 39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44"/>
                    <a:gd name="T31" fmla="*/ 0 h 396"/>
                    <a:gd name="T32" fmla="*/ 344 w 344"/>
                    <a:gd name="T33" fmla="*/ 396 h 39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44" h="396">
                      <a:moveTo>
                        <a:pt x="172" y="52"/>
                      </a:moveTo>
                      <a:cubicBezTo>
                        <a:pt x="186" y="52"/>
                        <a:pt x="198" y="40"/>
                        <a:pt x="198" y="26"/>
                      </a:cubicBezTo>
                      <a:cubicBezTo>
                        <a:pt x="198" y="11"/>
                        <a:pt x="186" y="0"/>
                        <a:pt x="172" y="0"/>
                      </a:cubicBezTo>
                      <a:cubicBezTo>
                        <a:pt x="172" y="0"/>
                        <a:pt x="172" y="0"/>
                        <a:pt x="172" y="0"/>
                      </a:cubicBezTo>
                      <a:cubicBezTo>
                        <a:pt x="158" y="0"/>
                        <a:pt x="146" y="11"/>
                        <a:pt x="146" y="26"/>
                      </a:cubicBezTo>
                      <a:cubicBezTo>
                        <a:pt x="146" y="40"/>
                        <a:pt x="158" y="52"/>
                        <a:pt x="172" y="52"/>
                      </a:cubicBezTo>
                      <a:close/>
                      <a:moveTo>
                        <a:pt x="0" y="396"/>
                      </a:moveTo>
                      <a:lnTo>
                        <a:pt x="172" y="52"/>
                      </a:lnTo>
                      <a:lnTo>
                        <a:pt x="344" y="396"/>
                      </a:lnTo>
                      <a:lnTo>
                        <a:pt x="0" y="396"/>
                      </a:lnTo>
                      <a:close/>
                    </a:path>
                  </a:pathLst>
                </a:custGeom>
                <a:solidFill>
                  <a:srgbClr val="000080"/>
                </a:solidFill>
                <a:ln w="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574" name="Freeform 47"/>
                <p:cNvSpPr>
                  <a:spLocks noEditPoints="1"/>
                </p:cNvSpPr>
                <p:nvPr/>
              </p:nvSpPr>
              <p:spPr bwMode="auto">
                <a:xfrm>
                  <a:off x="1989" y="3093"/>
                  <a:ext cx="129" cy="149"/>
                </a:xfrm>
                <a:custGeom>
                  <a:avLst/>
                  <a:gdLst>
                    <a:gd name="T0" fmla="*/ 65 w 344"/>
                    <a:gd name="T1" fmla="*/ 20 h 396"/>
                    <a:gd name="T2" fmla="*/ 74 w 344"/>
                    <a:gd name="T3" fmla="*/ 10 h 396"/>
                    <a:gd name="T4" fmla="*/ 65 w 344"/>
                    <a:gd name="T5" fmla="*/ 0 h 396"/>
                    <a:gd name="T6" fmla="*/ 65 w 344"/>
                    <a:gd name="T7" fmla="*/ 0 h 396"/>
                    <a:gd name="T8" fmla="*/ 55 w 344"/>
                    <a:gd name="T9" fmla="*/ 10 h 396"/>
                    <a:gd name="T10" fmla="*/ 65 w 344"/>
                    <a:gd name="T11" fmla="*/ 20 h 396"/>
                    <a:gd name="T12" fmla="*/ 0 w 344"/>
                    <a:gd name="T13" fmla="*/ 149 h 396"/>
                    <a:gd name="T14" fmla="*/ 65 w 344"/>
                    <a:gd name="T15" fmla="*/ 20 h 396"/>
                    <a:gd name="T16" fmla="*/ 129 w 344"/>
                    <a:gd name="T17" fmla="*/ 149 h 396"/>
                    <a:gd name="T18" fmla="*/ 0 w 344"/>
                    <a:gd name="T19" fmla="*/ 149 h 39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44"/>
                    <a:gd name="T31" fmla="*/ 0 h 396"/>
                    <a:gd name="T32" fmla="*/ 344 w 344"/>
                    <a:gd name="T33" fmla="*/ 396 h 39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44" h="396">
                      <a:moveTo>
                        <a:pt x="172" y="52"/>
                      </a:moveTo>
                      <a:cubicBezTo>
                        <a:pt x="186" y="52"/>
                        <a:pt x="198" y="40"/>
                        <a:pt x="198" y="26"/>
                      </a:cubicBezTo>
                      <a:cubicBezTo>
                        <a:pt x="198" y="11"/>
                        <a:pt x="186" y="0"/>
                        <a:pt x="172" y="0"/>
                      </a:cubicBezTo>
                      <a:cubicBezTo>
                        <a:pt x="172" y="0"/>
                        <a:pt x="172" y="0"/>
                        <a:pt x="172" y="0"/>
                      </a:cubicBezTo>
                      <a:cubicBezTo>
                        <a:pt x="158" y="0"/>
                        <a:pt x="146" y="11"/>
                        <a:pt x="146" y="26"/>
                      </a:cubicBezTo>
                      <a:cubicBezTo>
                        <a:pt x="146" y="40"/>
                        <a:pt x="158" y="52"/>
                        <a:pt x="172" y="52"/>
                      </a:cubicBezTo>
                      <a:close/>
                      <a:moveTo>
                        <a:pt x="0" y="396"/>
                      </a:moveTo>
                      <a:lnTo>
                        <a:pt x="172" y="52"/>
                      </a:lnTo>
                      <a:lnTo>
                        <a:pt x="344" y="396"/>
                      </a:lnTo>
                      <a:lnTo>
                        <a:pt x="0" y="396"/>
                      </a:lnTo>
                      <a:close/>
                    </a:path>
                  </a:pathLst>
                </a:custGeom>
                <a:solidFill>
                  <a:srgbClr val="000080"/>
                </a:solidFill>
                <a:ln w="31750" cap="rnd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3571" name="Freeform 48"/>
              <p:cNvSpPr>
                <a:spLocks noChangeAspect="1"/>
              </p:cNvSpPr>
              <p:nvPr/>
            </p:nvSpPr>
            <p:spPr bwMode="auto">
              <a:xfrm>
                <a:off x="1152" y="3360"/>
                <a:ext cx="312" cy="336"/>
              </a:xfrm>
              <a:custGeom>
                <a:avLst/>
                <a:gdLst>
                  <a:gd name="T0" fmla="*/ 312 w 312"/>
                  <a:gd name="T1" fmla="*/ 0 h 336"/>
                  <a:gd name="T2" fmla="*/ 192 w 312"/>
                  <a:gd name="T3" fmla="*/ 4 h 336"/>
                  <a:gd name="T4" fmla="*/ 196 w 312"/>
                  <a:gd name="T5" fmla="*/ 336 h 336"/>
                  <a:gd name="T6" fmla="*/ 0 w 312"/>
                  <a:gd name="T7" fmla="*/ 336 h 33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2"/>
                  <a:gd name="T13" fmla="*/ 0 h 336"/>
                  <a:gd name="T14" fmla="*/ 312 w 312"/>
                  <a:gd name="T15" fmla="*/ 336 h 3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2" h="336">
                    <a:moveTo>
                      <a:pt x="312" y="0"/>
                    </a:moveTo>
                    <a:lnTo>
                      <a:pt x="192" y="4"/>
                    </a:lnTo>
                    <a:lnTo>
                      <a:pt x="196" y="336"/>
                    </a:lnTo>
                    <a:lnTo>
                      <a:pt x="0" y="336"/>
                    </a:lnTo>
                  </a:path>
                </a:pathLst>
              </a:custGeom>
              <a:noFill/>
              <a:ln w="31750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3572" name="Freeform 49"/>
              <p:cNvSpPr>
                <a:spLocks noChangeAspect="1"/>
              </p:cNvSpPr>
              <p:nvPr/>
            </p:nvSpPr>
            <p:spPr bwMode="auto">
              <a:xfrm flipV="1">
                <a:off x="1152" y="3024"/>
                <a:ext cx="312" cy="240"/>
              </a:xfrm>
              <a:custGeom>
                <a:avLst/>
                <a:gdLst>
                  <a:gd name="T0" fmla="*/ 312 w 312"/>
                  <a:gd name="T1" fmla="*/ 0 h 336"/>
                  <a:gd name="T2" fmla="*/ 192 w 312"/>
                  <a:gd name="T3" fmla="*/ 3 h 336"/>
                  <a:gd name="T4" fmla="*/ 196 w 312"/>
                  <a:gd name="T5" fmla="*/ 240 h 336"/>
                  <a:gd name="T6" fmla="*/ 0 w 312"/>
                  <a:gd name="T7" fmla="*/ 240 h 33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2"/>
                  <a:gd name="T13" fmla="*/ 0 h 336"/>
                  <a:gd name="T14" fmla="*/ 312 w 312"/>
                  <a:gd name="T15" fmla="*/ 336 h 3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2" h="336">
                    <a:moveTo>
                      <a:pt x="312" y="0"/>
                    </a:moveTo>
                    <a:lnTo>
                      <a:pt x="192" y="4"/>
                    </a:lnTo>
                    <a:lnTo>
                      <a:pt x="196" y="336"/>
                    </a:lnTo>
                    <a:lnTo>
                      <a:pt x="0" y="336"/>
                    </a:lnTo>
                  </a:path>
                </a:pathLst>
              </a:custGeom>
              <a:noFill/>
              <a:ln w="31750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r>
              <a:rPr lang="en-US" sz="1400" b="0"/>
              <a:t>(c)  Giovanni De Micheli</a:t>
            </a:r>
          </a:p>
        </p:txBody>
      </p:sp>
      <p:sp>
        <p:nvSpPr>
          <p:cNvPr id="2560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618B4D00-059E-2F49-9E30-01142F5E9B06}" type="slidenum">
              <a:rPr lang="en-US" sz="1400" b="0"/>
              <a:pPr/>
              <a:t>9</a:t>
            </a:fld>
            <a:endParaRPr lang="en-US" sz="1400" b="0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>
                <a:latin typeface="Arial Narrow" charset="0"/>
              </a:rPr>
              <a:t>Terminology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600">
                <a:latin typeface="Arial Narrow" charset="0"/>
              </a:rPr>
              <a:t>A Binary Decision Diagram (BDD) is a </a:t>
            </a:r>
            <a:r>
              <a:rPr lang="en-US" sz="2600" i="1">
                <a:latin typeface="Arial Narrow" charset="0"/>
              </a:rPr>
              <a:t>directed acyclic graph</a:t>
            </a:r>
          </a:p>
          <a:p>
            <a:pPr lvl="1"/>
            <a:r>
              <a:rPr lang="en-US">
                <a:solidFill>
                  <a:schemeClr val="accent2"/>
                </a:solidFill>
                <a:latin typeface="Arial Narrow" charset="0"/>
              </a:rPr>
              <a:t>Graph</a:t>
            </a:r>
            <a:r>
              <a:rPr lang="en-US">
                <a:latin typeface="Arial Narrow" charset="0"/>
              </a:rPr>
              <a:t>: set of vertices connected by edges</a:t>
            </a:r>
          </a:p>
          <a:p>
            <a:pPr lvl="1"/>
            <a:r>
              <a:rPr lang="en-US">
                <a:solidFill>
                  <a:schemeClr val="accent2"/>
                </a:solidFill>
                <a:latin typeface="Arial Narrow" charset="0"/>
              </a:rPr>
              <a:t>Directed</a:t>
            </a:r>
            <a:r>
              <a:rPr lang="en-US">
                <a:latin typeface="Arial Narrow" charset="0"/>
              </a:rPr>
              <a:t>: edges have direction</a:t>
            </a:r>
          </a:p>
          <a:p>
            <a:pPr lvl="1"/>
            <a:r>
              <a:rPr lang="en-US">
                <a:solidFill>
                  <a:schemeClr val="accent2"/>
                </a:solidFill>
                <a:latin typeface="Arial Narrow" charset="0"/>
              </a:rPr>
              <a:t>Acyclic</a:t>
            </a:r>
            <a:r>
              <a:rPr lang="en-US">
                <a:latin typeface="Arial Narrow" charset="0"/>
              </a:rPr>
              <a:t>: no path in the graph can lead to a cycle</a:t>
            </a:r>
          </a:p>
          <a:p>
            <a:r>
              <a:rPr lang="en-US">
                <a:latin typeface="Arial Narrow" charset="0"/>
              </a:rPr>
              <a:t>Often abbreviated as DAG</a:t>
            </a:r>
          </a:p>
          <a:p>
            <a:pPr lvl="1"/>
            <a:r>
              <a:rPr lang="en-US">
                <a:latin typeface="Arial Narrow" charset="0"/>
              </a:rPr>
              <a:t>Simplest model:</a:t>
            </a:r>
          </a:p>
          <a:p>
            <a:pPr lvl="2"/>
            <a:r>
              <a:rPr lang="en-US">
                <a:latin typeface="Arial Narrow" charset="0"/>
              </a:rPr>
              <a:t>Two leaves (Boolean constants 0 and 1)</a:t>
            </a:r>
          </a:p>
          <a:p>
            <a:pPr lvl="2"/>
            <a:r>
              <a:rPr lang="en-US">
                <a:latin typeface="Arial Narrow" charset="0"/>
              </a:rPr>
              <a:t>One root </a:t>
            </a:r>
          </a:p>
          <a:p>
            <a:pPr lvl="2"/>
            <a:r>
              <a:rPr lang="en-US">
                <a:latin typeface="Arial Narrow" charset="0"/>
              </a:rPr>
              <a:t>Can degenerate to a tree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r>
              <a:rPr lang="en-US" sz="1400" b="0"/>
              <a:t>(c)  Giovanni De Micheli</a:t>
            </a:r>
          </a:p>
        </p:txBody>
      </p:sp>
      <p:sp>
        <p:nvSpPr>
          <p:cNvPr id="2765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DFB98376-C849-4843-B071-FAC43F4547F4}" type="slidenum">
              <a:rPr lang="en-US" sz="1400" b="0"/>
              <a:pPr/>
              <a:t>10</a:t>
            </a:fld>
            <a:endParaRPr lang="en-US" sz="1400" b="0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Narrow" charset="0"/>
              </a:rPr>
              <a:t>BDD - Example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>
                <a:solidFill>
                  <a:schemeClr val="bg2"/>
                </a:solidFill>
                <a:latin typeface="Arial Narrow" charset="0"/>
              </a:rPr>
              <a:t>F = (a + b) c</a:t>
            </a:r>
          </a:p>
        </p:txBody>
      </p:sp>
      <p:grpSp>
        <p:nvGrpSpPr>
          <p:cNvPr id="27653" name="Group 4"/>
          <p:cNvGrpSpPr>
            <a:grpSpLocks/>
          </p:cNvGrpSpPr>
          <p:nvPr/>
        </p:nvGrpSpPr>
        <p:grpSpPr bwMode="auto">
          <a:xfrm>
            <a:off x="4267200" y="1828800"/>
            <a:ext cx="4191000" cy="2768600"/>
            <a:chOff x="2112" y="1584"/>
            <a:chExt cx="2640" cy="1744"/>
          </a:xfrm>
        </p:grpSpPr>
        <p:sp>
          <p:nvSpPr>
            <p:cNvPr id="27695" name="Rectangle 5"/>
            <p:cNvSpPr>
              <a:spLocks noChangeArrowheads="1"/>
            </p:cNvSpPr>
            <p:nvPr/>
          </p:nvSpPr>
          <p:spPr bwMode="auto">
            <a:xfrm>
              <a:off x="3168" y="1917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27696" name="Rectangle 6"/>
            <p:cNvSpPr>
              <a:spLocks noChangeArrowheads="1"/>
            </p:cNvSpPr>
            <p:nvPr/>
          </p:nvSpPr>
          <p:spPr bwMode="auto">
            <a:xfrm>
              <a:off x="3586" y="1917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27697" name="Line 7"/>
            <p:cNvSpPr>
              <a:spLocks noChangeShapeType="1"/>
            </p:cNvSpPr>
            <p:nvPr/>
          </p:nvSpPr>
          <p:spPr bwMode="auto">
            <a:xfrm flipH="1">
              <a:off x="2928" y="2032"/>
              <a:ext cx="384" cy="240"/>
            </a:xfrm>
            <a:prstGeom prst="line">
              <a:avLst/>
            </a:pr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7698" name="Line 8"/>
            <p:cNvSpPr>
              <a:spLocks noChangeShapeType="1"/>
            </p:cNvSpPr>
            <p:nvPr/>
          </p:nvSpPr>
          <p:spPr bwMode="auto">
            <a:xfrm>
              <a:off x="3504" y="2032"/>
              <a:ext cx="432" cy="24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27699" name="Group 9"/>
            <p:cNvGrpSpPr>
              <a:grpSpLocks/>
            </p:cNvGrpSpPr>
            <p:nvPr/>
          </p:nvGrpSpPr>
          <p:grpSpPr bwMode="auto">
            <a:xfrm>
              <a:off x="3279" y="1775"/>
              <a:ext cx="293" cy="305"/>
              <a:chOff x="2895" y="1488"/>
              <a:chExt cx="293" cy="305"/>
            </a:xfrm>
          </p:grpSpPr>
          <p:sp>
            <p:nvSpPr>
              <p:cNvPr id="27781" name="Freeform 10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82" name="Freeform 11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83" name="Rectangle 12"/>
              <p:cNvSpPr>
                <a:spLocks noChangeArrowheads="1"/>
              </p:cNvSpPr>
              <p:nvPr/>
            </p:nvSpPr>
            <p:spPr bwMode="auto">
              <a:xfrm>
                <a:off x="2995" y="1488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a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grpSp>
          <p:nvGrpSpPr>
            <p:cNvPr id="27700" name="Group 13"/>
            <p:cNvGrpSpPr>
              <a:grpSpLocks/>
            </p:cNvGrpSpPr>
            <p:nvPr/>
          </p:nvGrpSpPr>
          <p:grpSpPr bwMode="auto">
            <a:xfrm>
              <a:off x="3817" y="3126"/>
              <a:ext cx="167" cy="202"/>
              <a:chOff x="3087" y="2784"/>
              <a:chExt cx="167" cy="202"/>
            </a:xfrm>
          </p:grpSpPr>
          <p:sp>
            <p:nvSpPr>
              <p:cNvPr id="27778" name="Rectangle 14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79" name="Rectangle 15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80" name="Rectangle 16"/>
              <p:cNvSpPr>
                <a:spLocks noChangeArrowheads="1"/>
              </p:cNvSpPr>
              <p:nvPr/>
            </p:nvSpPr>
            <p:spPr bwMode="auto">
              <a:xfrm>
                <a:off x="3120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0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27701" name="Freeform 17"/>
            <p:cNvSpPr>
              <a:spLocks/>
            </p:cNvSpPr>
            <p:nvPr/>
          </p:nvSpPr>
          <p:spPr bwMode="auto">
            <a:xfrm>
              <a:off x="3744" y="2944"/>
              <a:ext cx="160" cy="208"/>
            </a:xfrm>
            <a:custGeom>
              <a:avLst/>
              <a:gdLst>
                <a:gd name="T0" fmla="*/ 0 w 160"/>
                <a:gd name="T1" fmla="*/ 0 h 208"/>
                <a:gd name="T2" fmla="*/ 160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7702" name="Freeform 18"/>
            <p:cNvSpPr>
              <a:spLocks/>
            </p:cNvSpPr>
            <p:nvPr/>
          </p:nvSpPr>
          <p:spPr bwMode="auto">
            <a:xfrm flipH="1">
              <a:off x="3504" y="2944"/>
              <a:ext cx="64" cy="208"/>
            </a:xfrm>
            <a:custGeom>
              <a:avLst/>
              <a:gdLst>
                <a:gd name="T0" fmla="*/ 0 w 160"/>
                <a:gd name="T1" fmla="*/ 0 h 208"/>
                <a:gd name="T2" fmla="*/ 64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27703" name="Group 19"/>
            <p:cNvGrpSpPr>
              <a:grpSpLocks/>
            </p:cNvGrpSpPr>
            <p:nvPr/>
          </p:nvGrpSpPr>
          <p:grpSpPr bwMode="auto">
            <a:xfrm>
              <a:off x="3456" y="3126"/>
              <a:ext cx="167" cy="202"/>
              <a:chOff x="3087" y="2784"/>
              <a:chExt cx="167" cy="202"/>
            </a:xfrm>
          </p:grpSpPr>
          <p:sp>
            <p:nvSpPr>
              <p:cNvPr id="27775" name="Rectangle 20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76" name="Rectangle 21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77" name="Rectangle 22"/>
              <p:cNvSpPr>
                <a:spLocks noChangeArrowheads="1"/>
              </p:cNvSpPr>
              <p:nvPr/>
            </p:nvSpPr>
            <p:spPr bwMode="auto">
              <a:xfrm>
                <a:off x="3120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0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27704" name="Rectangle 23"/>
            <p:cNvSpPr>
              <a:spLocks noChangeArrowheads="1"/>
            </p:cNvSpPr>
            <p:nvPr/>
          </p:nvSpPr>
          <p:spPr bwMode="auto">
            <a:xfrm>
              <a:off x="3787" y="2416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27705" name="Rectangle 24"/>
            <p:cNvSpPr>
              <a:spLocks noChangeArrowheads="1"/>
            </p:cNvSpPr>
            <p:nvPr/>
          </p:nvSpPr>
          <p:spPr bwMode="auto">
            <a:xfrm>
              <a:off x="4205" y="2416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grpSp>
          <p:nvGrpSpPr>
            <p:cNvPr id="27706" name="Group 25"/>
            <p:cNvGrpSpPr>
              <a:grpSpLocks/>
            </p:cNvGrpSpPr>
            <p:nvPr/>
          </p:nvGrpSpPr>
          <p:grpSpPr bwMode="auto">
            <a:xfrm>
              <a:off x="3499" y="2675"/>
              <a:ext cx="293" cy="305"/>
              <a:chOff x="2895" y="1488"/>
              <a:chExt cx="293" cy="305"/>
            </a:xfrm>
          </p:grpSpPr>
          <p:sp>
            <p:nvSpPr>
              <p:cNvPr id="27772" name="Freeform 26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73" name="Freeform 27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74" name="Rectangle 28"/>
              <p:cNvSpPr>
                <a:spLocks noChangeArrowheads="1"/>
              </p:cNvSpPr>
              <p:nvPr/>
            </p:nvSpPr>
            <p:spPr bwMode="auto">
              <a:xfrm>
                <a:off x="2995" y="1488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b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grpSp>
          <p:nvGrpSpPr>
            <p:cNvPr id="27707" name="Group 29"/>
            <p:cNvGrpSpPr>
              <a:grpSpLocks/>
            </p:cNvGrpSpPr>
            <p:nvPr/>
          </p:nvGrpSpPr>
          <p:grpSpPr bwMode="auto">
            <a:xfrm>
              <a:off x="4267" y="2675"/>
              <a:ext cx="293" cy="305"/>
              <a:chOff x="2895" y="1488"/>
              <a:chExt cx="293" cy="305"/>
            </a:xfrm>
          </p:grpSpPr>
          <p:sp>
            <p:nvSpPr>
              <p:cNvPr id="27769" name="Freeform 30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70" name="Freeform 31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71" name="Rectangle 32"/>
              <p:cNvSpPr>
                <a:spLocks noChangeArrowheads="1"/>
              </p:cNvSpPr>
              <p:nvPr/>
            </p:nvSpPr>
            <p:spPr bwMode="auto">
              <a:xfrm>
                <a:off x="2995" y="1488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b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27708" name="Line 33"/>
            <p:cNvSpPr>
              <a:spLocks noChangeShapeType="1"/>
            </p:cNvSpPr>
            <p:nvPr/>
          </p:nvSpPr>
          <p:spPr bwMode="auto">
            <a:xfrm flipH="1">
              <a:off x="3739" y="2483"/>
              <a:ext cx="192" cy="240"/>
            </a:xfrm>
            <a:prstGeom prst="line">
              <a:avLst/>
            </a:pr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27709" name="Line 34"/>
            <p:cNvSpPr>
              <a:spLocks noChangeShapeType="1"/>
            </p:cNvSpPr>
            <p:nvPr/>
          </p:nvSpPr>
          <p:spPr bwMode="auto">
            <a:xfrm>
              <a:off x="4123" y="2483"/>
              <a:ext cx="192" cy="24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grpSp>
          <p:nvGrpSpPr>
            <p:cNvPr id="27710" name="Group 35"/>
            <p:cNvGrpSpPr>
              <a:grpSpLocks/>
            </p:cNvGrpSpPr>
            <p:nvPr/>
          </p:nvGrpSpPr>
          <p:grpSpPr bwMode="auto">
            <a:xfrm flipH="1">
              <a:off x="2880" y="3126"/>
              <a:ext cx="167" cy="202"/>
              <a:chOff x="3087" y="2784"/>
              <a:chExt cx="167" cy="202"/>
            </a:xfrm>
          </p:grpSpPr>
          <p:sp>
            <p:nvSpPr>
              <p:cNvPr id="27766" name="Rectangle 36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67" name="Rectangle 37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68" name="Rectangle 38"/>
              <p:cNvSpPr>
                <a:spLocks noChangeArrowheads="1"/>
              </p:cNvSpPr>
              <p:nvPr/>
            </p:nvSpPr>
            <p:spPr bwMode="auto">
              <a:xfrm>
                <a:off x="3120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0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27711" name="Freeform 39"/>
            <p:cNvSpPr>
              <a:spLocks/>
            </p:cNvSpPr>
            <p:nvPr/>
          </p:nvSpPr>
          <p:spPr bwMode="auto">
            <a:xfrm flipH="1">
              <a:off x="2960" y="2944"/>
              <a:ext cx="160" cy="208"/>
            </a:xfrm>
            <a:custGeom>
              <a:avLst/>
              <a:gdLst>
                <a:gd name="T0" fmla="*/ 0 w 160"/>
                <a:gd name="T1" fmla="*/ 0 h 208"/>
                <a:gd name="T2" fmla="*/ 160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7712" name="Freeform 40"/>
            <p:cNvSpPr>
              <a:spLocks/>
            </p:cNvSpPr>
            <p:nvPr/>
          </p:nvSpPr>
          <p:spPr bwMode="auto">
            <a:xfrm>
              <a:off x="3296" y="2944"/>
              <a:ext cx="64" cy="208"/>
            </a:xfrm>
            <a:custGeom>
              <a:avLst/>
              <a:gdLst>
                <a:gd name="T0" fmla="*/ 0 w 160"/>
                <a:gd name="T1" fmla="*/ 0 h 208"/>
                <a:gd name="T2" fmla="*/ 64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27713" name="Group 41"/>
            <p:cNvGrpSpPr>
              <a:grpSpLocks/>
            </p:cNvGrpSpPr>
            <p:nvPr/>
          </p:nvGrpSpPr>
          <p:grpSpPr bwMode="auto">
            <a:xfrm flipH="1">
              <a:off x="3241" y="3126"/>
              <a:ext cx="167" cy="202"/>
              <a:chOff x="3087" y="2784"/>
              <a:chExt cx="167" cy="202"/>
            </a:xfrm>
          </p:grpSpPr>
          <p:sp>
            <p:nvSpPr>
              <p:cNvPr id="27763" name="Rectangle 42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64" name="Rectangle 43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65" name="Rectangle 44"/>
              <p:cNvSpPr>
                <a:spLocks noChangeArrowheads="1"/>
              </p:cNvSpPr>
              <p:nvPr/>
            </p:nvSpPr>
            <p:spPr bwMode="auto">
              <a:xfrm>
                <a:off x="3137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1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27714" name="Rectangle 45"/>
            <p:cNvSpPr>
              <a:spLocks noChangeArrowheads="1"/>
            </p:cNvSpPr>
            <p:nvPr/>
          </p:nvSpPr>
          <p:spPr bwMode="auto">
            <a:xfrm>
              <a:off x="2592" y="2416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27715" name="Rectangle 46"/>
            <p:cNvSpPr>
              <a:spLocks noChangeArrowheads="1"/>
            </p:cNvSpPr>
            <p:nvPr/>
          </p:nvSpPr>
          <p:spPr bwMode="auto">
            <a:xfrm>
              <a:off x="3010" y="2416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grpSp>
          <p:nvGrpSpPr>
            <p:cNvPr id="27716" name="Group 47"/>
            <p:cNvGrpSpPr>
              <a:grpSpLocks/>
            </p:cNvGrpSpPr>
            <p:nvPr/>
          </p:nvGrpSpPr>
          <p:grpSpPr bwMode="auto">
            <a:xfrm>
              <a:off x="2304" y="2675"/>
              <a:ext cx="293" cy="305"/>
              <a:chOff x="2895" y="1488"/>
              <a:chExt cx="293" cy="305"/>
            </a:xfrm>
          </p:grpSpPr>
          <p:sp>
            <p:nvSpPr>
              <p:cNvPr id="27760" name="Freeform 48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61" name="Freeform 49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62" name="Rectangle 50"/>
              <p:cNvSpPr>
                <a:spLocks noChangeArrowheads="1"/>
              </p:cNvSpPr>
              <p:nvPr/>
            </p:nvSpPr>
            <p:spPr bwMode="auto">
              <a:xfrm>
                <a:off x="3001" y="1488"/>
                <a:ext cx="99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c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grpSp>
          <p:nvGrpSpPr>
            <p:cNvPr id="27717" name="Group 51"/>
            <p:cNvGrpSpPr>
              <a:grpSpLocks/>
            </p:cNvGrpSpPr>
            <p:nvPr/>
          </p:nvGrpSpPr>
          <p:grpSpPr bwMode="auto">
            <a:xfrm>
              <a:off x="3072" y="2675"/>
              <a:ext cx="293" cy="305"/>
              <a:chOff x="2895" y="1488"/>
              <a:chExt cx="293" cy="305"/>
            </a:xfrm>
          </p:grpSpPr>
          <p:sp>
            <p:nvSpPr>
              <p:cNvPr id="27757" name="Freeform 52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58" name="Freeform 53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59" name="Rectangle 54"/>
              <p:cNvSpPr>
                <a:spLocks noChangeArrowheads="1"/>
              </p:cNvSpPr>
              <p:nvPr/>
            </p:nvSpPr>
            <p:spPr bwMode="auto">
              <a:xfrm>
                <a:off x="3001" y="1488"/>
                <a:ext cx="99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c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27718" name="Line 55"/>
            <p:cNvSpPr>
              <a:spLocks noChangeShapeType="1"/>
            </p:cNvSpPr>
            <p:nvPr/>
          </p:nvSpPr>
          <p:spPr bwMode="auto">
            <a:xfrm flipH="1">
              <a:off x="2544" y="2483"/>
              <a:ext cx="192" cy="240"/>
            </a:xfrm>
            <a:prstGeom prst="line">
              <a:avLst/>
            </a:pr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27719" name="Line 56"/>
            <p:cNvSpPr>
              <a:spLocks noChangeShapeType="1"/>
            </p:cNvSpPr>
            <p:nvPr/>
          </p:nvSpPr>
          <p:spPr bwMode="auto">
            <a:xfrm>
              <a:off x="2928" y="2483"/>
              <a:ext cx="192" cy="24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27720" name="Freeform 57"/>
            <p:cNvSpPr>
              <a:spLocks/>
            </p:cNvSpPr>
            <p:nvPr/>
          </p:nvSpPr>
          <p:spPr bwMode="auto">
            <a:xfrm flipH="1">
              <a:off x="3456" y="1584"/>
              <a:ext cx="64" cy="208"/>
            </a:xfrm>
            <a:custGeom>
              <a:avLst/>
              <a:gdLst>
                <a:gd name="T0" fmla="*/ 0 w 160"/>
                <a:gd name="T1" fmla="*/ 0 h 208"/>
                <a:gd name="T2" fmla="*/ 64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66FF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27721" name="Group 58"/>
            <p:cNvGrpSpPr>
              <a:grpSpLocks/>
            </p:cNvGrpSpPr>
            <p:nvPr/>
          </p:nvGrpSpPr>
          <p:grpSpPr bwMode="auto">
            <a:xfrm>
              <a:off x="3883" y="2224"/>
              <a:ext cx="293" cy="305"/>
              <a:chOff x="3499" y="1920"/>
              <a:chExt cx="293" cy="305"/>
            </a:xfrm>
          </p:grpSpPr>
          <p:sp>
            <p:nvSpPr>
              <p:cNvPr id="27754" name="Freeform 59"/>
              <p:cNvSpPr>
                <a:spLocks/>
              </p:cNvSpPr>
              <p:nvPr/>
            </p:nvSpPr>
            <p:spPr bwMode="auto">
              <a:xfrm>
                <a:off x="3499" y="1932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55" name="Freeform 60"/>
              <p:cNvSpPr>
                <a:spLocks/>
              </p:cNvSpPr>
              <p:nvPr/>
            </p:nvSpPr>
            <p:spPr bwMode="auto">
              <a:xfrm>
                <a:off x="3499" y="1932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56" name="Rectangle 61"/>
              <p:cNvSpPr>
                <a:spLocks noChangeArrowheads="1"/>
              </p:cNvSpPr>
              <p:nvPr/>
            </p:nvSpPr>
            <p:spPr bwMode="auto">
              <a:xfrm>
                <a:off x="3605" y="1920"/>
                <a:ext cx="99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c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grpSp>
          <p:nvGrpSpPr>
            <p:cNvPr id="27722" name="Group 62"/>
            <p:cNvGrpSpPr>
              <a:grpSpLocks/>
            </p:cNvGrpSpPr>
            <p:nvPr/>
          </p:nvGrpSpPr>
          <p:grpSpPr bwMode="auto">
            <a:xfrm>
              <a:off x="2688" y="2224"/>
              <a:ext cx="293" cy="305"/>
              <a:chOff x="2895" y="1488"/>
              <a:chExt cx="293" cy="305"/>
            </a:xfrm>
          </p:grpSpPr>
          <p:sp>
            <p:nvSpPr>
              <p:cNvPr id="27751" name="Freeform 63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52" name="Freeform 64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53" name="Rectangle 65"/>
              <p:cNvSpPr>
                <a:spLocks noChangeArrowheads="1"/>
              </p:cNvSpPr>
              <p:nvPr/>
            </p:nvSpPr>
            <p:spPr bwMode="auto">
              <a:xfrm>
                <a:off x="2995" y="1488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b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grpSp>
          <p:nvGrpSpPr>
            <p:cNvPr id="27723" name="Group 66"/>
            <p:cNvGrpSpPr>
              <a:grpSpLocks/>
            </p:cNvGrpSpPr>
            <p:nvPr/>
          </p:nvGrpSpPr>
          <p:grpSpPr bwMode="auto">
            <a:xfrm>
              <a:off x="4585" y="3126"/>
              <a:ext cx="167" cy="202"/>
              <a:chOff x="3087" y="2784"/>
              <a:chExt cx="167" cy="202"/>
            </a:xfrm>
          </p:grpSpPr>
          <p:sp>
            <p:nvSpPr>
              <p:cNvPr id="27748" name="Rectangle 67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49" name="Rectangle 68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50" name="Rectangle 69"/>
              <p:cNvSpPr>
                <a:spLocks noChangeArrowheads="1"/>
              </p:cNvSpPr>
              <p:nvPr/>
            </p:nvSpPr>
            <p:spPr bwMode="auto">
              <a:xfrm>
                <a:off x="3120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1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27724" name="Freeform 70"/>
            <p:cNvSpPr>
              <a:spLocks/>
            </p:cNvSpPr>
            <p:nvPr/>
          </p:nvSpPr>
          <p:spPr bwMode="auto">
            <a:xfrm>
              <a:off x="4512" y="2944"/>
              <a:ext cx="160" cy="208"/>
            </a:xfrm>
            <a:custGeom>
              <a:avLst/>
              <a:gdLst>
                <a:gd name="T0" fmla="*/ 0 w 160"/>
                <a:gd name="T1" fmla="*/ 0 h 208"/>
                <a:gd name="T2" fmla="*/ 160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27725" name="Group 71"/>
            <p:cNvGrpSpPr>
              <a:grpSpLocks/>
            </p:cNvGrpSpPr>
            <p:nvPr/>
          </p:nvGrpSpPr>
          <p:grpSpPr bwMode="auto">
            <a:xfrm>
              <a:off x="4080" y="3126"/>
              <a:ext cx="167" cy="202"/>
              <a:chOff x="3087" y="2784"/>
              <a:chExt cx="167" cy="202"/>
            </a:xfrm>
          </p:grpSpPr>
          <p:sp>
            <p:nvSpPr>
              <p:cNvPr id="27745" name="Rectangle 72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46" name="Rectangle 73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47" name="Rectangle 74"/>
              <p:cNvSpPr>
                <a:spLocks noChangeArrowheads="1"/>
              </p:cNvSpPr>
              <p:nvPr/>
            </p:nvSpPr>
            <p:spPr bwMode="auto">
              <a:xfrm>
                <a:off x="3120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1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27726" name="Freeform 75"/>
            <p:cNvSpPr>
              <a:spLocks/>
            </p:cNvSpPr>
            <p:nvPr/>
          </p:nvSpPr>
          <p:spPr bwMode="auto">
            <a:xfrm flipH="1">
              <a:off x="4160" y="2944"/>
              <a:ext cx="160" cy="208"/>
            </a:xfrm>
            <a:custGeom>
              <a:avLst/>
              <a:gdLst>
                <a:gd name="T0" fmla="*/ 0 w 160"/>
                <a:gd name="T1" fmla="*/ 0 h 208"/>
                <a:gd name="T2" fmla="*/ 160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27727" name="Group 76"/>
            <p:cNvGrpSpPr>
              <a:grpSpLocks/>
            </p:cNvGrpSpPr>
            <p:nvPr/>
          </p:nvGrpSpPr>
          <p:grpSpPr bwMode="auto">
            <a:xfrm>
              <a:off x="2617" y="3126"/>
              <a:ext cx="167" cy="202"/>
              <a:chOff x="3087" y="2784"/>
              <a:chExt cx="167" cy="202"/>
            </a:xfrm>
          </p:grpSpPr>
          <p:sp>
            <p:nvSpPr>
              <p:cNvPr id="27742" name="Rectangle 77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43" name="Rectangle 78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44" name="Rectangle 79"/>
              <p:cNvSpPr>
                <a:spLocks noChangeArrowheads="1"/>
              </p:cNvSpPr>
              <p:nvPr/>
            </p:nvSpPr>
            <p:spPr bwMode="auto">
              <a:xfrm>
                <a:off x="3120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0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27728" name="Freeform 80"/>
            <p:cNvSpPr>
              <a:spLocks/>
            </p:cNvSpPr>
            <p:nvPr/>
          </p:nvSpPr>
          <p:spPr bwMode="auto">
            <a:xfrm>
              <a:off x="2544" y="2944"/>
              <a:ext cx="160" cy="208"/>
            </a:xfrm>
            <a:custGeom>
              <a:avLst/>
              <a:gdLst>
                <a:gd name="T0" fmla="*/ 0 w 160"/>
                <a:gd name="T1" fmla="*/ 0 h 208"/>
                <a:gd name="T2" fmla="*/ 160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27729" name="Group 81"/>
            <p:cNvGrpSpPr>
              <a:grpSpLocks/>
            </p:cNvGrpSpPr>
            <p:nvPr/>
          </p:nvGrpSpPr>
          <p:grpSpPr bwMode="auto">
            <a:xfrm>
              <a:off x="2112" y="3126"/>
              <a:ext cx="167" cy="202"/>
              <a:chOff x="3087" y="2784"/>
              <a:chExt cx="167" cy="202"/>
            </a:xfrm>
          </p:grpSpPr>
          <p:sp>
            <p:nvSpPr>
              <p:cNvPr id="27739" name="Rectangle 82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40" name="Rectangle 83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41" name="Rectangle 84"/>
              <p:cNvSpPr>
                <a:spLocks noChangeArrowheads="1"/>
              </p:cNvSpPr>
              <p:nvPr/>
            </p:nvSpPr>
            <p:spPr bwMode="auto">
              <a:xfrm>
                <a:off x="3120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0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27730" name="Freeform 85"/>
            <p:cNvSpPr>
              <a:spLocks/>
            </p:cNvSpPr>
            <p:nvPr/>
          </p:nvSpPr>
          <p:spPr bwMode="auto">
            <a:xfrm flipH="1">
              <a:off x="2192" y="2944"/>
              <a:ext cx="160" cy="208"/>
            </a:xfrm>
            <a:custGeom>
              <a:avLst/>
              <a:gdLst>
                <a:gd name="T0" fmla="*/ 0 w 160"/>
                <a:gd name="T1" fmla="*/ 0 h 208"/>
                <a:gd name="T2" fmla="*/ 160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7731" name="Rectangle 86"/>
            <p:cNvSpPr>
              <a:spLocks noChangeArrowheads="1"/>
            </p:cNvSpPr>
            <p:nvPr/>
          </p:nvSpPr>
          <p:spPr bwMode="auto">
            <a:xfrm>
              <a:off x="2208" y="2848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27732" name="Rectangle 87"/>
            <p:cNvSpPr>
              <a:spLocks noChangeArrowheads="1"/>
            </p:cNvSpPr>
            <p:nvPr/>
          </p:nvSpPr>
          <p:spPr bwMode="auto">
            <a:xfrm>
              <a:off x="2592" y="2848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27733" name="Rectangle 88"/>
            <p:cNvSpPr>
              <a:spLocks noChangeArrowheads="1"/>
            </p:cNvSpPr>
            <p:nvPr/>
          </p:nvSpPr>
          <p:spPr bwMode="auto">
            <a:xfrm>
              <a:off x="4176" y="2848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27734" name="Rectangle 89"/>
            <p:cNvSpPr>
              <a:spLocks noChangeArrowheads="1"/>
            </p:cNvSpPr>
            <p:nvPr/>
          </p:nvSpPr>
          <p:spPr bwMode="auto">
            <a:xfrm>
              <a:off x="4560" y="2848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27735" name="Rectangle 90"/>
            <p:cNvSpPr>
              <a:spLocks noChangeArrowheads="1"/>
            </p:cNvSpPr>
            <p:nvPr/>
          </p:nvSpPr>
          <p:spPr bwMode="auto">
            <a:xfrm>
              <a:off x="2976" y="2848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27736" name="Rectangle 91"/>
            <p:cNvSpPr>
              <a:spLocks noChangeArrowheads="1"/>
            </p:cNvSpPr>
            <p:nvPr/>
          </p:nvSpPr>
          <p:spPr bwMode="auto">
            <a:xfrm>
              <a:off x="3346" y="2877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27737" name="Rectangle 92"/>
            <p:cNvSpPr>
              <a:spLocks noChangeArrowheads="1"/>
            </p:cNvSpPr>
            <p:nvPr/>
          </p:nvSpPr>
          <p:spPr bwMode="auto">
            <a:xfrm>
              <a:off x="3456" y="2877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27738" name="Rectangle 93"/>
            <p:cNvSpPr>
              <a:spLocks noChangeArrowheads="1"/>
            </p:cNvSpPr>
            <p:nvPr/>
          </p:nvSpPr>
          <p:spPr bwMode="auto">
            <a:xfrm>
              <a:off x="3792" y="2848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</p:grpSp>
      <p:graphicFrame>
        <p:nvGraphicFramePr>
          <p:cNvPr id="1363101" name="Group 157"/>
          <p:cNvGraphicFramePr>
            <a:graphicFrameLocks noGrp="1"/>
          </p:cNvGraphicFramePr>
          <p:nvPr/>
        </p:nvGraphicFramePr>
        <p:xfrm>
          <a:off x="990600" y="2120900"/>
          <a:ext cx="1752600" cy="373253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a</a:t>
                      </a:r>
                    </a:p>
                  </a:txBody>
                  <a:tcPr marL="45720" marR="45720" marT="0" marB="0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b</a:t>
                      </a:r>
                    </a:p>
                  </a:txBody>
                  <a:tcPr marL="45720" marR="45720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c</a:t>
                      </a:r>
                    </a:p>
                  </a:txBody>
                  <a:tcPr marL="45720" marR="4572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F</a:t>
                      </a:r>
                    </a:p>
                  </a:txBody>
                  <a:tcPr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0</a:t>
                      </a:r>
                    </a:p>
                  </a:txBody>
                  <a:tcPr marL="45720" marR="45720" marT="0" marB="0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0</a:t>
                      </a:r>
                    </a:p>
                  </a:txBody>
                  <a:tcPr marL="45720" marR="45720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0</a:t>
                      </a:r>
                    </a:p>
                  </a:txBody>
                  <a:tcPr marL="45720" marR="4572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0</a:t>
                      </a:r>
                    </a:p>
                  </a:txBody>
                  <a:tcPr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0</a:t>
                      </a:r>
                    </a:p>
                  </a:txBody>
                  <a:tcPr marL="45720" marR="45720"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0</a:t>
                      </a:r>
                    </a:p>
                  </a:txBody>
                  <a:tcPr marL="45720" marR="4572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1</a:t>
                      </a:r>
                    </a:p>
                  </a:txBody>
                  <a:tcPr marL="45720" marR="4572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0</a:t>
                      </a:r>
                    </a:p>
                  </a:txBody>
                  <a:tcPr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0</a:t>
                      </a:r>
                    </a:p>
                  </a:txBody>
                  <a:tcPr marL="45720" marR="45720"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1</a:t>
                      </a:r>
                    </a:p>
                  </a:txBody>
                  <a:tcPr marL="45720" marR="4572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0</a:t>
                      </a:r>
                    </a:p>
                  </a:txBody>
                  <a:tcPr marL="45720" marR="4572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0</a:t>
                      </a:r>
                    </a:p>
                  </a:txBody>
                  <a:tcPr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0</a:t>
                      </a:r>
                    </a:p>
                  </a:txBody>
                  <a:tcPr marL="45720" marR="45720"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1</a:t>
                      </a:r>
                    </a:p>
                  </a:txBody>
                  <a:tcPr marL="45720" marR="4572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1</a:t>
                      </a:r>
                    </a:p>
                  </a:txBody>
                  <a:tcPr marL="45720" marR="4572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1</a:t>
                      </a:r>
                    </a:p>
                  </a:txBody>
                  <a:tcPr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1</a:t>
                      </a:r>
                    </a:p>
                  </a:txBody>
                  <a:tcPr marL="45720" marR="45720"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0</a:t>
                      </a:r>
                    </a:p>
                  </a:txBody>
                  <a:tcPr marL="45720" marR="4572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0</a:t>
                      </a:r>
                    </a:p>
                  </a:txBody>
                  <a:tcPr marL="45720" marR="4572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0</a:t>
                      </a:r>
                    </a:p>
                  </a:txBody>
                  <a:tcPr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1</a:t>
                      </a:r>
                    </a:p>
                  </a:txBody>
                  <a:tcPr marL="45720" marR="45720"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0</a:t>
                      </a:r>
                    </a:p>
                  </a:txBody>
                  <a:tcPr marL="45720" marR="4572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1</a:t>
                      </a:r>
                    </a:p>
                  </a:txBody>
                  <a:tcPr marL="45720" marR="4572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1</a:t>
                      </a:r>
                    </a:p>
                  </a:txBody>
                  <a:tcPr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1</a:t>
                      </a:r>
                    </a:p>
                  </a:txBody>
                  <a:tcPr marL="45720" marR="45720"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1</a:t>
                      </a:r>
                    </a:p>
                  </a:txBody>
                  <a:tcPr marL="45720" marR="4572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0</a:t>
                      </a:r>
                    </a:p>
                  </a:txBody>
                  <a:tcPr marL="45720" marR="4572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0</a:t>
                      </a:r>
                    </a:p>
                  </a:txBody>
                  <a:tcPr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1</a:t>
                      </a:r>
                    </a:p>
                  </a:txBody>
                  <a:tcPr marL="45720" marR="45720"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1</a:t>
                      </a:r>
                    </a:p>
                  </a:txBody>
                  <a:tcPr marL="45720" marR="4572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1</a:t>
                      </a:r>
                    </a:p>
                  </a:txBody>
                  <a:tcPr marL="45720" marR="4572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1</a:t>
                      </a:r>
                    </a:p>
                  </a:txBody>
                  <a:tcPr marR="4572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7694" name="Text Box 156"/>
          <p:cNvSpPr txBox="1">
            <a:spLocks noChangeArrowheads="1"/>
          </p:cNvSpPr>
          <p:nvPr/>
        </p:nvSpPr>
        <p:spPr bwMode="auto">
          <a:xfrm>
            <a:off x="2895600" y="4953000"/>
            <a:ext cx="5980113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pPr algn="l" eaLnBrk="1" hangingPunct="1">
              <a:buFontTx/>
              <a:buAutoNum type="arabicPeriod"/>
            </a:pPr>
            <a:r>
              <a:rPr lang="en-US" sz="1800" b="0">
                <a:latin typeface="Verdana" charset="0"/>
                <a:cs typeface="Arial" charset="0"/>
              </a:rPr>
              <a:t>Each vertex represents a decision on a variable</a:t>
            </a:r>
          </a:p>
          <a:p>
            <a:pPr algn="l" eaLnBrk="1" hangingPunct="1">
              <a:buFontTx/>
              <a:buAutoNum type="arabicPeriod"/>
            </a:pPr>
            <a:r>
              <a:rPr lang="en-US" sz="1800" b="0">
                <a:latin typeface="Verdana" charset="0"/>
                <a:cs typeface="Arial" charset="0"/>
              </a:rPr>
              <a:t>The value of the function is found at the leaves</a:t>
            </a:r>
          </a:p>
          <a:p>
            <a:pPr algn="l" eaLnBrk="1" hangingPunct="1">
              <a:buFontTx/>
              <a:buAutoNum type="arabicPeriod"/>
            </a:pPr>
            <a:r>
              <a:rPr lang="en-US" sz="1800" b="0">
                <a:latin typeface="Verdana" charset="0"/>
                <a:cs typeface="Arial" charset="0"/>
              </a:rPr>
              <a:t>Each path from root to leaf corresponds to a </a:t>
            </a:r>
          </a:p>
          <a:p>
            <a:pPr algn="l" eaLnBrk="1" hangingPunct="1"/>
            <a:r>
              <a:rPr lang="en-US" sz="1800" b="0">
                <a:latin typeface="Verdana" charset="0"/>
                <a:cs typeface="Arial" charset="0"/>
              </a:rPr>
              <a:t>    row in the truth table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r>
              <a:rPr lang="en-US" sz="1400" b="0"/>
              <a:t>(c)  Giovanni De Micheli</a:t>
            </a:r>
          </a:p>
        </p:txBody>
      </p:sp>
      <p:sp>
        <p:nvSpPr>
          <p:cNvPr id="2969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57F5A2E4-9659-934A-AA21-0B4FBE154165}" type="slidenum">
              <a:rPr lang="en-US" sz="1400" b="0"/>
              <a:pPr/>
              <a:t>11</a:t>
            </a:fld>
            <a:endParaRPr lang="en-US" sz="1400" b="0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Narrow" charset="0"/>
              </a:rPr>
              <a:t>BDD - observations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25" y="1039813"/>
            <a:ext cx="9144000" cy="5246687"/>
          </a:xfrm>
        </p:spPr>
        <p:txBody>
          <a:bodyPr/>
          <a:lstStyle/>
          <a:p>
            <a:r>
              <a:rPr lang="en-US" dirty="0">
                <a:latin typeface="Arial Narrow" charset="0"/>
              </a:rPr>
              <a:t>The size of a BDD is as big as a truth table: </a:t>
            </a:r>
          </a:p>
          <a:p>
            <a:pPr lvl="1"/>
            <a:r>
              <a:rPr lang="en-US" dirty="0">
                <a:latin typeface="Arial Narrow" charset="0"/>
              </a:rPr>
              <a:t>1 leaf per row</a:t>
            </a:r>
          </a:p>
          <a:p>
            <a:pPr lvl="1"/>
            <a:r>
              <a:rPr lang="en-US" dirty="0">
                <a:latin typeface="Arial Narrow" charset="0"/>
              </a:rPr>
              <a:t>Exponential size</a:t>
            </a:r>
          </a:p>
          <a:p>
            <a:r>
              <a:rPr lang="en-US" dirty="0">
                <a:latin typeface="Arial Narrow" charset="0"/>
              </a:rPr>
              <a:t>Each path </a:t>
            </a:r>
            <a:r>
              <a:rPr lang="en-US" i="1" dirty="0">
                <a:latin typeface="Arial Narrow" charset="0"/>
              </a:rPr>
              <a:t>from root to leaf</a:t>
            </a:r>
            <a:r>
              <a:rPr lang="en-US" dirty="0">
                <a:latin typeface="Arial Narrow" charset="0"/>
              </a:rPr>
              <a:t> evaluates variables in some order </a:t>
            </a:r>
          </a:p>
          <a:p>
            <a:pPr lvl="1">
              <a:buFontTx/>
              <a:buChar char="-"/>
            </a:pPr>
            <a:r>
              <a:rPr lang="en-US" dirty="0">
                <a:latin typeface="Arial Narrow" charset="0"/>
              </a:rPr>
              <a:t>But the order is not fixed:</a:t>
            </a:r>
          </a:p>
          <a:p>
            <a:pPr lvl="1">
              <a:buFontTx/>
              <a:buChar char="-"/>
            </a:pPr>
            <a:r>
              <a:rPr lang="en-US" dirty="0">
                <a:latin typeface="Arial Narrow" charset="0"/>
              </a:rPr>
              <a:t>(</a:t>
            </a:r>
            <a:r>
              <a:rPr lang="en-US" dirty="0" err="1">
                <a:latin typeface="Arial Narrow" charset="0"/>
              </a:rPr>
              <a:t>a,b,c</a:t>
            </a:r>
            <a:r>
              <a:rPr lang="en-US" dirty="0">
                <a:latin typeface="Arial Narrow" charset="0"/>
              </a:rPr>
              <a:t>) and (</a:t>
            </a:r>
            <a:r>
              <a:rPr lang="en-US" dirty="0" err="1">
                <a:latin typeface="Arial Narrow" charset="0"/>
              </a:rPr>
              <a:t>a,c,b</a:t>
            </a:r>
            <a:r>
              <a:rPr lang="en-US" dirty="0">
                <a:latin typeface="Arial Narrow" charset="0"/>
              </a:rPr>
              <a:t>)</a:t>
            </a:r>
          </a:p>
          <a:p>
            <a:pPr lvl="1">
              <a:buFontTx/>
              <a:buChar char="-"/>
            </a:pPr>
            <a:r>
              <a:rPr lang="en-US" dirty="0">
                <a:latin typeface="Arial Narrow" charset="0"/>
              </a:rPr>
              <a:t>Free BDD</a:t>
            </a:r>
          </a:p>
          <a:p>
            <a:pPr lvl="1"/>
            <a:endParaRPr lang="en-US" dirty="0">
              <a:latin typeface="Arial Narrow" charset="0"/>
            </a:endParaRPr>
          </a:p>
          <a:p>
            <a:pPr lvl="1"/>
            <a:endParaRPr lang="en-US" dirty="0">
              <a:latin typeface="Arial Narrow" charset="0"/>
            </a:endParaRPr>
          </a:p>
        </p:txBody>
      </p:sp>
      <p:grpSp>
        <p:nvGrpSpPr>
          <p:cNvPr id="96" name="Group 4"/>
          <p:cNvGrpSpPr>
            <a:grpSpLocks/>
          </p:cNvGrpSpPr>
          <p:nvPr/>
        </p:nvGrpSpPr>
        <p:grpSpPr bwMode="auto">
          <a:xfrm>
            <a:off x="4383793" y="3851542"/>
            <a:ext cx="3931011" cy="2630655"/>
            <a:chOff x="2112" y="1584"/>
            <a:chExt cx="2640" cy="1744"/>
          </a:xfrm>
        </p:grpSpPr>
        <p:sp>
          <p:nvSpPr>
            <p:cNvPr id="97" name="Rectangle 5"/>
            <p:cNvSpPr>
              <a:spLocks noChangeArrowheads="1"/>
            </p:cNvSpPr>
            <p:nvPr/>
          </p:nvSpPr>
          <p:spPr bwMode="auto">
            <a:xfrm>
              <a:off x="3168" y="1917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98" name="Rectangle 6"/>
            <p:cNvSpPr>
              <a:spLocks noChangeArrowheads="1"/>
            </p:cNvSpPr>
            <p:nvPr/>
          </p:nvSpPr>
          <p:spPr bwMode="auto">
            <a:xfrm>
              <a:off x="3586" y="1917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99" name="Line 7"/>
            <p:cNvSpPr>
              <a:spLocks noChangeShapeType="1"/>
            </p:cNvSpPr>
            <p:nvPr/>
          </p:nvSpPr>
          <p:spPr bwMode="auto">
            <a:xfrm flipH="1">
              <a:off x="2928" y="2032"/>
              <a:ext cx="384" cy="240"/>
            </a:xfrm>
            <a:prstGeom prst="line">
              <a:avLst/>
            </a:pr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00" name="Line 8"/>
            <p:cNvSpPr>
              <a:spLocks noChangeShapeType="1"/>
            </p:cNvSpPr>
            <p:nvPr/>
          </p:nvSpPr>
          <p:spPr bwMode="auto">
            <a:xfrm>
              <a:off x="3504" y="2032"/>
              <a:ext cx="432" cy="24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101" name="Group 9"/>
            <p:cNvGrpSpPr>
              <a:grpSpLocks/>
            </p:cNvGrpSpPr>
            <p:nvPr/>
          </p:nvGrpSpPr>
          <p:grpSpPr bwMode="auto">
            <a:xfrm>
              <a:off x="3279" y="1775"/>
              <a:ext cx="293" cy="305"/>
              <a:chOff x="2895" y="1488"/>
              <a:chExt cx="293" cy="305"/>
            </a:xfrm>
          </p:grpSpPr>
          <p:sp>
            <p:nvSpPr>
              <p:cNvPr id="183" name="Freeform 10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" name="Freeform 11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" name="Rectangle 12"/>
              <p:cNvSpPr>
                <a:spLocks noChangeArrowheads="1"/>
              </p:cNvSpPr>
              <p:nvPr/>
            </p:nvSpPr>
            <p:spPr bwMode="auto">
              <a:xfrm>
                <a:off x="2995" y="1488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a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grpSp>
          <p:nvGrpSpPr>
            <p:cNvPr id="102" name="Group 13"/>
            <p:cNvGrpSpPr>
              <a:grpSpLocks/>
            </p:cNvGrpSpPr>
            <p:nvPr/>
          </p:nvGrpSpPr>
          <p:grpSpPr bwMode="auto">
            <a:xfrm>
              <a:off x="3817" y="3126"/>
              <a:ext cx="167" cy="202"/>
              <a:chOff x="3087" y="2784"/>
              <a:chExt cx="167" cy="202"/>
            </a:xfrm>
          </p:grpSpPr>
          <p:sp>
            <p:nvSpPr>
              <p:cNvPr id="180" name="Rectangle 14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1" name="Rectangle 15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" name="Rectangle 16"/>
              <p:cNvSpPr>
                <a:spLocks noChangeArrowheads="1"/>
              </p:cNvSpPr>
              <p:nvPr/>
            </p:nvSpPr>
            <p:spPr bwMode="auto">
              <a:xfrm>
                <a:off x="3120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0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103" name="Freeform 17"/>
            <p:cNvSpPr>
              <a:spLocks/>
            </p:cNvSpPr>
            <p:nvPr/>
          </p:nvSpPr>
          <p:spPr bwMode="auto">
            <a:xfrm>
              <a:off x="3744" y="2944"/>
              <a:ext cx="160" cy="208"/>
            </a:xfrm>
            <a:custGeom>
              <a:avLst/>
              <a:gdLst>
                <a:gd name="T0" fmla="*/ 0 w 160"/>
                <a:gd name="T1" fmla="*/ 0 h 208"/>
                <a:gd name="T2" fmla="*/ 160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04" name="Freeform 18"/>
            <p:cNvSpPr>
              <a:spLocks/>
            </p:cNvSpPr>
            <p:nvPr/>
          </p:nvSpPr>
          <p:spPr bwMode="auto">
            <a:xfrm flipH="1">
              <a:off x="3504" y="2944"/>
              <a:ext cx="64" cy="208"/>
            </a:xfrm>
            <a:custGeom>
              <a:avLst/>
              <a:gdLst>
                <a:gd name="T0" fmla="*/ 0 w 160"/>
                <a:gd name="T1" fmla="*/ 0 h 208"/>
                <a:gd name="T2" fmla="*/ 64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105" name="Group 19"/>
            <p:cNvGrpSpPr>
              <a:grpSpLocks/>
            </p:cNvGrpSpPr>
            <p:nvPr/>
          </p:nvGrpSpPr>
          <p:grpSpPr bwMode="auto">
            <a:xfrm>
              <a:off x="3456" y="3126"/>
              <a:ext cx="167" cy="202"/>
              <a:chOff x="3087" y="2784"/>
              <a:chExt cx="167" cy="202"/>
            </a:xfrm>
          </p:grpSpPr>
          <p:sp>
            <p:nvSpPr>
              <p:cNvPr id="177" name="Rectangle 20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" name="Rectangle 21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" name="Rectangle 22"/>
              <p:cNvSpPr>
                <a:spLocks noChangeArrowheads="1"/>
              </p:cNvSpPr>
              <p:nvPr/>
            </p:nvSpPr>
            <p:spPr bwMode="auto">
              <a:xfrm>
                <a:off x="3120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0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106" name="Rectangle 23"/>
            <p:cNvSpPr>
              <a:spLocks noChangeArrowheads="1"/>
            </p:cNvSpPr>
            <p:nvPr/>
          </p:nvSpPr>
          <p:spPr bwMode="auto">
            <a:xfrm>
              <a:off x="3787" y="2416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107" name="Rectangle 24"/>
            <p:cNvSpPr>
              <a:spLocks noChangeArrowheads="1"/>
            </p:cNvSpPr>
            <p:nvPr/>
          </p:nvSpPr>
          <p:spPr bwMode="auto">
            <a:xfrm>
              <a:off x="4205" y="2416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grpSp>
          <p:nvGrpSpPr>
            <p:cNvPr id="108" name="Group 25"/>
            <p:cNvGrpSpPr>
              <a:grpSpLocks/>
            </p:cNvGrpSpPr>
            <p:nvPr/>
          </p:nvGrpSpPr>
          <p:grpSpPr bwMode="auto">
            <a:xfrm>
              <a:off x="3499" y="2675"/>
              <a:ext cx="293" cy="305"/>
              <a:chOff x="2895" y="1488"/>
              <a:chExt cx="293" cy="305"/>
            </a:xfrm>
          </p:grpSpPr>
          <p:sp>
            <p:nvSpPr>
              <p:cNvPr id="174" name="Freeform 26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" name="Freeform 27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" name="Rectangle 28"/>
              <p:cNvSpPr>
                <a:spLocks noChangeArrowheads="1"/>
              </p:cNvSpPr>
              <p:nvPr/>
            </p:nvSpPr>
            <p:spPr bwMode="auto">
              <a:xfrm>
                <a:off x="2995" y="1488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b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grpSp>
          <p:nvGrpSpPr>
            <p:cNvPr id="109" name="Group 29"/>
            <p:cNvGrpSpPr>
              <a:grpSpLocks/>
            </p:cNvGrpSpPr>
            <p:nvPr/>
          </p:nvGrpSpPr>
          <p:grpSpPr bwMode="auto">
            <a:xfrm>
              <a:off x="4267" y="2675"/>
              <a:ext cx="293" cy="305"/>
              <a:chOff x="2895" y="1488"/>
              <a:chExt cx="293" cy="305"/>
            </a:xfrm>
          </p:grpSpPr>
          <p:sp>
            <p:nvSpPr>
              <p:cNvPr id="171" name="Freeform 30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" name="Freeform 31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" name="Rectangle 32"/>
              <p:cNvSpPr>
                <a:spLocks noChangeArrowheads="1"/>
              </p:cNvSpPr>
              <p:nvPr/>
            </p:nvSpPr>
            <p:spPr bwMode="auto">
              <a:xfrm>
                <a:off x="2995" y="1488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b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110" name="Line 33"/>
            <p:cNvSpPr>
              <a:spLocks noChangeShapeType="1"/>
            </p:cNvSpPr>
            <p:nvPr/>
          </p:nvSpPr>
          <p:spPr bwMode="auto">
            <a:xfrm flipH="1">
              <a:off x="3739" y="2483"/>
              <a:ext cx="192" cy="240"/>
            </a:xfrm>
            <a:prstGeom prst="line">
              <a:avLst/>
            </a:pr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111" name="Line 34"/>
            <p:cNvSpPr>
              <a:spLocks noChangeShapeType="1"/>
            </p:cNvSpPr>
            <p:nvPr/>
          </p:nvSpPr>
          <p:spPr bwMode="auto">
            <a:xfrm>
              <a:off x="4123" y="2483"/>
              <a:ext cx="192" cy="24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grpSp>
          <p:nvGrpSpPr>
            <p:cNvPr id="112" name="Group 35"/>
            <p:cNvGrpSpPr>
              <a:grpSpLocks/>
            </p:cNvGrpSpPr>
            <p:nvPr/>
          </p:nvGrpSpPr>
          <p:grpSpPr bwMode="auto">
            <a:xfrm flipH="1">
              <a:off x="2880" y="3126"/>
              <a:ext cx="167" cy="202"/>
              <a:chOff x="3087" y="2784"/>
              <a:chExt cx="167" cy="202"/>
            </a:xfrm>
          </p:grpSpPr>
          <p:sp>
            <p:nvSpPr>
              <p:cNvPr id="168" name="Rectangle 36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9" name="Rectangle 37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" name="Rectangle 38"/>
              <p:cNvSpPr>
                <a:spLocks noChangeArrowheads="1"/>
              </p:cNvSpPr>
              <p:nvPr/>
            </p:nvSpPr>
            <p:spPr bwMode="auto">
              <a:xfrm>
                <a:off x="3120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0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113" name="Freeform 39"/>
            <p:cNvSpPr>
              <a:spLocks/>
            </p:cNvSpPr>
            <p:nvPr/>
          </p:nvSpPr>
          <p:spPr bwMode="auto">
            <a:xfrm flipH="1">
              <a:off x="2960" y="2944"/>
              <a:ext cx="160" cy="208"/>
            </a:xfrm>
            <a:custGeom>
              <a:avLst/>
              <a:gdLst>
                <a:gd name="T0" fmla="*/ 0 w 160"/>
                <a:gd name="T1" fmla="*/ 0 h 208"/>
                <a:gd name="T2" fmla="*/ 160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14" name="Freeform 40"/>
            <p:cNvSpPr>
              <a:spLocks/>
            </p:cNvSpPr>
            <p:nvPr/>
          </p:nvSpPr>
          <p:spPr bwMode="auto">
            <a:xfrm>
              <a:off x="3296" y="2944"/>
              <a:ext cx="64" cy="208"/>
            </a:xfrm>
            <a:custGeom>
              <a:avLst/>
              <a:gdLst>
                <a:gd name="T0" fmla="*/ 0 w 160"/>
                <a:gd name="T1" fmla="*/ 0 h 208"/>
                <a:gd name="T2" fmla="*/ 64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115" name="Group 41"/>
            <p:cNvGrpSpPr>
              <a:grpSpLocks/>
            </p:cNvGrpSpPr>
            <p:nvPr/>
          </p:nvGrpSpPr>
          <p:grpSpPr bwMode="auto">
            <a:xfrm flipH="1">
              <a:off x="3241" y="3126"/>
              <a:ext cx="167" cy="202"/>
              <a:chOff x="3087" y="2784"/>
              <a:chExt cx="167" cy="202"/>
            </a:xfrm>
          </p:grpSpPr>
          <p:sp>
            <p:nvSpPr>
              <p:cNvPr id="165" name="Rectangle 42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" name="Rectangle 43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" name="Rectangle 44"/>
              <p:cNvSpPr>
                <a:spLocks noChangeArrowheads="1"/>
              </p:cNvSpPr>
              <p:nvPr/>
            </p:nvSpPr>
            <p:spPr bwMode="auto">
              <a:xfrm>
                <a:off x="3137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1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116" name="Rectangle 45"/>
            <p:cNvSpPr>
              <a:spLocks noChangeArrowheads="1"/>
            </p:cNvSpPr>
            <p:nvPr/>
          </p:nvSpPr>
          <p:spPr bwMode="auto">
            <a:xfrm>
              <a:off x="2592" y="2416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117" name="Rectangle 46"/>
            <p:cNvSpPr>
              <a:spLocks noChangeArrowheads="1"/>
            </p:cNvSpPr>
            <p:nvPr/>
          </p:nvSpPr>
          <p:spPr bwMode="auto">
            <a:xfrm>
              <a:off x="3010" y="2416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grpSp>
          <p:nvGrpSpPr>
            <p:cNvPr id="118" name="Group 47"/>
            <p:cNvGrpSpPr>
              <a:grpSpLocks/>
            </p:cNvGrpSpPr>
            <p:nvPr/>
          </p:nvGrpSpPr>
          <p:grpSpPr bwMode="auto">
            <a:xfrm>
              <a:off x="2304" y="2675"/>
              <a:ext cx="293" cy="305"/>
              <a:chOff x="2895" y="1488"/>
              <a:chExt cx="293" cy="305"/>
            </a:xfrm>
          </p:grpSpPr>
          <p:sp>
            <p:nvSpPr>
              <p:cNvPr id="162" name="Freeform 48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" name="Freeform 49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" name="Rectangle 50"/>
              <p:cNvSpPr>
                <a:spLocks noChangeArrowheads="1"/>
              </p:cNvSpPr>
              <p:nvPr/>
            </p:nvSpPr>
            <p:spPr bwMode="auto">
              <a:xfrm>
                <a:off x="3001" y="1488"/>
                <a:ext cx="99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c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grpSp>
          <p:nvGrpSpPr>
            <p:cNvPr id="119" name="Group 51"/>
            <p:cNvGrpSpPr>
              <a:grpSpLocks/>
            </p:cNvGrpSpPr>
            <p:nvPr/>
          </p:nvGrpSpPr>
          <p:grpSpPr bwMode="auto">
            <a:xfrm>
              <a:off x="3072" y="2675"/>
              <a:ext cx="293" cy="305"/>
              <a:chOff x="2895" y="1488"/>
              <a:chExt cx="293" cy="305"/>
            </a:xfrm>
          </p:grpSpPr>
          <p:sp>
            <p:nvSpPr>
              <p:cNvPr id="159" name="Freeform 52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" name="Freeform 53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" name="Rectangle 54"/>
              <p:cNvSpPr>
                <a:spLocks noChangeArrowheads="1"/>
              </p:cNvSpPr>
              <p:nvPr/>
            </p:nvSpPr>
            <p:spPr bwMode="auto">
              <a:xfrm>
                <a:off x="3001" y="1488"/>
                <a:ext cx="99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c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120" name="Line 55"/>
            <p:cNvSpPr>
              <a:spLocks noChangeShapeType="1"/>
            </p:cNvSpPr>
            <p:nvPr/>
          </p:nvSpPr>
          <p:spPr bwMode="auto">
            <a:xfrm flipH="1">
              <a:off x="2544" y="2483"/>
              <a:ext cx="192" cy="240"/>
            </a:xfrm>
            <a:prstGeom prst="line">
              <a:avLst/>
            </a:pr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121" name="Line 56"/>
            <p:cNvSpPr>
              <a:spLocks noChangeShapeType="1"/>
            </p:cNvSpPr>
            <p:nvPr/>
          </p:nvSpPr>
          <p:spPr bwMode="auto">
            <a:xfrm>
              <a:off x="2928" y="2483"/>
              <a:ext cx="192" cy="24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122" name="Freeform 57"/>
            <p:cNvSpPr>
              <a:spLocks/>
            </p:cNvSpPr>
            <p:nvPr/>
          </p:nvSpPr>
          <p:spPr bwMode="auto">
            <a:xfrm flipH="1">
              <a:off x="3456" y="1584"/>
              <a:ext cx="64" cy="208"/>
            </a:xfrm>
            <a:custGeom>
              <a:avLst/>
              <a:gdLst>
                <a:gd name="T0" fmla="*/ 0 w 160"/>
                <a:gd name="T1" fmla="*/ 0 h 208"/>
                <a:gd name="T2" fmla="*/ 64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66FF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123" name="Group 58"/>
            <p:cNvGrpSpPr>
              <a:grpSpLocks/>
            </p:cNvGrpSpPr>
            <p:nvPr/>
          </p:nvGrpSpPr>
          <p:grpSpPr bwMode="auto">
            <a:xfrm>
              <a:off x="3883" y="2224"/>
              <a:ext cx="293" cy="305"/>
              <a:chOff x="3499" y="1920"/>
              <a:chExt cx="293" cy="305"/>
            </a:xfrm>
          </p:grpSpPr>
          <p:sp>
            <p:nvSpPr>
              <p:cNvPr id="156" name="Freeform 59"/>
              <p:cNvSpPr>
                <a:spLocks/>
              </p:cNvSpPr>
              <p:nvPr/>
            </p:nvSpPr>
            <p:spPr bwMode="auto">
              <a:xfrm>
                <a:off x="3499" y="1932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" name="Freeform 60"/>
              <p:cNvSpPr>
                <a:spLocks/>
              </p:cNvSpPr>
              <p:nvPr/>
            </p:nvSpPr>
            <p:spPr bwMode="auto">
              <a:xfrm>
                <a:off x="3499" y="1932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" name="Rectangle 61"/>
              <p:cNvSpPr>
                <a:spLocks noChangeArrowheads="1"/>
              </p:cNvSpPr>
              <p:nvPr/>
            </p:nvSpPr>
            <p:spPr bwMode="auto">
              <a:xfrm>
                <a:off x="3605" y="1920"/>
                <a:ext cx="99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c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grpSp>
          <p:nvGrpSpPr>
            <p:cNvPr id="124" name="Group 62"/>
            <p:cNvGrpSpPr>
              <a:grpSpLocks/>
            </p:cNvGrpSpPr>
            <p:nvPr/>
          </p:nvGrpSpPr>
          <p:grpSpPr bwMode="auto">
            <a:xfrm>
              <a:off x="2688" y="2224"/>
              <a:ext cx="293" cy="305"/>
              <a:chOff x="2895" y="1488"/>
              <a:chExt cx="293" cy="305"/>
            </a:xfrm>
          </p:grpSpPr>
          <p:sp>
            <p:nvSpPr>
              <p:cNvPr id="153" name="Freeform 63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" name="Freeform 64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" name="Rectangle 65"/>
              <p:cNvSpPr>
                <a:spLocks noChangeArrowheads="1"/>
              </p:cNvSpPr>
              <p:nvPr/>
            </p:nvSpPr>
            <p:spPr bwMode="auto">
              <a:xfrm>
                <a:off x="2995" y="1488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b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grpSp>
          <p:nvGrpSpPr>
            <p:cNvPr id="125" name="Group 66"/>
            <p:cNvGrpSpPr>
              <a:grpSpLocks/>
            </p:cNvGrpSpPr>
            <p:nvPr/>
          </p:nvGrpSpPr>
          <p:grpSpPr bwMode="auto">
            <a:xfrm>
              <a:off x="4585" y="3126"/>
              <a:ext cx="167" cy="202"/>
              <a:chOff x="3087" y="2784"/>
              <a:chExt cx="167" cy="202"/>
            </a:xfrm>
          </p:grpSpPr>
          <p:sp>
            <p:nvSpPr>
              <p:cNvPr id="150" name="Rectangle 67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" name="Rectangle 68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" name="Rectangle 69"/>
              <p:cNvSpPr>
                <a:spLocks noChangeArrowheads="1"/>
              </p:cNvSpPr>
              <p:nvPr/>
            </p:nvSpPr>
            <p:spPr bwMode="auto">
              <a:xfrm>
                <a:off x="3120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1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126" name="Freeform 70"/>
            <p:cNvSpPr>
              <a:spLocks/>
            </p:cNvSpPr>
            <p:nvPr/>
          </p:nvSpPr>
          <p:spPr bwMode="auto">
            <a:xfrm>
              <a:off x="4512" y="2944"/>
              <a:ext cx="160" cy="208"/>
            </a:xfrm>
            <a:custGeom>
              <a:avLst/>
              <a:gdLst>
                <a:gd name="T0" fmla="*/ 0 w 160"/>
                <a:gd name="T1" fmla="*/ 0 h 208"/>
                <a:gd name="T2" fmla="*/ 160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127" name="Group 71"/>
            <p:cNvGrpSpPr>
              <a:grpSpLocks/>
            </p:cNvGrpSpPr>
            <p:nvPr/>
          </p:nvGrpSpPr>
          <p:grpSpPr bwMode="auto">
            <a:xfrm>
              <a:off x="4080" y="3126"/>
              <a:ext cx="167" cy="202"/>
              <a:chOff x="3087" y="2784"/>
              <a:chExt cx="167" cy="202"/>
            </a:xfrm>
          </p:grpSpPr>
          <p:sp>
            <p:nvSpPr>
              <p:cNvPr id="147" name="Rectangle 72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" name="Rectangle 73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" name="Rectangle 74"/>
              <p:cNvSpPr>
                <a:spLocks noChangeArrowheads="1"/>
              </p:cNvSpPr>
              <p:nvPr/>
            </p:nvSpPr>
            <p:spPr bwMode="auto">
              <a:xfrm>
                <a:off x="3120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1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128" name="Freeform 75"/>
            <p:cNvSpPr>
              <a:spLocks/>
            </p:cNvSpPr>
            <p:nvPr/>
          </p:nvSpPr>
          <p:spPr bwMode="auto">
            <a:xfrm flipH="1">
              <a:off x="4160" y="2944"/>
              <a:ext cx="160" cy="208"/>
            </a:xfrm>
            <a:custGeom>
              <a:avLst/>
              <a:gdLst>
                <a:gd name="T0" fmla="*/ 0 w 160"/>
                <a:gd name="T1" fmla="*/ 0 h 208"/>
                <a:gd name="T2" fmla="*/ 160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129" name="Group 76"/>
            <p:cNvGrpSpPr>
              <a:grpSpLocks/>
            </p:cNvGrpSpPr>
            <p:nvPr/>
          </p:nvGrpSpPr>
          <p:grpSpPr bwMode="auto">
            <a:xfrm>
              <a:off x="2617" y="3126"/>
              <a:ext cx="167" cy="202"/>
              <a:chOff x="3087" y="2784"/>
              <a:chExt cx="167" cy="202"/>
            </a:xfrm>
          </p:grpSpPr>
          <p:sp>
            <p:nvSpPr>
              <p:cNvPr id="144" name="Rectangle 77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" name="Rectangle 78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" name="Rectangle 79"/>
              <p:cNvSpPr>
                <a:spLocks noChangeArrowheads="1"/>
              </p:cNvSpPr>
              <p:nvPr/>
            </p:nvSpPr>
            <p:spPr bwMode="auto">
              <a:xfrm>
                <a:off x="3120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0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130" name="Freeform 80"/>
            <p:cNvSpPr>
              <a:spLocks/>
            </p:cNvSpPr>
            <p:nvPr/>
          </p:nvSpPr>
          <p:spPr bwMode="auto">
            <a:xfrm>
              <a:off x="2544" y="2944"/>
              <a:ext cx="160" cy="208"/>
            </a:xfrm>
            <a:custGeom>
              <a:avLst/>
              <a:gdLst>
                <a:gd name="T0" fmla="*/ 0 w 160"/>
                <a:gd name="T1" fmla="*/ 0 h 208"/>
                <a:gd name="T2" fmla="*/ 160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131" name="Group 81"/>
            <p:cNvGrpSpPr>
              <a:grpSpLocks/>
            </p:cNvGrpSpPr>
            <p:nvPr/>
          </p:nvGrpSpPr>
          <p:grpSpPr bwMode="auto">
            <a:xfrm>
              <a:off x="2112" y="3126"/>
              <a:ext cx="167" cy="202"/>
              <a:chOff x="3087" y="2784"/>
              <a:chExt cx="167" cy="202"/>
            </a:xfrm>
          </p:grpSpPr>
          <p:sp>
            <p:nvSpPr>
              <p:cNvPr id="141" name="Rectangle 82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" name="Rectangle 83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" name="Rectangle 84"/>
              <p:cNvSpPr>
                <a:spLocks noChangeArrowheads="1"/>
              </p:cNvSpPr>
              <p:nvPr/>
            </p:nvSpPr>
            <p:spPr bwMode="auto">
              <a:xfrm>
                <a:off x="3120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0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132" name="Freeform 85"/>
            <p:cNvSpPr>
              <a:spLocks/>
            </p:cNvSpPr>
            <p:nvPr/>
          </p:nvSpPr>
          <p:spPr bwMode="auto">
            <a:xfrm flipH="1">
              <a:off x="2192" y="2944"/>
              <a:ext cx="160" cy="208"/>
            </a:xfrm>
            <a:custGeom>
              <a:avLst/>
              <a:gdLst>
                <a:gd name="T0" fmla="*/ 0 w 160"/>
                <a:gd name="T1" fmla="*/ 0 h 208"/>
                <a:gd name="T2" fmla="*/ 160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33" name="Rectangle 86"/>
            <p:cNvSpPr>
              <a:spLocks noChangeArrowheads="1"/>
            </p:cNvSpPr>
            <p:nvPr/>
          </p:nvSpPr>
          <p:spPr bwMode="auto">
            <a:xfrm>
              <a:off x="2208" y="2848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134" name="Rectangle 87"/>
            <p:cNvSpPr>
              <a:spLocks noChangeArrowheads="1"/>
            </p:cNvSpPr>
            <p:nvPr/>
          </p:nvSpPr>
          <p:spPr bwMode="auto">
            <a:xfrm>
              <a:off x="2592" y="2848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135" name="Rectangle 88"/>
            <p:cNvSpPr>
              <a:spLocks noChangeArrowheads="1"/>
            </p:cNvSpPr>
            <p:nvPr/>
          </p:nvSpPr>
          <p:spPr bwMode="auto">
            <a:xfrm>
              <a:off x="4176" y="2848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136" name="Rectangle 89"/>
            <p:cNvSpPr>
              <a:spLocks noChangeArrowheads="1"/>
            </p:cNvSpPr>
            <p:nvPr/>
          </p:nvSpPr>
          <p:spPr bwMode="auto">
            <a:xfrm>
              <a:off x="4560" y="2848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137" name="Rectangle 90"/>
            <p:cNvSpPr>
              <a:spLocks noChangeArrowheads="1"/>
            </p:cNvSpPr>
            <p:nvPr/>
          </p:nvSpPr>
          <p:spPr bwMode="auto">
            <a:xfrm>
              <a:off x="2976" y="2848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138" name="Rectangle 91"/>
            <p:cNvSpPr>
              <a:spLocks noChangeArrowheads="1"/>
            </p:cNvSpPr>
            <p:nvPr/>
          </p:nvSpPr>
          <p:spPr bwMode="auto">
            <a:xfrm>
              <a:off x="3346" y="2877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139" name="Rectangle 92"/>
            <p:cNvSpPr>
              <a:spLocks noChangeArrowheads="1"/>
            </p:cNvSpPr>
            <p:nvPr/>
          </p:nvSpPr>
          <p:spPr bwMode="auto">
            <a:xfrm>
              <a:off x="3456" y="2877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140" name="Rectangle 93"/>
            <p:cNvSpPr>
              <a:spLocks noChangeArrowheads="1"/>
            </p:cNvSpPr>
            <p:nvPr/>
          </p:nvSpPr>
          <p:spPr bwMode="auto">
            <a:xfrm>
              <a:off x="3792" y="2848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r>
              <a:rPr lang="en-US" sz="1400" b="0"/>
              <a:t>(c)  Giovanni De Micheli</a:t>
            </a:r>
          </a:p>
        </p:txBody>
      </p:sp>
      <p:sp>
        <p:nvSpPr>
          <p:cNvPr id="3174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B424A6B8-D9D5-0D4D-A0B0-D0648A918D1D}" type="slidenum">
              <a:rPr lang="en-US" sz="1400" b="0"/>
              <a:pPr/>
              <a:t>12</a:t>
            </a:fld>
            <a:endParaRPr lang="en-US" sz="1400" b="0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Narrow" charset="0"/>
              </a:rPr>
              <a:t>1</a:t>
            </a:r>
            <a:r>
              <a:rPr lang="en-US" baseline="30000">
                <a:latin typeface="Arial Narrow" charset="0"/>
              </a:rPr>
              <a:t>st</a:t>
            </a:r>
            <a:r>
              <a:rPr lang="en-US">
                <a:latin typeface="Arial Narrow" charset="0"/>
              </a:rPr>
              <a:t> idea: Ordered BDD (OBDD)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 Narrow" charset="0"/>
              </a:rPr>
              <a:t>Choose arbitrary total ordering on the variables</a:t>
            </a:r>
          </a:p>
          <a:p>
            <a:pPr lvl="1"/>
            <a:r>
              <a:rPr lang="en-US" dirty="0">
                <a:latin typeface="Arial Narrow" charset="0"/>
              </a:rPr>
              <a:t>Variables must appear in the same order along each path from root to leaves</a:t>
            </a:r>
          </a:p>
          <a:p>
            <a:pPr lvl="1"/>
            <a:r>
              <a:rPr lang="en-US" dirty="0">
                <a:latin typeface="Arial Narrow" charset="0"/>
              </a:rPr>
              <a:t>Each variable can appear at most once on a path</a:t>
            </a:r>
          </a:p>
        </p:txBody>
      </p:sp>
      <p:grpSp>
        <p:nvGrpSpPr>
          <p:cNvPr id="31749" name="Group 4"/>
          <p:cNvGrpSpPr>
            <a:grpSpLocks/>
          </p:cNvGrpSpPr>
          <p:nvPr/>
        </p:nvGrpSpPr>
        <p:grpSpPr bwMode="auto">
          <a:xfrm>
            <a:off x="2971800" y="3327400"/>
            <a:ext cx="4191000" cy="2768600"/>
            <a:chOff x="2112" y="1584"/>
            <a:chExt cx="2640" cy="1744"/>
          </a:xfrm>
        </p:grpSpPr>
        <p:sp>
          <p:nvSpPr>
            <p:cNvPr id="31751" name="Rectangle 5"/>
            <p:cNvSpPr>
              <a:spLocks noChangeArrowheads="1"/>
            </p:cNvSpPr>
            <p:nvPr/>
          </p:nvSpPr>
          <p:spPr bwMode="auto">
            <a:xfrm>
              <a:off x="3168" y="1917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31752" name="Rectangle 6"/>
            <p:cNvSpPr>
              <a:spLocks noChangeArrowheads="1"/>
            </p:cNvSpPr>
            <p:nvPr/>
          </p:nvSpPr>
          <p:spPr bwMode="auto">
            <a:xfrm>
              <a:off x="3586" y="1917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31753" name="Line 7"/>
            <p:cNvSpPr>
              <a:spLocks noChangeShapeType="1"/>
            </p:cNvSpPr>
            <p:nvPr/>
          </p:nvSpPr>
          <p:spPr bwMode="auto">
            <a:xfrm flipH="1">
              <a:off x="2928" y="2032"/>
              <a:ext cx="384" cy="240"/>
            </a:xfrm>
            <a:prstGeom prst="line">
              <a:avLst/>
            </a:pr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1754" name="Line 8"/>
            <p:cNvSpPr>
              <a:spLocks noChangeShapeType="1"/>
            </p:cNvSpPr>
            <p:nvPr/>
          </p:nvSpPr>
          <p:spPr bwMode="auto">
            <a:xfrm>
              <a:off x="3504" y="2032"/>
              <a:ext cx="432" cy="24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31755" name="Group 9"/>
            <p:cNvGrpSpPr>
              <a:grpSpLocks/>
            </p:cNvGrpSpPr>
            <p:nvPr/>
          </p:nvGrpSpPr>
          <p:grpSpPr bwMode="auto">
            <a:xfrm>
              <a:off x="3279" y="1775"/>
              <a:ext cx="293" cy="305"/>
              <a:chOff x="2895" y="1488"/>
              <a:chExt cx="293" cy="305"/>
            </a:xfrm>
          </p:grpSpPr>
          <p:sp>
            <p:nvSpPr>
              <p:cNvPr id="31837" name="Freeform 10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38" name="Freeform 11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39" name="Rectangle 12"/>
              <p:cNvSpPr>
                <a:spLocks noChangeArrowheads="1"/>
              </p:cNvSpPr>
              <p:nvPr/>
            </p:nvSpPr>
            <p:spPr bwMode="auto">
              <a:xfrm>
                <a:off x="2995" y="1488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a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grpSp>
          <p:nvGrpSpPr>
            <p:cNvPr id="31756" name="Group 13"/>
            <p:cNvGrpSpPr>
              <a:grpSpLocks/>
            </p:cNvGrpSpPr>
            <p:nvPr/>
          </p:nvGrpSpPr>
          <p:grpSpPr bwMode="auto">
            <a:xfrm>
              <a:off x="3817" y="3126"/>
              <a:ext cx="167" cy="202"/>
              <a:chOff x="3087" y="2784"/>
              <a:chExt cx="167" cy="202"/>
            </a:xfrm>
          </p:grpSpPr>
          <p:sp>
            <p:nvSpPr>
              <p:cNvPr id="31834" name="Rectangle 14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35" name="Rectangle 15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36" name="Rectangle 16"/>
              <p:cNvSpPr>
                <a:spLocks noChangeArrowheads="1"/>
              </p:cNvSpPr>
              <p:nvPr/>
            </p:nvSpPr>
            <p:spPr bwMode="auto">
              <a:xfrm>
                <a:off x="3120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1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31757" name="Freeform 17"/>
            <p:cNvSpPr>
              <a:spLocks/>
            </p:cNvSpPr>
            <p:nvPr/>
          </p:nvSpPr>
          <p:spPr bwMode="auto">
            <a:xfrm>
              <a:off x="3744" y="2944"/>
              <a:ext cx="160" cy="208"/>
            </a:xfrm>
            <a:custGeom>
              <a:avLst/>
              <a:gdLst>
                <a:gd name="T0" fmla="*/ 0 w 160"/>
                <a:gd name="T1" fmla="*/ 0 h 208"/>
                <a:gd name="T2" fmla="*/ 160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1758" name="Freeform 18"/>
            <p:cNvSpPr>
              <a:spLocks/>
            </p:cNvSpPr>
            <p:nvPr/>
          </p:nvSpPr>
          <p:spPr bwMode="auto">
            <a:xfrm flipH="1">
              <a:off x="3504" y="2944"/>
              <a:ext cx="64" cy="208"/>
            </a:xfrm>
            <a:custGeom>
              <a:avLst/>
              <a:gdLst>
                <a:gd name="T0" fmla="*/ 0 w 160"/>
                <a:gd name="T1" fmla="*/ 0 h 208"/>
                <a:gd name="T2" fmla="*/ 64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31759" name="Group 19"/>
            <p:cNvGrpSpPr>
              <a:grpSpLocks/>
            </p:cNvGrpSpPr>
            <p:nvPr/>
          </p:nvGrpSpPr>
          <p:grpSpPr bwMode="auto">
            <a:xfrm>
              <a:off x="3456" y="3126"/>
              <a:ext cx="167" cy="202"/>
              <a:chOff x="3087" y="2784"/>
              <a:chExt cx="167" cy="202"/>
            </a:xfrm>
          </p:grpSpPr>
          <p:sp>
            <p:nvSpPr>
              <p:cNvPr id="31831" name="Rectangle 20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32" name="Rectangle 21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33" name="Rectangle 22"/>
              <p:cNvSpPr>
                <a:spLocks noChangeArrowheads="1"/>
              </p:cNvSpPr>
              <p:nvPr/>
            </p:nvSpPr>
            <p:spPr bwMode="auto">
              <a:xfrm>
                <a:off x="3120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0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31760" name="Rectangle 23"/>
            <p:cNvSpPr>
              <a:spLocks noChangeArrowheads="1"/>
            </p:cNvSpPr>
            <p:nvPr/>
          </p:nvSpPr>
          <p:spPr bwMode="auto">
            <a:xfrm>
              <a:off x="3787" y="2416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31761" name="Rectangle 24"/>
            <p:cNvSpPr>
              <a:spLocks noChangeArrowheads="1"/>
            </p:cNvSpPr>
            <p:nvPr/>
          </p:nvSpPr>
          <p:spPr bwMode="auto">
            <a:xfrm>
              <a:off x="4205" y="2416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grpSp>
          <p:nvGrpSpPr>
            <p:cNvPr id="31762" name="Group 25"/>
            <p:cNvGrpSpPr>
              <a:grpSpLocks/>
            </p:cNvGrpSpPr>
            <p:nvPr/>
          </p:nvGrpSpPr>
          <p:grpSpPr bwMode="auto">
            <a:xfrm>
              <a:off x="3499" y="2675"/>
              <a:ext cx="293" cy="305"/>
              <a:chOff x="2895" y="1488"/>
              <a:chExt cx="293" cy="305"/>
            </a:xfrm>
          </p:grpSpPr>
          <p:sp>
            <p:nvSpPr>
              <p:cNvPr id="31828" name="Freeform 26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29" name="Freeform 27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30" name="Rectangle 28"/>
              <p:cNvSpPr>
                <a:spLocks noChangeArrowheads="1"/>
              </p:cNvSpPr>
              <p:nvPr/>
            </p:nvSpPr>
            <p:spPr bwMode="auto">
              <a:xfrm>
                <a:off x="3001" y="1488"/>
                <a:ext cx="99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c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grpSp>
          <p:nvGrpSpPr>
            <p:cNvPr id="31763" name="Group 29"/>
            <p:cNvGrpSpPr>
              <a:grpSpLocks/>
            </p:cNvGrpSpPr>
            <p:nvPr/>
          </p:nvGrpSpPr>
          <p:grpSpPr bwMode="auto">
            <a:xfrm>
              <a:off x="4267" y="2675"/>
              <a:ext cx="293" cy="305"/>
              <a:chOff x="2895" y="1488"/>
              <a:chExt cx="293" cy="305"/>
            </a:xfrm>
          </p:grpSpPr>
          <p:sp>
            <p:nvSpPr>
              <p:cNvPr id="31825" name="Freeform 30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26" name="Freeform 31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27" name="Rectangle 32"/>
              <p:cNvSpPr>
                <a:spLocks noChangeArrowheads="1"/>
              </p:cNvSpPr>
              <p:nvPr/>
            </p:nvSpPr>
            <p:spPr bwMode="auto">
              <a:xfrm>
                <a:off x="3001" y="1488"/>
                <a:ext cx="99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c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31764" name="Line 33"/>
            <p:cNvSpPr>
              <a:spLocks noChangeShapeType="1"/>
            </p:cNvSpPr>
            <p:nvPr/>
          </p:nvSpPr>
          <p:spPr bwMode="auto">
            <a:xfrm flipH="1">
              <a:off x="3739" y="2483"/>
              <a:ext cx="192" cy="240"/>
            </a:xfrm>
            <a:prstGeom prst="line">
              <a:avLst/>
            </a:pr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1765" name="Line 34"/>
            <p:cNvSpPr>
              <a:spLocks noChangeShapeType="1"/>
            </p:cNvSpPr>
            <p:nvPr/>
          </p:nvSpPr>
          <p:spPr bwMode="auto">
            <a:xfrm>
              <a:off x="4123" y="2483"/>
              <a:ext cx="192" cy="24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grpSp>
          <p:nvGrpSpPr>
            <p:cNvPr id="31766" name="Group 35"/>
            <p:cNvGrpSpPr>
              <a:grpSpLocks/>
            </p:cNvGrpSpPr>
            <p:nvPr/>
          </p:nvGrpSpPr>
          <p:grpSpPr bwMode="auto">
            <a:xfrm flipH="1">
              <a:off x="2880" y="3126"/>
              <a:ext cx="167" cy="202"/>
              <a:chOff x="3087" y="2784"/>
              <a:chExt cx="167" cy="202"/>
            </a:xfrm>
          </p:grpSpPr>
          <p:sp>
            <p:nvSpPr>
              <p:cNvPr id="31822" name="Rectangle 36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23" name="Rectangle 37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24" name="Rectangle 38"/>
              <p:cNvSpPr>
                <a:spLocks noChangeArrowheads="1"/>
              </p:cNvSpPr>
              <p:nvPr/>
            </p:nvSpPr>
            <p:spPr bwMode="auto">
              <a:xfrm>
                <a:off x="3120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0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31767" name="Freeform 39"/>
            <p:cNvSpPr>
              <a:spLocks/>
            </p:cNvSpPr>
            <p:nvPr/>
          </p:nvSpPr>
          <p:spPr bwMode="auto">
            <a:xfrm flipH="1">
              <a:off x="2960" y="2944"/>
              <a:ext cx="160" cy="208"/>
            </a:xfrm>
            <a:custGeom>
              <a:avLst/>
              <a:gdLst>
                <a:gd name="T0" fmla="*/ 0 w 160"/>
                <a:gd name="T1" fmla="*/ 0 h 208"/>
                <a:gd name="T2" fmla="*/ 160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1768" name="Freeform 40"/>
            <p:cNvSpPr>
              <a:spLocks/>
            </p:cNvSpPr>
            <p:nvPr/>
          </p:nvSpPr>
          <p:spPr bwMode="auto">
            <a:xfrm>
              <a:off x="3296" y="2944"/>
              <a:ext cx="64" cy="208"/>
            </a:xfrm>
            <a:custGeom>
              <a:avLst/>
              <a:gdLst>
                <a:gd name="T0" fmla="*/ 0 w 160"/>
                <a:gd name="T1" fmla="*/ 0 h 208"/>
                <a:gd name="T2" fmla="*/ 64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31769" name="Group 41"/>
            <p:cNvGrpSpPr>
              <a:grpSpLocks/>
            </p:cNvGrpSpPr>
            <p:nvPr/>
          </p:nvGrpSpPr>
          <p:grpSpPr bwMode="auto">
            <a:xfrm flipH="1">
              <a:off x="3241" y="3126"/>
              <a:ext cx="167" cy="202"/>
              <a:chOff x="3087" y="2784"/>
              <a:chExt cx="167" cy="202"/>
            </a:xfrm>
          </p:grpSpPr>
          <p:sp>
            <p:nvSpPr>
              <p:cNvPr id="31819" name="Rectangle 42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20" name="Rectangle 43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21" name="Rectangle 44"/>
              <p:cNvSpPr>
                <a:spLocks noChangeArrowheads="1"/>
              </p:cNvSpPr>
              <p:nvPr/>
            </p:nvSpPr>
            <p:spPr bwMode="auto">
              <a:xfrm>
                <a:off x="3137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1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31770" name="Rectangle 45"/>
            <p:cNvSpPr>
              <a:spLocks noChangeArrowheads="1"/>
            </p:cNvSpPr>
            <p:nvPr/>
          </p:nvSpPr>
          <p:spPr bwMode="auto">
            <a:xfrm flipH="1">
              <a:off x="2621" y="2416"/>
              <a:ext cx="29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31771" name="Rectangle 46"/>
            <p:cNvSpPr>
              <a:spLocks noChangeArrowheads="1"/>
            </p:cNvSpPr>
            <p:nvPr/>
          </p:nvSpPr>
          <p:spPr bwMode="auto">
            <a:xfrm>
              <a:off x="3010" y="2416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grpSp>
          <p:nvGrpSpPr>
            <p:cNvPr id="31772" name="Group 47"/>
            <p:cNvGrpSpPr>
              <a:grpSpLocks/>
            </p:cNvGrpSpPr>
            <p:nvPr/>
          </p:nvGrpSpPr>
          <p:grpSpPr bwMode="auto">
            <a:xfrm>
              <a:off x="2304" y="2675"/>
              <a:ext cx="293" cy="305"/>
              <a:chOff x="2895" y="1488"/>
              <a:chExt cx="293" cy="305"/>
            </a:xfrm>
          </p:grpSpPr>
          <p:sp>
            <p:nvSpPr>
              <p:cNvPr id="31816" name="Freeform 48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17" name="Freeform 49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18" name="Rectangle 50"/>
              <p:cNvSpPr>
                <a:spLocks noChangeArrowheads="1"/>
              </p:cNvSpPr>
              <p:nvPr/>
            </p:nvSpPr>
            <p:spPr bwMode="auto">
              <a:xfrm>
                <a:off x="3001" y="1488"/>
                <a:ext cx="99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c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grpSp>
          <p:nvGrpSpPr>
            <p:cNvPr id="31773" name="Group 51"/>
            <p:cNvGrpSpPr>
              <a:grpSpLocks/>
            </p:cNvGrpSpPr>
            <p:nvPr/>
          </p:nvGrpSpPr>
          <p:grpSpPr bwMode="auto">
            <a:xfrm>
              <a:off x="3072" y="2675"/>
              <a:ext cx="293" cy="305"/>
              <a:chOff x="2895" y="1488"/>
              <a:chExt cx="293" cy="305"/>
            </a:xfrm>
          </p:grpSpPr>
          <p:sp>
            <p:nvSpPr>
              <p:cNvPr id="31813" name="Freeform 52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14" name="Freeform 53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15" name="Rectangle 54"/>
              <p:cNvSpPr>
                <a:spLocks noChangeArrowheads="1"/>
              </p:cNvSpPr>
              <p:nvPr/>
            </p:nvSpPr>
            <p:spPr bwMode="auto">
              <a:xfrm>
                <a:off x="3001" y="1488"/>
                <a:ext cx="99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c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31774" name="Line 55"/>
            <p:cNvSpPr>
              <a:spLocks noChangeShapeType="1"/>
            </p:cNvSpPr>
            <p:nvPr/>
          </p:nvSpPr>
          <p:spPr bwMode="auto">
            <a:xfrm flipH="1">
              <a:off x="2544" y="2483"/>
              <a:ext cx="192" cy="240"/>
            </a:xfrm>
            <a:prstGeom prst="line">
              <a:avLst/>
            </a:pr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1775" name="Line 56"/>
            <p:cNvSpPr>
              <a:spLocks noChangeShapeType="1"/>
            </p:cNvSpPr>
            <p:nvPr/>
          </p:nvSpPr>
          <p:spPr bwMode="auto">
            <a:xfrm>
              <a:off x="2928" y="2483"/>
              <a:ext cx="192" cy="24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1776" name="Freeform 57"/>
            <p:cNvSpPr>
              <a:spLocks/>
            </p:cNvSpPr>
            <p:nvPr/>
          </p:nvSpPr>
          <p:spPr bwMode="auto">
            <a:xfrm flipH="1">
              <a:off x="3456" y="1584"/>
              <a:ext cx="64" cy="208"/>
            </a:xfrm>
            <a:custGeom>
              <a:avLst/>
              <a:gdLst>
                <a:gd name="T0" fmla="*/ 0 w 160"/>
                <a:gd name="T1" fmla="*/ 0 h 208"/>
                <a:gd name="T2" fmla="*/ 64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66FF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31777" name="Group 58"/>
            <p:cNvGrpSpPr>
              <a:grpSpLocks/>
            </p:cNvGrpSpPr>
            <p:nvPr/>
          </p:nvGrpSpPr>
          <p:grpSpPr bwMode="auto">
            <a:xfrm>
              <a:off x="3883" y="2224"/>
              <a:ext cx="293" cy="305"/>
              <a:chOff x="3499" y="1920"/>
              <a:chExt cx="293" cy="305"/>
            </a:xfrm>
          </p:grpSpPr>
          <p:sp>
            <p:nvSpPr>
              <p:cNvPr id="31810" name="Freeform 59"/>
              <p:cNvSpPr>
                <a:spLocks/>
              </p:cNvSpPr>
              <p:nvPr/>
            </p:nvSpPr>
            <p:spPr bwMode="auto">
              <a:xfrm>
                <a:off x="3499" y="1932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11" name="Freeform 60"/>
              <p:cNvSpPr>
                <a:spLocks/>
              </p:cNvSpPr>
              <p:nvPr/>
            </p:nvSpPr>
            <p:spPr bwMode="auto">
              <a:xfrm>
                <a:off x="3499" y="1932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12" name="Rectangle 61"/>
              <p:cNvSpPr>
                <a:spLocks noChangeArrowheads="1"/>
              </p:cNvSpPr>
              <p:nvPr/>
            </p:nvSpPr>
            <p:spPr bwMode="auto">
              <a:xfrm>
                <a:off x="3599" y="1920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b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grpSp>
          <p:nvGrpSpPr>
            <p:cNvPr id="31778" name="Group 62"/>
            <p:cNvGrpSpPr>
              <a:grpSpLocks/>
            </p:cNvGrpSpPr>
            <p:nvPr/>
          </p:nvGrpSpPr>
          <p:grpSpPr bwMode="auto">
            <a:xfrm>
              <a:off x="2688" y="2224"/>
              <a:ext cx="293" cy="305"/>
              <a:chOff x="2895" y="1488"/>
              <a:chExt cx="293" cy="305"/>
            </a:xfrm>
          </p:grpSpPr>
          <p:sp>
            <p:nvSpPr>
              <p:cNvPr id="31807" name="Freeform 63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08" name="Freeform 64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09" name="Rectangle 65"/>
              <p:cNvSpPr>
                <a:spLocks noChangeArrowheads="1"/>
              </p:cNvSpPr>
              <p:nvPr/>
            </p:nvSpPr>
            <p:spPr bwMode="auto">
              <a:xfrm>
                <a:off x="2995" y="1488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b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grpSp>
          <p:nvGrpSpPr>
            <p:cNvPr id="31779" name="Group 66"/>
            <p:cNvGrpSpPr>
              <a:grpSpLocks/>
            </p:cNvGrpSpPr>
            <p:nvPr/>
          </p:nvGrpSpPr>
          <p:grpSpPr bwMode="auto">
            <a:xfrm>
              <a:off x="4585" y="3126"/>
              <a:ext cx="167" cy="202"/>
              <a:chOff x="3087" y="2784"/>
              <a:chExt cx="167" cy="202"/>
            </a:xfrm>
          </p:grpSpPr>
          <p:sp>
            <p:nvSpPr>
              <p:cNvPr id="31804" name="Rectangle 67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05" name="Rectangle 68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06" name="Rectangle 69"/>
              <p:cNvSpPr>
                <a:spLocks noChangeArrowheads="1"/>
              </p:cNvSpPr>
              <p:nvPr/>
            </p:nvSpPr>
            <p:spPr bwMode="auto">
              <a:xfrm>
                <a:off x="3120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1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31780" name="Freeform 70"/>
            <p:cNvSpPr>
              <a:spLocks/>
            </p:cNvSpPr>
            <p:nvPr/>
          </p:nvSpPr>
          <p:spPr bwMode="auto">
            <a:xfrm>
              <a:off x="4512" y="2944"/>
              <a:ext cx="160" cy="208"/>
            </a:xfrm>
            <a:custGeom>
              <a:avLst/>
              <a:gdLst>
                <a:gd name="T0" fmla="*/ 0 w 160"/>
                <a:gd name="T1" fmla="*/ 0 h 208"/>
                <a:gd name="T2" fmla="*/ 160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31781" name="Group 71"/>
            <p:cNvGrpSpPr>
              <a:grpSpLocks/>
            </p:cNvGrpSpPr>
            <p:nvPr/>
          </p:nvGrpSpPr>
          <p:grpSpPr bwMode="auto">
            <a:xfrm>
              <a:off x="4080" y="3126"/>
              <a:ext cx="167" cy="202"/>
              <a:chOff x="3087" y="2784"/>
              <a:chExt cx="167" cy="202"/>
            </a:xfrm>
          </p:grpSpPr>
          <p:sp>
            <p:nvSpPr>
              <p:cNvPr id="31801" name="Rectangle 72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02" name="Rectangle 73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03" name="Rectangle 74"/>
              <p:cNvSpPr>
                <a:spLocks noChangeArrowheads="1"/>
              </p:cNvSpPr>
              <p:nvPr/>
            </p:nvSpPr>
            <p:spPr bwMode="auto">
              <a:xfrm>
                <a:off x="3120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0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31782" name="Freeform 75"/>
            <p:cNvSpPr>
              <a:spLocks/>
            </p:cNvSpPr>
            <p:nvPr/>
          </p:nvSpPr>
          <p:spPr bwMode="auto">
            <a:xfrm flipH="1">
              <a:off x="4160" y="2944"/>
              <a:ext cx="160" cy="208"/>
            </a:xfrm>
            <a:custGeom>
              <a:avLst/>
              <a:gdLst>
                <a:gd name="T0" fmla="*/ 0 w 160"/>
                <a:gd name="T1" fmla="*/ 0 h 208"/>
                <a:gd name="T2" fmla="*/ 160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31783" name="Group 76"/>
            <p:cNvGrpSpPr>
              <a:grpSpLocks/>
            </p:cNvGrpSpPr>
            <p:nvPr/>
          </p:nvGrpSpPr>
          <p:grpSpPr bwMode="auto">
            <a:xfrm>
              <a:off x="2617" y="3126"/>
              <a:ext cx="167" cy="202"/>
              <a:chOff x="3087" y="2784"/>
              <a:chExt cx="167" cy="202"/>
            </a:xfrm>
          </p:grpSpPr>
          <p:sp>
            <p:nvSpPr>
              <p:cNvPr id="31798" name="Rectangle 77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99" name="Rectangle 78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00" name="Rectangle 79"/>
              <p:cNvSpPr>
                <a:spLocks noChangeArrowheads="1"/>
              </p:cNvSpPr>
              <p:nvPr/>
            </p:nvSpPr>
            <p:spPr bwMode="auto">
              <a:xfrm>
                <a:off x="3120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0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31784" name="Freeform 80"/>
            <p:cNvSpPr>
              <a:spLocks/>
            </p:cNvSpPr>
            <p:nvPr/>
          </p:nvSpPr>
          <p:spPr bwMode="auto">
            <a:xfrm>
              <a:off x="2544" y="2944"/>
              <a:ext cx="160" cy="208"/>
            </a:xfrm>
            <a:custGeom>
              <a:avLst/>
              <a:gdLst>
                <a:gd name="T0" fmla="*/ 0 w 160"/>
                <a:gd name="T1" fmla="*/ 0 h 208"/>
                <a:gd name="T2" fmla="*/ 160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31785" name="Group 81"/>
            <p:cNvGrpSpPr>
              <a:grpSpLocks/>
            </p:cNvGrpSpPr>
            <p:nvPr/>
          </p:nvGrpSpPr>
          <p:grpSpPr bwMode="auto">
            <a:xfrm>
              <a:off x="2112" y="3126"/>
              <a:ext cx="167" cy="202"/>
              <a:chOff x="3087" y="2784"/>
              <a:chExt cx="167" cy="202"/>
            </a:xfrm>
          </p:grpSpPr>
          <p:sp>
            <p:nvSpPr>
              <p:cNvPr id="31795" name="Rectangle 82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96" name="Rectangle 83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97" name="Rectangle 84"/>
              <p:cNvSpPr>
                <a:spLocks noChangeArrowheads="1"/>
              </p:cNvSpPr>
              <p:nvPr/>
            </p:nvSpPr>
            <p:spPr bwMode="auto">
              <a:xfrm>
                <a:off x="3120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0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31786" name="Freeform 85"/>
            <p:cNvSpPr>
              <a:spLocks/>
            </p:cNvSpPr>
            <p:nvPr/>
          </p:nvSpPr>
          <p:spPr bwMode="auto">
            <a:xfrm flipH="1">
              <a:off x="2192" y="2944"/>
              <a:ext cx="160" cy="208"/>
            </a:xfrm>
            <a:custGeom>
              <a:avLst/>
              <a:gdLst>
                <a:gd name="T0" fmla="*/ 0 w 160"/>
                <a:gd name="T1" fmla="*/ 0 h 208"/>
                <a:gd name="T2" fmla="*/ 160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1787" name="Rectangle 86"/>
            <p:cNvSpPr>
              <a:spLocks noChangeArrowheads="1"/>
            </p:cNvSpPr>
            <p:nvPr/>
          </p:nvSpPr>
          <p:spPr bwMode="auto">
            <a:xfrm>
              <a:off x="2208" y="2848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31788" name="Rectangle 87"/>
            <p:cNvSpPr>
              <a:spLocks noChangeArrowheads="1"/>
            </p:cNvSpPr>
            <p:nvPr/>
          </p:nvSpPr>
          <p:spPr bwMode="auto">
            <a:xfrm>
              <a:off x="2592" y="2848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31789" name="Rectangle 88"/>
            <p:cNvSpPr>
              <a:spLocks noChangeArrowheads="1"/>
            </p:cNvSpPr>
            <p:nvPr/>
          </p:nvSpPr>
          <p:spPr bwMode="auto">
            <a:xfrm>
              <a:off x="4176" y="2848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31790" name="Rectangle 89"/>
            <p:cNvSpPr>
              <a:spLocks noChangeArrowheads="1"/>
            </p:cNvSpPr>
            <p:nvPr/>
          </p:nvSpPr>
          <p:spPr bwMode="auto">
            <a:xfrm>
              <a:off x="4560" y="2848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31791" name="Rectangle 90"/>
            <p:cNvSpPr>
              <a:spLocks noChangeArrowheads="1"/>
            </p:cNvSpPr>
            <p:nvPr/>
          </p:nvSpPr>
          <p:spPr bwMode="auto">
            <a:xfrm>
              <a:off x="2976" y="2848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31792" name="Rectangle 91"/>
            <p:cNvSpPr>
              <a:spLocks noChangeArrowheads="1"/>
            </p:cNvSpPr>
            <p:nvPr/>
          </p:nvSpPr>
          <p:spPr bwMode="auto">
            <a:xfrm>
              <a:off x="3346" y="2877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31793" name="Rectangle 92"/>
            <p:cNvSpPr>
              <a:spLocks noChangeArrowheads="1"/>
            </p:cNvSpPr>
            <p:nvPr/>
          </p:nvSpPr>
          <p:spPr bwMode="auto">
            <a:xfrm>
              <a:off x="3456" y="2877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31794" name="Rectangle 93"/>
            <p:cNvSpPr>
              <a:spLocks noChangeArrowheads="1"/>
            </p:cNvSpPr>
            <p:nvPr/>
          </p:nvSpPr>
          <p:spPr bwMode="auto">
            <a:xfrm>
              <a:off x="3792" y="2848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</p:grpSp>
      <p:sp>
        <p:nvSpPr>
          <p:cNvPr id="31750" name="Text Box 94"/>
          <p:cNvSpPr txBox="1">
            <a:spLocks noChangeArrowheads="1"/>
          </p:cNvSpPr>
          <p:nvPr/>
        </p:nvSpPr>
        <p:spPr bwMode="auto">
          <a:xfrm>
            <a:off x="2438400" y="3581400"/>
            <a:ext cx="13589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800" b="0">
                <a:latin typeface="Verdana" charset="0"/>
                <a:cs typeface="Arial" charset="0"/>
              </a:rPr>
              <a:t>example:</a:t>
            </a:r>
          </a:p>
          <a:p>
            <a:pPr algn="l" eaLnBrk="1" hangingPunct="1"/>
            <a:r>
              <a:rPr lang="en-US" sz="1800" b="0">
                <a:latin typeface="Verdana" charset="0"/>
                <a:cs typeface="Arial" charset="0"/>
              </a:rPr>
              <a:t>a &lt; b &lt; c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r>
              <a:rPr lang="en-US" sz="1400" b="0"/>
              <a:t>(c)  Giovanni De Micheli</a:t>
            </a:r>
          </a:p>
        </p:txBody>
      </p:sp>
      <p:sp>
        <p:nvSpPr>
          <p:cNvPr id="3379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F5D76009-9E89-E546-8200-1969F1B9E285}" type="slidenum">
              <a:rPr lang="en-US" sz="1400" b="0"/>
              <a:pPr/>
              <a:t>13</a:t>
            </a:fld>
            <a:endParaRPr lang="en-US" sz="1400" b="0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574675" y="-50800"/>
            <a:ext cx="8188325" cy="1216025"/>
          </a:xfrm>
        </p:spPr>
        <p:txBody>
          <a:bodyPr/>
          <a:lstStyle/>
          <a:p>
            <a:r>
              <a:rPr lang="en-US">
                <a:latin typeface="Arial Narrow" charset="0"/>
              </a:rPr>
              <a:t>2</a:t>
            </a:r>
            <a:r>
              <a:rPr lang="en-US" baseline="30000">
                <a:latin typeface="Arial Narrow" charset="0"/>
              </a:rPr>
              <a:t>nd</a:t>
            </a:r>
            <a:r>
              <a:rPr lang="en-US">
                <a:latin typeface="Arial Narrow" charset="0"/>
              </a:rPr>
              <a:t> idea: Reduced OBDD (ROBDD)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/>
            <a:r>
              <a:rPr lang="en-US">
                <a:latin typeface="Arial Narrow" charset="0"/>
              </a:rPr>
              <a:t>Two reduction rules:</a:t>
            </a:r>
          </a:p>
          <a:p>
            <a:pPr marL="908050" lvl="1" indent="-436563">
              <a:buFontTx/>
              <a:buAutoNum type="arabicPeriod"/>
            </a:pPr>
            <a:r>
              <a:rPr lang="en-US">
                <a:latin typeface="Arial Narrow" charset="0"/>
              </a:rPr>
              <a:t>Merge equivalent sub-trees</a:t>
            </a:r>
          </a:p>
          <a:p>
            <a:pPr marL="908050" lvl="1" indent="-436563">
              <a:buFontTx/>
              <a:buAutoNum type="arabicPeriod"/>
            </a:pPr>
            <a:r>
              <a:rPr lang="en-US">
                <a:latin typeface="Arial Narrow" charset="0"/>
              </a:rPr>
              <a:t>Remove nodes with identical children</a:t>
            </a:r>
          </a:p>
        </p:txBody>
      </p:sp>
      <p:grpSp>
        <p:nvGrpSpPr>
          <p:cNvPr id="33797" name="Group 4"/>
          <p:cNvGrpSpPr>
            <a:grpSpLocks/>
          </p:cNvGrpSpPr>
          <p:nvPr/>
        </p:nvGrpSpPr>
        <p:grpSpPr bwMode="auto">
          <a:xfrm>
            <a:off x="4267200" y="3327400"/>
            <a:ext cx="4191000" cy="2768600"/>
            <a:chOff x="2112" y="1584"/>
            <a:chExt cx="2640" cy="1744"/>
          </a:xfrm>
        </p:grpSpPr>
        <p:sp>
          <p:nvSpPr>
            <p:cNvPr id="33798" name="Rectangle 5"/>
            <p:cNvSpPr>
              <a:spLocks noChangeArrowheads="1"/>
            </p:cNvSpPr>
            <p:nvPr/>
          </p:nvSpPr>
          <p:spPr bwMode="auto">
            <a:xfrm>
              <a:off x="3168" y="1917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 dirty="0">
                  <a:cs typeface="Arial" charset="0"/>
                </a:rPr>
                <a:t>0</a:t>
              </a:r>
              <a:endParaRPr lang="en-US" dirty="0">
                <a:latin typeface="Times New Roman" charset="0"/>
                <a:cs typeface="Arial" charset="0"/>
              </a:endParaRPr>
            </a:p>
          </p:txBody>
        </p:sp>
        <p:sp>
          <p:nvSpPr>
            <p:cNvPr id="33799" name="Rectangle 6"/>
            <p:cNvSpPr>
              <a:spLocks noChangeArrowheads="1"/>
            </p:cNvSpPr>
            <p:nvPr/>
          </p:nvSpPr>
          <p:spPr bwMode="auto">
            <a:xfrm>
              <a:off x="3586" y="1917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33800" name="Line 7"/>
            <p:cNvSpPr>
              <a:spLocks noChangeShapeType="1"/>
            </p:cNvSpPr>
            <p:nvPr/>
          </p:nvSpPr>
          <p:spPr bwMode="auto">
            <a:xfrm flipH="1">
              <a:off x="2928" y="2032"/>
              <a:ext cx="384" cy="240"/>
            </a:xfrm>
            <a:prstGeom prst="line">
              <a:avLst/>
            </a:pr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3801" name="Line 8"/>
            <p:cNvSpPr>
              <a:spLocks noChangeShapeType="1"/>
            </p:cNvSpPr>
            <p:nvPr/>
          </p:nvSpPr>
          <p:spPr bwMode="auto">
            <a:xfrm>
              <a:off x="3504" y="2032"/>
              <a:ext cx="432" cy="24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33802" name="Group 9"/>
            <p:cNvGrpSpPr>
              <a:grpSpLocks/>
            </p:cNvGrpSpPr>
            <p:nvPr/>
          </p:nvGrpSpPr>
          <p:grpSpPr bwMode="auto">
            <a:xfrm>
              <a:off x="3279" y="1775"/>
              <a:ext cx="293" cy="305"/>
              <a:chOff x="2895" y="1488"/>
              <a:chExt cx="293" cy="305"/>
            </a:xfrm>
          </p:grpSpPr>
          <p:sp>
            <p:nvSpPr>
              <p:cNvPr id="33884" name="Freeform 10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85" name="Freeform 11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86" name="Rectangle 12"/>
              <p:cNvSpPr>
                <a:spLocks noChangeArrowheads="1"/>
              </p:cNvSpPr>
              <p:nvPr/>
            </p:nvSpPr>
            <p:spPr bwMode="auto">
              <a:xfrm>
                <a:off x="2995" y="1488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a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grpSp>
          <p:nvGrpSpPr>
            <p:cNvPr id="33803" name="Group 13"/>
            <p:cNvGrpSpPr>
              <a:grpSpLocks/>
            </p:cNvGrpSpPr>
            <p:nvPr/>
          </p:nvGrpSpPr>
          <p:grpSpPr bwMode="auto">
            <a:xfrm>
              <a:off x="3817" y="3126"/>
              <a:ext cx="167" cy="202"/>
              <a:chOff x="3087" y="2784"/>
              <a:chExt cx="167" cy="202"/>
            </a:xfrm>
          </p:grpSpPr>
          <p:sp>
            <p:nvSpPr>
              <p:cNvPr id="33881" name="Rectangle 14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82" name="Rectangle 15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83" name="Rectangle 16"/>
              <p:cNvSpPr>
                <a:spLocks noChangeArrowheads="1"/>
              </p:cNvSpPr>
              <p:nvPr/>
            </p:nvSpPr>
            <p:spPr bwMode="auto">
              <a:xfrm>
                <a:off x="3120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1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33804" name="Freeform 17"/>
            <p:cNvSpPr>
              <a:spLocks/>
            </p:cNvSpPr>
            <p:nvPr/>
          </p:nvSpPr>
          <p:spPr bwMode="auto">
            <a:xfrm>
              <a:off x="3744" y="2944"/>
              <a:ext cx="160" cy="208"/>
            </a:xfrm>
            <a:custGeom>
              <a:avLst/>
              <a:gdLst>
                <a:gd name="T0" fmla="*/ 0 w 160"/>
                <a:gd name="T1" fmla="*/ 0 h 208"/>
                <a:gd name="T2" fmla="*/ 160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3805" name="Freeform 18"/>
            <p:cNvSpPr>
              <a:spLocks/>
            </p:cNvSpPr>
            <p:nvPr/>
          </p:nvSpPr>
          <p:spPr bwMode="auto">
            <a:xfrm flipH="1">
              <a:off x="3504" y="2944"/>
              <a:ext cx="64" cy="208"/>
            </a:xfrm>
            <a:custGeom>
              <a:avLst/>
              <a:gdLst>
                <a:gd name="T0" fmla="*/ 0 w 160"/>
                <a:gd name="T1" fmla="*/ 0 h 208"/>
                <a:gd name="T2" fmla="*/ 64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33806" name="Group 19"/>
            <p:cNvGrpSpPr>
              <a:grpSpLocks/>
            </p:cNvGrpSpPr>
            <p:nvPr/>
          </p:nvGrpSpPr>
          <p:grpSpPr bwMode="auto">
            <a:xfrm>
              <a:off x="3456" y="3126"/>
              <a:ext cx="167" cy="202"/>
              <a:chOff x="3087" y="2784"/>
              <a:chExt cx="167" cy="202"/>
            </a:xfrm>
          </p:grpSpPr>
          <p:sp>
            <p:nvSpPr>
              <p:cNvPr id="33878" name="Rectangle 20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79" name="Rectangle 21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80" name="Rectangle 22"/>
              <p:cNvSpPr>
                <a:spLocks noChangeArrowheads="1"/>
              </p:cNvSpPr>
              <p:nvPr/>
            </p:nvSpPr>
            <p:spPr bwMode="auto">
              <a:xfrm>
                <a:off x="3120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0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33807" name="Rectangle 23"/>
            <p:cNvSpPr>
              <a:spLocks noChangeArrowheads="1"/>
            </p:cNvSpPr>
            <p:nvPr/>
          </p:nvSpPr>
          <p:spPr bwMode="auto">
            <a:xfrm>
              <a:off x="3787" y="2416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33808" name="Rectangle 24"/>
            <p:cNvSpPr>
              <a:spLocks noChangeArrowheads="1"/>
            </p:cNvSpPr>
            <p:nvPr/>
          </p:nvSpPr>
          <p:spPr bwMode="auto">
            <a:xfrm>
              <a:off x="4205" y="2416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grpSp>
          <p:nvGrpSpPr>
            <p:cNvPr id="33809" name="Group 25"/>
            <p:cNvGrpSpPr>
              <a:grpSpLocks/>
            </p:cNvGrpSpPr>
            <p:nvPr/>
          </p:nvGrpSpPr>
          <p:grpSpPr bwMode="auto">
            <a:xfrm>
              <a:off x="3499" y="2675"/>
              <a:ext cx="293" cy="305"/>
              <a:chOff x="2895" y="1488"/>
              <a:chExt cx="293" cy="305"/>
            </a:xfrm>
          </p:grpSpPr>
          <p:sp>
            <p:nvSpPr>
              <p:cNvPr id="33875" name="Freeform 26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76" name="Freeform 27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77" name="Rectangle 28"/>
              <p:cNvSpPr>
                <a:spLocks noChangeArrowheads="1"/>
              </p:cNvSpPr>
              <p:nvPr/>
            </p:nvSpPr>
            <p:spPr bwMode="auto">
              <a:xfrm>
                <a:off x="3001" y="1488"/>
                <a:ext cx="99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c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grpSp>
          <p:nvGrpSpPr>
            <p:cNvPr id="33810" name="Group 29"/>
            <p:cNvGrpSpPr>
              <a:grpSpLocks/>
            </p:cNvGrpSpPr>
            <p:nvPr/>
          </p:nvGrpSpPr>
          <p:grpSpPr bwMode="auto">
            <a:xfrm>
              <a:off x="4267" y="2675"/>
              <a:ext cx="293" cy="305"/>
              <a:chOff x="2895" y="1488"/>
              <a:chExt cx="293" cy="305"/>
            </a:xfrm>
          </p:grpSpPr>
          <p:sp>
            <p:nvSpPr>
              <p:cNvPr id="33872" name="Freeform 30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73" name="Freeform 31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74" name="Rectangle 32"/>
              <p:cNvSpPr>
                <a:spLocks noChangeArrowheads="1"/>
              </p:cNvSpPr>
              <p:nvPr/>
            </p:nvSpPr>
            <p:spPr bwMode="auto">
              <a:xfrm>
                <a:off x="3001" y="1488"/>
                <a:ext cx="99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c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33811" name="Line 33"/>
            <p:cNvSpPr>
              <a:spLocks noChangeShapeType="1"/>
            </p:cNvSpPr>
            <p:nvPr/>
          </p:nvSpPr>
          <p:spPr bwMode="auto">
            <a:xfrm flipH="1">
              <a:off x="3739" y="2483"/>
              <a:ext cx="192" cy="240"/>
            </a:xfrm>
            <a:prstGeom prst="line">
              <a:avLst/>
            </a:pr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3812" name="Line 34"/>
            <p:cNvSpPr>
              <a:spLocks noChangeShapeType="1"/>
            </p:cNvSpPr>
            <p:nvPr/>
          </p:nvSpPr>
          <p:spPr bwMode="auto">
            <a:xfrm>
              <a:off x="4123" y="2483"/>
              <a:ext cx="192" cy="24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grpSp>
          <p:nvGrpSpPr>
            <p:cNvPr id="33813" name="Group 35"/>
            <p:cNvGrpSpPr>
              <a:grpSpLocks/>
            </p:cNvGrpSpPr>
            <p:nvPr/>
          </p:nvGrpSpPr>
          <p:grpSpPr bwMode="auto">
            <a:xfrm flipH="1">
              <a:off x="2880" y="3126"/>
              <a:ext cx="167" cy="202"/>
              <a:chOff x="3087" y="2784"/>
              <a:chExt cx="167" cy="202"/>
            </a:xfrm>
          </p:grpSpPr>
          <p:sp>
            <p:nvSpPr>
              <p:cNvPr id="33869" name="Rectangle 36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70" name="Rectangle 37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71" name="Rectangle 38"/>
              <p:cNvSpPr>
                <a:spLocks noChangeArrowheads="1"/>
              </p:cNvSpPr>
              <p:nvPr/>
            </p:nvSpPr>
            <p:spPr bwMode="auto">
              <a:xfrm>
                <a:off x="3120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0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33814" name="Freeform 39"/>
            <p:cNvSpPr>
              <a:spLocks/>
            </p:cNvSpPr>
            <p:nvPr/>
          </p:nvSpPr>
          <p:spPr bwMode="auto">
            <a:xfrm flipH="1">
              <a:off x="2960" y="2944"/>
              <a:ext cx="160" cy="208"/>
            </a:xfrm>
            <a:custGeom>
              <a:avLst/>
              <a:gdLst>
                <a:gd name="T0" fmla="*/ 0 w 160"/>
                <a:gd name="T1" fmla="*/ 0 h 208"/>
                <a:gd name="T2" fmla="*/ 160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3815" name="Freeform 40"/>
            <p:cNvSpPr>
              <a:spLocks/>
            </p:cNvSpPr>
            <p:nvPr/>
          </p:nvSpPr>
          <p:spPr bwMode="auto">
            <a:xfrm>
              <a:off x="3296" y="2944"/>
              <a:ext cx="64" cy="208"/>
            </a:xfrm>
            <a:custGeom>
              <a:avLst/>
              <a:gdLst>
                <a:gd name="T0" fmla="*/ 0 w 160"/>
                <a:gd name="T1" fmla="*/ 0 h 208"/>
                <a:gd name="T2" fmla="*/ 64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33816" name="Group 41"/>
            <p:cNvGrpSpPr>
              <a:grpSpLocks/>
            </p:cNvGrpSpPr>
            <p:nvPr/>
          </p:nvGrpSpPr>
          <p:grpSpPr bwMode="auto">
            <a:xfrm flipH="1">
              <a:off x="3241" y="3126"/>
              <a:ext cx="167" cy="202"/>
              <a:chOff x="3087" y="2784"/>
              <a:chExt cx="167" cy="202"/>
            </a:xfrm>
          </p:grpSpPr>
          <p:sp>
            <p:nvSpPr>
              <p:cNvPr id="33866" name="Rectangle 42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67" name="Rectangle 43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68" name="Rectangle 44"/>
              <p:cNvSpPr>
                <a:spLocks noChangeArrowheads="1"/>
              </p:cNvSpPr>
              <p:nvPr/>
            </p:nvSpPr>
            <p:spPr bwMode="auto">
              <a:xfrm>
                <a:off x="3137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1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33817" name="Rectangle 45"/>
            <p:cNvSpPr>
              <a:spLocks noChangeArrowheads="1"/>
            </p:cNvSpPr>
            <p:nvPr/>
          </p:nvSpPr>
          <p:spPr bwMode="auto">
            <a:xfrm>
              <a:off x="2592" y="2416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33818" name="Rectangle 46"/>
            <p:cNvSpPr>
              <a:spLocks noChangeArrowheads="1"/>
            </p:cNvSpPr>
            <p:nvPr/>
          </p:nvSpPr>
          <p:spPr bwMode="auto">
            <a:xfrm>
              <a:off x="3010" y="2416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grpSp>
          <p:nvGrpSpPr>
            <p:cNvPr id="33819" name="Group 47"/>
            <p:cNvGrpSpPr>
              <a:grpSpLocks/>
            </p:cNvGrpSpPr>
            <p:nvPr/>
          </p:nvGrpSpPr>
          <p:grpSpPr bwMode="auto">
            <a:xfrm>
              <a:off x="2304" y="2675"/>
              <a:ext cx="293" cy="305"/>
              <a:chOff x="2895" y="1488"/>
              <a:chExt cx="293" cy="305"/>
            </a:xfrm>
          </p:grpSpPr>
          <p:sp>
            <p:nvSpPr>
              <p:cNvPr id="33863" name="Freeform 48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64" name="Freeform 49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65" name="Rectangle 50"/>
              <p:cNvSpPr>
                <a:spLocks noChangeArrowheads="1"/>
              </p:cNvSpPr>
              <p:nvPr/>
            </p:nvSpPr>
            <p:spPr bwMode="auto">
              <a:xfrm>
                <a:off x="3001" y="1488"/>
                <a:ext cx="99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c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grpSp>
          <p:nvGrpSpPr>
            <p:cNvPr id="33820" name="Group 51"/>
            <p:cNvGrpSpPr>
              <a:grpSpLocks/>
            </p:cNvGrpSpPr>
            <p:nvPr/>
          </p:nvGrpSpPr>
          <p:grpSpPr bwMode="auto">
            <a:xfrm>
              <a:off x="3072" y="2675"/>
              <a:ext cx="293" cy="305"/>
              <a:chOff x="2895" y="1488"/>
              <a:chExt cx="293" cy="305"/>
            </a:xfrm>
          </p:grpSpPr>
          <p:sp>
            <p:nvSpPr>
              <p:cNvPr id="33860" name="Freeform 52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61" name="Freeform 53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62" name="Rectangle 54"/>
              <p:cNvSpPr>
                <a:spLocks noChangeArrowheads="1"/>
              </p:cNvSpPr>
              <p:nvPr/>
            </p:nvSpPr>
            <p:spPr bwMode="auto">
              <a:xfrm>
                <a:off x="3001" y="1488"/>
                <a:ext cx="99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c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33821" name="Line 55"/>
            <p:cNvSpPr>
              <a:spLocks noChangeShapeType="1"/>
            </p:cNvSpPr>
            <p:nvPr/>
          </p:nvSpPr>
          <p:spPr bwMode="auto">
            <a:xfrm flipH="1">
              <a:off x="2544" y="2483"/>
              <a:ext cx="192" cy="240"/>
            </a:xfrm>
            <a:prstGeom prst="line">
              <a:avLst/>
            </a:pr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3822" name="Line 56"/>
            <p:cNvSpPr>
              <a:spLocks noChangeShapeType="1"/>
            </p:cNvSpPr>
            <p:nvPr/>
          </p:nvSpPr>
          <p:spPr bwMode="auto">
            <a:xfrm>
              <a:off x="2928" y="2483"/>
              <a:ext cx="192" cy="24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3823" name="Freeform 57"/>
            <p:cNvSpPr>
              <a:spLocks/>
            </p:cNvSpPr>
            <p:nvPr/>
          </p:nvSpPr>
          <p:spPr bwMode="auto">
            <a:xfrm flipH="1">
              <a:off x="3456" y="1584"/>
              <a:ext cx="64" cy="208"/>
            </a:xfrm>
            <a:custGeom>
              <a:avLst/>
              <a:gdLst>
                <a:gd name="T0" fmla="*/ 0 w 160"/>
                <a:gd name="T1" fmla="*/ 0 h 208"/>
                <a:gd name="T2" fmla="*/ 64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66FF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33824" name="Group 58"/>
            <p:cNvGrpSpPr>
              <a:grpSpLocks/>
            </p:cNvGrpSpPr>
            <p:nvPr/>
          </p:nvGrpSpPr>
          <p:grpSpPr bwMode="auto">
            <a:xfrm>
              <a:off x="3883" y="2224"/>
              <a:ext cx="293" cy="305"/>
              <a:chOff x="3499" y="1920"/>
              <a:chExt cx="293" cy="305"/>
            </a:xfrm>
          </p:grpSpPr>
          <p:sp>
            <p:nvSpPr>
              <p:cNvPr id="33857" name="Freeform 59"/>
              <p:cNvSpPr>
                <a:spLocks/>
              </p:cNvSpPr>
              <p:nvPr/>
            </p:nvSpPr>
            <p:spPr bwMode="auto">
              <a:xfrm>
                <a:off x="3499" y="1932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58" name="Freeform 60"/>
              <p:cNvSpPr>
                <a:spLocks/>
              </p:cNvSpPr>
              <p:nvPr/>
            </p:nvSpPr>
            <p:spPr bwMode="auto">
              <a:xfrm>
                <a:off x="3499" y="1932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59" name="Rectangle 61"/>
              <p:cNvSpPr>
                <a:spLocks noChangeArrowheads="1"/>
              </p:cNvSpPr>
              <p:nvPr/>
            </p:nvSpPr>
            <p:spPr bwMode="auto">
              <a:xfrm>
                <a:off x="3599" y="1920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b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grpSp>
          <p:nvGrpSpPr>
            <p:cNvPr id="33825" name="Group 62"/>
            <p:cNvGrpSpPr>
              <a:grpSpLocks/>
            </p:cNvGrpSpPr>
            <p:nvPr/>
          </p:nvGrpSpPr>
          <p:grpSpPr bwMode="auto">
            <a:xfrm>
              <a:off x="2688" y="2224"/>
              <a:ext cx="293" cy="305"/>
              <a:chOff x="2895" y="1488"/>
              <a:chExt cx="293" cy="305"/>
            </a:xfrm>
          </p:grpSpPr>
          <p:sp>
            <p:nvSpPr>
              <p:cNvPr id="33854" name="Freeform 63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55" name="Freeform 64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56" name="Rectangle 65"/>
              <p:cNvSpPr>
                <a:spLocks noChangeArrowheads="1"/>
              </p:cNvSpPr>
              <p:nvPr/>
            </p:nvSpPr>
            <p:spPr bwMode="auto">
              <a:xfrm>
                <a:off x="2995" y="1488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b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grpSp>
          <p:nvGrpSpPr>
            <p:cNvPr id="33826" name="Group 66"/>
            <p:cNvGrpSpPr>
              <a:grpSpLocks/>
            </p:cNvGrpSpPr>
            <p:nvPr/>
          </p:nvGrpSpPr>
          <p:grpSpPr bwMode="auto">
            <a:xfrm>
              <a:off x="4585" y="3126"/>
              <a:ext cx="167" cy="202"/>
              <a:chOff x="3087" y="2784"/>
              <a:chExt cx="167" cy="202"/>
            </a:xfrm>
          </p:grpSpPr>
          <p:sp>
            <p:nvSpPr>
              <p:cNvPr id="33851" name="Rectangle 67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52" name="Rectangle 68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53" name="Rectangle 69"/>
              <p:cNvSpPr>
                <a:spLocks noChangeArrowheads="1"/>
              </p:cNvSpPr>
              <p:nvPr/>
            </p:nvSpPr>
            <p:spPr bwMode="auto">
              <a:xfrm>
                <a:off x="3120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1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33827" name="Freeform 70"/>
            <p:cNvSpPr>
              <a:spLocks/>
            </p:cNvSpPr>
            <p:nvPr/>
          </p:nvSpPr>
          <p:spPr bwMode="auto">
            <a:xfrm>
              <a:off x="4512" y="2944"/>
              <a:ext cx="160" cy="208"/>
            </a:xfrm>
            <a:custGeom>
              <a:avLst/>
              <a:gdLst>
                <a:gd name="T0" fmla="*/ 0 w 160"/>
                <a:gd name="T1" fmla="*/ 0 h 208"/>
                <a:gd name="T2" fmla="*/ 160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33828" name="Group 71"/>
            <p:cNvGrpSpPr>
              <a:grpSpLocks/>
            </p:cNvGrpSpPr>
            <p:nvPr/>
          </p:nvGrpSpPr>
          <p:grpSpPr bwMode="auto">
            <a:xfrm>
              <a:off x="4080" y="3126"/>
              <a:ext cx="167" cy="202"/>
              <a:chOff x="3087" y="2784"/>
              <a:chExt cx="167" cy="202"/>
            </a:xfrm>
          </p:grpSpPr>
          <p:sp>
            <p:nvSpPr>
              <p:cNvPr id="33848" name="Rectangle 72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49" name="Rectangle 73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50" name="Rectangle 74"/>
              <p:cNvSpPr>
                <a:spLocks noChangeArrowheads="1"/>
              </p:cNvSpPr>
              <p:nvPr/>
            </p:nvSpPr>
            <p:spPr bwMode="auto">
              <a:xfrm>
                <a:off x="3120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0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33829" name="Freeform 75"/>
            <p:cNvSpPr>
              <a:spLocks/>
            </p:cNvSpPr>
            <p:nvPr/>
          </p:nvSpPr>
          <p:spPr bwMode="auto">
            <a:xfrm flipH="1">
              <a:off x="4160" y="2944"/>
              <a:ext cx="160" cy="208"/>
            </a:xfrm>
            <a:custGeom>
              <a:avLst/>
              <a:gdLst>
                <a:gd name="T0" fmla="*/ 0 w 160"/>
                <a:gd name="T1" fmla="*/ 0 h 208"/>
                <a:gd name="T2" fmla="*/ 160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33830" name="Group 76"/>
            <p:cNvGrpSpPr>
              <a:grpSpLocks/>
            </p:cNvGrpSpPr>
            <p:nvPr/>
          </p:nvGrpSpPr>
          <p:grpSpPr bwMode="auto">
            <a:xfrm>
              <a:off x="2617" y="3126"/>
              <a:ext cx="167" cy="202"/>
              <a:chOff x="3087" y="2784"/>
              <a:chExt cx="167" cy="202"/>
            </a:xfrm>
          </p:grpSpPr>
          <p:sp>
            <p:nvSpPr>
              <p:cNvPr id="33845" name="Rectangle 77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46" name="Rectangle 78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47" name="Rectangle 79"/>
              <p:cNvSpPr>
                <a:spLocks noChangeArrowheads="1"/>
              </p:cNvSpPr>
              <p:nvPr/>
            </p:nvSpPr>
            <p:spPr bwMode="auto">
              <a:xfrm>
                <a:off x="3120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0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33831" name="Freeform 80"/>
            <p:cNvSpPr>
              <a:spLocks/>
            </p:cNvSpPr>
            <p:nvPr/>
          </p:nvSpPr>
          <p:spPr bwMode="auto">
            <a:xfrm>
              <a:off x="2544" y="2944"/>
              <a:ext cx="160" cy="208"/>
            </a:xfrm>
            <a:custGeom>
              <a:avLst/>
              <a:gdLst>
                <a:gd name="T0" fmla="*/ 0 w 160"/>
                <a:gd name="T1" fmla="*/ 0 h 208"/>
                <a:gd name="T2" fmla="*/ 160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33832" name="Group 81"/>
            <p:cNvGrpSpPr>
              <a:grpSpLocks/>
            </p:cNvGrpSpPr>
            <p:nvPr/>
          </p:nvGrpSpPr>
          <p:grpSpPr bwMode="auto">
            <a:xfrm>
              <a:off x="2112" y="3126"/>
              <a:ext cx="167" cy="202"/>
              <a:chOff x="3087" y="2784"/>
              <a:chExt cx="167" cy="202"/>
            </a:xfrm>
          </p:grpSpPr>
          <p:sp>
            <p:nvSpPr>
              <p:cNvPr id="33842" name="Rectangle 82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43" name="Rectangle 83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44" name="Rectangle 84"/>
              <p:cNvSpPr>
                <a:spLocks noChangeArrowheads="1"/>
              </p:cNvSpPr>
              <p:nvPr/>
            </p:nvSpPr>
            <p:spPr bwMode="auto">
              <a:xfrm>
                <a:off x="3120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0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33833" name="Freeform 85"/>
            <p:cNvSpPr>
              <a:spLocks/>
            </p:cNvSpPr>
            <p:nvPr/>
          </p:nvSpPr>
          <p:spPr bwMode="auto">
            <a:xfrm flipH="1">
              <a:off x="2192" y="2944"/>
              <a:ext cx="160" cy="208"/>
            </a:xfrm>
            <a:custGeom>
              <a:avLst/>
              <a:gdLst>
                <a:gd name="T0" fmla="*/ 0 w 160"/>
                <a:gd name="T1" fmla="*/ 0 h 208"/>
                <a:gd name="T2" fmla="*/ 160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3834" name="Rectangle 86"/>
            <p:cNvSpPr>
              <a:spLocks noChangeArrowheads="1"/>
            </p:cNvSpPr>
            <p:nvPr/>
          </p:nvSpPr>
          <p:spPr bwMode="auto">
            <a:xfrm>
              <a:off x="2208" y="2848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33835" name="Rectangle 87"/>
            <p:cNvSpPr>
              <a:spLocks noChangeArrowheads="1"/>
            </p:cNvSpPr>
            <p:nvPr/>
          </p:nvSpPr>
          <p:spPr bwMode="auto">
            <a:xfrm>
              <a:off x="2592" y="2848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33836" name="Rectangle 88"/>
            <p:cNvSpPr>
              <a:spLocks noChangeArrowheads="1"/>
            </p:cNvSpPr>
            <p:nvPr/>
          </p:nvSpPr>
          <p:spPr bwMode="auto">
            <a:xfrm>
              <a:off x="4176" y="2848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33837" name="Rectangle 89"/>
            <p:cNvSpPr>
              <a:spLocks noChangeArrowheads="1"/>
            </p:cNvSpPr>
            <p:nvPr/>
          </p:nvSpPr>
          <p:spPr bwMode="auto">
            <a:xfrm>
              <a:off x="4560" y="2848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33838" name="Rectangle 90"/>
            <p:cNvSpPr>
              <a:spLocks noChangeArrowheads="1"/>
            </p:cNvSpPr>
            <p:nvPr/>
          </p:nvSpPr>
          <p:spPr bwMode="auto">
            <a:xfrm>
              <a:off x="2976" y="2848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33839" name="Rectangle 91"/>
            <p:cNvSpPr>
              <a:spLocks noChangeArrowheads="1"/>
            </p:cNvSpPr>
            <p:nvPr/>
          </p:nvSpPr>
          <p:spPr bwMode="auto">
            <a:xfrm>
              <a:off x="3346" y="2877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33840" name="Rectangle 92"/>
            <p:cNvSpPr>
              <a:spLocks noChangeArrowheads="1"/>
            </p:cNvSpPr>
            <p:nvPr/>
          </p:nvSpPr>
          <p:spPr bwMode="auto">
            <a:xfrm>
              <a:off x="3456" y="2877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33841" name="Rectangle 93"/>
            <p:cNvSpPr>
              <a:spLocks noChangeArrowheads="1"/>
            </p:cNvSpPr>
            <p:nvPr/>
          </p:nvSpPr>
          <p:spPr bwMode="auto">
            <a:xfrm>
              <a:off x="3792" y="2848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r>
              <a:rPr lang="en-US" sz="1400" b="0"/>
              <a:t>(c)  Giovanni De Micheli</a:t>
            </a:r>
          </a:p>
        </p:txBody>
      </p:sp>
      <p:sp>
        <p:nvSpPr>
          <p:cNvPr id="3584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584EC262-1744-CA4B-81E7-60BB0382C90E}" type="slidenum">
              <a:rPr lang="en-US" sz="1400" b="0"/>
              <a:pPr/>
              <a:t>14</a:t>
            </a:fld>
            <a:endParaRPr lang="en-US" sz="1400" b="0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574675" y="-95250"/>
            <a:ext cx="8188325" cy="1216025"/>
          </a:xfrm>
        </p:spPr>
        <p:txBody>
          <a:bodyPr/>
          <a:lstStyle/>
          <a:p>
            <a:r>
              <a:rPr lang="en-US">
                <a:latin typeface="Arial Narrow" charset="0"/>
              </a:rPr>
              <a:t>1. Merge equivalent sub-trees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5164138" y="2133600"/>
            <a:ext cx="3370262" cy="2768600"/>
            <a:chOff x="1576" y="1440"/>
            <a:chExt cx="2123" cy="1744"/>
          </a:xfrm>
        </p:grpSpPr>
        <p:sp>
          <p:nvSpPr>
            <p:cNvPr id="35937" name="Rectangle 4"/>
            <p:cNvSpPr>
              <a:spLocks noChangeArrowheads="1"/>
            </p:cNvSpPr>
            <p:nvPr/>
          </p:nvSpPr>
          <p:spPr bwMode="auto">
            <a:xfrm>
              <a:off x="2592" y="1773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35938" name="Rectangle 5"/>
            <p:cNvSpPr>
              <a:spLocks noChangeArrowheads="1"/>
            </p:cNvSpPr>
            <p:nvPr/>
          </p:nvSpPr>
          <p:spPr bwMode="auto">
            <a:xfrm>
              <a:off x="3010" y="1773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35939" name="Line 6"/>
            <p:cNvSpPr>
              <a:spLocks noChangeShapeType="1"/>
            </p:cNvSpPr>
            <p:nvPr/>
          </p:nvSpPr>
          <p:spPr bwMode="auto">
            <a:xfrm flipH="1">
              <a:off x="2352" y="1888"/>
              <a:ext cx="384" cy="240"/>
            </a:xfrm>
            <a:prstGeom prst="line">
              <a:avLst/>
            </a:pr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5940" name="Line 7"/>
            <p:cNvSpPr>
              <a:spLocks noChangeShapeType="1"/>
            </p:cNvSpPr>
            <p:nvPr/>
          </p:nvSpPr>
          <p:spPr bwMode="auto">
            <a:xfrm>
              <a:off x="2928" y="1888"/>
              <a:ext cx="432" cy="24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35941" name="Group 8"/>
            <p:cNvGrpSpPr>
              <a:grpSpLocks/>
            </p:cNvGrpSpPr>
            <p:nvPr/>
          </p:nvGrpSpPr>
          <p:grpSpPr bwMode="auto">
            <a:xfrm>
              <a:off x="2703" y="1631"/>
              <a:ext cx="293" cy="305"/>
              <a:chOff x="2895" y="1488"/>
              <a:chExt cx="293" cy="305"/>
            </a:xfrm>
          </p:grpSpPr>
          <p:sp>
            <p:nvSpPr>
              <p:cNvPr id="35984" name="Freeform 9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85" name="Freeform 10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86" name="Rectangle 11"/>
              <p:cNvSpPr>
                <a:spLocks noChangeArrowheads="1"/>
              </p:cNvSpPr>
              <p:nvPr/>
            </p:nvSpPr>
            <p:spPr bwMode="auto">
              <a:xfrm>
                <a:off x="2995" y="1488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a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35942" name="Rectangle 12"/>
            <p:cNvSpPr>
              <a:spLocks noChangeArrowheads="1"/>
            </p:cNvSpPr>
            <p:nvPr/>
          </p:nvSpPr>
          <p:spPr bwMode="auto">
            <a:xfrm>
              <a:off x="3168" y="2256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35943" name="Rectangle 13"/>
            <p:cNvSpPr>
              <a:spLocks noChangeArrowheads="1"/>
            </p:cNvSpPr>
            <p:nvPr/>
          </p:nvSpPr>
          <p:spPr bwMode="auto">
            <a:xfrm>
              <a:off x="3629" y="2272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35944" name="Line 14"/>
            <p:cNvSpPr>
              <a:spLocks noChangeShapeType="1"/>
            </p:cNvSpPr>
            <p:nvPr/>
          </p:nvSpPr>
          <p:spPr bwMode="auto">
            <a:xfrm flipH="1">
              <a:off x="2976" y="2339"/>
              <a:ext cx="379" cy="253"/>
            </a:xfrm>
            <a:prstGeom prst="line">
              <a:avLst/>
            </a:pr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5945" name="Freeform 15"/>
            <p:cNvSpPr>
              <a:spLocks/>
            </p:cNvSpPr>
            <p:nvPr/>
          </p:nvSpPr>
          <p:spPr bwMode="auto">
            <a:xfrm>
              <a:off x="3024" y="2339"/>
              <a:ext cx="675" cy="301"/>
            </a:xfrm>
            <a:custGeom>
              <a:avLst/>
              <a:gdLst>
                <a:gd name="T0" fmla="*/ 524 w 674"/>
                <a:gd name="T1" fmla="*/ 0 h 301"/>
                <a:gd name="T2" fmla="*/ 588 w 674"/>
                <a:gd name="T3" fmla="*/ 247 h 301"/>
                <a:gd name="T4" fmla="*/ 0 w 674"/>
                <a:gd name="T5" fmla="*/ 301 h 301"/>
                <a:gd name="T6" fmla="*/ 0 60000 65536"/>
                <a:gd name="T7" fmla="*/ 0 60000 65536"/>
                <a:gd name="T8" fmla="*/ 0 60000 65536"/>
                <a:gd name="T9" fmla="*/ 0 w 674"/>
                <a:gd name="T10" fmla="*/ 0 h 301"/>
                <a:gd name="T11" fmla="*/ 674 w 674"/>
                <a:gd name="T12" fmla="*/ 301 h 30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74" h="301">
                  <a:moveTo>
                    <a:pt x="523" y="0"/>
                  </a:moveTo>
                  <a:cubicBezTo>
                    <a:pt x="534" y="41"/>
                    <a:pt x="674" y="197"/>
                    <a:pt x="587" y="247"/>
                  </a:cubicBezTo>
                  <a:cubicBezTo>
                    <a:pt x="500" y="297"/>
                    <a:pt x="122" y="290"/>
                    <a:pt x="0" y="301"/>
                  </a:cubicBez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5946" name="Rectangle 16"/>
            <p:cNvSpPr>
              <a:spLocks noChangeArrowheads="1"/>
            </p:cNvSpPr>
            <p:nvPr/>
          </p:nvSpPr>
          <p:spPr bwMode="auto">
            <a:xfrm>
              <a:off x="2016" y="2272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35947" name="Rectangle 17"/>
            <p:cNvSpPr>
              <a:spLocks noChangeArrowheads="1"/>
            </p:cNvSpPr>
            <p:nvPr/>
          </p:nvSpPr>
          <p:spPr bwMode="auto">
            <a:xfrm>
              <a:off x="2482" y="2256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grpSp>
          <p:nvGrpSpPr>
            <p:cNvPr id="35948" name="Group 18"/>
            <p:cNvGrpSpPr>
              <a:grpSpLocks/>
            </p:cNvGrpSpPr>
            <p:nvPr/>
          </p:nvGrpSpPr>
          <p:grpSpPr bwMode="auto">
            <a:xfrm>
              <a:off x="1728" y="2531"/>
              <a:ext cx="293" cy="305"/>
              <a:chOff x="2895" y="1488"/>
              <a:chExt cx="293" cy="305"/>
            </a:xfrm>
          </p:grpSpPr>
          <p:sp>
            <p:nvSpPr>
              <p:cNvPr id="35981" name="Freeform 19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82" name="Freeform 20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83" name="Rectangle 21"/>
              <p:cNvSpPr>
                <a:spLocks noChangeArrowheads="1"/>
              </p:cNvSpPr>
              <p:nvPr/>
            </p:nvSpPr>
            <p:spPr bwMode="auto">
              <a:xfrm>
                <a:off x="3001" y="1488"/>
                <a:ext cx="99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c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35949" name="Line 22"/>
            <p:cNvSpPr>
              <a:spLocks noChangeShapeType="1"/>
            </p:cNvSpPr>
            <p:nvPr/>
          </p:nvSpPr>
          <p:spPr bwMode="auto">
            <a:xfrm flipH="1">
              <a:off x="1968" y="2339"/>
              <a:ext cx="192" cy="240"/>
            </a:xfrm>
            <a:prstGeom prst="line">
              <a:avLst/>
            </a:pr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5950" name="Line 23"/>
            <p:cNvSpPr>
              <a:spLocks noChangeShapeType="1"/>
            </p:cNvSpPr>
            <p:nvPr/>
          </p:nvSpPr>
          <p:spPr bwMode="auto">
            <a:xfrm>
              <a:off x="2352" y="2339"/>
              <a:ext cx="432" cy="253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5951" name="Freeform 24"/>
            <p:cNvSpPr>
              <a:spLocks/>
            </p:cNvSpPr>
            <p:nvPr/>
          </p:nvSpPr>
          <p:spPr bwMode="auto">
            <a:xfrm flipH="1">
              <a:off x="2880" y="1440"/>
              <a:ext cx="64" cy="208"/>
            </a:xfrm>
            <a:custGeom>
              <a:avLst/>
              <a:gdLst>
                <a:gd name="T0" fmla="*/ 0 w 160"/>
                <a:gd name="T1" fmla="*/ 0 h 208"/>
                <a:gd name="T2" fmla="*/ 64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66FF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35952" name="Group 25"/>
            <p:cNvGrpSpPr>
              <a:grpSpLocks/>
            </p:cNvGrpSpPr>
            <p:nvPr/>
          </p:nvGrpSpPr>
          <p:grpSpPr bwMode="auto">
            <a:xfrm>
              <a:off x="3307" y="2080"/>
              <a:ext cx="293" cy="305"/>
              <a:chOff x="3499" y="1920"/>
              <a:chExt cx="293" cy="305"/>
            </a:xfrm>
          </p:grpSpPr>
          <p:sp>
            <p:nvSpPr>
              <p:cNvPr id="35978" name="Freeform 26"/>
              <p:cNvSpPr>
                <a:spLocks/>
              </p:cNvSpPr>
              <p:nvPr/>
            </p:nvSpPr>
            <p:spPr bwMode="auto">
              <a:xfrm>
                <a:off x="3499" y="1932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79" name="Freeform 27"/>
              <p:cNvSpPr>
                <a:spLocks/>
              </p:cNvSpPr>
              <p:nvPr/>
            </p:nvSpPr>
            <p:spPr bwMode="auto">
              <a:xfrm>
                <a:off x="3499" y="1932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80" name="Rectangle 28"/>
              <p:cNvSpPr>
                <a:spLocks noChangeArrowheads="1"/>
              </p:cNvSpPr>
              <p:nvPr/>
            </p:nvSpPr>
            <p:spPr bwMode="auto">
              <a:xfrm>
                <a:off x="3599" y="1920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b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grpSp>
          <p:nvGrpSpPr>
            <p:cNvPr id="35953" name="Group 29"/>
            <p:cNvGrpSpPr>
              <a:grpSpLocks/>
            </p:cNvGrpSpPr>
            <p:nvPr/>
          </p:nvGrpSpPr>
          <p:grpSpPr bwMode="auto">
            <a:xfrm>
              <a:off x="2112" y="2080"/>
              <a:ext cx="293" cy="305"/>
              <a:chOff x="2895" y="1488"/>
              <a:chExt cx="293" cy="305"/>
            </a:xfrm>
          </p:grpSpPr>
          <p:sp>
            <p:nvSpPr>
              <p:cNvPr id="35975" name="Freeform 30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76" name="Freeform 31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77" name="Rectangle 32"/>
              <p:cNvSpPr>
                <a:spLocks noChangeArrowheads="1"/>
              </p:cNvSpPr>
              <p:nvPr/>
            </p:nvSpPr>
            <p:spPr bwMode="auto">
              <a:xfrm>
                <a:off x="2995" y="1488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b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35954" name="Freeform 33"/>
            <p:cNvSpPr>
              <a:spLocks/>
            </p:cNvSpPr>
            <p:nvPr/>
          </p:nvSpPr>
          <p:spPr bwMode="auto">
            <a:xfrm>
              <a:off x="1968" y="2800"/>
              <a:ext cx="666" cy="194"/>
            </a:xfrm>
            <a:custGeom>
              <a:avLst/>
              <a:gdLst>
                <a:gd name="T0" fmla="*/ 0 w 666"/>
                <a:gd name="T1" fmla="*/ 0 h 194"/>
                <a:gd name="T2" fmla="*/ 666 w 666"/>
                <a:gd name="T3" fmla="*/ 194 h 194"/>
                <a:gd name="T4" fmla="*/ 0 60000 65536"/>
                <a:gd name="T5" fmla="*/ 0 60000 65536"/>
                <a:gd name="T6" fmla="*/ 0 w 666"/>
                <a:gd name="T7" fmla="*/ 0 h 194"/>
                <a:gd name="T8" fmla="*/ 666 w 666"/>
                <a:gd name="T9" fmla="*/ 194 h 19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66" h="194">
                  <a:moveTo>
                    <a:pt x="0" y="0"/>
                  </a:moveTo>
                  <a:lnTo>
                    <a:pt x="666" y="194"/>
                  </a:ln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5955" name="Freeform 34"/>
            <p:cNvSpPr>
              <a:spLocks/>
            </p:cNvSpPr>
            <p:nvPr/>
          </p:nvSpPr>
          <p:spPr bwMode="auto">
            <a:xfrm>
              <a:off x="1576" y="2800"/>
              <a:ext cx="968" cy="296"/>
            </a:xfrm>
            <a:custGeom>
              <a:avLst/>
              <a:gdLst>
                <a:gd name="T0" fmla="*/ 200 w 968"/>
                <a:gd name="T1" fmla="*/ 0 h 296"/>
                <a:gd name="T2" fmla="*/ 128 w 968"/>
                <a:gd name="T3" fmla="*/ 128 h 296"/>
                <a:gd name="T4" fmla="*/ 968 w 968"/>
                <a:gd name="T5" fmla="*/ 296 h 296"/>
                <a:gd name="T6" fmla="*/ 0 60000 65536"/>
                <a:gd name="T7" fmla="*/ 0 60000 65536"/>
                <a:gd name="T8" fmla="*/ 0 60000 65536"/>
                <a:gd name="T9" fmla="*/ 0 w 968"/>
                <a:gd name="T10" fmla="*/ 0 h 296"/>
                <a:gd name="T11" fmla="*/ 968 w 968"/>
                <a:gd name="T12" fmla="*/ 296 h 2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8" h="296">
                  <a:moveTo>
                    <a:pt x="200" y="0"/>
                  </a:moveTo>
                  <a:cubicBezTo>
                    <a:pt x="188" y="21"/>
                    <a:pt x="0" y="79"/>
                    <a:pt x="128" y="128"/>
                  </a:cubicBezTo>
                  <a:cubicBezTo>
                    <a:pt x="267" y="159"/>
                    <a:pt x="793" y="261"/>
                    <a:pt x="968" y="296"/>
                  </a:cubicBez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5956" name="Rectangle 35"/>
            <p:cNvSpPr>
              <a:spLocks noChangeArrowheads="1"/>
            </p:cNvSpPr>
            <p:nvPr/>
          </p:nvSpPr>
          <p:spPr bwMode="auto">
            <a:xfrm>
              <a:off x="1632" y="2704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35957" name="Rectangle 36"/>
            <p:cNvSpPr>
              <a:spLocks noChangeArrowheads="1"/>
            </p:cNvSpPr>
            <p:nvPr/>
          </p:nvSpPr>
          <p:spPr bwMode="auto">
            <a:xfrm>
              <a:off x="2146" y="2688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grpSp>
          <p:nvGrpSpPr>
            <p:cNvPr id="35958" name="Group 37"/>
            <p:cNvGrpSpPr>
              <a:grpSpLocks/>
            </p:cNvGrpSpPr>
            <p:nvPr/>
          </p:nvGrpSpPr>
          <p:grpSpPr bwMode="auto">
            <a:xfrm>
              <a:off x="2544" y="2531"/>
              <a:ext cx="672" cy="653"/>
              <a:chOff x="3504" y="2531"/>
              <a:chExt cx="672" cy="653"/>
            </a:xfrm>
          </p:grpSpPr>
          <p:grpSp>
            <p:nvGrpSpPr>
              <p:cNvPr id="35959" name="Group 38"/>
              <p:cNvGrpSpPr>
                <a:grpSpLocks/>
              </p:cNvGrpSpPr>
              <p:nvPr/>
            </p:nvGrpSpPr>
            <p:grpSpPr bwMode="auto">
              <a:xfrm>
                <a:off x="3691" y="2531"/>
                <a:ext cx="293" cy="305"/>
                <a:chOff x="2895" y="1488"/>
                <a:chExt cx="293" cy="305"/>
              </a:xfrm>
            </p:grpSpPr>
            <p:sp>
              <p:nvSpPr>
                <p:cNvPr id="35972" name="Freeform 39"/>
                <p:cNvSpPr>
                  <a:spLocks/>
                </p:cNvSpPr>
                <p:nvPr/>
              </p:nvSpPr>
              <p:spPr bwMode="auto">
                <a:xfrm>
                  <a:off x="2895" y="1500"/>
                  <a:ext cx="293" cy="293"/>
                </a:xfrm>
                <a:custGeom>
                  <a:avLst/>
                  <a:gdLst>
                    <a:gd name="T0" fmla="*/ 0 w 778"/>
                    <a:gd name="T1" fmla="*/ 147 h 778"/>
                    <a:gd name="T2" fmla="*/ 147 w 778"/>
                    <a:gd name="T3" fmla="*/ 0 h 778"/>
                    <a:gd name="T4" fmla="*/ 293 w 778"/>
                    <a:gd name="T5" fmla="*/ 147 h 778"/>
                    <a:gd name="T6" fmla="*/ 293 w 778"/>
                    <a:gd name="T7" fmla="*/ 147 h 778"/>
                    <a:gd name="T8" fmla="*/ 147 w 778"/>
                    <a:gd name="T9" fmla="*/ 293 h 778"/>
                    <a:gd name="T10" fmla="*/ 0 w 778"/>
                    <a:gd name="T11" fmla="*/ 147 h 77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778"/>
                    <a:gd name="T19" fmla="*/ 0 h 778"/>
                    <a:gd name="T20" fmla="*/ 778 w 778"/>
                    <a:gd name="T21" fmla="*/ 778 h 77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778" h="778">
                      <a:moveTo>
                        <a:pt x="0" y="389"/>
                      </a:moveTo>
                      <a:cubicBezTo>
                        <a:pt x="0" y="174"/>
                        <a:pt x="174" y="0"/>
                        <a:pt x="389" y="0"/>
                      </a:cubicBezTo>
                      <a:cubicBezTo>
                        <a:pt x="604" y="0"/>
                        <a:pt x="778" y="174"/>
                        <a:pt x="778" y="389"/>
                      </a:cubicBezTo>
                      <a:cubicBezTo>
                        <a:pt x="778" y="389"/>
                        <a:pt x="778" y="389"/>
                        <a:pt x="778" y="389"/>
                      </a:cubicBezTo>
                      <a:cubicBezTo>
                        <a:pt x="778" y="604"/>
                        <a:pt x="604" y="778"/>
                        <a:pt x="389" y="778"/>
                      </a:cubicBezTo>
                      <a:cubicBezTo>
                        <a:pt x="174" y="778"/>
                        <a:pt x="0" y="604"/>
                        <a:pt x="0" y="389"/>
                      </a:cubicBezTo>
                    </a:path>
                  </a:pathLst>
                </a:custGeom>
                <a:solidFill>
                  <a:srgbClr val="66FF99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73" name="Freeform 40"/>
                <p:cNvSpPr>
                  <a:spLocks/>
                </p:cNvSpPr>
                <p:nvPr/>
              </p:nvSpPr>
              <p:spPr bwMode="auto">
                <a:xfrm>
                  <a:off x="2895" y="1500"/>
                  <a:ext cx="293" cy="293"/>
                </a:xfrm>
                <a:custGeom>
                  <a:avLst/>
                  <a:gdLst>
                    <a:gd name="T0" fmla="*/ 0 w 293"/>
                    <a:gd name="T1" fmla="*/ 147 h 293"/>
                    <a:gd name="T2" fmla="*/ 147 w 293"/>
                    <a:gd name="T3" fmla="*/ 0 h 293"/>
                    <a:gd name="T4" fmla="*/ 293 w 293"/>
                    <a:gd name="T5" fmla="*/ 147 h 293"/>
                    <a:gd name="T6" fmla="*/ 293 w 293"/>
                    <a:gd name="T7" fmla="*/ 147 h 293"/>
                    <a:gd name="T8" fmla="*/ 147 w 293"/>
                    <a:gd name="T9" fmla="*/ 293 h 293"/>
                    <a:gd name="T10" fmla="*/ 0 w 293"/>
                    <a:gd name="T11" fmla="*/ 147 h 29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93"/>
                    <a:gd name="T19" fmla="*/ 0 h 293"/>
                    <a:gd name="T20" fmla="*/ 293 w 293"/>
                    <a:gd name="T21" fmla="*/ 293 h 29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93" h="293">
                      <a:moveTo>
                        <a:pt x="0" y="147"/>
                      </a:moveTo>
                      <a:cubicBezTo>
                        <a:pt x="0" y="66"/>
                        <a:pt x="66" y="0"/>
                        <a:pt x="147" y="0"/>
                      </a:cubicBezTo>
                      <a:cubicBezTo>
                        <a:pt x="228" y="0"/>
                        <a:pt x="293" y="66"/>
                        <a:pt x="293" y="147"/>
                      </a:cubicBezTo>
                      <a:cubicBezTo>
                        <a:pt x="293" y="147"/>
                        <a:pt x="293" y="147"/>
                        <a:pt x="293" y="147"/>
                      </a:cubicBezTo>
                      <a:cubicBezTo>
                        <a:pt x="293" y="228"/>
                        <a:pt x="228" y="293"/>
                        <a:pt x="147" y="293"/>
                      </a:cubicBezTo>
                      <a:cubicBezTo>
                        <a:pt x="66" y="293"/>
                        <a:pt x="0" y="228"/>
                        <a:pt x="0" y="147"/>
                      </a:cubicBezTo>
                    </a:path>
                  </a:pathLst>
                </a:custGeom>
                <a:noFill/>
                <a:ln w="3175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74" name="Rectangle 41"/>
                <p:cNvSpPr>
                  <a:spLocks noChangeArrowheads="1"/>
                </p:cNvSpPr>
                <p:nvPr/>
              </p:nvSpPr>
              <p:spPr bwMode="auto">
                <a:xfrm>
                  <a:off x="3001" y="1488"/>
                  <a:ext cx="99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/>
                <a:p>
                  <a:r>
                    <a:rPr lang="en-US" sz="2800" i="1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c</a:t>
                  </a:r>
                  <a:endParaRPr lang="en-US">
                    <a:latin typeface="Times New Roman" charset="0"/>
                    <a:cs typeface="Arial" charset="0"/>
                  </a:endParaRPr>
                </a:p>
              </p:txBody>
            </p:sp>
          </p:grpSp>
          <p:grpSp>
            <p:nvGrpSpPr>
              <p:cNvPr id="35960" name="Group 42"/>
              <p:cNvGrpSpPr>
                <a:grpSpLocks/>
              </p:cNvGrpSpPr>
              <p:nvPr/>
            </p:nvGrpSpPr>
            <p:grpSpPr bwMode="auto">
              <a:xfrm>
                <a:off x="4009" y="2982"/>
                <a:ext cx="167" cy="202"/>
                <a:chOff x="3087" y="2784"/>
                <a:chExt cx="167" cy="202"/>
              </a:xfrm>
            </p:grpSpPr>
            <p:sp>
              <p:nvSpPr>
                <p:cNvPr id="35969" name="Rectangle 43"/>
                <p:cNvSpPr>
                  <a:spLocks noChangeArrowheads="1"/>
                </p:cNvSpPr>
                <p:nvPr/>
              </p:nvSpPr>
              <p:spPr bwMode="auto">
                <a:xfrm>
                  <a:off x="3087" y="2809"/>
                  <a:ext cx="167" cy="168"/>
                </a:xfrm>
                <a:prstGeom prst="rect">
                  <a:avLst/>
                </a:prstGeom>
                <a:solidFill>
                  <a:srgbClr val="339966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70" name="Rectangle 44"/>
                <p:cNvSpPr>
                  <a:spLocks noChangeArrowheads="1"/>
                </p:cNvSpPr>
                <p:nvPr/>
              </p:nvSpPr>
              <p:spPr bwMode="auto">
                <a:xfrm>
                  <a:off x="3087" y="2809"/>
                  <a:ext cx="167" cy="168"/>
                </a:xfrm>
                <a:prstGeom prst="rect">
                  <a:avLst/>
                </a:prstGeom>
                <a:noFill/>
                <a:ln w="3175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71" name="Rectangle 45"/>
                <p:cNvSpPr>
                  <a:spLocks noChangeArrowheads="1"/>
                </p:cNvSpPr>
                <p:nvPr/>
              </p:nvSpPr>
              <p:spPr bwMode="auto">
                <a:xfrm>
                  <a:off x="3120" y="2784"/>
                  <a:ext cx="84" cy="2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/>
                <a:p>
                  <a:r>
                    <a:rPr lang="en-US" sz="2100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1</a:t>
                  </a:r>
                  <a:endParaRPr lang="en-US">
                    <a:latin typeface="Times New Roman" charset="0"/>
                    <a:cs typeface="Arial" charset="0"/>
                  </a:endParaRPr>
                </a:p>
              </p:txBody>
            </p:sp>
          </p:grpSp>
          <p:sp>
            <p:nvSpPr>
              <p:cNvPr id="35961" name="Freeform 46"/>
              <p:cNvSpPr>
                <a:spLocks/>
              </p:cNvSpPr>
              <p:nvPr/>
            </p:nvSpPr>
            <p:spPr bwMode="auto">
              <a:xfrm>
                <a:off x="3936" y="2800"/>
                <a:ext cx="160" cy="208"/>
              </a:xfrm>
              <a:custGeom>
                <a:avLst/>
                <a:gdLst>
                  <a:gd name="T0" fmla="*/ 0 w 160"/>
                  <a:gd name="T1" fmla="*/ 0 h 208"/>
                  <a:gd name="T2" fmla="*/ 160 w 160"/>
                  <a:gd name="T3" fmla="*/ 208 h 208"/>
                  <a:gd name="T4" fmla="*/ 0 60000 65536"/>
                  <a:gd name="T5" fmla="*/ 0 60000 65536"/>
                  <a:gd name="T6" fmla="*/ 0 w 160"/>
                  <a:gd name="T7" fmla="*/ 0 h 208"/>
                  <a:gd name="T8" fmla="*/ 160 w 160"/>
                  <a:gd name="T9" fmla="*/ 208 h 20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0" h="208">
                    <a:moveTo>
                      <a:pt x="0" y="0"/>
                    </a:moveTo>
                    <a:lnTo>
                      <a:pt x="160" y="208"/>
                    </a:lnTo>
                  </a:path>
                </a:pathLst>
              </a:custGeom>
              <a:noFill/>
              <a:ln w="50800">
                <a:solidFill>
                  <a:schemeClr val="accent2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grpSp>
            <p:nvGrpSpPr>
              <p:cNvPr id="35962" name="Group 47"/>
              <p:cNvGrpSpPr>
                <a:grpSpLocks/>
              </p:cNvGrpSpPr>
              <p:nvPr/>
            </p:nvGrpSpPr>
            <p:grpSpPr bwMode="auto">
              <a:xfrm>
                <a:off x="3504" y="2982"/>
                <a:ext cx="167" cy="202"/>
                <a:chOff x="3087" y="2784"/>
                <a:chExt cx="167" cy="202"/>
              </a:xfrm>
            </p:grpSpPr>
            <p:sp>
              <p:nvSpPr>
                <p:cNvPr id="35966" name="Rectangle 48"/>
                <p:cNvSpPr>
                  <a:spLocks noChangeArrowheads="1"/>
                </p:cNvSpPr>
                <p:nvPr/>
              </p:nvSpPr>
              <p:spPr bwMode="auto">
                <a:xfrm>
                  <a:off x="3087" y="2809"/>
                  <a:ext cx="167" cy="168"/>
                </a:xfrm>
                <a:prstGeom prst="rect">
                  <a:avLst/>
                </a:prstGeom>
                <a:solidFill>
                  <a:srgbClr val="339966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67" name="Rectangle 49"/>
                <p:cNvSpPr>
                  <a:spLocks noChangeArrowheads="1"/>
                </p:cNvSpPr>
                <p:nvPr/>
              </p:nvSpPr>
              <p:spPr bwMode="auto">
                <a:xfrm>
                  <a:off x="3087" y="2809"/>
                  <a:ext cx="167" cy="168"/>
                </a:xfrm>
                <a:prstGeom prst="rect">
                  <a:avLst/>
                </a:prstGeom>
                <a:noFill/>
                <a:ln w="3175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68" name="Rectangle 50"/>
                <p:cNvSpPr>
                  <a:spLocks noChangeArrowheads="1"/>
                </p:cNvSpPr>
                <p:nvPr/>
              </p:nvSpPr>
              <p:spPr bwMode="auto">
                <a:xfrm>
                  <a:off x="3120" y="2784"/>
                  <a:ext cx="84" cy="2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/>
                <a:p>
                  <a:r>
                    <a:rPr lang="en-US" sz="2100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0</a:t>
                  </a:r>
                  <a:endParaRPr lang="en-US">
                    <a:latin typeface="Times New Roman" charset="0"/>
                    <a:cs typeface="Arial" charset="0"/>
                  </a:endParaRPr>
                </a:p>
              </p:txBody>
            </p:sp>
          </p:grpSp>
          <p:sp>
            <p:nvSpPr>
              <p:cNvPr id="35963" name="Freeform 51"/>
              <p:cNvSpPr>
                <a:spLocks/>
              </p:cNvSpPr>
              <p:nvPr/>
            </p:nvSpPr>
            <p:spPr bwMode="auto">
              <a:xfrm flipH="1">
                <a:off x="3584" y="2800"/>
                <a:ext cx="160" cy="208"/>
              </a:xfrm>
              <a:custGeom>
                <a:avLst/>
                <a:gdLst>
                  <a:gd name="T0" fmla="*/ 0 w 160"/>
                  <a:gd name="T1" fmla="*/ 0 h 208"/>
                  <a:gd name="T2" fmla="*/ 160 w 160"/>
                  <a:gd name="T3" fmla="*/ 208 h 208"/>
                  <a:gd name="T4" fmla="*/ 0 60000 65536"/>
                  <a:gd name="T5" fmla="*/ 0 60000 65536"/>
                  <a:gd name="T6" fmla="*/ 0 w 160"/>
                  <a:gd name="T7" fmla="*/ 0 h 208"/>
                  <a:gd name="T8" fmla="*/ 160 w 160"/>
                  <a:gd name="T9" fmla="*/ 208 h 20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0" h="208">
                    <a:moveTo>
                      <a:pt x="0" y="0"/>
                    </a:moveTo>
                    <a:lnTo>
                      <a:pt x="160" y="208"/>
                    </a:lnTo>
                  </a:path>
                </a:pathLst>
              </a:custGeom>
              <a:noFill/>
              <a:ln w="50800">
                <a:solidFill>
                  <a:srgbClr val="333399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5964" name="Rectangle 52"/>
              <p:cNvSpPr>
                <a:spLocks noChangeArrowheads="1"/>
              </p:cNvSpPr>
              <p:nvPr/>
            </p:nvSpPr>
            <p:spPr bwMode="auto">
              <a:xfrm>
                <a:off x="3600" y="2704"/>
                <a:ext cx="62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cs typeface="Arial" charset="0"/>
                  </a:rPr>
                  <a:t>0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  <p:sp>
            <p:nvSpPr>
              <p:cNvPr id="35965" name="Rectangle 53"/>
              <p:cNvSpPr>
                <a:spLocks noChangeArrowheads="1"/>
              </p:cNvSpPr>
              <p:nvPr/>
            </p:nvSpPr>
            <p:spPr bwMode="auto">
              <a:xfrm>
                <a:off x="3984" y="2704"/>
                <a:ext cx="62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cs typeface="Arial" charset="0"/>
                  </a:rPr>
                  <a:t>1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</p:grpSp>
      <p:grpSp>
        <p:nvGrpSpPr>
          <p:cNvPr id="35845" name="Group 54"/>
          <p:cNvGrpSpPr>
            <a:grpSpLocks/>
          </p:cNvGrpSpPr>
          <p:nvPr/>
        </p:nvGrpSpPr>
        <p:grpSpPr bwMode="auto">
          <a:xfrm>
            <a:off x="609600" y="2133600"/>
            <a:ext cx="4191000" cy="2768600"/>
            <a:chOff x="2112" y="1584"/>
            <a:chExt cx="2640" cy="1744"/>
          </a:xfrm>
        </p:grpSpPr>
        <p:sp>
          <p:nvSpPr>
            <p:cNvPr id="35848" name="Rectangle 55"/>
            <p:cNvSpPr>
              <a:spLocks noChangeArrowheads="1"/>
            </p:cNvSpPr>
            <p:nvPr/>
          </p:nvSpPr>
          <p:spPr bwMode="auto">
            <a:xfrm>
              <a:off x="3168" y="1917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35849" name="Rectangle 56"/>
            <p:cNvSpPr>
              <a:spLocks noChangeArrowheads="1"/>
            </p:cNvSpPr>
            <p:nvPr/>
          </p:nvSpPr>
          <p:spPr bwMode="auto">
            <a:xfrm>
              <a:off x="3586" y="1917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35850" name="Line 57"/>
            <p:cNvSpPr>
              <a:spLocks noChangeShapeType="1"/>
            </p:cNvSpPr>
            <p:nvPr/>
          </p:nvSpPr>
          <p:spPr bwMode="auto">
            <a:xfrm flipH="1">
              <a:off x="2928" y="2032"/>
              <a:ext cx="384" cy="240"/>
            </a:xfrm>
            <a:prstGeom prst="line">
              <a:avLst/>
            </a:pr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5851" name="Line 58"/>
            <p:cNvSpPr>
              <a:spLocks noChangeShapeType="1"/>
            </p:cNvSpPr>
            <p:nvPr/>
          </p:nvSpPr>
          <p:spPr bwMode="auto">
            <a:xfrm>
              <a:off x="3504" y="2032"/>
              <a:ext cx="432" cy="24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35852" name="Group 59"/>
            <p:cNvGrpSpPr>
              <a:grpSpLocks/>
            </p:cNvGrpSpPr>
            <p:nvPr/>
          </p:nvGrpSpPr>
          <p:grpSpPr bwMode="auto">
            <a:xfrm>
              <a:off x="3279" y="1775"/>
              <a:ext cx="293" cy="305"/>
              <a:chOff x="2895" y="1488"/>
              <a:chExt cx="293" cy="305"/>
            </a:xfrm>
          </p:grpSpPr>
          <p:sp>
            <p:nvSpPr>
              <p:cNvPr id="35934" name="Freeform 60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35" name="Freeform 61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36" name="Rectangle 62"/>
              <p:cNvSpPr>
                <a:spLocks noChangeArrowheads="1"/>
              </p:cNvSpPr>
              <p:nvPr/>
            </p:nvSpPr>
            <p:spPr bwMode="auto">
              <a:xfrm>
                <a:off x="2995" y="1488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a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grpSp>
          <p:nvGrpSpPr>
            <p:cNvPr id="35853" name="Group 63"/>
            <p:cNvGrpSpPr>
              <a:grpSpLocks/>
            </p:cNvGrpSpPr>
            <p:nvPr/>
          </p:nvGrpSpPr>
          <p:grpSpPr bwMode="auto">
            <a:xfrm>
              <a:off x="3817" y="3126"/>
              <a:ext cx="167" cy="202"/>
              <a:chOff x="3087" y="2784"/>
              <a:chExt cx="167" cy="202"/>
            </a:xfrm>
          </p:grpSpPr>
          <p:sp>
            <p:nvSpPr>
              <p:cNvPr id="35931" name="Rectangle 64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32" name="Rectangle 65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33" name="Rectangle 66"/>
              <p:cNvSpPr>
                <a:spLocks noChangeArrowheads="1"/>
              </p:cNvSpPr>
              <p:nvPr/>
            </p:nvSpPr>
            <p:spPr bwMode="auto">
              <a:xfrm>
                <a:off x="3120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1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35854" name="Freeform 67"/>
            <p:cNvSpPr>
              <a:spLocks/>
            </p:cNvSpPr>
            <p:nvPr/>
          </p:nvSpPr>
          <p:spPr bwMode="auto">
            <a:xfrm>
              <a:off x="3744" y="2944"/>
              <a:ext cx="160" cy="208"/>
            </a:xfrm>
            <a:custGeom>
              <a:avLst/>
              <a:gdLst>
                <a:gd name="T0" fmla="*/ 0 w 160"/>
                <a:gd name="T1" fmla="*/ 0 h 208"/>
                <a:gd name="T2" fmla="*/ 160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5855" name="Freeform 68"/>
            <p:cNvSpPr>
              <a:spLocks/>
            </p:cNvSpPr>
            <p:nvPr/>
          </p:nvSpPr>
          <p:spPr bwMode="auto">
            <a:xfrm flipH="1">
              <a:off x="3504" y="2944"/>
              <a:ext cx="64" cy="208"/>
            </a:xfrm>
            <a:custGeom>
              <a:avLst/>
              <a:gdLst>
                <a:gd name="T0" fmla="*/ 0 w 160"/>
                <a:gd name="T1" fmla="*/ 0 h 208"/>
                <a:gd name="T2" fmla="*/ 64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35856" name="Group 69"/>
            <p:cNvGrpSpPr>
              <a:grpSpLocks/>
            </p:cNvGrpSpPr>
            <p:nvPr/>
          </p:nvGrpSpPr>
          <p:grpSpPr bwMode="auto">
            <a:xfrm>
              <a:off x="3456" y="3126"/>
              <a:ext cx="167" cy="202"/>
              <a:chOff x="3087" y="2784"/>
              <a:chExt cx="167" cy="202"/>
            </a:xfrm>
          </p:grpSpPr>
          <p:sp>
            <p:nvSpPr>
              <p:cNvPr id="35928" name="Rectangle 70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29" name="Rectangle 71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30" name="Rectangle 72"/>
              <p:cNvSpPr>
                <a:spLocks noChangeArrowheads="1"/>
              </p:cNvSpPr>
              <p:nvPr/>
            </p:nvSpPr>
            <p:spPr bwMode="auto">
              <a:xfrm>
                <a:off x="3120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0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35857" name="Rectangle 73"/>
            <p:cNvSpPr>
              <a:spLocks noChangeArrowheads="1"/>
            </p:cNvSpPr>
            <p:nvPr/>
          </p:nvSpPr>
          <p:spPr bwMode="auto">
            <a:xfrm>
              <a:off x="3787" y="2416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35858" name="Rectangle 74"/>
            <p:cNvSpPr>
              <a:spLocks noChangeArrowheads="1"/>
            </p:cNvSpPr>
            <p:nvPr/>
          </p:nvSpPr>
          <p:spPr bwMode="auto">
            <a:xfrm>
              <a:off x="4205" y="2416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grpSp>
          <p:nvGrpSpPr>
            <p:cNvPr id="35859" name="Group 75"/>
            <p:cNvGrpSpPr>
              <a:grpSpLocks/>
            </p:cNvGrpSpPr>
            <p:nvPr/>
          </p:nvGrpSpPr>
          <p:grpSpPr bwMode="auto">
            <a:xfrm>
              <a:off x="3499" y="2675"/>
              <a:ext cx="293" cy="305"/>
              <a:chOff x="2895" y="1488"/>
              <a:chExt cx="293" cy="305"/>
            </a:xfrm>
          </p:grpSpPr>
          <p:sp>
            <p:nvSpPr>
              <p:cNvPr id="35925" name="Freeform 76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26" name="Freeform 77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27" name="Rectangle 78"/>
              <p:cNvSpPr>
                <a:spLocks noChangeArrowheads="1"/>
              </p:cNvSpPr>
              <p:nvPr/>
            </p:nvSpPr>
            <p:spPr bwMode="auto">
              <a:xfrm>
                <a:off x="3001" y="1488"/>
                <a:ext cx="99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c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grpSp>
          <p:nvGrpSpPr>
            <p:cNvPr id="35860" name="Group 79"/>
            <p:cNvGrpSpPr>
              <a:grpSpLocks/>
            </p:cNvGrpSpPr>
            <p:nvPr/>
          </p:nvGrpSpPr>
          <p:grpSpPr bwMode="auto">
            <a:xfrm>
              <a:off x="4267" y="2675"/>
              <a:ext cx="293" cy="305"/>
              <a:chOff x="2895" y="1488"/>
              <a:chExt cx="293" cy="305"/>
            </a:xfrm>
          </p:grpSpPr>
          <p:sp>
            <p:nvSpPr>
              <p:cNvPr id="35922" name="Freeform 80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23" name="Freeform 81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24" name="Rectangle 82"/>
              <p:cNvSpPr>
                <a:spLocks noChangeArrowheads="1"/>
              </p:cNvSpPr>
              <p:nvPr/>
            </p:nvSpPr>
            <p:spPr bwMode="auto">
              <a:xfrm>
                <a:off x="3001" y="1488"/>
                <a:ext cx="99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c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35861" name="Line 83"/>
            <p:cNvSpPr>
              <a:spLocks noChangeShapeType="1"/>
            </p:cNvSpPr>
            <p:nvPr/>
          </p:nvSpPr>
          <p:spPr bwMode="auto">
            <a:xfrm flipH="1">
              <a:off x="3739" y="2483"/>
              <a:ext cx="192" cy="240"/>
            </a:xfrm>
            <a:prstGeom prst="line">
              <a:avLst/>
            </a:pr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5862" name="Line 84"/>
            <p:cNvSpPr>
              <a:spLocks noChangeShapeType="1"/>
            </p:cNvSpPr>
            <p:nvPr/>
          </p:nvSpPr>
          <p:spPr bwMode="auto">
            <a:xfrm>
              <a:off x="4123" y="2483"/>
              <a:ext cx="192" cy="24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grpSp>
          <p:nvGrpSpPr>
            <p:cNvPr id="35863" name="Group 85"/>
            <p:cNvGrpSpPr>
              <a:grpSpLocks/>
            </p:cNvGrpSpPr>
            <p:nvPr/>
          </p:nvGrpSpPr>
          <p:grpSpPr bwMode="auto">
            <a:xfrm flipH="1">
              <a:off x="2880" y="3126"/>
              <a:ext cx="167" cy="202"/>
              <a:chOff x="3087" y="2784"/>
              <a:chExt cx="167" cy="202"/>
            </a:xfrm>
          </p:grpSpPr>
          <p:sp>
            <p:nvSpPr>
              <p:cNvPr id="35919" name="Rectangle 86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20" name="Rectangle 87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21" name="Rectangle 88"/>
              <p:cNvSpPr>
                <a:spLocks noChangeArrowheads="1"/>
              </p:cNvSpPr>
              <p:nvPr/>
            </p:nvSpPr>
            <p:spPr bwMode="auto">
              <a:xfrm>
                <a:off x="3120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0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35864" name="Freeform 89"/>
            <p:cNvSpPr>
              <a:spLocks/>
            </p:cNvSpPr>
            <p:nvPr/>
          </p:nvSpPr>
          <p:spPr bwMode="auto">
            <a:xfrm flipH="1">
              <a:off x="2960" y="2944"/>
              <a:ext cx="160" cy="208"/>
            </a:xfrm>
            <a:custGeom>
              <a:avLst/>
              <a:gdLst>
                <a:gd name="T0" fmla="*/ 0 w 160"/>
                <a:gd name="T1" fmla="*/ 0 h 208"/>
                <a:gd name="T2" fmla="*/ 160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5865" name="Freeform 90"/>
            <p:cNvSpPr>
              <a:spLocks/>
            </p:cNvSpPr>
            <p:nvPr/>
          </p:nvSpPr>
          <p:spPr bwMode="auto">
            <a:xfrm>
              <a:off x="3296" y="2944"/>
              <a:ext cx="64" cy="208"/>
            </a:xfrm>
            <a:custGeom>
              <a:avLst/>
              <a:gdLst>
                <a:gd name="T0" fmla="*/ 0 w 160"/>
                <a:gd name="T1" fmla="*/ 0 h 208"/>
                <a:gd name="T2" fmla="*/ 64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35866" name="Group 91"/>
            <p:cNvGrpSpPr>
              <a:grpSpLocks/>
            </p:cNvGrpSpPr>
            <p:nvPr/>
          </p:nvGrpSpPr>
          <p:grpSpPr bwMode="auto">
            <a:xfrm flipH="1">
              <a:off x="3241" y="3126"/>
              <a:ext cx="167" cy="202"/>
              <a:chOff x="3087" y="2784"/>
              <a:chExt cx="167" cy="202"/>
            </a:xfrm>
          </p:grpSpPr>
          <p:sp>
            <p:nvSpPr>
              <p:cNvPr id="35916" name="Rectangle 92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17" name="Rectangle 93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18" name="Rectangle 94"/>
              <p:cNvSpPr>
                <a:spLocks noChangeArrowheads="1"/>
              </p:cNvSpPr>
              <p:nvPr/>
            </p:nvSpPr>
            <p:spPr bwMode="auto">
              <a:xfrm>
                <a:off x="3137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1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35867" name="Rectangle 95"/>
            <p:cNvSpPr>
              <a:spLocks noChangeArrowheads="1"/>
            </p:cNvSpPr>
            <p:nvPr/>
          </p:nvSpPr>
          <p:spPr bwMode="auto">
            <a:xfrm>
              <a:off x="2592" y="2416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35868" name="Rectangle 96"/>
            <p:cNvSpPr>
              <a:spLocks noChangeArrowheads="1"/>
            </p:cNvSpPr>
            <p:nvPr/>
          </p:nvSpPr>
          <p:spPr bwMode="auto">
            <a:xfrm>
              <a:off x="3010" y="2416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grpSp>
          <p:nvGrpSpPr>
            <p:cNvPr id="35869" name="Group 97"/>
            <p:cNvGrpSpPr>
              <a:grpSpLocks/>
            </p:cNvGrpSpPr>
            <p:nvPr/>
          </p:nvGrpSpPr>
          <p:grpSpPr bwMode="auto">
            <a:xfrm>
              <a:off x="2304" y="2675"/>
              <a:ext cx="293" cy="305"/>
              <a:chOff x="2895" y="1488"/>
              <a:chExt cx="293" cy="305"/>
            </a:xfrm>
          </p:grpSpPr>
          <p:sp>
            <p:nvSpPr>
              <p:cNvPr id="35913" name="Freeform 98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14" name="Freeform 99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15" name="Rectangle 100"/>
              <p:cNvSpPr>
                <a:spLocks noChangeArrowheads="1"/>
              </p:cNvSpPr>
              <p:nvPr/>
            </p:nvSpPr>
            <p:spPr bwMode="auto">
              <a:xfrm>
                <a:off x="3001" y="1488"/>
                <a:ext cx="99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c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grpSp>
          <p:nvGrpSpPr>
            <p:cNvPr id="35870" name="Group 101"/>
            <p:cNvGrpSpPr>
              <a:grpSpLocks/>
            </p:cNvGrpSpPr>
            <p:nvPr/>
          </p:nvGrpSpPr>
          <p:grpSpPr bwMode="auto">
            <a:xfrm>
              <a:off x="3072" y="2675"/>
              <a:ext cx="293" cy="305"/>
              <a:chOff x="2895" y="1488"/>
              <a:chExt cx="293" cy="305"/>
            </a:xfrm>
          </p:grpSpPr>
          <p:sp>
            <p:nvSpPr>
              <p:cNvPr id="35910" name="Freeform 102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11" name="Freeform 103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12" name="Rectangle 104"/>
              <p:cNvSpPr>
                <a:spLocks noChangeArrowheads="1"/>
              </p:cNvSpPr>
              <p:nvPr/>
            </p:nvSpPr>
            <p:spPr bwMode="auto">
              <a:xfrm>
                <a:off x="3001" y="1488"/>
                <a:ext cx="99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c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35871" name="Line 105"/>
            <p:cNvSpPr>
              <a:spLocks noChangeShapeType="1"/>
            </p:cNvSpPr>
            <p:nvPr/>
          </p:nvSpPr>
          <p:spPr bwMode="auto">
            <a:xfrm flipH="1">
              <a:off x="2544" y="2483"/>
              <a:ext cx="192" cy="240"/>
            </a:xfrm>
            <a:prstGeom prst="line">
              <a:avLst/>
            </a:pr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5872" name="Line 106"/>
            <p:cNvSpPr>
              <a:spLocks noChangeShapeType="1"/>
            </p:cNvSpPr>
            <p:nvPr/>
          </p:nvSpPr>
          <p:spPr bwMode="auto">
            <a:xfrm>
              <a:off x="2928" y="2483"/>
              <a:ext cx="192" cy="24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5873" name="Freeform 107"/>
            <p:cNvSpPr>
              <a:spLocks/>
            </p:cNvSpPr>
            <p:nvPr/>
          </p:nvSpPr>
          <p:spPr bwMode="auto">
            <a:xfrm flipH="1">
              <a:off x="3456" y="1584"/>
              <a:ext cx="64" cy="208"/>
            </a:xfrm>
            <a:custGeom>
              <a:avLst/>
              <a:gdLst>
                <a:gd name="T0" fmla="*/ 0 w 160"/>
                <a:gd name="T1" fmla="*/ 0 h 208"/>
                <a:gd name="T2" fmla="*/ 64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66FF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35874" name="Group 108"/>
            <p:cNvGrpSpPr>
              <a:grpSpLocks/>
            </p:cNvGrpSpPr>
            <p:nvPr/>
          </p:nvGrpSpPr>
          <p:grpSpPr bwMode="auto">
            <a:xfrm>
              <a:off x="3883" y="2224"/>
              <a:ext cx="293" cy="305"/>
              <a:chOff x="3499" y="1920"/>
              <a:chExt cx="293" cy="305"/>
            </a:xfrm>
          </p:grpSpPr>
          <p:sp>
            <p:nvSpPr>
              <p:cNvPr id="35907" name="Freeform 109"/>
              <p:cNvSpPr>
                <a:spLocks/>
              </p:cNvSpPr>
              <p:nvPr/>
            </p:nvSpPr>
            <p:spPr bwMode="auto">
              <a:xfrm>
                <a:off x="3499" y="1932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08" name="Freeform 110"/>
              <p:cNvSpPr>
                <a:spLocks/>
              </p:cNvSpPr>
              <p:nvPr/>
            </p:nvSpPr>
            <p:spPr bwMode="auto">
              <a:xfrm>
                <a:off x="3499" y="1932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09" name="Rectangle 111"/>
              <p:cNvSpPr>
                <a:spLocks noChangeArrowheads="1"/>
              </p:cNvSpPr>
              <p:nvPr/>
            </p:nvSpPr>
            <p:spPr bwMode="auto">
              <a:xfrm>
                <a:off x="3599" y="1920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b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grpSp>
          <p:nvGrpSpPr>
            <p:cNvPr id="35875" name="Group 112"/>
            <p:cNvGrpSpPr>
              <a:grpSpLocks/>
            </p:cNvGrpSpPr>
            <p:nvPr/>
          </p:nvGrpSpPr>
          <p:grpSpPr bwMode="auto">
            <a:xfrm>
              <a:off x="2688" y="2224"/>
              <a:ext cx="293" cy="305"/>
              <a:chOff x="2895" y="1488"/>
              <a:chExt cx="293" cy="305"/>
            </a:xfrm>
          </p:grpSpPr>
          <p:sp>
            <p:nvSpPr>
              <p:cNvPr id="35904" name="Freeform 113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05" name="Freeform 114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06" name="Rectangle 115"/>
              <p:cNvSpPr>
                <a:spLocks noChangeArrowheads="1"/>
              </p:cNvSpPr>
              <p:nvPr/>
            </p:nvSpPr>
            <p:spPr bwMode="auto">
              <a:xfrm>
                <a:off x="2995" y="1488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b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grpSp>
          <p:nvGrpSpPr>
            <p:cNvPr id="35876" name="Group 116"/>
            <p:cNvGrpSpPr>
              <a:grpSpLocks/>
            </p:cNvGrpSpPr>
            <p:nvPr/>
          </p:nvGrpSpPr>
          <p:grpSpPr bwMode="auto">
            <a:xfrm>
              <a:off x="4585" y="3126"/>
              <a:ext cx="167" cy="202"/>
              <a:chOff x="3087" y="2784"/>
              <a:chExt cx="167" cy="202"/>
            </a:xfrm>
          </p:grpSpPr>
          <p:sp>
            <p:nvSpPr>
              <p:cNvPr id="35901" name="Rectangle 117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02" name="Rectangle 118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03" name="Rectangle 119"/>
              <p:cNvSpPr>
                <a:spLocks noChangeArrowheads="1"/>
              </p:cNvSpPr>
              <p:nvPr/>
            </p:nvSpPr>
            <p:spPr bwMode="auto">
              <a:xfrm>
                <a:off x="3120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1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35877" name="Freeform 120"/>
            <p:cNvSpPr>
              <a:spLocks/>
            </p:cNvSpPr>
            <p:nvPr/>
          </p:nvSpPr>
          <p:spPr bwMode="auto">
            <a:xfrm>
              <a:off x="4512" y="2944"/>
              <a:ext cx="160" cy="208"/>
            </a:xfrm>
            <a:custGeom>
              <a:avLst/>
              <a:gdLst>
                <a:gd name="T0" fmla="*/ 0 w 160"/>
                <a:gd name="T1" fmla="*/ 0 h 208"/>
                <a:gd name="T2" fmla="*/ 160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35878" name="Group 121"/>
            <p:cNvGrpSpPr>
              <a:grpSpLocks/>
            </p:cNvGrpSpPr>
            <p:nvPr/>
          </p:nvGrpSpPr>
          <p:grpSpPr bwMode="auto">
            <a:xfrm>
              <a:off x="4080" y="3126"/>
              <a:ext cx="167" cy="202"/>
              <a:chOff x="3087" y="2784"/>
              <a:chExt cx="167" cy="202"/>
            </a:xfrm>
          </p:grpSpPr>
          <p:sp>
            <p:nvSpPr>
              <p:cNvPr id="35898" name="Rectangle 122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99" name="Rectangle 123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00" name="Rectangle 124"/>
              <p:cNvSpPr>
                <a:spLocks noChangeArrowheads="1"/>
              </p:cNvSpPr>
              <p:nvPr/>
            </p:nvSpPr>
            <p:spPr bwMode="auto">
              <a:xfrm>
                <a:off x="3120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0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35879" name="Freeform 125"/>
            <p:cNvSpPr>
              <a:spLocks/>
            </p:cNvSpPr>
            <p:nvPr/>
          </p:nvSpPr>
          <p:spPr bwMode="auto">
            <a:xfrm flipH="1">
              <a:off x="4160" y="2944"/>
              <a:ext cx="160" cy="208"/>
            </a:xfrm>
            <a:custGeom>
              <a:avLst/>
              <a:gdLst>
                <a:gd name="T0" fmla="*/ 0 w 160"/>
                <a:gd name="T1" fmla="*/ 0 h 208"/>
                <a:gd name="T2" fmla="*/ 160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35880" name="Group 126"/>
            <p:cNvGrpSpPr>
              <a:grpSpLocks/>
            </p:cNvGrpSpPr>
            <p:nvPr/>
          </p:nvGrpSpPr>
          <p:grpSpPr bwMode="auto">
            <a:xfrm>
              <a:off x="2617" y="3126"/>
              <a:ext cx="167" cy="202"/>
              <a:chOff x="3087" y="2784"/>
              <a:chExt cx="167" cy="202"/>
            </a:xfrm>
          </p:grpSpPr>
          <p:sp>
            <p:nvSpPr>
              <p:cNvPr id="35895" name="Rectangle 127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96" name="Rectangle 128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97" name="Rectangle 129"/>
              <p:cNvSpPr>
                <a:spLocks noChangeArrowheads="1"/>
              </p:cNvSpPr>
              <p:nvPr/>
            </p:nvSpPr>
            <p:spPr bwMode="auto">
              <a:xfrm>
                <a:off x="3120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0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35881" name="Freeform 130"/>
            <p:cNvSpPr>
              <a:spLocks/>
            </p:cNvSpPr>
            <p:nvPr/>
          </p:nvSpPr>
          <p:spPr bwMode="auto">
            <a:xfrm>
              <a:off x="2544" y="2944"/>
              <a:ext cx="160" cy="208"/>
            </a:xfrm>
            <a:custGeom>
              <a:avLst/>
              <a:gdLst>
                <a:gd name="T0" fmla="*/ 0 w 160"/>
                <a:gd name="T1" fmla="*/ 0 h 208"/>
                <a:gd name="T2" fmla="*/ 160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35882" name="Group 131"/>
            <p:cNvGrpSpPr>
              <a:grpSpLocks/>
            </p:cNvGrpSpPr>
            <p:nvPr/>
          </p:nvGrpSpPr>
          <p:grpSpPr bwMode="auto">
            <a:xfrm>
              <a:off x="2112" y="3126"/>
              <a:ext cx="167" cy="202"/>
              <a:chOff x="3087" y="2784"/>
              <a:chExt cx="167" cy="202"/>
            </a:xfrm>
          </p:grpSpPr>
          <p:sp>
            <p:nvSpPr>
              <p:cNvPr id="35892" name="Rectangle 132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93" name="Rectangle 133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94" name="Rectangle 134"/>
              <p:cNvSpPr>
                <a:spLocks noChangeArrowheads="1"/>
              </p:cNvSpPr>
              <p:nvPr/>
            </p:nvSpPr>
            <p:spPr bwMode="auto">
              <a:xfrm>
                <a:off x="3120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0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35883" name="Freeform 135"/>
            <p:cNvSpPr>
              <a:spLocks/>
            </p:cNvSpPr>
            <p:nvPr/>
          </p:nvSpPr>
          <p:spPr bwMode="auto">
            <a:xfrm flipH="1">
              <a:off x="2192" y="2944"/>
              <a:ext cx="160" cy="208"/>
            </a:xfrm>
            <a:custGeom>
              <a:avLst/>
              <a:gdLst>
                <a:gd name="T0" fmla="*/ 0 w 160"/>
                <a:gd name="T1" fmla="*/ 0 h 208"/>
                <a:gd name="T2" fmla="*/ 160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5884" name="Rectangle 136"/>
            <p:cNvSpPr>
              <a:spLocks noChangeArrowheads="1"/>
            </p:cNvSpPr>
            <p:nvPr/>
          </p:nvSpPr>
          <p:spPr bwMode="auto">
            <a:xfrm>
              <a:off x="2208" y="2848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35885" name="Rectangle 137"/>
            <p:cNvSpPr>
              <a:spLocks noChangeArrowheads="1"/>
            </p:cNvSpPr>
            <p:nvPr/>
          </p:nvSpPr>
          <p:spPr bwMode="auto">
            <a:xfrm>
              <a:off x="2592" y="2848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35886" name="Rectangle 138"/>
            <p:cNvSpPr>
              <a:spLocks noChangeArrowheads="1"/>
            </p:cNvSpPr>
            <p:nvPr/>
          </p:nvSpPr>
          <p:spPr bwMode="auto">
            <a:xfrm>
              <a:off x="4176" y="2848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35887" name="Rectangle 139"/>
            <p:cNvSpPr>
              <a:spLocks noChangeArrowheads="1"/>
            </p:cNvSpPr>
            <p:nvPr/>
          </p:nvSpPr>
          <p:spPr bwMode="auto">
            <a:xfrm>
              <a:off x="4560" y="2848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35888" name="Rectangle 140"/>
            <p:cNvSpPr>
              <a:spLocks noChangeArrowheads="1"/>
            </p:cNvSpPr>
            <p:nvPr/>
          </p:nvSpPr>
          <p:spPr bwMode="auto">
            <a:xfrm>
              <a:off x="2976" y="2848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35889" name="Rectangle 141"/>
            <p:cNvSpPr>
              <a:spLocks noChangeArrowheads="1"/>
            </p:cNvSpPr>
            <p:nvPr/>
          </p:nvSpPr>
          <p:spPr bwMode="auto">
            <a:xfrm>
              <a:off x="3346" y="2877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35890" name="Rectangle 142"/>
            <p:cNvSpPr>
              <a:spLocks noChangeArrowheads="1"/>
            </p:cNvSpPr>
            <p:nvPr/>
          </p:nvSpPr>
          <p:spPr bwMode="auto">
            <a:xfrm>
              <a:off x="3456" y="2877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35891" name="Rectangle 143"/>
            <p:cNvSpPr>
              <a:spLocks noChangeArrowheads="1"/>
            </p:cNvSpPr>
            <p:nvPr/>
          </p:nvSpPr>
          <p:spPr bwMode="auto">
            <a:xfrm>
              <a:off x="3792" y="2848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</p:grpSp>
      <p:sp>
        <p:nvSpPr>
          <p:cNvPr id="35846" name="Text Box 144"/>
          <p:cNvSpPr txBox="1">
            <a:spLocks noChangeArrowheads="1"/>
          </p:cNvSpPr>
          <p:nvPr/>
        </p:nvSpPr>
        <p:spPr bwMode="auto">
          <a:xfrm>
            <a:off x="1752600" y="5043488"/>
            <a:ext cx="9159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800" b="0">
                <a:latin typeface="Verdana" charset="0"/>
                <a:cs typeface="Arial" charset="0"/>
              </a:rPr>
              <a:t>before</a:t>
            </a:r>
          </a:p>
        </p:txBody>
      </p:sp>
      <p:sp>
        <p:nvSpPr>
          <p:cNvPr id="1367185" name="Text Box 145"/>
          <p:cNvSpPr txBox="1">
            <a:spLocks noChangeArrowheads="1"/>
          </p:cNvSpPr>
          <p:nvPr/>
        </p:nvSpPr>
        <p:spPr bwMode="auto">
          <a:xfrm>
            <a:off x="6894513" y="5029200"/>
            <a:ext cx="7254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800" b="0">
                <a:latin typeface="Verdana" charset="0"/>
                <a:cs typeface="Arial" charset="0"/>
              </a:rPr>
              <a:t>after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718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r>
              <a:rPr lang="en-US" sz="1400" b="0"/>
              <a:t>(c)  Giovanni De Micheli</a:t>
            </a:r>
          </a:p>
        </p:txBody>
      </p:sp>
      <p:sp>
        <p:nvSpPr>
          <p:cNvPr id="3789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C7AC07CD-127C-EB46-AEDE-8DB9CDB52410}" type="slidenum">
              <a:rPr lang="en-US" sz="1400" b="0"/>
              <a:pPr/>
              <a:t>15</a:t>
            </a:fld>
            <a:endParaRPr lang="en-US" sz="1400" b="0"/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>
          <a:xfrm>
            <a:off x="211138" y="-101600"/>
            <a:ext cx="9324975" cy="1333500"/>
          </a:xfrm>
        </p:spPr>
        <p:txBody>
          <a:bodyPr/>
          <a:lstStyle/>
          <a:p>
            <a:r>
              <a:rPr lang="en-US">
                <a:latin typeface="Arial Narrow" charset="0"/>
              </a:rPr>
              <a:t>2. Remove node with identical children</a:t>
            </a:r>
          </a:p>
        </p:txBody>
      </p:sp>
      <p:grpSp>
        <p:nvGrpSpPr>
          <p:cNvPr id="37892" name="Group 3"/>
          <p:cNvGrpSpPr>
            <a:grpSpLocks/>
          </p:cNvGrpSpPr>
          <p:nvPr/>
        </p:nvGrpSpPr>
        <p:grpSpPr bwMode="auto">
          <a:xfrm>
            <a:off x="515938" y="2209800"/>
            <a:ext cx="3370262" cy="2768600"/>
            <a:chOff x="1576" y="1440"/>
            <a:chExt cx="2123" cy="1744"/>
          </a:xfrm>
        </p:grpSpPr>
        <p:sp>
          <p:nvSpPr>
            <p:cNvPr id="37930" name="Rectangle 4"/>
            <p:cNvSpPr>
              <a:spLocks noChangeArrowheads="1"/>
            </p:cNvSpPr>
            <p:nvPr/>
          </p:nvSpPr>
          <p:spPr bwMode="auto">
            <a:xfrm>
              <a:off x="2592" y="1773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37931" name="Rectangle 5"/>
            <p:cNvSpPr>
              <a:spLocks noChangeArrowheads="1"/>
            </p:cNvSpPr>
            <p:nvPr/>
          </p:nvSpPr>
          <p:spPr bwMode="auto">
            <a:xfrm>
              <a:off x="3010" y="1773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37932" name="Line 6"/>
            <p:cNvSpPr>
              <a:spLocks noChangeShapeType="1"/>
            </p:cNvSpPr>
            <p:nvPr/>
          </p:nvSpPr>
          <p:spPr bwMode="auto">
            <a:xfrm flipH="1">
              <a:off x="2352" y="1888"/>
              <a:ext cx="384" cy="240"/>
            </a:xfrm>
            <a:prstGeom prst="line">
              <a:avLst/>
            </a:pr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7933" name="Line 7"/>
            <p:cNvSpPr>
              <a:spLocks noChangeShapeType="1"/>
            </p:cNvSpPr>
            <p:nvPr/>
          </p:nvSpPr>
          <p:spPr bwMode="auto">
            <a:xfrm>
              <a:off x="2928" y="1888"/>
              <a:ext cx="432" cy="24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37934" name="Group 8"/>
            <p:cNvGrpSpPr>
              <a:grpSpLocks/>
            </p:cNvGrpSpPr>
            <p:nvPr/>
          </p:nvGrpSpPr>
          <p:grpSpPr bwMode="auto">
            <a:xfrm>
              <a:off x="2703" y="1631"/>
              <a:ext cx="293" cy="305"/>
              <a:chOff x="2895" y="1488"/>
              <a:chExt cx="293" cy="305"/>
            </a:xfrm>
          </p:grpSpPr>
          <p:sp>
            <p:nvSpPr>
              <p:cNvPr id="37977" name="Freeform 9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978" name="Freeform 10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979" name="Rectangle 11"/>
              <p:cNvSpPr>
                <a:spLocks noChangeArrowheads="1"/>
              </p:cNvSpPr>
              <p:nvPr/>
            </p:nvSpPr>
            <p:spPr bwMode="auto">
              <a:xfrm>
                <a:off x="2995" y="1488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a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37935" name="Rectangle 12"/>
            <p:cNvSpPr>
              <a:spLocks noChangeArrowheads="1"/>
            </p:cNvSpPr>
            <p:nvPr/>
          </p:nvSpPr>
          <p:spPr bwMode="auto">
            <a:xfrm>
              <a:off x="3168" y="2256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37936" name="Rectangle 13"/>
            <p:cNvSpPr>
              <a:spLocks noChangeArrowheads="1"/>
            </p:cNvSpPr>
            <p:nvPr/>
          </p:nvSpPr>
          <p:spPr bwMode="auto">
            <a:xfrm>
              <a:off x="3629" y="2272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37937" name="Line 14"/>
            <p:cNvSpPr>
              <a:spLocks noChangeShapeType="1"/>
            </p:cNvSpPr>
            <p:nvPr/>
          </p:nvSpPr>
          <p:spPr bwMode="auto">
            <a:xfrm flipH="1">
              <a:off x="2976" y="2339"/>
              <a:ext cx="379" cy="253"/>
            </a:xfrm>
            <a:prstGeom prst="line">
              <a:avLst/>
            </a:pr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7938" name="Freeform 15"/>
            <p:cNvSpPr>
              <a:spLocks/>
            </p:cNvSpPr>
            <p:nvPr/>
          </p:nvSpPr>
          <p:spPr bwMode="auto">
            <a:xfrm>
              <a:off x="3024" y="2339"/>
              <a:ext cx="675" cy="301"/>
            </a:xfrm>
            <a:custGeom>
              <a:avLst/>
              <a:gdLst>
                <a:gd name="T0" fmla="*/ 524 w 674"/>
                <a:gd name="T1" fmla="*/ 0 h 301"/>
                <a:gd name="T2" fmla="*/ 588 w 674"/>
                <a:gd name="T3" fmla="*/ 247 h 301"/>
                <a:gd name="T4" fmla="*/ 0 w 674"/>
                <a:gd name="T5" fmla="*/ 301 h 301"/>
                <a:gd name="T6" fmla="*/ 0 60000 65536"/>
                <a:gd name="T7" fmla="*/ 0 60000 65536"/>
                <a:gd name="T8" fmla="*/ 0 60000 65536"/>
                <a:gd name="T9" fmla="*/ 0 w 674"/>
                <a:gd name="T10" fmla="*/ 0 h 301"/>
                <a:gd name="T11" fmla="*/ 674 w 674"/>
                <a:gd name="T12" fmla="*/ 301 h 30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74" h="301">
                  <a:moveTo>
                    <a:pt x="523" y="0"/>
                  </a:moveTo>
                  <a:cubicBezTo>
                    <a:pt x="534" y="41"/>
                    <a:pt x="674" y="197"/>
                    <a:pt x="587" y="247"/>
                  </a:cubicBezTo>
                  <a:cubicBezTo>
                    <a:pt x="500" y="297"/>
                    <a:pt x="122" y="290"/>
                    <a:pt x="0" y="301"/>
                  </a:cubicBez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7939" name="Rectangle 16"/>
            <p:cNvSpPr>
              <a:spLocks noChangeArrowheads="1"/>
            </p:cNvSpPr>
            <p:nvPr/>
          </p:nvSpPr>
          <p:spPr bwMode="auto">
            <a:xfrm>
              <a:off x="2016" y="2272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37940" name="Rectangle 17"/>
            <p:cNvSpPr>
              <a:spLocks noChangeArrowheads="1"/>
            </p:cNvSpPr>
            <p:nvPr/>
          </p:nvSpPr>
          <p:spPr bwMode="auto">
            <a:xfrm>
              <a:off x="2482" y="2256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grpSp>
          <p:nvGrpSpPr>
            <p:cNvPr id="37941" name="Group 18"/>
            <p:cNvGrpSpPr>
              <a:grpSpLocks/>
            </p:cNvGrpSpPr>
            <p:nvPr/>
          </p:nvGrpSpPr>
          <p:grpSpPr bwMode="auto">
            <a:xfrm>
              <a:off x="1728" y="2531"/>
              <a:ext cx="293" cy="305"/>
              <a:chOff x="2895" y="1488"/>
              <a:chExt cx="293" cy="305"/>
            </a:xfrm>
          </p:grpSpPr>
          <p:sp>
            <p:nvSpPr>
              <p:cNvPr id="37974" name="Freeform 19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975" name="Freeform 20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976" name="Rectangle 21"/>
              <p:cNvSpPr>
                <a:spLocks noChangeArrowheads="1"/>
              </p:cNvSpPr>
              <p:nvPr/>
            </p:nvSpPr>
            <p:spPr bwMode="auto">
              <a:xfrm>
                <a:off x="3001" y="1488"/>
                <a:ext cx="99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c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37942" name="Line 22"/>
            <p:cNvSpPr>
              <a:spLocks noChangeShapeType="1"/>
            </p:cNvSpPr>
            <p:nvPr/>
          </p:nvSpPr>
          <p:spPr bwMode="auto">
            <a:xfrm flipH="1">
              <a:off x="1968" y="2339"/>
              <a:ext cx="192" cy="240"/>
            </a:xfrm>
            <a:prstGeom prst="line">
              <a:avLst/>
            </a:pr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7943" name="Line 23"/>
            <p:cNvSpPr>
              <a:spLocks noChangeShapeType="1"/>
            </p:cNvSpPr>
            <p:nvPr/>
          </p:nvSpPr>
          <p:spPr bwMode="auto">
            <a:xfrm>
              <a:off x="2352" y="2339"/>
              <a:ext cx="432" cy="253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7944" name="Freeform 24"/>
            <p:cNvSpPr>
              <a:spLocks/>
            </p:cNvSpPr>
            <p:nvPr/>
          </p:nvSpPr>
          <p:spPr bwMode="auto">
            <a:xfrm flipH="1">
              <a:off x="2880" y="1440"/>
              <a:ext cx="64" cy="208"/>
            </a:xfrm>
            <a:custGeom>
              <a:avLst/>
              <a:gdLst>
                <a:gd name="T0" fmla="*/ 0 w 160"/>
                <a:gd name="T1" fmla="*/ 0 h 208"/>
                <a:gd name="T2" fmla="*/ 64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66FF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37945" name="Group 25"/>
            <p:cNvGrpSpPr>
              <a:grpSpLocks/>
            </p:cNvGrpSpPr>
            <p:nvPr/>
          </p:nvGrpSpPr>
          <p:grpSpPr bwMode="auto">
            <a:xfrm>
              <a:off x="3307" y="2080"/>
              <a:ext cx="293" cy="305"/>
              <a:chOff x="3499" y="1920"/>
              <a:chExt cx="293" cy="305"/>
            </a:xfrm>
          </p:grpSpPr>
          <p:sp>
            <p:nvSpPr>
              <p:cNvPr id="37971" name="Freeform 26"/>
              <p:cNvSpPr>
                <a:spLocks/>
              </p:cNvSpPr>
              <p:nvPr/>
            </p:nvSpPr>
            <p:spPr bwMode="auto">
              <a:xfrm>
                <a:off x="3499" y="1932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972" name="Freeform 27"/>
              <p:cNvSpPr>
                <a:spLocks/>
              </p:cNvSpPr>
              <p:nvPr/>
            </p:nvSpPr>
            <p:spPr bwMode="auto">
              <a:xfrm>
                <a:off x="3499" y="1932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973" name="Rectangle 28"/>
              <p:cNvSpPr>
                <a:spLocks noChangeArrowheads="1"/>
              </p:cNvSpPr>
              <p:nvPr/>
            </p:nvSpPr>
            <p:spPr bwMode="auto">
              <a:xfrm>
                <a:off x="3599" y="1920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b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grpSp>
          <p:nvGrpSpPr>
            <p:cNvPr id="37946" name="Group 29"/>
            <p:cNvGrpSpPr>
              <a:grpSpLocks/>
            </p:cNvGrpSpPr>
            <p:nvPr/>
          </p:nvGrpSpPr>
          <p:grpSpPr bwMode="auto">
            <a:xfrm>
              <a:off x="2112" y="2080"/>
              <a:ext cx="293" cy="305"/>
              <a:chOff x="2895" y="1488"/>
              <a:chExt cx="293" cy="305"/>
            </a:xfrm>
          </p:grpSpPr>
          <p:sp>
            <p:nvSpPr>
              <p:cNvPr id="37968" name="Freeform 30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969" name="Freeform 31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970" name="Rectangle 32"/>
              <p:cNvSpPr>
                <a:spLocks noChangeArrowheads="1"/>
              </p:cNvSpPr>
              <p:nvPr/>
            </p:nvSpPr>
            <p:spPr bwMode="auto">
              <a:xfrm>
                <a:off x="2995" y="1488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b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37947" name="Freeform 33"/>
            <p:cNvSpPr>
              <a:spLocks/>
            </p:cNvSpPr>
            <p:nvPr/>
          </p:nvSpPr>
          <p:spPr bwMode="auto">
            <a:xfrm>
              <a:off x="1968" y="2800"/>
              <a:ext cx="666" cy="194"/>
            </a:xfrm>
            <a:custGeom>
              <a:avLst/>
              <a:gdLst>
                <a:gd name="T0" fmla="*/ 0 w 666"/>
                <a:gd name="T1" fmla="*/ 0 h 194"/>
                <a:gd name="T2" fmla="*/ 666 w 666"/>
                <a:gd name="T3" fmla="*/ 194 h 194"/>
                <a:gd name="T4" fmla="*/ 0 60000 65536"/>
                <a:gd name="T5" fmla="*/ 0 60000 65536"/>
                <a:gd name="T6" fmla="*/ 0 w 666"/>
                <a:gd name="T7" fmla="*/ 0 h 194"/>
                <a:gd name="T8" fmla="*/ 666 w 666"/>
                <a:gd name="T9" fmla="*/ 194 h 19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66" h="194">
                  <a:moveTo>
                    <a:pt x="0" y="0"/>
                  </a:moveTo>
                  <a:lnTo>
                    <a:pt x="666" y="194"/>
                  </a:ln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7948" name="Freeform 34"/>
            <p:cNvSpPr>
              <a:spLocks/>
            </p:cNvSpPr>
            <p:nvPr/>
          </p:nvSpPr>
          <p:spPr bwMode="auto">
            <a:xfrm>
              <a:off x="1576" y="2800"/>
              <a:ext cx="968" cy="296"/>
            </a:xfrm>
            <a:custGeom>
              <a:avLst/>
              <a:gdLst>
                <a:gd name="T0" fmla="*/ 200 w 968"/>
                <a:gd name="T1" fmla="*/ 0 h 296"/>
                <a:gd name="T2" fmla="*/ 128 w 968"/>
                <a:gd name="T3" fmla="*/ 128 h 296"/>
                <a:gd name="T4" fmla="*/ 968 w 968"/>
                <a:gd name="T5" fmla="*/ 296 h 296"/>
                <a:gd name="T6" fmla="*/ 0 60000 65536"/>
                <a:gd name="T7" fmla="*/ 0 60000 65536"/>
                <a:gd name="T8" fmla="*/ 0 60000 65536"/>
                <a:gd name="T9" fmla="*/ 0 w 968"/>
                <a:gd name="T10" fmla="*/ 0 h 296"/>
                <a:gd name="T11" fmla="*/ 968 w 968"/>
                <a:gd name="T12" fmla="*/ 296 h 2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8" h="296">
                  <a:moveTo>
                    <a:pt x="200" y="0"/>
                  </a:moveTo>
                  <a:cubicBezTo>
                    <a:pt x="188" y="21"/>
                    <a:pt x="0" y="79"/>
                    <a:pt x="128" y="128"/>
                  </a:cubicBezTo>
                  <a:cubicBezTo>
                    <a:pt x="267" y="159"/>
                    <a:pt x="793" y="261"/>
                    <a:pt x="968" y="296"/>
                  </a:cubicBez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7949" name="Rectangle 35"/>
            <p:cNvSpPr>
              <a:spLocks noChangeArrowheads="1"/>
            </p:cNvSpPr>
            <p:nvPr/>
          </p:nvSpPr>
          <p:spPr bwMode="auto">
            <a:xfrm>
              <a:off x="1632" y="2704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37950" name="Rectangle 36"/>
            <p:cNvSpPr>
              <a:spLocks noChangeArrowheads="1"/>
            </p:cNvSpPr>
            <p:nvPr/>
          </p:nvSpPr>
          <p:spPr bwMode="auto">
            <a:xfrm>
              <a:off x="2146" y="2688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grpSp>
          <p:nvGrpSpPr>
            <p:cNvPr id="37951" name="Group 37"/>
            <p:cNvGrpSpPr>
              <a:grpSpLocks/>
            </p:cNvGrpSpPr>
            <p:nvPr/>
          </p:nvGrpSpPr>
          <p:grpSpPr bwMode="auto">
            <a:xfrm>
              <a:off x="2544" y="2531"/>
              <a:ext cx="672" cy="653"/>
              <a:chOff x="3504" y="2531"/>
              <a:chExt cx="672" cy="653"/>
            </a:xfrm>
          </p:grpSpPr>
          <p:grpSp>
            <p:nvGrpSpPr>
              <p:cNvPr id="37952" name="Group 38"/>
              <p:cNvGrpSpPr>
                <a:grpSpLocks/>
              </p:cNvGrpSpPr>
              <p:nvPr/>
            </p:nvGrpSpPr>
            <p:grpSpPr bwMode="auto">
              <a:xfrm>
                <a:off x="3691" y="2531"/>
                <a:ext cx="293" cy="305"/>
                <a:chOff x="2895" y="1488"/>
                <a:chExt cx="293" cy="305"/>
              </a:xfrm>
            </p:grpSpPr>
            <p:sp>
              <p:nvSpPr>
                <p:cNvPr id="37965" name="Freeform 39"/>
                <p:cNvSpPr>
                  <a:spLocks/>
                </p:cNvSpPr>
                <p:nvPr/>
              </p:nvSpPr>
              <p:spPr bwMode="auto">
                <a:xfrm>
                  <a:off x="2895" y="1500"/>
                  <a:ext cx="293" cy="293"/>
                </a:xfrm>
                <a:custGeom>
                  <a:avLst/>
                  <a:gdLst>
                    <a:gd name="T0" fmla="*/ 0 w 778"/>
                    <a:gd name="T1" fmla="*/ 147 h 778"/>
                    <a:gd name="T2" fmla="*/ 147 w 778"/>
                    <a:gd name="T3" fmla="*/ 0 h 778"/>
                    <a:gd name="T4" fmla="*/ 293 w 778"/>
                    <a:gd name="T5" fmla="*/ 147 h 778"/>
                    <a:gd name="T6" fmla="*/ 293 w 778"/>
                    <a:gd name="T7" fmla="*/ 147 h 778"/>
                    <a:gd name="T8" fmla="*/ 147 w 778"/>
                    <a:gd name="T9" fmla="*/ 293 h 778"/>
                    <a:gd name="T10" fmla="*/ 0 w 778"/>
                    <a:gd name="T11" fmla="*/ 147 h 77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778"/>
                    <a:gd name="T19" fmla="*/ 0 h 778"/>
                    <a:gd name="T20" fmla="*/ 778 w 778"/>
                    <a:gd name="T21" fmla="*/ 778 h 77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778" h="778">
                      <a:moveTo>
                        <a:pt x="0" y="389"/>
                      </a:moveTo>
                      <a:cubicBezTo>
                        <a:pt x="0" y="174"/>
                        <a:pt x="174" y="0"/>
                        <a:pt x="389" y="0"/>
                      </a:cubicBezTo>
                      <a:cubicBezTo>
                        <a:pt x="604" y="0"/>
                        <a:pt x="778" y="174"/>
                        <a:pt x="778" y="389"/>
                      </a:cubicBezTo>
                      <a:cubicBezTo>
                        <a:pt x="778" y="389"/>
                        <a:pt x="778" y="389"/>
                        <a:pt x="778" y="389"/>
                      </a:cubicBezTo>
                      <a:cubicBezTo>
                        <a:pt x="778" y="604"/>
                        <a:pt x="604" y="778"/>
                        <a:pt x="389" y="778"/>
                      </a:cubicBezTo>
                      <a:cubicBezTo>
                        <a:pt x="174" y="778"/>
                        <a:pt x="0" y="604"/>
                        <a:pt x="0" y="389"/>
                      </a:cubicBezTo>
                    </a:path>
                  </a:pathLst>
                </a:custGeom>
                <a:solidFill>
                  <a:srgbClr val="66FF99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66" name="Freeform 40"/>
                <p:cNvSpPr>
                  <a:spLocks/>
                </p:cNvSpPr>
                <p:nvPr/>
              </p:nvSpPr>
              <p:spPr bwMode="auto">
                <a:xfrm>
                  <a:off x="2895" y="1500"/>
                  <a:ext cx="293" cy="293"/>
                </a:xfrm>
                <a:custGeom>
                  <a:avLst/>
                  <a:gdLst>
                    <a:gd name="T0" fmla="*/ 0 w 293"/>
                    <a:gd name="T1" fmla="*/ 147 h 293"/>
                    <a:gd name="T2" fmla="*/ 147 w 293"/>
                    <a:gd name="T3" fmla="*/ 0 h 293"/>
                    <a:gd name="T4" fmla="*/ 293 w 293"/>
                    <a:gd name="T5" fmla="*/ 147 h 293"/>
                    <a:gd name="T6" fmla="*/ 293 w 293"/>
                    <a:gd name="T7" fmla="*/ 147 h 293"/>
                    <a:gd name="T8" fmla="*/ 147 w 293"/>
                    <a:gd name="T9" fmla="*/ 293 h 293"/>
                    <a:gd name="T10" fmla="*/ 0 w 293"/>
                    <a:gd name="T11" fmla="*/ 147 h 29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93"/>
                    <a:gd name="T19" fmla="*/ 0 h 293"/>
                    <a:gd name="T20" fmla="*/ 293 w 293"/>
                    <a:gd name="T21" fmla="*/ 293 h 29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93" h="293">
                      <a:moveTo>
                        <a:pt x="0" y="147"/>
                      </a:moveTo>
                      <a:cubicBezTo>
                        <a:pt x="0" y="66"/>
                        <a:pt x="66" y="0"/>
                        <a:pt x="147" y="0"/>
                      </a:cubicBezTo>
                      <a:cubicBezTo>
                        <a:pt x="228" y="0"/>
                        <a:pt x="293" y="66"/>
                        <a:pt x="293" y="147"/>
                      </a:cubicBezTo>
                      <a:cubicBezTo>
                        <a:pt x="293" y="147"/>
                        <a:pt x="293" y="147"/>
                        <a:pt x="293" y="147"/>
                      </a:cubicBezTo>
                      <a:cubicBezTo>
                        <a:pt x="293" y="228"/>
                        <a:pt x="228" y="293"/>
                        <a:pt x="147" y="293"/>
                      </a:cubicBezTo>
                      <a:cubicBezTo>
                        <a:pt x="66" y="293"/>
                        <a:pt x="0" y="228"/>
                        <a:pt x="0" y="147"/>
                      </a:cubicBezTo>
                    </a:path>
                  </a:pathLst>
                </a:custGeom>
                <a:noFill/>
                <a:ln w="3175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67" name="Rectangle 41"/>
                <p:cNvSpPr>
                  <a:spLocks noChangeArrowheads="1"/>
                </p:cNvSpPr>
                <p:nvPr/>
              </p:nvSpPr>
              <p:spPr bwMode="auto">
                <a:xfrm>
                  <a:off x="3001" y="1488"/>
                  <a:ext cx="99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/>
                <a:p>
                  <a:r>
                    <a:rPr lang="en-US" sz="2800" i="1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c</a:t>
                  </a:r>
                  <a:endParaRPr lang="en-US">
                    <a:latin typeface="Times New Roman" charset="0"/>
                    <a:cs typeface="Arial" charset="0"/>
                  </a:endParaRPr>
                </a:p>
              </p:txBody>
            </p:sp>
          </p:grpSp>
          <p:grpSp>
            <p:nvGrpSpPr>
              <p:cNvPr id="37953" name="Group 42"/>
              <p:cNvGrpSpPr>
                <a:grpSpLocks/>
              </p:cNvGrpSpPr>
              <p:nvPr/>
            </p:nvGrpSpPr>
            <p:grpSpPr bwMode="auto">
              <a:xfrm>
                <a:off x="4009" y="2982"/>
                <a:ext cx="167" cy="202"/>
                <a:chOff x="3087" y="2784"/>
                <a:chExt cx="167" cy="202"/>
              </a:xfrm>
            </p:grpSpPr>
            <p:sp>
              <p:nvSpPr>
                <p:cNvPr id="37962" name="Rectangle 43"/>
                <p:cNvSpPr>
                  <a:spLocks noChangeArrowheads="1"/>
                </p:cNvSpPr>
                <p:nvPr/>
              </p:nvSpPr>
              <p:spPr bwMode="auto">
                <a:xfrm>
                  <a:off x="3087" y="2809"/>
                  <a:ext cx="167" cy="168"/>
                </a:xfrm>
                <a:prstGeom prst="rect">
                  <a:avLst/>
                </a:prstGeom>
                <a:solidFill>
                  <a:srgbClr val="339966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63" name="Rectangle 44"/>
                <p:cNvSpPr>
                  <a:spLocks noChangeArrowheads="1"/>
                </p:cNvSpPr>
                <p:nvPr/>
              </p:nvSpPr>
              <p:spPr bwMode="auto">
                <a:xfrm>
                  <a:off x="3087" y="2809"/>
                  <a:ext cx="167" cy="168"/>
                </a:xfrm>
                <a:prstGeom prst="rect">
                  <a:avLst/>
                </a:prstGeom>
                <a:noFill/>
                <a:ln w="3175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64" name="Rectangle 45"/>
                <p:cNvSpPr>
                  <a:spLocks noChangeArrowheads="1"/>
                </p:cNvSpPr>
                <p:nvPr/>
              </p:nvSpPr>
              <p:spPr bwMode="auto">
                <a:xfrm>
                  <a:off x="3120" y="2784"/>
                  <a:ext cx="84" cy="2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/>
                <a:p>
                  <a:r>
                    <a:rPr lang="en-US" sz="2100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1</a:t>
                  </a:r>
                  <a:endParaRPr lang="en-US">
                    <a:latin typeface="Times New Roman" charset="0"/>
                    <a:cs typeface="Arial" charset="0"/>
                  </a:endParaRPr>
                </a:p>
              </p:txBody>
            </p:sp>
          </p:grpSp>
          <p:sp>
            <p:nvSpPr>
              <p:cNvPr id="37954" name="Freeform 46"/>
              <p:cNvSpPr>
                <a:spLocks/>
              </p:cNvSpPr>
              <p:nvPr/>
            </p:nvSpPr>
            <p:spPr bwMode="auto">
              <a:xfrm>
                <a:off x="3936" y="2800"/>
                <a:ext cx="160" cy="208"/>
              </a:xfrm>
              <a:custGeom>
                <a:avLst/>
                <a:gdLst>
                  <a:gd name="T0" fmla="*/ 0 w 160"/>
                  <a:gd name="T1" fmla="*/ 0 h 208"/>
                  <a:gd name="T2" fmla="*/ 160 w 160"/>
                  <a:gd name="T3" fmla="*/ 208 h 208"/>
                  <a:gd name="T4" fmla="*/ 0 60000 65536"/>
                  <a:gd name="T5" fmla="*/ 0 60000 65536"/>
                  <a:gd name="T6" fmla="*/ 0 w 160"/>
                  <a:gd name="T7" fmla="*/ 0 h 208"/>
                  <a:gd name="T8" fmla="*/ 160 w 160"/>
                  <a:gd name="T9" fmla="*/ 208 h 20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0" h="208">
                    <a:moveTo>
                      <a:pt x="0" y="0"/>
                    </a:moveTo>
                    <a:lnTo>
                      <a:pt x="160" y="208"/>
                    </a:lnTo>
                  </a:path>
                </a:pathLst>
              </a:custGeom>
              <a:noFill/>
              <a:ln w="50800">
                <a:solidFill>
                  <a:schemeClr val="accent2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grpSp>
            <p:nvGrpSpPr>
              <p:cNvPr id="37955" name="Group 47"/>
              <p:cNvGrpSpPr>
                <a:grpSpLocks/>
              </p:cNvGrpSpPr>
              <p:nvPr/>
            </p:nvGrpSpPr>
            <p:grpSpPr bwMode="auto">
              <a:xfrm>
                <a:off x="3504" y="2982"/>
                <a:ext cx="167" cy="202"/>
                <a:chOff x="3087" y="2784"/>
                <a:chExt cx="167" cy="202"/>
              </a:xfrm>
            </p:grpSpPr>
            <p:sp>
              <p:nvSpPr>
                <p:cNvPr id="37959" name="Rectangle 48"/>
                <p:cNvSpPr>
                  <a:spLocks noChangeArrowheads="1"/>
                </p:cNvSpPr>
                <p:nvPr/>
              </p:nvSpPr>
              <p:spPr bwMode="auto">
                <a:xfrm>
                  <a:off x="3087" y="2809"/>
                  <a:ext cx="167" cy="168"/>
                </a:xfrm>
                <a:prstGeom prst="rect">
                  <a:avLst/>
                </a:prstGeom>
                <a:solidFill>
                  <a:srgbClr val="339966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60" name="Rectangle 49"/>
                <p:cNvSpPr>
                  <a:spLocks noChangeArrowheads="1"/>
                </p:cNvSpPr>
                <p:nvPr/>
              </p:nvSpPr>
              <p:spPr bwMode="auto">
                <a:xfrm>
                  <a:off x="3087" y="2809"/>
                  <a:ext cx="167" cy="168"/>
                </a:xfrm>
                <a:prstGeom prst="rect">
                  <a:avLst/>
                </a:prstGeom>
                <a:noFill/>
                <a:ln w="3175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61" name="Rectangle 50"/>
                <p:cNvSpPr>
                  <a:spLocks noChangeArrowheads="1"/>
                </p:cNvSpPr>
                <p:nvPr/>
              </p:nvSpPr>
              <p:spPr bwMode="auto">
                <a:xfrm>
                  <a:off x="3120" y="2784"/>
                  <a:ext cx="84" cy="2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/>
                <a:p>
                  <a:r>
                    <a:rPr lang="en-US" sz="2100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0</a:t>
                  </a:r>
                  <a:endParaRPr lang="en-US">
                    <a:latin typeface="Times New Roman" charset="0"/>
                    <a:cs typeface="Arial" charset="0"/>
                  </a:endParaRPr>
                </a:p>
              </p:txBody>
            </p:sp>
          </p:grpSp>
          <p:sp>
            <p:nvSpPr>
              <p:cNvPr id="37956" name="Freeform 51"/>
              <p:cNvSpPr>
                <a:spLocks/>
              </p:cNvSpPr>
              <p:nvPr/>
            </p:nvSpPr>
            <p:spPr bwMode="auto">
              <a:xfrm flipH="1">
                <a:off x="3584" y="2800"/>
                <a:ext cx="160" cy="208"/>
              </a:xfrm>
              <a:custGeom>
                <a:avLst/>
                <a:gdLst>
                  <a:gd name="T0" fmla="*/ 0 w 160"/>
                  <a:gd name="T1" fmla="*/ 0 h 208"/>
                  <a:gd name="T2" fmla="*/ 160 w 160"/>
                  <a:gd name="T3" fmla="*/ 208 h 208"/>
                  <a:gd name="T4" fmla="*/ 0 60000 65536"/>
                  <a:gd name="T5" fmla="*/ 0 60000 65536"/>
                  <a:gd name="T6" fmla="*/ 0 w 160"/>
                  <a:gd name="T7" fmla="*/ 0 h 208"/>
                  <a:gd name="T8" fmla="*/ 160 w 160"/>
                  <a:gd name="T9" fmla="*/ 208 h 20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0" h="208">
                    <a:moveTo>
                      <a:pt x="0" y="0"/>
                    </a:moveTo>
                    <a:lnTo>
                      <a:pt x="160" y="208"/>
                    </a:lnTo>
                  </a:path>
                </a:pathLst>
              </a:custGeom>
              <a:noFill/>
              <a:ln w="50800">
                <a:solidFill>
                  <a:srgbClr val="333399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7957" name="Rectangle 52"/>
              <p:cNvSpPr>
                <a:spLocks noChangeArrowheads="1"/>
              </p:cNvSpPr>
              <p:nvPr/>
            </p:nvSpPr>
            <p:spPr bwMode="auto">
              <a:xfrm>
                <a:off x="3600" y="2704"/>
                <a:ext cx="62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cs typeface="Arial" charset="0"/>
                  </a:rPr>
                  <a:t>0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  <p:sp>
            <p:nvSpPr>
              <p:cNvPr id="37958" name="Rectangle 53"/>
              <p:cNvSpPr>
                <a:spLocks noChangeArrowheads="1"/>
              </p:cNvSpPr>
              <p:nvPr/>
            </p:nvSpPr>
            <p:spPr bwMode="auto">
              <a:xfrm>
                <a:off x="3984" y="2704"/>
                <a:ext cx="62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cs typeface="Arial" charset="0"/>
                  </a:rPr>
                  <a:t>1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</p:grpSp>
      <p:sp>
        <p:nvSpPr>
          <p:cNvPr id="37893" name="Text Box 54"/>
          <p:cNvSpPr txBox="1">
            <a:spLocks noChangeArrowheads="1"/>
          </p:cNvSpPr>
          <p:nvPr/>
        </p:nvSpPr>
        <p:spPr bwMode="auto">
          <a:xfrm>
            <a:off x="2132013" y="5043488"/>
            <a:ext cx="9159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800" b="0">
                <a:latin typeface="Verdana" charset="0"/>
                <a:cs typeface="Arial" charset="0"/>
              </a:rPr>
              <a:t>before</a:t>
            </a:r>
          </a:p>
        </p:txBody>
      </p:sp>
      <p:sp>
        <p:nvSpPr>
          <p:cNvPr id="1368119" name="Text Box 55"/>
          <p:cNvSpPr txBox="1">
            <a:spLocks noChangeArrowheads="1"/>
          </p:cNvSpPr>
          <p:nvPr/>
        </p:nvSpPr>
        <p:spPr bwMode="auto">
          <a:xfrm>
            <a:off x="6629400" y="5029200"/>
            <a:ext cx="7254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800" b="0">
                <a:latin typeface="Verdana" charset="0"/>
                <a:cs typeface="Arial" charset="0"/>
              </a:rPr>
              <a:t>after</a:t>
            </a:r>
          </a:p>
        </p:txBody>
      </p:sp>
      <p:grpSp>
        <p:nvGrpSpPr>
          <p:cNvPr id="11" name="Group 56"/>
          <p:cNvGrpSpPr>
            <a:grpSpLocks/>
          </p:cNvGrpSpPr>
          <p:nvPr/>
        </p:nvGrpSpPr>
        <p:grpSpPr bwMode="auto">
          <a:xfrm>
            <a:off x="5476875" y="2209800"/>
            <a:ext cx="2130425" cy="2768600"/>
            <a:chOff x="3450" y="1392"/>
            <a:chExt cx="1342" cy="1744"/>
          </a:xfrm>
        </p:grpSpPr>
        <p:sp>
          <p:nvSpPr>
            <p:cNvPr id="37896" name="Rectangle 57"/>
            <p:cNvSpPr>
              <a:spLocks noChangeArrowheads="1"/>
            </p:cNvSpPr>
            <p:nvPr/>
          </p:nvSpPr>
          <p:spPr bwMode="auto">
            <a:xfrm>
              <a:off x="4077" y="1725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37897" name="Rectangle 58"/>
            <p:cNvSpPr>
              <a:spLocks noChangeArrowheads="1"/>
            </p:cNvSpPr>
            <p:nvPr/>
          </p:nvSpPr>
          <p:spPr bwMode="auto">
            <a:xfrm>
              <a:off x="4495" y="1725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37898" name="Line 59"/>
            <p:cNvSpPr>
              <a:spLocks noChangeShapeType="1"/>
            </p:cNvSpPr>
            <p:nvPr/>
          </p:nvSpPr>
          <p:spPr bwMode="auto">
            <a:xfrm flipH="1">
              <a:off x="3837" y="1840"/>
              <a:ext cx="384" cy="240"/>
            </a:xfrm>
            <a:prstGeom prst="line">
              <a:avLst/>
            </a:pr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7899" name="Freeform 60"/>
            <p:cNvSpPr>
              <a:spLocks/>
            </p:cNvSpPr>
            <p:nvPr/>
          </p:nvSpPr>
          <p:spPr bwMode="auto">
            <a:xfrm>
              <a:off x="4413" y="1840"/>
              <a:ext cx="379" cy="692"/>
            </a:xfrm>
            <a:custGeom>
              <a:avLst/>
              <a:gdLst>
                <a:gd name="T0" fmla="*/ 0 w 379"/>
                <a:gd name="T1" fmla="*/ 0 h 692"/>
                <a:gd name="T2" fmla="*/ 369 w 379"/>
                <a:gd name="T3" fmla="*/ 272 h 692"/>
                <a:gd name="T4" fmla="*/ 57 w 379"/>
                <a:gd name="T5" fmla="*/ 692 h 692"/>
                <a:gd name="T6" fmla="*/ 0 60000 65536"/>
                <a:gd name="T7" fmla="*/ 0 60000 65536"/>
                <a:gd name="T8" fmla="*/ 0 60000 65536"/>
                <a:gd name="T9" fmla="*/ 0 w 379"/>
                <a:gd name="T10" fmla="*/ 0 h 692"/>
                <a:gd name="T11" fmla="*/ 379 w 379"/>
                <a:gd name="T12" fmla="*/ 692 h 6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9" h="692">
                  <a:moveTo>
                    <a:pt x="0" y="0"/>
                  </a:moveTo>
                  <a:cubicBezTo>
                    <a:pt x="61" y="45"/>
                    <a:pt x="359" y="157"/>
                    <a:pt x="369" y="272"/>
                  </a:cubicBezTo>
                  <a:cubicBezTo>
                    <a:pt x="379" y="387"/>
                    <a:pt x="122" y="605"/>
                    <a:pt x="57" y="692"/>
                  </a:cubicBez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37900" name="Group 61"/>
            <p:cNvGrpSpPr>
              <a:grpSpLocks/>
            </p:cNvGrpSpPr>
            <p:nvPr/>
          </p:nvGrpSpPr>
          <p:grpSpPr bwMode="auto">
            <a:xfrm>
              <a:off x="4188" y="1583"/>
              <a:ext cx="293" cy="305"/>
              <a:chOff x="2895" y="1488"/>
              <a:chExt cx="293" cy="305"/>
            </a:xfrm>
          </p:grpSpPr>
          <p:sp>
            <p:nvSpPr>
              <p:cNvPr id="37927" name="Freeform 62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928" name="Freeform 63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929" name="Rectangle 64"/>
              <p:cNvSpPr>
                <a:spLocks noChangeArrowheads="1"/>
              </p:cNvSpPr>
              <p:nvPr/>
            </p:nvSpPr>
            <p:spPr bwMode="auto">
              <a:xfrm>
                <a:off x="2995" y="1488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a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37901" name="Rectangle 65"/>
            <p:cNvSpPr>
              <a:spLocks noChangeArrowheads="1"/>
            </p:cNvSpPr>
            <p:nvPr/>
          </p:nvSpPr>
          <p:spPr bwMode="auto">
            <a:xfrm>
              <a:off x="3501" y="2224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37902" name="Rectangle 66"/>
            <p:cNvSpPr>
              <a:spLocks noChangeArrowheads="1"/>
            </p:cNvSpPr>
            <p:nvPr/>
          </p:nvSpPr>
          <p:spPr bwMode="auto">
            <a:xfrm>
              <a:off x="3967" y="2208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37903" name="Line 67"/>
            <p:cNvSpPr>
              <a:spLocks noChangeShapeType="1"/>
            </p:cNvSpPr>
            <p:nvPr/>
          </p:nvSpPr>
          <p:spPr bwMode="auto">
            <a:xfrm>
              <a:off x="3837" y="2291"/>
              <a:ext cx="432" cy="253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7904" name="Freeform 68"/>
            <p:cNvSpPr>
              <a:spLocks/>
            </p:cNvSpPr>
            <p:nvPr/>
          </p:nvSpPr>
          <p:spPr bwMode="auto">
            <a:xfrm flipH="1">
              <a:off x="4365" y="1392"/>
              <a:ext cx="64" cy="208"/>
            </a:xfrm>
            <a:custGeom>
              <a:avLst/>
              <a:gdLst>
                <a:gd name="T0" fmla="*/ 0 w 160"/>
                <a:gd name="T1" fmla="*/ 0 h 208"/>
                <a:gd name="T2" fmla="*/ 64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66FF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37905" name="Group 69"/>
            <p:cNvGrpSpPr>
              <a:grpSpLocks/>
            </p:cNvGrpSpPr>
            <p:nvPr/>
          </p:nvGrpSpPr>
          <p:grpSpPr bwMode="auto">
            <a:xfrm>
              <a:off x="3597" y="2032"/>
              <a:ext cx="293" cy="305"/>
              <a:chOff x="2895" y="1488"/>
              <a:chExt cx="293" cy="305"/>
            </a:xfrm>
          </p:grpSpPr>
          <p:sp>
            <p:nvSpPr>
              <p:cNvPr id="37924" name="Freeform 70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925" name="Freeform 71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926" name="Rectangle 72"/>
              <p:cNvSpPr>
                <a:spLocks noChangeArrowheads="1"/>
              </p:cNvSpPr>
              <p:nvPr/>
            </p:nvSpPr>
            <p:spPr bwMode="auto">
              <a:xfrm>
                <a:off x="2995" y="1488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b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37906" name="Freeform 73"/>
            <p:cNvSpPr>
              <a:spLocks/>
            </p:cNvSpPr>
            <p:nvPr/>
          </p:nvSpPr>
          <p:spPr bwMode="auto">
            <a:xfrm>
              <a:off x="3450" y="2280"/>
              <a:ext cx="672" cy="678"/>
            </a:xfrm>
            <a:custGeom>
              <a:avLst/>
              <a:gdLst>
                <a:gd name="T0" fmla="*/ 180 w 672"/>
                <a:gd name="T1" fmla="*/ 0 h 678"/>
                <a:gd name="T2" fmla="*/ 82 w 672"/>
                <a:gd name="T3" fmla="*/ 373 h 678"/>
                <a:gd name="T4" fmla="*/ 672 w 672"/>
                <a:gd name="T5" fmla="*/ 678 h 678"/>
                <a:gd name="T6" fmla="*/ 0 60000 65536"/>
                <a:gd name="T7" fmla="*/ 0 60000 65536"/>
                <a:gd name="T8" fmla="*/ 0 60000 65536"/>
                <a:gd name="T9" fmla="*/ 0 w 672"/>
                <a:gd name="T10" fmla="*/ 0 h 678"/>
                <a:gd name="T11" fmla="*/ 672 w 672"/>
                <a:gd name="T12" fmla="*/ 678 h 6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72" h="678">
                  <a:moveTo>
                    <a:pt x="180" y="0"/>
                  </a:moveTo>
                  <a:cubicBezTo>
                    <a:pt x="164" y="61"/>
                    <a:pt x="0" y="260"/>
                    <a:pt x="82" y="373"/>
                  </a:cubicBezTo>
                  <a:cubicBezTo>
                    <a:pt x="164" y="446"/>
                    <a:pt x="549" y="614"/>
                    <a:pt x="672" y="678"/>
                  </a:cubicBez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37907" name="Group 74"/>
            <p:cNvGrpSpPr>
              <a:grpSpLocks/>
            </p:cNvGrpSpPr>
            <p:nvPr/>
          </p:nvGrpSpPr>
          <p:grpSpPr bwMode="auto">
            <a:xfrm>
              <a:off x="4029" y="2483"/>
              <a:ext cx="672" cy="653"/>
              <a:chOff x="3504" y="2531"/>
              <a:chExt cx="672" cy="653"/>
            </a:xfrm>
          </p:grpSpPr>
          <p:grpSp>
            <p:nvGrpSpPr>
              <p:cNvPr id="37908" name="Group 75"/>
              <p:cNvGrpSpPr>
                <a:grpSpLocks/>
              </p:cNvGrpSpPr>
              <p:nvPr/>
            </p:nvGrpSpPr>
            <p:grpSpPr bwMode="auto">
              <a:xfrm>
                <a:off x="3691" y="2531"/>
                <a:ext cx="293" cy="305"/>
                <a:chOff x="2895" y="1488"/>
                <a:chExt cx="293" cy="305"/>
              </a:xfrm>
            </p:grpSpPr>
            <p:sp>
              <p:nvSpPr>
                <p:cNvPr id="37921" name="Freeform 76"/>
                <p:cNvSpPr>
                  <a:spLocks/>
                </p:cNvSpPr>
                <p:nvPr/>
              </p:nvSpPr>
              <p:spPr bwMode="auto">
                <a:xfrm>
                  <a:off x="2895" y="1500"/>
                  <a:ext cx="293" cy="293"/>
                </a:xfrm>
                <a:custGeom>
                  <a:avLst/>
                  <a:gdLst>
                    <a:gd name="T0" fmla="*/ 0 w 778"/>
                    <a:gd name="T1" fmla="*/ 147 h 778"/>
                    <a:gd name="T2" fmla="*/ 147 w 778"/>
                    <a:gd name="T3" fmla="*/ 0 h 778"/>
                    <a:gd name="T4" fmla="*/ 293 w 778"/>
                    <a:gd name="T5" fmla="*/ 147 h 778"/>
                    <a:gd name="T6" fmla="*/ 293 w 778"/>
                    <a:gd name="T7" fmla="*/ 147 h 778"/>
                    <a:gd name="T8" fmla="*/ 147 w 778"/>
                    <a:gd name="T9" fmla="*/ 293 h 778"/>
                    <a:gd name="T10" fmla="*/ 0 w 778"/>
                    <a:gd name="T11" fmla="*/ 147 h 77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778"/>
                    <a:gd name="T19" fmla="*/ 0 h 778"/>
                    <a:gd name="T20" fmla="*/ 778 w 778"/>
                    <a:gd name="T21" fmla="*/ 778 h 77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778" h="778">
                      <a:moveTo>
                        <a:pt x="0" y="389"/>
                      </a:moveTo>
                      <a:cubicBezTo>
                        <a:pt x="0" y="174"/>
                        <a:pt x="174" y="0"/>
                        <a:pt x="389" y="0"/>
                      </a:cubicBezTo>
                      <a:cubicBezTo>
                        <a:pt x="604" y="0"/>
                        <a:pt x="778" y="174"/>
                        <a:pt x="778" y="389"/>
                      </a:cubicBezTo>
                      <a:cubicBezTo>
                        <a:pt x="778" y="389"/>
                        <a:pt x="778" y="389"/>
                        <a:pt x="778" y="389"/>
                      </a:cubicBezTo>
                      <a:cubicBezTo>
                        <a:pt x="778" y="604"/>
                        <a:pt x="604" y="778"/>
                        <a:pt x="389" y="778"/>
                      </a:cubicBezTo>
                      <a:cubicBezTo>
                        <a:pt x="174" y="778"/>
                        <a:pt x="0" y="604"/>
                        <a:pt x="0" y="389"/>
                      </a:cubicBezTo>
                    </a:path>
                  </a:pathLst>
                </a:custGeom>
                <a:solidFill>
                  <a:srgbClr val="66FF99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22" name="Freeform 77"/>
                <p:cNvSpPr>
                  <a:spLocks/>
                </p:cNvSpPr>
                <p:nvPr/>
              </p:nvSpPr>
              <p:spPr bwMode="auto">
                <a:xfrm>
                  <a:off x="2895" y="1500"/>
                  <a:ext cx="293" cy="293"/>
                </a:xfrm>
                <a:custGeom>
                  <a:avLst/>
                  <a:gdLst>
                    <a:gd name="T0" fmla="*/ 0 w 293"/>
                    <a:gd name="T1" fmla="*/ 147 h 293"/>
                    <a:gd name="T2" fmla="*/ 147 w 293"/>
                    <a:gd name="T3" fmla="*/ 0 h 293"/>
                    <a:gd name="T4" fmla="*/ 293 w 293"/>
                    <a:gd name="T5" fmla="*/ 147 h 293"/>
                    <a:gd name="T6" fmla="*/ 293 w 293"/>
                    <a:gd name="T7" fmla="*/ 147 h 293"/>
                    <a:gd name="T8" fmla="*/ 147 w 293"/>
                    <a:gd name="T9" fmla="*/ 293 h 293"/>
                    <a:gd name="T10" fmla="*/ 0 w 293"/>
                    <a:gd name="T11" fmla="*/ 147 h 29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93"/>
                    <a:gd name="T19" fmla="*/ 0 h 293"/>
                    <a:gd name="T20" fmla="*/ 293 w 293"/>
                    <a:gd name="T21" fmla="*/ 293 h 29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93" h="293">
                      <a:moveTo>
                        <a:pt x="0" y="147"/>
                      </a:moveTo>
                      <a:cubicBezTo>
                        <a:pt x="0" y="66"/>
                        <a:pt x="66" y="0"/>
                        <a:pt x="147" y="0"/>
                      </a:cubicBezTo>
                      <a:cubicBezTo>
                        <a:pt x="228" y="0"/>
                        <a:pt x="293" y="66"/>
                        <a:pt x="293" y="147"/>
                      </a:cubicBezTo>
                      <a:cubicBezTo>
                        <a:pt x="293" y="147"/>
                        <a:pt x="293" y="147"/>
                        <a:pt x="293" y="147"/>
                      </a:cubicBezTo>
                      <a:cubicBezTo>
                        <a:pt x="293" y="228"/>
                        <a:pt x="228" y="293"/>
                        <a:pt x="147" y="293"/>
                      </a:cubicBezTo>
                      <a:cubicBezTo>
                        <a:pt x="66" y="293"/>
                        <a:pt x="0" y="228"/>
                        <a:pt x="0" y="147"/>
                      </a:cubicBezTo>
                    </a:path>
                  </a:pathLst>
                </a:custGeom>
                <a:noFill/>
                <a:ln w="3175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23" name="Rectangle 78"/>
                <p:cNvSpPr>
                  <a:spLocks noChangeArrowheads="1"/>
                </p:cNvSpPr>
                <p:nvPr/>
              </p:nvSpPr>
              <p:spPr bwMode="auto">
                <a:xfrm>
                  <a:off x="3001" y="1488"/>
                  <a:ext cx="99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/>
                <a:p>
                  <a:r>
                    <a:rPr lang="en-US" sz="2800" i="1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c</a:t>
                  </a:r>
                  <a:endParaRPr lang="en-US">
                    <a:latin typeface="Times New Roman" charset="0"/>
                    <a:cs typeface="Arial" charset="0"/>
                  </a:endParaRPr>
                </a:p>
              </p:txBody>
            </p:sp>
          </p:grpSp>
          <p:grpSp>
            <p:nvGrpSpPr>
              <p:cNvPr id="37909" name="Group 79"/>
              <p:cNvGrpSpPr>
                <a:grpSpLocks/>
              </p:cNvGrpSpPr>
              <p:nvPr/>
            </p:nvGrpSpPr>
            <p:grpSpPr bwMode="auto">
              <a:xfrm>
                <a:off x="4009" y="2982"/>
                <a:ext cx="167" cy="202"/>
                <a:chOff x="3087" y="2784"/>
                <a:chExt cx="167" cy="202"/>
              </a:xfrm>
            </p:grpSpPr>
            <p:sp>
              <p:nvSpPr>
                <p:cNvPr id="37918" name="Rectangle 80"/>
                <p:cNvSpPr>
                  <a:spLocks noChangeArrowheads="1"/>
                </p:cNvSpPr>
                <p:nvPr/>
              </p:nvSpPr>
              <p:spPr bwMode="auto">
                <a:xfrm>
                  <a:off x="3087" y="2809"/>
                  <a:ext cx="167" cy="168"/>
                </a:xfrm>
                <a:prstGeom prst="rect">
                  <a:avLst/>
                </a:prstGeom>
                <a:solidFill>
                  <a:srgbClr val="339966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19" name="Rectangle 81"/>
                <p:cNvSpPr>
                  <a:spLocks noChangeArrowheads="1"/>
                </p:cNvSpPr>
                <p:nvPr/>
              </p:nvSpPr>
              <p:spPr bwMode="auto">
                <a:xfrm>
                  <a:off x="3087" y="2809"/>
                  <a:ext cx="167" cy="168"/>
                </a:xfrm>
                <a:prstGeom prst="rect">
                  <a:avLst/>
                </a:prstGeom>
                <a:noFill/>
                <a:ln w="3175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20" name="Rectangle 82"/>
                <p:cNvSpPr>
                  <a:spLocks noChangeArrowheads="1"/>
                </p:cNvSpPr>
                <p:nvPr/>
              </p:nvSpPr>
              <p:spPr bwMode="auto">
                <a:xfrm>
                  <a:off x="3120" y="2784"/>
                  <a:ext cx="84" cy="2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/>
                <a:p>
                  <a:r>
                    <a:rPr lang="en-US" sz="2100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1</a:t>
                  </a:r>
                  <a:endParaRPr lang="en-US">
                    <a:latin typeface="Times New Roman" charset="0"/>
                    <a:cs typeface="Arial" charset="0"/>
                  </a:endParaRPr>
                </a:p>
              </p:txBody>
            </p:sp>
          </p:grpSp>
          <p:sp>
            <p:nvSpPr>
              <p:cNvPr id="37910" name="Freeform 83"/>
              <p:cNvSpPr>
                <a:spLocks/>
              </p:cNvSpPr>
              <p:nvPr/>
            </p:nvSpPr>
            <p:spPr bwMode="auto">
              <a:xfrm>
                <a:off x="3936" y="2800"/>
                <a:ext cx="160" cy="208"/>
              </a:xfrm>
              <a:custGeom>
                <a:avLst/>
                <a:gdLst>
                  <a:gd name="T0" fmla="*/ 0 w 160"/>
                  <a:gd name="T1" fmla="*/ 0 h 208"/>
                  <a:gd name="T2" fmla="*/ 160 w 160"/>
                  <a:gd name="T3" fmla="*/ 208 h 208"/>
                  <a:gd name="T4" fmla="*/ 0 60000 65536"/>
                  <a:gd name="T5" fmla="*/ 0 60000 65536"/>
                  <a:gd name="T6" fmla="*/ 0 w 160"/>
                  <a:gd name="T7" fmla="*/ 0 h 208"/>
                  <a:gd name="T8" fmla="*/ 160 w 160"/>
                  <a:gd name="T9" fmla="*/ 208 h 20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0" h="208">
                    <a:moveTo>
                      <a:pt x="0" y="0"/>
                    </a:moveTo>
                    <a:lnTo>
                      <a:pt x="160" y="208"/>
                    </a:lnTo>
                  </a:path>
                </a:pathLst>
              </a:custGeom>
              <a:noFill/>
              <a:ln w="50800">
                <a:solidFill>
                  <a:schemeClr val="accent2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grpSp>
            <p:nvGrpSpPr>
              <p:cNvPr id="37911" name="Group 84"/>
              <p:cNvGrpSpPr>
                <a:grpSpLocks/>
              </p:cNvGrpSpPr>
              <p:nvPr/>
            </p:nvGrpSpPr>
            <p:grpSpPr bwMode="auto">
              <a:xfrm>
                <a:off x="3504" y="2982"/>
                <a:ext cx="167" cy="202"/>
                <a:chOff x="3087" y="2784"/>
                <a:chExt cx="167" cy="202"/>
              </a:xfrm>
            </p:grpSpPr>
            <p:sp>
              <p:nvSpPr>
                <p:cNvPr id="37915" name="Rectangle 85"/>
                <p:cNvSpPr>
                  <a:spLocks noChangeArrowheads="1"/>
                </p:cNvSpPr>
                <p:nvPr/>
              </p:nvSpPr>
              <p:spPr bwMode="auto">
                <a:xfrm>
                  <a:off x="3087" y="2809"/>
                  <a:ext cx="167" cy="168"/>
                </a:xfrm>
                <a:prstGeom prst="rect">
                  <a:avLst/>
                </a:prstGeom>
                <a:solidFill>
                  <a:srgbClr val="339966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16" name="Rectangle 86"/>
                <p:cNvSpPr>
                  <a:spLocks noChangeArrowheads="1"/>
                </p:cNvSpPr>
                <p:nvPr/>
              </p:nvSpPr>
              <p:spPr bwMode="auto">
                <a:xfrm>
                  <a:off x="3087" y="2809"/>
                  <a:ext cx="167" cy="168"/>
                </a:xfrm>
                <a:prstGeom prst="rect">
                  <a:avLst/>
                </a:prstGeom>
                <a:noFill/>
                <a:ln w="3175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17" name="Rectangle 87"/>
                <p:cNvSpPr>
                  <a:spLocks noChangeArrowheads="1"/>
                </p:cNvSpPr>
                <p:nvPr/>
              </p:nvSpPr>
              <p:spPr bwMode="auto">
                <a:xfrm>
                  <a:off x="3120" y="2784"/>
                  <a:ext cx="84" cy="2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/>
                <a:p>
                  <a:r>
                    <a:rPr lang="en-US" sz="2100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0</a:t>
                  </a:r>
                  <a:endParaRPr lang="en-US">
                    <a:latin typeface="Times New Roman" charset="0"/>
                    <a:cs typeface="Arial" charset="0"/>
                  </a:endParaRPr>
                </a:p>
              </p:txBody>
            </p:sp>
          </p:grpSp>
          <p:sp>
            <p:nvSpPr>
              <p:cNvPr id="37912" name="Freeform 88"/>
              <p:cNvSpPr>
                <a:spLocks/>
              </p:cNvSpPr>
              <p:nvPr/>
            </p:nvSpPr>
            <p:spPr bwMode="auto">
              <a:xfrm flipH="1">
                <a:off x="3584" y="2800"/>
                <a:ext cx="160" cy="208"/>
              </a:xfrm>
              <a:custGeom>
                <a:avLst/>
                <a:gdLst>
                  <a:gd name="T0" fmla="*/ 0 w 160"/>
                  <a:gd name="T1" fmla="*/ 0 h 208"/>
                  <a:gd name="T2" fmla="*/ 160 w 160"/>
                  <a:gd name="T3" fmla="*/ 208 h 208"/>
                  <a:gd name="T4" fmla="*/ 0 60000 65536"/>
                  <a:gd name="T5" fmla="*/ 0 60000 65536"/>
                  <a:gd name="T6" fmla="*/ 0 w 160"/>
                  <a:gd name="T7" fmla="*/ 0 h 208"/>
                  <a:gd name="T8" fmla="*/ 160 w 160"/>
                  <a:gd name="T9" fmla="*/ 208 h 20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0" h="208">
                    <a:moveTo>
                      <a:pt x="0" y="0"/>
                    </a:moveTo>
                    <a:lnTo>
                      <a:pt x="160" y="208"/>
                    </a:lnTo>
                  </a:path>
                </a:pathLst>
              </a:custGeom>
              <a:noFill/>
              <a:ln w="50800">
                <a:solidFill>
                  <a:srgbClr val="333399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7913" name="Rectangle 89"/>
              <p:cNvSpPr>
                <a:spLocks noChangeArrowheads="1"/>
              </p:cNvSpPr>
              <p:nvPr/>
            </p:nvSpPr>
            <p:spPr bwMode="auto">
              <a:xfrm>
                <a:off x="3600" y="2704"/>
                <a:ext cx="62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cs typeface="Arial" charset="0"/>
                  </a:rPr>
                  <a:t>0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  <p:sp>
            <p:nvSpPr>
              <p:cNvPr id="37914" name="Rectangle 90"/>
              <p:cNvSpPr>
                <a:spLocks noChangeArrowheads="1"/>
              </p:cNvSpPr>
              <p:nvPr/>
            </p:nvSpPr>
            <p:spPr bwMode="auto">
              <a:xfrm>
                <a:off x="3984" y="2704"/>
                <a:ext cx="62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cs typeface="Arial" charset="0"/>
                  </a:rPr>
                  <a:t>1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811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r>
              <a:rPr lang="en-US" sz="1400" b="0"/>
              <a:t>(c)  Giovanni De Micheli</a:t>
            </a:r>
          </a:p>
        </p:txBody>
      </p:sp>
      <p:sp>
        <p:nvSpPr>
          <p:cNvPr id="4198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95673567-94D8-F54F-BCC1-FF257DF6906A}" type="slidenum">
              <a:rPr lang="en-US" sz="1400" b="0"/>
              <a:pPr/>
              <a:t>16</a:t>
            </a:fld>
            <a:endParaRPr lang="en-US" sz="1400" b="0"/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>
          <a:xfrm>
            <a:off x="574675" y="-39688"/>
            <a:ext cx="8188325" cy="1216026"/>
          </a:xfrm>
        </p:spPr>
        <p:txBody>
          <a:bodyPr/>
          <a:lstStyle/>
          <a:p>
            <a:r>
              <a:rPr lang="en-US">
                <a:latin typeface="Arial Narrow" charset="0"/>
              </a:rPr>
              <a:t>ROBDDs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79525"/>
            <a:ext cx="5664200" cy="5006975"/>
          </a:xfrm>
          <a:noFill/>
        </p:spPr>
        <p:txBody>
          <a:bodyPr/>
          <a:lstStyle/>
          <a:p>
            <a:pPr marL="342900" indent="-342900"/>
            <a:r>
              <a:rPr lang="en-US" sz="2400" dirty="0">
                <a:latin typeface="Arial Narrow" charset="0"/>
              </a:rPr>
              <a:t>ROBDDs are canonical</a:t>
            </a:r>
          </a:p>
          <a:p>
            <a:pPr marL="742950" lvl="1" indent="-285750"/>
            <a:r>
              <a:rPr lang="en-US" sz="2000" dirty="0">
                <a:latin typeface="Arial Narrow" charset="0"/>
              </a:rPr>
              <a:t>For a given variable order</a:t>
            </a:r>
          </a:p>
          <a:p>
            <a:pPr marL="342900" indent="-342900"/>
            <a:r>
              <a:rPr lang="en-US" sz="2400" dirty="0">
                <a:latin typeface="Arial Narrow" charset="0"/>
              </a:rPr>
              <a:t>ROBDD are more compact than other canonical forms</a:t>
            </a:r>
          </a:p>
          <a:p>
            <a:pPr marL="742950" lvl="1" indent="-285750"/>
            <a:r>
              <a:rPr lang="en-US" sz="2000" dirty="0">
                <a:latin typeface="Arial Narrow" charset="0"/>
              </a:rPr>
              <a:t>Efficient representation</a:t>
            </a:r>
          </a:p>
          <a:p>
            <a:pPr marL="342900" indent="-342900"/>
            <a:r>
              <a:rPr lang="en-US" sz="2400" dirty="0">
                <a:latin typeface="Arial Narrow" charset="0"/>
              </a:rPr>
              <a:t>ROBDD size depends on the variable order</a:t>
            </a:r>
          </a:p>
          <a:p>
            <a:pPr marL="742950" lvl="1" indent="-285750"/>
            <a:r>
              <a:rPr lang="en-US" sz="2000" dirty="0">
                <a:latin typeface="Arial Narrow" charset="0"/>
              </a:rPr>
              <a:t>Many useful functions have linear-space </a:t>
            </a:r>
            <a:br>
              <a:rPr lang="en-US" sz="2000" dirty="0">
                <a:latin typeface="Arial Narrow" charset="0"/>
              </a:rPr>
            </a:br>
            <a:r>
              <a:rPr lang="en-US" sz="2000" dirty="0">
                <a:latin typeface="Arial Narrow" charset="0"/>
              </a:rPr>
              <a:t>(or slightly above) representation</a:t>
            </a:r>
          </a:p>
          <a:p>
            <a:pPr marL="342900" indent="-342900">
              <a:buFont typeface="Monotype Sorts" charset="0"/>
              <a:buNone/>
            </a:pPr>
            <a:endParaRPr lang="en-US" sz="2400" dirty="0">
              <a:latin typeface="Arial Narrow" charset="0"/>
            </a:endParaRPr>
          </a:p>
          <a:p>
            <a:pPr marL="342900" indent="-342900"/>
            <a:endParaRPr lang="en-US" sz="2400" dirty="0">
              <a:latin typeface="Arial Narrow" charset="0"/>
            </a:endParaRPr>
          </a:p>
        </p:txBody>
      </p:sp>
      <p:grpSp>
        <p:nvGrpSpPr>
          <p:cNvPr id="41989" name="Group 4"/>
          <p:cNvGrpSpPr>
            <a:grpSpLocks/>
          </p:cNvGrpSpPr>
          <p:nvPr/>
        </p:nvGrpSpPr>
        <p:grpSpPr bwMode="auto">
          <a:xfrm>
            <a:off x="6697663" y="1600200"/>
            <a:ext cx="1379537" cy="3902075"/>
            <a:chOff x="3931" y="1392"/>
            <a:chExt cx="869" cy="2458"/>
          </a:xfrm>
        </p:grpSpPr>
        <p:grpSp>
          <p:nvGrpSpPr>
            <p:cNvPr id="41991" name="Group 5"/>
            <p:cNvGrpSpPr>
              <a:grpSpLocks/>
            </p:cNvGrpSpPr>
            <p:nvPr/>
          </p:nvGrpSpPr>
          <p:grpSpPr bwMode="auto">
            <a:xfrm>
              <a:off x="4057" y="3648"/>
              <a:ext cx="167" cy="202"/>
              <a:chOff x="3087" y="2784"/>
              <a:chExt cx="167" cy="202"/>
            </a:xfrm>
          </p:grpSpPr>
          <p:sp>
            <p:nvSpPr>
              <p:cNvPr id="42043" name="Rectangle 6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44" name="Rectangle 7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45" name="Rectangle 8"/>
              <p:cNvSpPr>
                <a:spLocks noChangeArrowheads="1"/>
              </p:cNvSpPr>
              <p:nvPr/>
            </p:nvSpPr>
            <p:spPr bwMode="auto">
              <a:xfrm>
                <a:off x="3120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0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grpSp>
          <p:nvGrpSpPr>
            <p:cNvPr id="41992" name="Group 9"/>
            <p:cNvGrpSpPr>
              <a:grpSpLocks/>
            </p:cNvGrpSpPr>
            <p:nvPr/>
          </p:nvGrpSpPr>
          <p:grpSpPr bwMode="auto">
            <a:xfrm>
              <a:off x="4608" y="3648"/>
              <a:ext cx="167" cy="202"/>
              <a:chOff x="3087" y="2784"/>
              <a:chExt cx="167" cy="202"/>
            </a:xfrm>
          </p:grpSpPr>
          <p:sp>
            <p:nvSpPr>
              <p:cNvPr id="42040" name="Rectangle 10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41" name="Rectangle 11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42" name="Rectangle 12"/>
              <p:cNvSpPr>
                <a:spLocks noChangeArrowheads="1"/>
              </p:cNvSpPr>
              <p:nvPr/>
            </p:nvSpPr>
            <p:spPr bwMode="auto">
              <a:xfrm>
                <a:off x="3120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1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grpSp>
          <p:nvGrpSpPr>
            <p:cNvPr id="41993" name="Group 13"/>
            <p:cNvGrpSpPr>
              <a:grpSpLocks/>
            </p:cNvGrpSpPr>
            <p:nvPr/>
          </p:nvGrpSpPr>
          <p:grpSpPr bwMode="auto">
            <a:xfrm>
              <a:off x="3979" y="3120"/>
              <a:ext cx="821" cy="558"/>
              <a:chOff x="3019" y="3216"/>
              <a:chExt cx="821" cy="558"/>
            </a:xfrm>
          </p:grpSpPr>
          <p:grpSp>
            <p:nvGrpSpPr>
              <p:cNvPr id="42028" name="Group 14"/>
              <p:cNvGrpSpPr>
                <a:grpSpLocks/>
              </p:cNvGrpSpPr>
              <p:nvPr/>
            </p:nvGrpSpPr>
            <p:grpSpPr bwMode="auto">
              <a:xfrm>
                <a:off x="3019" y="3216"/>
                <a:ext cx="293" cy="305"/>
                <a:chOff x="2895" y="1488"/>
                <a:chExt cx="293" cy="305"/>
              </a:xfrm>
            </p:grpSpPr>
            <p:sp>
              <p:nvSpPr>
                <p:cNvPr id="42037" name="Freeform 15"/>
                <p:cNvSpPr>
                  <a:spLocks/>
                </p:cNvSpPr>
                <p:nvPr/>
              </p:nvSpPr>
              <p:spPr bwMode="auto">
                <a:xfrm>
                  <a:off x="2895" y="1500"/>
                  <a:ext cx="293" cy="293"/>
                </a:xfrm>
                <a:custGeom>
                  <a:avLst/>
                  <a:gdLst>
                    <a:gd name="T0" fmla="*/ 0 w 778"/>
                    <a:gd name="T1" fmla="*/ 147 h 778"/>
                    <a:gd name="T2" fmla="*/ 147 w 778"/>
                    <a:gd name="T3" fmla="*/ 0 h 778"/>
                    <a:gd name="T4" fmla="*/ 293 w 778"/>
                    <a:gd name="T5" fmla="*/ 147 h 778"/>
                    <a:gd name="T6" fmla="*/ 293 w 778"/>
                    <a:gd name="T7" fmla="*/ 147 h 778"/>
                    <a:gd name="T8" fmla="*/ 147 w 778"/>
                    <a:gd name="T9" fmla="*/ 293 h 778"/>
                    <a:gd name="T10" fmla="*/ 0 w 778"/>
                    <a:gd name="T11" fmla="*/ 147 h 77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778"/>
                    <a:gd name="T19" fmla="*/ 0 h 778"/>
                    <a:gd name="T20" fmla="*/ 778 w 778"/>
                    <a:gd name="T21" fmla="*/ 778 h 77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778" h="778">
                      <a:moveTo>
                        <a:pt x="0" y="389"/>
                      </a:moveTo>
                      <a:cubicBezTo>
                        <a:pt x="0" y="174"/>
                        <a:pt x="174" y="0"/>
                        <a:pt x="389" y="0"/>
                      </a:cubicBezTo>
                      <a:cubicBezTo>
                        <a:pt x="604" y="0"/>
                        <a:pt x="778" y="174"/>
                        <a:pt x="778" y="389"/>
                      </a:cubicBezTo>
                      <a:cubicBezTo>
                        <a:pt x="778" y="389"/>
                        <a:pt x="778" y="389"/>
                        <a:pt x="778" y="389"/>
                      </a:cubicBezTo>
                      <a:cubicBezTo>
                        <a:pt x="778" y="604"/>
                        <a:pt x="604" y="778"/>
                        <a:pt x="389" y="778"/>
                      </a:cubicBezTo>
                      <a:cubicBezTo>
                        <a:pt x="174" y="778"/>
                        <a:pt x="0" y="604"/>
                        <a:pt x="0" y="389"/>
                      </a:cubicBezTo>
                    </a:path>
                  </a:pathLst>
                </a:custGeom>
                <a:solidFill>
                  <a:srgbClr val="66FF99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038" name="Freeform 16"/>
                <p:cNvSpPr>
                  <a:spLocks/>
                </p:cNvSpPr>
                <p:nvPr/>
              </p:nvSpPr>
              <p:spPr bwMode="auto">
                <a:xfrm>
                  <a:off x="2895" y="1500"/>
                  <a:ext cx="293" cy="293"/>
                </a:xfrm>
                <a:custGeom>
                  <a:avLst/>
                  <a:gdLst>
                    <a:gd name="T0" fmla="*/ 0 w 293"/>
                    <a:gd name="T1" fmla="*/ 147 h 293"/>
                    <a:gd name="T2" fmla="*/ 147 w 293"/>
                    <a:gd name="T3" fmla="*/ 0 h 293"/>
                    <a:gd name="T4" fmla="*/ 293 w 293"/>
                    <a:gd name="T5" fmla="*/ 147 h 293"/>
                    <a:gd name="T6" fmla="*/ 293 w 293"/>
                    <a:gd name="T7" fmla="*/ 147 h 293"/>
                    <a:gd name="T8" fmla="*/ 147 w 293"/>
                    <a:gd name="T9" fmla="*/ 293 h 293"/>
                    <a:gd name="T10" fmla="*/ 0 w 293"/>
                    <a:gd name="T11" fmla="*/ 147 h 29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93"/>
                    <a:gd name="T19" fmla="*/ 0 h 293"/>
                    <a:gd name="T20" fmla="*/ 293 w 293"/>
                    <a:gd name="T21" fmla="*/ 293 h 29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93" h="293">
                      <a:moveTo>
                        <a:pt x="0" y="147"/>
                      </a:moveTo>
                      <a:cubicBezTo>
                        <a:pt x="0" y="66"/>
                        <a:pt x="66" y="0"/>
                        <a:pt x="147" y="0"/>
                      </a:cubicBezTo>
                      <a:cubicBezTo>
                        <a:pt x="228" y="0"/>
                        <a:pt x="293" y="66"/>
                        <a:pt x="293" y="147"/>
                      </a:cubicBezTo>
                      <a:cubicBezTo>
                        <a:pt x="293" y="147"/>
                        <a:pt x="293" y="147"/>
                        <a:pt x="293" y="147"/>
                      </a:cubicBezTo>
                      <a:cubicBezTo>
                        <a:pt x="293" y="228"/>
                        <a:pt x="228" y="293"/>
                        <a:pt x="147" y="293"/>
                      </a:cubicBezTo>
                      <a:cubicBezTo>
                        <a:pt x="66" y="293"/>
                        <a:pt x="0" y="228"/>
                        <a:pt x="0" y="147"/>
                      </a:cubicBezTo>
                    </a:path>
                  </a:pathLst>
                </a:custGeom>
                <a:noFill/>
                <a:ln w="3175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039" name="Rectangle 17"/>
                <p:cNvSpPr>
                  <a:spLocks noChangeArrowheads="1"/>
                </p:cNvSpPr>
                <p:nvPr/>
              </p:nvSpPr>
              <p:spPr bwMode="auto">
                <a:xfrm>
                  <a:off x="2957" y="1488"/>
                  <a:ext cx="188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/>
                <a:p>
                  <a:r>
                    <a:rPr lang="en-US" sz="2800" i="1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x</a:t>
                  </a:r>
                  <a:r>
                    <a:rPr lang="en-US" sz="2800" i="1" baseline="-25000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4</a:t>
                  </a:r>
                </a:p>
              </p:txBody>
            </p:sp>
          </p:grpSp>
          <p:sp>
            <p:nvSpPr>
              <p:cNvPr id="42029" name="Freeform 18"/>
              <p:cNvSpPr>
                <a:spLocks/>
              </p:cNvSpPr>
              <p:nvPr/>
            </p:nvSpPr>
            <p:spPr bwMode="auto">
              <a:xfrm>
                <a:off x="3264" y="3485"/>
                <a:ext cx="456" cy="283"/>
              </a:xfrm>
              <a:custGeom>
                <a:avLst/>
                <a:gdLst>
                  <a:gd name="T0" fmla="*/ 0 w 456"/>
                  <a:gd name="T1" fmla="*/ 0 h 283"/>
                  <a:gd name="T2" fmla="*/ 456 w 456"/>
                  <a:gd name="T3" fmla="*/ 283 h 283"/>
                  <a:gd name="T4" fmla="*/ 0 60000 65536"/>
                  <a:gd name="T5" fmla="*/ 0 60000 65536"/>
                  <a:gd name="T6" fmla="*/ 0 w 456"/>
                  <a:gd name="T7" fmla="*/ 0 h 283"/>
                  <a:gd name="T8" fmla="*/ 456 w 456"/>
                  <a:gd name="T9" fmla="*/ 283 h 28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56" h="283">
                    <a:moveTo>
                      <a:pt x="0" y="0"/>
                    </a:moveTo>
                    <a:lnTo>
                      <a:pt x="456" y="283"/>
                    </a:lnTo>
                  </a:path>
                </a:pathLst>
              </a:custGeom>
              <a:noFill/>
              <a:ln w="50800">
                <a:solidFill>
                  <a:srgbClr val="333399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2030" name="Freeform 19"/>
              <p:cNvSpPr>
                <a:spLocks/>
              </p:cNvSpPr>
              <p:nvPr/>
            </p:nvSpPr>
            <p:spPr bwMode="auto">
              <a:xfrm>
                <a:off x="3072" y="3485"/>
                <a:ext cx="90" cy="283"/>
              </a:xfrm>
              <a:custGeom>
                <a:avLst/>
                <a:gdLst>
                  <a:gd name="T0" fmla="*/ 0 w 90"/>
                  <a:gd name="T1" fmla="*/ 0 h 283"/>
                  <a:gd name="T2" fmla="*/ 90 w 90"/>
                  <a:gd name="T3" fmla="*/ 283 h 283"/>
                  <a:gd name="T4" fmla="*/ 0 60000 65536"/>
                  <a:gd name="T5" fmla="*/ 0 60000 65536"/>
                  <a:gd name="T6" fmla="*/ 0 w 90"/>
                  <a:gd name="T7" fmla="*/ 0 h 283"/>
                  <a:gd name="T8" fmla="*/ 90 w 90"/>
                  <a:gd name="T9" fmla="*/ 283 h 28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0" h="283">
                    <a:moveTo>
                      <a:pt x="0" y="0"/>
                    </a:moveTo>
                    <a:lnTo>
                      <a:pt x="90" y="283"/>
                    </a:lnTo>
                  </a:path>
                </a:pathLst>
              </a:custGeom>
              <a:noFill/>
              <a:ln w="50800">
                <a:solidFill>
                  <a:schemeClr val="accent2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grpSp>
            <p:nvGrpSpPr>
              <p:cNvPr id="42031" name="Group 20"/>
              <p:cNvGrpSpPr>
                <a:grpSpLocks/>
              </p:cNvGrpSpPr>
              <p:nvPr/>
            </p:nvGrpSpPr>
            <p:grpSpPr bwMode="auto">
              <a:xfrm>
                <a:off x="3547" y="3216"/>
                <a:ext cx="293" cy="305"/>
                <a:chOff x="2895" y="1488"/>
                <a:chExt cx="293" cy="305"/>
              </a:xfrm>
            </p:grpSpPr>
            <p:sp>
              <p:nvSpPr>
                <p:cNvPr id="42034" name="Freeform 21"/>
                <p:cNvSpPr>
                  <a:spLocks/>
                </p:cNvSpPr>
                <p:nvPr/>
              </p:nvSpPr>
              <p:spPr bwMode="auto">
                <a:xfrm>
                  <a:off x="2895" y="1500"/>
                  <a:ext cx="293" cy="293"/>
                </a:xfrm>
                <a:custGeom>
                  <a:avLst/>
                  <a:gdLst>
                    <a:gd name="T0" fmla="*/ 0 w 778"/>
                    <a:gd name="T1" fmla="*/ 147 h 778"/>
                    <a:gd name="T2" fmla="*/ 147 w 778"/>
                    <a:gd name="T3" fmla="*/ 0 h 778"/>
                    <a:gd name="T4" fmla="*/ 293 w 778"/>
                    <a:gd name="T5" fmla="*/ 147 h 778"/>
                    <a:gd name="T6" fmla="*/ 293 w 778"/>
                    <a:gd name="T7" fmla="*/ 147 h 778"/>
                    <a:gd name="T8" fmla="*/ 147 w 778"/>
                    <a:gd name="T9" fmla="*/ 293 h 778"/>
                    <a:gd name="T10" fmla="*/ 0 w 778"/>
                    <a:gd name="T11" fmla="*/ 147 h 77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778"/>
                    <a:gd name="T19" fmla="*/ 0 h 778"/>
                    <a:gd name="T20" fmla="*/ 778 w 778"/>
                    <a:gd name="T21" fmla="*/ 778 h 77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778" h="778">
                      <a:moveTo>
                        <a:pt x="0" y="389"/>
                      </a:moveTo>
                      <a:cubicBezTo>
                        <a:pt x="0" y="174"/>
                        <a:pt x="174" y="0"/>
                        <a:pt x="389" y="0"/>
                      </a:cubicBezTo>
                      <a:cubicBezTo>
                        <a:pt x="604" y="0"/>
                        <a:pt x="778" y="174"/>
                        <a:pt x="778" y="389"/>
                      </a:cubicBezTo>
                      <a:cubicBezTo>
                        <a:pt x="778" y="389"/>
                        <a:pt x="778" y="389"/>
                        <a:pt x="778" y="389"/>
                      </a:cubicBezTo>
                      <a:cubicBezTo>
                        <a:pt x="778" y="604"/>
                        <a:pt x="604" y="778"/>
                        <a:pt x="389" y="778"/>
                      </a:cubicBezTo>
                      <a:cubicBezTo>
                        <a:pt x="174" y="778"/>
                        <a:pt x="0" y="604"/>
                        <a:pt x="0" y="389"/>
                      </a:cubicBezTo>
                    </a:path>
                  </a:pathLst>
                </a:custGeom>
                <a:solidFill>
                  <a:srgbClr val="66FF99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035" name="Freeform 22"/>
                <p:cNvSpPr>
                  <a:spLocks/>
                </p:cNvSpPr>
                <p:nvPr/>
              </p:nvSpPr>
              <p:spPr bwMode="auto">
                <a:xfrm>
                  <a:off x="2895" y="1500"/>
                  <a:ext cx="293" cy="293"/>
                </a:xfrm>
                <a:custGeom>
                  <a:avLst/>
                  <a:gdLst>
                    <a:gd name="T0" fmla="*/ 0 w 293"/>
                    <a:gd name="T1" fmla="*/ 147 h 293"/>
                    <a:gd name="T2" fmla="*/ 147 w 293"/>
                    <a:gd name="T3" fmla="*/ 0 h 293"/>
                    <a:gd name="T4" fmla="*/ 293 w 293"/>
                    <a:gd name="T5" fmla="*/ 147 h 293"/>
                    <a:gd name="T6" fmla="*/ 293 w 293"/>
                    <a:gd name="T7" fmla="*/ 147 h 293"/>
                    <a:gd name="T8" fmla="*/ 147 w 293"/>
                    <a:gd name="T9" fmla="*/ 293 h 293"/>
                    <a:gd name="T10" fmla="*/ 0 w 293"/>
                    <a:gd name="T11" fmla="*/ 147 h 29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93"/>
                    <a:gd name="T19" fmla="*/ 0 h 293"/>
                    <a:gd name="T20" fmla="*/ 293 w 293"/>
                    <a:gd name="T21" fmla="*/ 293 h 29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93" h="293">
                      <a:moveTo>
                        <a:pt x="0" y="147"/>
                      </a:moveTo>
                      <a:cubicBezTo>
                        <a:pt x="0" y="66"/>
                        <a:pt x="66" y="0"/>
                        <a:pt x="147" y="0"/>
                      </a:cubicBezTo>
                      <a:cubicBezTo>
                        <a:pt x="228" y="0"/>
                        <a:pt x="293" y="66"/>
                        <a:pt x="293" y="147"/>
                      </a:cubicBezTo>
                      <a:cubicBezTo>
                        <a:pt x="293" y="147"/>
                        <a:pt x="293" y="147"/>
                        <a:pt x="293" y="147"/>
                      </a:cubicBezTo>
                      <a:cubicBezTo>
                        <a:pt x="293" y="228"/>
                        <a:pt x="228" y="293"/>
                        <a:pt x="147" y="293"/>
                      </a:cubicBezTo>
                      <a:cubicBezTo>
                        <a:pt x="66" y="293"/>
                        <a:pt x="0" y="228"/>
                        <a:pt x="0" y="147"/>
                      </a:cubicBezTo>
                    </a:path>
                  </a:pathLst>
                </a:custGeom>
                <a:noFill/>
                <a:ln w="3175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036" name="Rectangle 23"/>
                <p:cNvSpPr>
                  <a:spLocks noChangeArrowheads="1"/>
                </p:cNvSpPr>
                <p:nvPr/>
              </p:nvSpPr>
              <p:spPr bwMode="auto">
                <a:xfrm>
                  <a:off x="2957" y="1488"/>
                  <a:ext cx="188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/>
                <a:p>
                  <a:r>
                    <a:rPr lang="en-US" sz="2800" i="1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x</a:t>
                  </a:r>
                  <a:r>
                    <a:rPr lang="en-US" sz="2800" i="1" baseline="-25000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4</a:t>
                  </a:r>
                </a:p>
              </p:txBody>
            </p:sp>
          </p:grpSp>
          <p:sp>
            <p:nvSpPr>
              <p:cNvPr id="42032" name="Freeform 24"/>
              <p:cNvSpPr>
                <a:spLocks/>
              </p:cNvSpPr>
              <p:nvPr/>
            </p:nvSpPr>
            <p:spPr bwMode="auto">
              <a:xfrm>
                <a:off x="3726" y="3485"/>
                <a:ext cx="66" cy="289"/>
              </a:xfrm>
              <a:custGeom>
                <a:avLst/>
                <a:gdLst>
                  <a:gd name="T0" fmla="*/ 66 w 66"/>
                  <a:gd name="T1" fmla="*/ 0 h 289"/>
                  <a:gd name="T2" fmla="*/ 0 w 66"/>
                  <a:gd name="T3" fmla="*/ 289 h 289"/>
                  <a:gd name="T4" fmla="*/ 0 60000 65536"/>
                  <a:gd name="T5" fmla="*/ 0 60000 65536"/>
                  <a:gd name="T6" fmla="*/ 0 w 66"/>
                  <a:gd name="T7" fmla="*/ 0 h 289"/>
                  <a:gd name="T8" fmla="*/ 66 w 66"/>
                  <a:gd name="T9" fmla="*/ 289 h 28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66" h="289">
                    <a:moveTo>
                      <a:pt x="66" y="0"/>
                    </a:moveTo>
                    <a:lnTo>
                      <a:pt x="0" y="289"/>
                    </a:lnTo>
                  </a:path>
                </a:pathLst>
              </a:custGeom>
              <a:noFill/>
              <a:ln w="50800">
                <a:solidFill>
                  <a:schemeClr val="accent2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2033" name="Freeform 25"/>
              <p:cNvSpPr>
                <a:spLocks/>
              </p:cNvSpPr>
              <p:nvPr/>
            </p:nvSpPr>
            <p:spPr bwMode="auto">
              <a:xfrm>
                <a:off x="3168" y="3485"/>
                <a:ext cx="432" cy="277"/>
              </a:xfrm>
              <a:custGeom>
                <a:avLst/>
                <a:gdLst>
                  <a:gd name="T0" fmla="*/ 432 w 432"/>
                  <a:gd name="T1" fmla="*/ 0 h 277"/>
                  <a:gd name="T2" fmla="*/ 0 w 432"/>
                  <a:gd name="T3" fmla="*/ 277 h 277"/>
                  <a:gd name="T4" fmla="*/ 0 60000 65536"/>
                  <a:gd name="T5" fmla="*/ 0 60000 65536"/>
                  <a:gd name="T6" fmla="*/ 0 w 432"/>
                  <a:gd name="T7" fmla="*/ 0 h 277"/>
                  <a:gd name="T8" fmla="*/ 432 w 432"/>
                  <a:gd name="T9" fmla="*/ 277 h 27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32" h="277">
                    <a:moveTo>
                      <a:pt x="432" y="0"/>
                    </a:moveTo>
                    <a:lnTo>
                      <a:pt x="0" y="277"/>
                    </a:lnTo>
                  </a:path>
                </a:pathLst>
              </a:custGeom>
              <a:noFill/>
              <a:ln w="50800">
                <a:solidFill>
                  <a:srgbClr val="333399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41994" name="Group 26"/>
            <p:cNvGrpSpPr>
              <a:grpSpLocks/>
            </p:cNvGrpSpPr>
            <p:nvPr/>
          </p:nvGrpSpPr>
          <p:grpSpPr bwMode="auto">
            <a:xfrm>
              <a:off x="3936" y="2592"/>
              <a:ext cx="821" cy="558"/>
              <a:chOff x="3019" y="3216"/>
              <a:chExt cx="821" cy="558"/>
            </a:xfrm>
          </p:grpSpPr>
          <p:grpSp>
            <p:nvGrpSpPr>
              <p:cNvPr id="42016" name="Group 27"/>
              <p:cNvGrpSpPr>
                <a:grpSpLocks/>
              </p:cNvGrpSpPr>
              <p:nvPr/>
            </p:nvGrpSpPr>
            <p:grpSpPr bwMode="auto">
              <a:xfrm>
                <a:off x="3019" y="3216"/>
                <a:ext cx="293" cy="305"/>
                <a:chOff x="2895" y="1488"/>
                <a:chExt cx="293" cy="305"/>
              </a:xfrm>
            </p:grpSpPr>
            <p:sp>
              <p:nvSpPr>
                <p:cNvPr id="42025" name="Freeform 28"/>
                <p:cNvSpPr>
                  <a:spLocks/>
                </p:cNvSpPr>
                <p:nvPr/>
              </p:nvSpPr>
              <p:spPr bwMode="auto">
                <a:xfrm>
                  <a:off x="2895" y="1500"/>
                  <a:ext cx="293" cy="293"/>
                </a:xfrm>
                <a:custGeom>
                  <a:avLst/>
                  <a:gdLst>
                    <a:gd name="T0" fmla="*/ 0 w 778"/>
                    <a:gd name="T1" fmla="*/ 147 h 778"/>
                    <a:gd name="T2" fmla="*/ 147 w 778"/>
                    <a:gd name="T3" fmla="*/ 0 h 778"/>
                    <a:gd name="T4" fmla="*/ 293 w 778"/>
                    <a:gd name="T5" fmla="*/ 147 h 778"/>
                    <a:gd name="T6" fmla="*/ 293 w 778"/>
                    <a:gd name="T7" fmla="*/ 147 h 778"/>
                    <a:gd name="T8" fmla="*/ 147 w 778"/>
                    <a:gd name="T9" fmla="*/ 293 h 778"/>
                    <a:gd name="T10" fmla="*/ 0 w 778"/>
                    <a:gd name="T11" fmla="*/ 147 h 77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778"/>
                    <a:gd name="T19" fmla="*/ 0 h 778"/>
                    <a:gd name="T20" fmla="*/ 778 w 778"/>
                    <a:gd name="T21" fmla="*/ 778 h 77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778" h="778">
                      <a:moveTo>
                        <a:pt x="0" y="389"/>
                      </a:moveTo>
                      <a:cubicBezTo>
                        <a:pt x="0" y="174"/>
                        <a:pt x="174" y="0"/>
                        <a:pt x="389" y="0"/>
                      </a:cubicBezTo>
                      <a:cubicBezTo>
                        <a:pt x="604" y="0"/>
                        <a:pt x="778" y="174"/>
                        <a:pt x="778" y="389"/>
                      </a:cubicBezTo>
                      <a:cubicBezTo>
                        <a:pt x="778" y="389"/>
                        <a:pt x="778" y="389"/>
                        <a:pt x="778" y="389"/>
                      </a:cubicBezTo>
                      <a:cubicBezTo>
                        <a:pt x="778" y="604"/>
                        <a:pt x="604" y="778"/>
                        <a:pt x="389" y="778"/>
                      </a:cubicBezTo>
                      <a:cubicBezTo>
                        <a:pt x="174" y="778"/>
                        <a:pt x="0" y="604"/>
                        <a:pt x="0" y="389"/>
                      </a:cubicBezTo>
                    </a:path>
                  </a:pathLst>
                </a:custGeom>
                <a:solidFill>
                  <a:srgbClr val="66FF99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026" name="Freeform 29"/>
                <p:cNvSpPr>
                  <a:spLocks/>
                </p:cNvSpPr>
                <p:nvPr/>
              </p:nvSpPr>
              <p:spPr bwMode="auto">
                <a:xfrm>
                  <a:off x="2895" y="1500"/>
                  <a:ext cx="293" cy="293"/>
                </a:xfrm>
                <a:custGeom>
                  <a:avLst/>
                  <a:gdLst>
                    <a:gd name="T0" fmla="*/ 0 w 293"/>
                    <a:gd name="T1" fmla="*/ 147 h 293"/>
                    <a:gd name="T2" fmla="*/ 147 w 293"/>
                    <a:gd name="T3" fmla="*/ 0 h 293"/>
                    <a:gd name="T4" fmla="*/ 293 w 293"/>
                    <a:gd name="T5" fmla="*/ 147 h 293"/>
                    <a:gd name="T6" fmla="*/ 293 w 293"/>
                    <a:gd name="T7" fmla="*/ 147 h 293"/>
                    <a:gd name="T8" fmla="*/ 147 w 293"/>
                    <a:gd name="T9" fmla="*/ 293 h 293"/>
                    <a:gd name="T10" fmla="*/ 0 w 293"/>
                    <a:gd name="T11" fmla="*/ 147 h 29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93"/>
                    <a:gd name="T19" fmla="*/ 0 h 293"/>
                    <a:gd name="T20" fmla="*/ 293 w 293"/>
                    <a:gd name="T21" fmla="*/ 293 h 29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93" h="293">
                      <a:moveTo>
                        <a:pt x="0" y="147"/>
                      </a:moveTo>
                      <a:cubicBezTo>
                        <a:pt x="0" y="66"/>
                        <a:pt x="66" y="0"/>
                        <a:pt x="147" y="0"/>
                      </a:cubicBezTo>
                      <a:cubicBezTo>
                        <a:pt x="228" y="0"/>
                        <a:pt x="293" y="66"/>
                        <a:pt x="293" y="147"/>
                      </a:cubicBezTo>
                      <a:cubicBezTo>
                        <a:pt x="293" y="147"/>
                        <a:pt x="293" y="147"/>
                        <a:pt x="293" y="147"/>
                      </a:cubicBezTo>
                      <a:cubicBezTo>
                        <a:pt x="293" y="228"/>
                        <a:pt x="228" y="293"/>
                        <a:pt x="147" y="293"/>
                      </a:cubicBezTo>
                      <a:cubicBezTo>
                        <a:pt x="66" y="293"/>
                        <a:pt x="0" y="228"/>
                        <a:pt x="0" y="147"/>
                      </a:cubicBezTo>
                    </a:path>
                  </a:pathLst>
                </a:custGeom>
                <a:noFill/>
                <a:ln w="3175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027" name="Rectangle 30"/>
                <p:cNvSpPr>
                  <a:spLocks noChangeArrowheads="1"/>
                </p:cNvSpPr>
                <p:nvPr/>
              </p:nvSpPr>
              <p:spPr bwMode="auto">
                <a:xfrm>
                  <a:off x="2957" y="1488"/>
                  <a:ext cx="188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/>
                <a:p>
                  <a:r>
                    <a:rPr lang="en-US" sz="2800" i="1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x</a:t>
                  </a:r>
                  <a:r>
                    <a:rPr lang="en-US" sz="2800" i="1" baseline="-25000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3</a:t>
                  </a:r>
                </a:p>
              </p:txBody>
            </p:sp>
          </p:grpSp>
          <p:sp>
            <p:nvSpPr>
              <p:cNvPr id="42017" name="Freeform 31"/>
              <p:cNvSpPr>
                <a:spLocks/>
              </p:cNvSpPr>
              <p:nvPr/>
            </p:nvSpPr>
            <p:spPr bwMode="auto">
              <a:xfrm>
                <a:off x="3264" y="3485"/>
                <a:ext cx="456" cy="283"/>
              </a:xfrm>
              <a:custGeom>
                <a:avLst/>
                <a:gdLst>
                  <a:gd name="T0" fmla="*/ 0 w 456"/>
                  <a:gd name="T1" fmla="*/ 0 h 283"/>
                  <a:gd name="T2" fmla="*/ 456 w 456"/>
                  <a:gd name="T3" fmla="*/ 283 h 283"/>
                  <a:gd name="T4" fmla="*/ 0 60000 65536"/>
                  <a:gd name="T5" fmla="*/ 0 60000 65536"/>
                  <a:gd name="T6" fmla="*/ 0 w 456"/>
                  <a:gd name="T7" fmla="*/ 0 h 283"/>
                  <a:gd name="T8" fmla="*/ 456 w 456"/>
                  <a:gd name="T9" fmla="*/ 283 h 28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56" h="283">
                    <a:moveTo>
                      <a:pt x="0" y="0"/>
                    </a:moveTo>
                    <a:lnTo>
                      <a:pt x="456" y="283"/>
                    </a:lnTo>
                  </a:path>
                </a:pathLst>
              </a:custGeom>
              <a:noFill/>
              <a:ln w="50800">
                <a:solidFill>
                  <a:srgbClr val="333399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2018" name="Freeform 32"/>
              <p:cNvSpPr>
                <a:spLocks/>
              </p:cNvSpPr>
              <p:nvPr/>
            </p:nvSpPr>
            <p:spPr bwMode="auto">
              <a:xfrm>
                <a:off x="3072" y="3485"/>
                <a:ext cx="90" cy="283"/>
              </a:xfrm>
              <a:custGeom>
                <a:avLst/>
                <a:gdLst>
                  <a:gd name="T0" fmla="*/ 0 w 90"/>
                  <a:gd name="T1" fmla="*/ 0 h 283"/>
                  <a:gd name="T2" fmla="*/ 90 w 90"/>
                  <a:gd name="T3" fmla="*/ 283 h 283"/>
                  <a:gd name="T4" fmla="*/ 0 60000 65536"/>
                  <a:gd name="T5" fmla="*/ 0 60000 65536"/>
                  <a:gd name="T6" fmla="*/ 0 w 90"/>
                  <a:gd name="T7" fmla="*/ 0 h 283"/>
                  <a:gd name="T8" fmla="*/ 90 w 90"/>
                  <a:gd name="T9" fmla="*/ 283 h 28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0" h="283">
                    <a:moveTo>
                      <a:pt x="0" y="0"/>
                    </a:moveTo>
                    <a:lnTo>
                      <a:pt x="90" y="283"/>
                    </a:lnTo>
                  </a:path>
                </a:pathLst>
              </a:custGeom>
              <a:noFill/>
              <a:ln w="50800">
                <a:solidFill>
                  <a:schemeClr val="accent2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grpSp>
            <p:nvGrpSpPr>
              <p:cNvPr id="42019" name="Group 33"/>
              <p:cNvGrpSpPr>
                <a:grpSpLocks/>
              </p:cNvGrpSpPr>
              <p:nvPr/>
            </p:nvGrpSpPr>
            <p:grpSpPr bwMode="auto">
              <a:xfrm>
                <a:off x="3547" y="3216"/>
                <a:ext cx="293" cy="305"/>
                <a:chOff x="2895" y="1488"/>
                <a:chExt cx="293" cy="305"/>
              </a:xfrm>
            </p:grpSpPr>
            <p:sp>
              <p:nvSpPr>
                <p:cNvPr id="42022" name="Freeform 34"/>
                <p:cNvSpPr>
                  <a:spLocks/>
                </p:cNvSpPr>
                <p:nvPr/>
              </p:nvSpPr>
              <p:spPr bwMode="auto">
                <a:xfrm>
                  <a:off x="2895" y="1500"/>
                  <a:ext cx="293" cy="293"/>
                </a:xfrm>
                <a:custGeom>
                  <a:avLst/>
                  <a:gdLst>
                    <a:gd name="T0" fmla="*/ 0 w 778"/>
                    <a:gd name="T1" fmla="*/ 147 h 778"/>
                    <a:gd name="T2" fmla="*/ 147 w 778"/>
                    <a:gd name="T3" fmla="*/ 0 h 778"/>
                    <a:gd name="T4" fmla="*/ 293 w 778"/>
                    <a:gd name="T5" fmla="*/ 147 h 778"/>
                    <a:gd name="T6" fmla="*/ 293 w 778"/>
                    <a:gd name="T7" fmla="*/ 147 h 778"/>
                    <a:gd name="T8" fmla="*/ 147 w 778"/>
                    <a:gd name="T9" fmla="*/ 293 h 778"/>
                    <a:gd name="T10" fmla="*/ 0 w 778"/>
                    <a:gd name="T11" fmla="*/ 147 h 77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778"/>
                    <a:gd name="T19" fmla="*/ 0 h 778"/>
                    <a:gd name="T20" fmla="*/ 778 w 778"/>
                    <a:gd name="T21" fmla="*/ 778 h 77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778" h="778">
                      <a:moveTo>
                        <a:pt x="0" y="389"/>
                      </a:moveTo>
                      <a:cubicBezTo>
                        <a:pt x="0" y="174"/>
                        <a:pt x="174" y="0"/>
                        <a:pt x="389" y="0"/>
                      </a:cubicBezTo>
                      <a:cubicBezTo>
                        <a:pt x="604" y="0"/>
                        <a:pt x="778" y="174"/>
                        <a:pt x="778" y="389"/>
                      </a:cubicBezTo>
                      <a:cubicBezTo>
                        <a:pt x="778" y="389"/>
                        <a:pt x="778" y="389"/>
                        <a:pt x="778" y="389"/>
                      </a:cubicBezTo>
                      <a:cubicBezTo>
                        <a:pt x="778" y="604"/>
                        <a:pt x="604" y="778"/>
                        <a:pt x="389" y="778"/>
                      </a:cubicBezTo>
                      <a:cubicBezTo>
                        <a:pt x="174" y="778"/>
                        <a:pt x="0" y="604"/>
                        <a:pt x="0" y="389"/>
                      </a:cubicBezTo>
                    </a:path>
                  </a:pathLst>
                </a:custGeom>
                <a:solidFill>
                  <a:srgbClr val="66FF99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023" name="Freeform 35"/>
                <p:cNvSpPr>
                  <a:spLocks/>
                </p:cNvSpPr>
                <p:nvPr/>
              </p:nvSpPr>
              <p:spPr bwMode="auto">
                <a:xfrm>
                  <a:off x="2895" y="1500"/>
                  <a:ext cx="293" cy="293"/>
                </a:xfrm>
                <a:custGeom>
                  <a:avLst/>
                  <a:gdLst>
                    <a:gd name="T0" fmla="*/ 0 w 293"/>
                    <a:gd name="T1" fmla="*/ 147 h 293"/>
                    <a:gd name="T2" fmla="*/ 147 w 293"/>
                    <a:gd name="T3" fmla="*/ 0 h 293"/>
                    <a:gd name="T4" fmla="*/ 293 w 293"/>
                    <a:gd name="T5" fmla="*/ 147 h 293"/>
                    <a:gd name="T6" fmla="*/ 293 w 293"/>
                    <a:gd name="T7" fmla="*/ 147 h 293"/>
                    <a:gd name="T8" fmla="*/ 147 w 293"/>
                    <a:gd name="T9" fmla="*/ 293 h 293"/>
                    <a:gd name="T10" fmla="*/ 0 w 293"/>
                    <a:gd name="T11" fmla="*/ 147 h 29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93"/>
                    <a:gd name="T19" fmla="*/ 0 h 293"/>
                    <a:gd name="T20" fmla="*/ 293 w 293"/>
                    <a:gd name="T21" fmla="*/ 293 h 29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93" h="293">
                      <a:moveTo>
                        <a:pt x="0" y="147"/>
                      </a:moveTo>
                      <a:cubicBezTo>
                        <a:pt x="0" y="66"/>
                        <a:pt x="66" y="0"/>
                        <a:pt x="147" y="0"/>
                      </a:cubicBezTo>
                      <a:cubicBezTo>
                        <a:pt x="228" y="0"/>
                        <a:pt x="293" y="66"/>
                        <a:pt x="293" y="147"/>
                      </a:cubicBezTo>
                      <a:cubicBezTo>
                        <a:pt x="293" y="147"/>
                        <a:pt x="293" y="147"/>
                        <a:pt x="293" y="147"/>
                      </a:cubicBezTo>
                      <a:cubicBezTo>
                        <a:pt x="293" y="228"/>
                        <a:pt x="228" y="293"/>
                        <a:pt x="147" y="293"/>
                      </a:cubicBezTo>
                      <a:cubicBezTo>
                        <a:pt x="66" y="293"/>
                        <a:pt x="0" y="228"/>
                        <a:pt x="0" y="147"/>
                      </a:cubicBezTo>
                    </a:path>
                  </a:pathLst>
                </a:custGeom>
                <a:noFill/>
                <a:ln w="3175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024" name="Rectangle 36"/>
                <p:cNvSpPr>
                  <a:spLocks noChangeArrowheads="1"/>
                </p:cNvSpPr>
                <p:nvPr/>
              </p:nvSpPr>
              <p:spPr bwMode="auto">
                <a:xfrm>
                  <a:off x="2957" y="1488"/>
                  <a:ext cx="188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/>
                <a:p>
                  <a:r>
                    <a:rPr lang="en-US" sz="2800" i="1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x</a:t>
                  </a:r>
                  <a:r>
                    <a:rPr lang="en-US" sz="2800" i="1" baseline="-25000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3</a:t>
                  </a:r>
                </a:p>
              </p:txBody>
            </p:sp>
          </p:grpSp>
          <p:sp>
            <p:nvSpPr>
              <p:cNvPr id="42020" name="Freeform 37"/>
              <p:cNvSpPr>
                <a:spLocks/>
              </p:cNvSpPr>
              <p:nvPr/>
            </p:nvSpPr>
            <p:spPr bwMode="auto">
              <a:xfrm>
                <a:off x="3726" y="3485"/>
                <a:ext cx="66" cy="289"/>
              </a:xfrm>
              <a:custGeom>
                <a:avLst/>
                <a:gdLst>
                  <a:gd name="T0" fmla="*/ 66 w 66"/>
                  <a:gd name="T1" fmla="*/ 0 h 289"/>
                  <a:gd name="T2" fmla="*/ 0 w 66"/>
                  <a:gd name="T3" fmla="*/ 289 h 289"/>
                  <a:gd name="T4" fmla="*/ 0 60000 65536"/>
                  <a:gd name="T5" fmla="*/ 0 60000 65536"/>
                  <a:gd name="T6" fmla="*/ 0 w 66"/>
                  <a:gd name="T7" fmla="*/ 0 h 289"/>
                  <a:gd name="T8" fmla="*/ 66 w 66"/>
                  <a:gd name="T9" fmla="*/ 289 h 28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66" h="289">
                    <a:moveTo>
                      <a:pt x="66" y="0"/>
                    </a:moveTo>
                    <a:lnTo>
                      <a:pt x="0" y="289"/>
                    </a:lnTo>
                  </a:path>
                </a:pathLst>
              </a:custGeom>
              <a:noFill/>
              <a:ln w="50800">
                <a:solidFill>
                  <a:schemeClr val="accent2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2021" name="Freeform 38"/>
              <p:cNvSpPr>
                <a:spLocks/>
              </p:cNvSpPr>
              <p:nvPr/>
            </p:nvSpPr>
            <p:spPr bwMode="auto">
              <a:xfrm>
                <a:off x="3168" y="3485"/>
                <a:ext cx="432" cy="277"/>
              </a:xfrm>
              <a:custGeom>
                <a:avLst/>
                <a:gdLst>
                  <a:gd name="T0" fmla="*/ 432 w 432"/>
                  <a:gd name="T1" fmla="*/ 0 h 277"/>
                  <a:gd name="T2" fmla="*/ 0 w 432"/>
                  <a:gd name="T3" fmla="*/ 277 h 277"/>
                  <a:gd name="T4" fmla="*/ 0 60000 65536"/>
                  <a:gd name="T5" fmla="*/ 0 60000 65536"/>
                  <a:gd name="T6" fmla="*/ 0 w 432"/>
                  <a:gd name="T7" fmla="*/ 0 h 277"/>
                  <a:gd name="T8" fmla="*/ 432 w 432"/>
                  <a:gd name="T9" fmla="*/ 277 h 27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32" h="277">
                    <a:moveTo>
                      <a:pt x="432" y="0"/>
                    </a:moveTo>
                    <a:lnTo>
                      <a:pt x="0" y="277"/>
                    </a:lnTo>
                  </a:path>
                </a:pathLst>
              </a:custGeom>
              <a:noFill/>
              <a:ln w="50800">
                <a:solidFill>
                  <a:srgbClr val="333399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41995" name="Group 39"/>
            <p:cNvGrpSpPr>
              <a:grpSpLocks/>
            </p:cNvGrpSpPr>
            <p:nvPr/>
          </p:nvGrpSpPr>
          <p:grpSpPr bwMode="auto">
            <a:xfrm>
              <a:off x="3931" y="2064"/>
              <a:ext cx="821" cy="558"/>
              <a:chOff x="3019" y="3216"/>
              <a:chExt cx="821" cy="558"/>
            </a:xfrm>
          </p:grpSpPr>
          <p:grpSp>
            <p:nvGrpSpPr>
              <p:cNvPr id="42004" name="Group 40"/>
              <p:cNvGrpSpPr>
                <a:grpSpLocks/>
              </p:cNvGrpSpPr>
              <p:nvPr/>
            </p:nvGrpSpPr>
            <p:grpSpPr bwMode="auto">
              <a:xfrm>
                <a:off x="3019" y="3216"/>
                <a:ext cx="293" cy="305"/>
                <a:chOff x="2895" y="1488"/>
                <a:chExt cx="293" cy="305"/>
              </a:xfrm>
            </p:grpSpPr>
            <p:sp>
              <p:nvSpPr>
                <p:cNvPr id="42013" name="Freeform 41"/>
                <p:cNvSpPr>
                  <a:spLocks/>
                </p:cNvSpPr>
                <p:nvPr/>
              </p:nvSpPr>
              <p:spPr bwMode="auto">
                <a:xfrm>
                  <a:off x="2895" y="1500"/>
                  <a:ext cx="293" cy="293"/>
                </a:xfrm>
                <a:custGeom>
                  <a:avLst/>
                  <a:gdLst>
                    <a:gd name="T0" fmla="*/ 0 w 778"/>
                    <a:gd name="T1" fmla="*/ 147 h 778"/>
                    <a:gd name="T2" fmla="*/ 147 w 778"/>
                    <a:gd name="T3" fmla="*/ 0 h 778"/>
                    <a:gd name="T4" fmla="*/ 293 w 778"/>
                    <a:gd name="T5" fmla="*/ 147 h 778"/>
                    <a:gd name="T6" fmla="*/ 293 w 778"/>
                    <a:gd name="T7" fmla="*/ 147 h 778"/>
                    <a:gd name="T8" fmla="*/ 147 w 778"/>
                    <a:gd name="T9" fmla="*/ 293 h 778"/>
                    <a:gd name="T10" fmla="*/ 0 w 778"/>
                    <a:gd name="T11" fmla="*/ 147 h 77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778"/>
                    <a:gd name="T19" fmla="*/ 0 h 778"/>
                    <a:gd name="T20" fmla="*/ 778 w 778"/>
                    <a:gd name="T21" fmla="*/ 778 h 77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778" h="778">
                      <a:moveTo>
                        <a:pt x="0" y="389"/>
                      </a:moveTo>
                      <a:cubicBezTo>
                        <a:pt x="0" y="174"/>
                        <a:pt x="174" y="0"/>
                        <a:pt x="389" y="0"/>
                      </a:cubicBezTo>
                      <a:cubicBezTo>
                        <a:pt x="604" y="0"/>
                        <a:pt x="778" y="174"/>
                        <a:pt x="778" y="389"/>
                      </a:cubicBezTo>
                      <a:cubicBezTo>
                        <a:pt x="778" y="389"/>
                        <a:pt x="778" y="389"/>
                        <a:pt x="778" y="389"/>
                      </a:cubicBezTo>
                      <a:cubicBezTo>
                        <a:pt x="778" y="604"/>
                        <a:pt x="604" y="778"/>
                        <a:pt x="389" y="778"/>
                      </a:cubicBezTo>
                      <a:cubicBezTo>
                        <a:pt x="174" y="778"/>
                        <a:pt x="0" y="604"/>
                        <a:pt x="0" y="389"/>
                      </a:cubicBezTo>
                    </a:path>
                  </a:pathLst>
                </a:custGeom>
                <a:solidFill>
                  <a:srgbClr val="66FF99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014" name="Freeform 42"/>
                <p:cNvSpPr>
                  <a:spLocks/>
                </p:cNvSpPr>
                <p:nvPr/>
              </p:nvSpPr>
              <p:spPr bwMode="auto">
                <a:xfrm>
                  <a:off x="2895" y="1500"/>
                  <a:ext cx="293" cy="293"/>
                </a:xfrm>
                <a:custGeom>
                  <a:avLst/>
                  <a:gdLst>
                    <a:gd name="T0" fmla="*/ 0 w 293"/>
                    <a:gd name="T1" fmla="*/ 147 h 293"/>
                    <a:gd name="T2" fmla="*/ 147 w 293"/>
                    <a:gd name="T3" fmla="*/ 0 h 293"/>
                    <a:gd name="T4" fmla="*/ 293 w 293"/>
                    <a:gd name="T5" fmla="*/ 147 h 293"/>
                    <a:gd name="T6" fmla="*/ 293 w 293"/>
                    <a:gd name="T7" fmla="*/ 147 h 293"/>
                    <a:gd name="T8" fmla="*/ 147 w 293"/>
                    <a:gd name="T9" fmla="*/ 293 h 293"/>
                    <a:gd name="T10" fmla="*/ 0 w 293"/>
                    <a:gd name="T11" fmla="*/ 147 h 29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93"/>
                    <a:gd name="T19" fmla="*/ 0 h 293"/>
                    <a:gd name="T20" fmla="*/ 293 w 293"/>
                    <a:gd name="T21" fmla="*/ 293 h 29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93" h="293">
                      <a:moveTo>
                        <a:pt x="0" y="147"/>
                      </a:moveTo>
                      <a:cubicBezTo>
                        <a:pt x="0" y="66"/>
                        <a:pt x="66" y="0"/>
                        <a:pt x="147" y="0"/>
                      </a:cubicBezTo>
                      <a:cubicBezTo>
                        <a:pt x="228" y="0"/>
                        <a:pt x="293" y="66"/>
                        <a:pt x="293" y="147"/>
                      </a:cubicBezTo>
                      <a:cubicBezTo>
                        <a:pt x="293" y="147"/>
                        <a:pt x="293" y="147"/>
                        <a:pt x="293" y="147"/>
                      </a:cubicBezTo>
                      <a:cubicBezTo>
                        <a:pt x="293" y="228"/>
                        <a:pt x="228" y="293"/>
                        <a:pt x="147" y="293"/>
                      </a:cubicBezTo>
                      <a:cubicBezTo>
                        <a:pt x="66" y="293"/>
                        <a:pt x="0" y="228"/>
                        <a:pt x="0" y="147"/>
                      </a:cubicBezTo>
                    </a:path>
                  </a:pathLst>
                </a:custGeom>
                <a:noFill/>
                <a:ln w="3175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015" name="Rectangle 43"/>
                <p:cNvSpPr>
                  <a:spLocks noChangeArrowheads="1"/>
                </p:cNvSpPr>
                <p:nvPr/>
              </p:nvSpPr>
              <p:spPr bwMode="auto">
                <a:xfrm>
                  <a:off x="2957" y="1488"/>
                  <a:ext cx="188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/>
                <a:p>
                  <a:r>
                    <a:rPr lang="en-US" sz="2800" i="1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x</a:t>
                  </a:r>
                  <a:r>
                    <a:rPr lang="en-US" sz="2800" i="1" baseline="-25000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2</a:t>
                  </a:r>
                </a:p>
              </p:txBody>
            </p:sp>
          </p:grpSp>
          <p:sp>
            <p:nvSpPr>
              <p:cNvPr id="42005" name="Freeform 44"/>
              <p:cNvSpPr>
                <a:spLocks/>
              </p:cNvSpPr>
              <p:nvPr/>
            </p:nvSpPr>
            <p:spPr bwMode="auto">
              <a:xfrm>
                <a:off x="3264" y="3485"/>
                <a:ext cx="456" cy="283"/>
              </a:xfrm>
              <a:custGeom>
                <a:avLst/>
                <a:gdLst>
                  <a:gd name="T0" fmla="*/ 0 w 456"/>
                  <a:gd name="T1" fmla="*/ 0 h 283"/>
                  <a:gd name="T2" fmla="*/ 456 w 456"/>
                  <a:gd name="T3" fmla="*/ 283 h 283"/>
                  <a:gd name="T4" fmla="*/ 0 60000 65536"/>
                  <a:gd name="T5" fmla="*/ 0 60000 65536"/>
                  <a:gd name="T6" fmla="*/ 0 w 456"/>
                  <a:gd name="T7" fmla="*/ 0 h 283"/>
                  <a:gd name="T8" fmla="*/ 456 w 456"/>
                  <a:gd name="T9" fmla="*/ 283 h 28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56" h="283">
                    <a:moveTo>
                      <a:pt x="0" y="0"/>
                    </a:moveTo>
                    <a:lnTo>
                      <a:pt x="456" y="283"/>
                    </a:lnTo>
                  </a:path>
                </a:pathLst>
              </a:custGeom>
              <a:noFill/>
              <a:ln w="50800">
                <a:solidFill>
                  <a:srgbClr val="333399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2006" name="Freeform 45"/>
              <p:cNvSpPr>
                <a:spLocks/>
              </p:cNvSpPr>
              <p:nvPr/>
            </p:nvSpPr>
            <p:spPr bwMode="auto">
              <a:xfrm>
                <a:off x="3072" y="3485"/>
                <a:ext cx="90" cy="283"/>
              </a:xfrm>
              <a:custGeom>
                <a:avLst/>
                <a:gdLst>
                  <a:gd name="T0" fmla="*/ 0 w 90"/>
                  <a:gd name="T1" fmla="*/ 0 h 283"/>
                  <a:gd name="T2" fmla="*/ 90 w 90"/>
                  <a:gd name="T3" fmla="*/ 283 h 283"/>
                  <a:gd name="T4" fmla="*/ 0 60000 65536"/>
                  <a:gd name="T5" fmla="*/ 0 60000 65536"/>
                  <a:gd name="T6" fmla="*/ 0 w 90"/>
                  <a:gd name="T7" fmla="*/ 0 h 283"/>
                  <a:gd name="T8" fmla="*/ 90 w 90"/>
                  <a:gd name="T9" fmla="*/ 283 h 28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0" h="283">
                    <a:moveTo>
                      <a:pt x="0" y="0"/>
                    </a:moveTo>
                    <a:lnTo>
                      <a:pt x="90" y="283"/>
                    </a:lnTo>
                  </a:path>
                </a:pathLst>
              </a:custGeom>
              <a:noFill/>
              <a:ln w="50800">
                <a:solidFill>
                  <a:srgbClr val="800000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grpSp>
            <p:nvGrpSpPr>
              <p:cNvPr id="42007" name="Group 46"/>
              <p:cNvGrpSpPr>
                <a:grpSpLocks/>
              </p:cNvGrpSpPr>
              <p:nvPr/>
            </p:nvGrpSpPr>
            <p:grpSpPr bwMode="auto">
              <a:xfrm>
                <a:off x="3547" y="3216"/>
                <a:ext cx="293" cy="305"/>
                <a:chOff x="2895" y="1488"/>
                <a:chExt cx="293" cy="305"/>
              </a:xfrm>
            </p:grpSpPr>
            <p:sp>
              <p:nvSpPr>
                <p:cNvPr id="42010" name="Freeform 47"/>
                <p:cNvSpPr>
                  <a:spLocks/>
                </p:cNvSpPr>
                <p:nvPr/>
              </p:nvSpPr>
              <p:spPr bwMode="auto">
                <a:xfrm>
                  <a:off x="2895" y="1500"/>
                  <a:ext cx="293" cy="293"/>
                </a:xfrm>
                <a:custGeom>
                  <a:avLst/>
                  <a:gdLst>
                    <a:gd name="T0" fmla="*/ 0 w 778"/>
                    <a:gd name="T1" fmla="*/ 147 h 778"/>
                    <a:gd name="T2" fmla="*/ 147 w 778"/>
                    <a:gd name="T3" fmla="*/ 0 h 778"/>
                    <a:gd name="T4" fmla="*/ 293 w 778"/>
                    <a:gd name="T5" fmla="*/ 147 h 778"/>
                    <a:gd name="T6" fmla="*/ 293 w 778"/>
                    <a:gd name="T7" fmla="*/ 147 h 778"/>
                    <a:gd name="T8" fmla="*/ 147 w 778"/>
                    <a:gd name="T9" fmla="*/ 293 h 778"/>
                    <a:gd name="T10" fmla="*/ 0 w 778"/>
                    <a:gd name="T11" fmla="*/ 147 h 77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778"/>
                    <a:gd name="T19" fmla="*/ 0 h 778"/>
                    <a:gd name="T20" fmla="*/ 778 w 778"/>
                    <a:gd name="T21" fmla="*/ 778 h 77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778" h="778">
                      <a:moveTo>
                        <a:pt x="0" y="389"/>
                      </a:moveTo>
                      <a:cubicBezTo>
                        <a:pt x="0" y="174"/>
                        <a:pt x="174" y="0"/>
                        <a:pt x="389" y="0"/>
                      </a:cubicBezTo>
                      <a:cubicBezTo>
                        <a:pt x="604" y="0"/>
                        <a:pt x="778" y="174"/>
                        <a:pt x="778" y="389"/>
                      </a:cubicBezTo>
                      <a:cubicBezTo>
                        <a:pt x="778" y="389"/>
                        <a:pt x="778" y="389"/>
                        <a:pt x="778" y="389"/>
                      </a:cubicBezTo>
                      <a:cubicBezTo>
                        <a:pt x="778" y="604"/>
                        <a:pt x="604" y="778"/>
                        <a:pt x="389" y="778"/>
                      </a:cubicBezTo>
                      <a:cubicBezTo>
                        <a:pt x="174" y="778"/>
                        <a:pt x="0" y="604"/>
                        <a:pt x="0" y="389"/>
                      </a:cubicBezTo>
                    </a:path>
                  </a:pathLst>
                </a:custGeom>
                <a:solidFill>
                  <a:srgbClr val="66FF99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011" name="Freeform 48"/>
                <p:cNvSpPr>
                  <a:spLocks/>
                </p:cNvSpPr>
                <p:nvPr/>
              </p:nvSpPr>
              <p:spPr bwMode="auto">
                <a:xfrm>
                  <a:off x="2895" y="1500"/>
                  <a:ext cx="293" cy="293"/>
                </a:xfrm>
                <a:custGeom>
                  <a:avLst/>
                  <a:gdLst>
                    <a:gd name="T0" fmla="*/ 0 w 293"/>
                    <a:gd name="T1" fmla="*/ 147 h 293"/>
                    <a:gd name="T2" fmla="*/ 147 w 293"/>
                    <a:gd name="T3" fmla="*/ 0 h 293"/>
                    <a:gd name="T4" fmla="*/ 293 w 293"/>
                    <a:gd name="T5" fmla="*/ 147 h 293"/>
                    <a:gd name="T6" fmla="*/ 293 w 293"/>
                    <a:gd name="T7" fmla="*/ 147 h 293"/>
                    <a:gd name="T8" fmla="*/ 147 w 293"/>
                    <a:gd name="T9" fmla="*/ 293 h 293"/>
                    <a:gd name="T10" fmla="*/ 0 w 293"/>
                    <a:gd name="T11" fmla="*/ 147 h 29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93"/>
                    <a:gd name="T19" fmla="*/ 0 h 293"/>
                    <a:gd name="T20" fmla="*/ 293 w 293"/>
                    <a:gd name="T21" fmla="*/ 293 h 29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93" h="293">
                      <a:moveTo>
                        <a:pt x="0" y="147"/>
                      </a:moveTo>
                      <a:cubicBezTo>
                        <a:pt x="0" y="66"/>
                        <a:pt x="66" y="0"/>
                        <a:pt x="147" y="0"/>
                      </a:cubicBezTo>
                      <a:cubicBezTo>
                        <a:pt x="228" y="0"/>
                        <a:pt x="293" y="66"/>
                        <a:pt x="293" y="147"/>
                      </a:cubicBezTo>
                      <a:cubicBezTo>
                        <a:pt x="293" y="147"/>
                        <a:pt x="293" y="147"/>
                        <a:pt x="293" y="147"/>
                      </a:cubicBezTo>
                      <a:cubicBezTo>
                        <a:pt x="293" y="228"/>
                        <a:pt x="228" y="293"/>
                        <a:pt x="147" y="293"/>
                      </a:cubicBezTo>
                      <a:cubicBezTo>
                        <a:pt x="66" y="293"/>
                        <a:pt x="0" y="228"/>
                        <a:pt x="0" y="147"/>
                      </a:cubicBezTo>
                    </a:path>
                  </a:pathLst>
                </a:custGeom>
                <a:noFill/>
                <a:ln w="3175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012" name="Rectangle 49"/>
                <p:cNvSpPr>
                  <a:spLocks noChangeArrowheads="1"/>
                </p:cNvSpPr>
                <p:nvPr/>
              </p:nvSpPr>
              <p:spPr bwMode="auto">
                <a:xfrm>
                  <a:off x="2957" y="1488"/>
                  <a:ext cx="188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/>
                <a:p>
                  <a:r>
                    <a:rPr lang="en-US" sz="2800" i="1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x</a:t>
                  </a:r>
                  <a:r>
                    <a:rPr lang="en-US" sz="2800" i="1" baseline="-25000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2</a:t>
                  </a:r>
                </a:p>
              </p:txBody>
            </p:sp>
          </p:grpSp>
          <p:sp>
            <p:nvSpPr>
              <p:cNvPr id="42008" name="Freeform 50"/>
              <p:cNvSpPr>
                <a:spLocks/>
              </p:cNvSpPr>
              <p:nvPr/>
            </p:nvSpPr>
            <p:spPr bwMode="auto">
              <a:xfrm>
                <a:off x="3726" y="3485"/>
                <a:ext cx="66" cy="289"/>
              </a:xfrm>
              <a:custGeom>
                <a:avLst/>
                <a:gdLst>
                  <a:gd name="T0" fmla="*/ 66 w 66"/>
                  <a:gd name="T1" fmla="*/ 0 h 289"/>
                  <a:gd name="T2" fmla="*/ 0 w 66"/>
                  <a:gd name="T3" fmla="*/ 289 h 289"/>
                  <a:gd name="T4" fmla="*/ 0 60000 65536"/>
                  <a:gd name="T5" fmla="*/ 0 60000 65536"/>
                  <a:gd name="T6" fmla="*/ 0 w 66"/>
                  <a:gd name="T7" fmla="*/ 0 h 289"/>
                  <a:gd name="T8" fmla="*/ 66 w 66"/>
                  <a:gd name="T9" fmla="*/ 289 h 28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66" h="289">
                    <a:moveTo>
                      <a:pt x="66" y="0"/>
                    </a:moveTo>
                    <a:lnTo>
                      <a:pt x="0" y="289"/>
                    </a:lnTo>
                  </a:path>
                </a:pathLst>
              </a:custGeom>
              <a:noFill/>
              <a:ln w="50800">
                <a:solidFill>
                  <a:schemeClr val="accent2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2009" name="Freeform 51"/>
              <p:cNvSpPr>
                <a:spLocks/>
              </p:cNvSpPr>
              <p:nvPr/>
            </p:nvSpPr>
            <p:spPr bwMode="auto">
              <a:xfrm>
                <a:off x="3168" y="3485"/>
                <a:ext cx="432" cy="277"/>
              </a:xfrm>
              <a:custGeom>
                <a:avLst/>
                <a:gdLst>
                  <a:gd name="T0" fmla="*/ 432 w 432"/>
                  <a:gd name="T1" fmla="*/ 0 h 277"/>
                  <a:gd name="T2" fmla="*/ 0 w 432"/>
                  <a:gd name="T3" fmla="*/ 277 h 277"/>
                  <a:gd name="T4" fmla="*/ 0 60000 65536"/>
                  <a:gd name="T5" fmla="*/ 0 60000 65536"/>
                  <a:gd name="T6" fmla="*/ 0 w 432"/>
                  <a:gd name="T7" fmla="*/ 0 h 277"/>
                  <a:gd name="T8" fmla="*/ 432 w 432"/>
                  <a:gd name="T9" fmla="*/ 277 h 27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32" h="277">
                    <a:moveTo>
                      <a:pt x="432" y="0"/>
                    </a:moveTo>
                    <a:lnTo>
                      <a:pt x="0" y="277"/>
                    </a:lnTo>
                  </a:path>
                </a:pathLst>
              </a:custGeom>
              <a:noFill/>
              <a:ln w="50800">
                <a:solidFill>
                  <a:srgbClr val="333399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41996" name="Group 52"/>
            <p:cNvGrpSpPr>
              <a:grpSpLocks/>
            </p:cNvGrpSpPr>
            <p:nvPr/>
          </p:nvGrpSpPr>
          <p:grpSpPr bwMode="auto">
            <a:xfrm>
              <a:off x="4094" y="1600"/>
              <a:ext cx="512" cy="477"/>
              <a:chOff x="4064" y="1344"/>
              <a:chExt cx="512" cy="477"/>
            </a:xfrm>
          </p:grpSpPr>
          <p:grpSp>
            <p:nvGrpSpPr>
              <p:cNvPr id="41998" name="Group 53"/>
              <p:cNvGrpSpPr>
                <a:grpSpLocks/>
              </p:cNvGrpSpPr>
              <p:nvPr/>
            </p:nvGrpSpPr>
            <p:grpSpPr bwMode="auto">
              <a:xfrm>
                <a:off x="4171" y="1344"/>
                <a:ext cx="293" cy="305"/>
                <a:chOff x="2895" y="1488"/>
                <a:chExt cx="293" cy="305"/>
              </a:xfrm>
            </p:grpSpPr>
            <p:sp>
              <p:nvSpPr>
                <p:cNvPr id="42001" name="Freeform 54"/>
                <p:cNvSpPr>
                  <a:spLocks/>
                </p:cNvSpPr>
                <p:nvPr/>
              </p:nvSpPr>
              <p:spPr bwMode="auto">
                <a:xfrm>
                  <a:off x="2895" y="1500"/>
                  <a:ext cx="293" cy="293"/>
                </a:xfrm>
                <a:custGeom>
                  <a:avLst/>
                  <a:gdLst>
                    <a:gd name="T0" fmla="*/ 0 w 778"/>
                    <a:gd name="T1" fmla="*/ 147 h 778"/>
                    <a:gd name="T2" fmla="*/ 147 w 778"/>
                    <a:gd name="T3" fmla="*/ 0 h 778"/>
                    <a:gd name="T4" fmla="*/ 293 w 778"/>
                    <a:gd name="T5" fmla="*/ 147 h 778"/>
                    <a:gd name="T6" fmla="*/ 293 w 778"/>
                    <a:gd name="T7" fmla="*/ 147 h 778"/>
                    <a:gd name="T8" fmla="*/ 147 w 778"/>
                    <a:gd name="T9" fmla="*/ 293 h 778"/>
                    <a:gd name="T10" fmla="*/ 0 w 778"/>
                    <a:gd name="T11" fmla="*/ 147 h 77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778"/>
                    <a:gd name="T19" fmla="*/ 0 h 778"/>
                    <a:gd name="T20" fmla="*/ 778 w 778"/>
                    <a:gd name="T21" fmla="*/ 778 h 77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778" h="778">
                      <a:moveTo>
                        <a:pt x="0" y="389"/>
                      </a:moveTo>
                      <a:cubicBezTo>
                        <a:pt x="0" y="174"/>
                        <a:pt x="174" y="0"/>
                        <a:pt x="389" y="0"/>
                      </a:cubicBezTo>
                      <a:cubicBezTo>
                        <a:pt x="604" y="0"/>
                        <a:pt x="778" y="174"/>
                        <a:pt x="778" y="389"/>
                      </a:cubicBezTo>
                      <a:cubicBezTo>
                        <a:pt x="778" y="389"/>
                        <a:pt x="778" y="389"/>
                        <a:pt x="778" y="389"/>
                      </a:cubicBezTo>
                      <a:cubicBezTo>
                        <a:pt x="778" y="604"/>
                        <a:pt x="604" y="778"/>
                        <a:pt x="389" y="778"/>
                      </a:cubicBezTo>
                      <a:cubicBezTo>
                        <a:pt x="174" y="778"/>
                        <a:pt x="0" y="604"/>
                        <a:pt x="0" y="389"/>
                      </a:cubicBezTo>
                    </a:path>
                  </a:pathLst>
                </a:custGeom>
                <a:solidFill>
                  <a:srgbClr val="66FF99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002" name="Freeform 55"/>
                <p:cNvSpPr>
                  <a:spLocks/>
                </p:cNvSpPr>
                <p:nvPr/>
              </p:nvSpPr>
              <p:spPr bwMode="auto">
                <a:xfrm>
                  <a:off x="2895" y="1500"/>
                  <a:ext cx="293" cy="293"/>
                </a:xfrm>
                <a:custGeom>
                  <a:avLst/>
                  <a:gdLst>
                    <a:gd name="T0" fmla="*/ 0 w 293"/>
                    <a:gd name="T1" fmla="*/ 147 h 293"/>
                    <a:gd name="T2" fmla="*/ 147 w 293"/>
                    <a:gd name="T3" fmla="*/ 0 h 293"/>
                    <a:gd name="T4" fmla="*/ 293 w 293"/>
                    <a:gd name="T5" fmla="*/ 147 h 293"/>
                    <a:gd name="T6" fmla="*/ 293 w 293"/>
                    <a:gd name="T7" fmla="*/ 147 h 293"/>
                    <a:gd name="T8" fmla="*/ 147 w 293"/>
                    <a:gd name="T9" fmla="*/ 293 h 293"/>
                    <a:gd name="T10" fmla="*/ 0 w 293"/>
                    <a:gd name="T11" fmla="*/ 147 h 29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93"/>
                    <a:gd name="T19" fmla="*/ 0 h 293"/>
                    <a:gd name="T20" fmla="*/ 293 w 293"/>
                    <a:gd name="T21" fmla="*/ 293 h 29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93" h="293">
                      <a:moveTo>
                        <a:pt x="0" y="147"/>
                      </a:moveTo>
                      <a:cubicBezTo>
                        <a:pt x="0" y="66"/>
                        <a:pt x="66" y="0"/>
                        <a:pt x="147" y="0"/>
                      </a:cubicBezTo>
                      <a:cubicBezTo>
                        <a:pt x="228" y="0"/>
                        <a:pt x="293" y="66"/>
                        <a:pt x="293" y="147"/>
                      </a:cubicBezTo>
                      <a:cubicBezTo>
                        <a:pt x="293" y="147"/>
                        <a:pt x="293" y="147"/>
                        <a:pt x="293" y="147"/>
                      </a:cubicBezTo>
                      <a:cubicBezTo>
                        <a:pt x="293" y="228"/>
                        <a:pt x="228" y="293"/>
                        <a:pt x="147" y="293"/>
                      </a:cubicBezTo>
                      <a:cubicBezTo>
                        <a:pt x="66" y="293"/>
                        <a:pt x="0" y="228"/>
                        <a:pt x="0" y="147"/>
                      </a:cubicBezTo>
                    </a:path>
                  </a:pathLst>
                </a:custGeom>
                <a:noFill/>
                <a:ln w="3175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003" name="Rectangle 56"/>
                <p:cNvSpPr>
                  <a:spLocks noChangeArrowheads="1"/>
                </p:cNvSpPr>
                <p:nvPr/>
              </p:nvSpPr>
              <p:spPr bwMode="auto">
                <a:xfrm>
                  <a:off x="2957" y="1488"/>
                  <a:ext cx="188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/>
                <a:p>
                  <a:r>
                    <a:rPr lang="en-US" sz="2800" i="1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x</a:t>
                  </a:r>
                  <a:r>
                    <a:rPr lang="en-US" sz="2800" i="1" baseline="-25000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1</a:t>
                  </a:r>
                </a:p>
              </p:txBody>
            </p:sp>
          </p:grpSp>
          <p:sp>
            <p:nvSpPr>
              <p:cNvPr id="41999" name="Freeform 57"/>
              <p:cNvSpPr>
                <a:spLocks/>
              </p:cNvSpPr>
              <p:nvPr/>
            </p:nvSpPr>
            <p:spPr bwMode="auto">
              <a:xfrm>
                <a:off x="4416" y="1613"/>
                <a:ext cx="160" cy="208"/>
              </a:xfrm>
              <a:custGeom>
                <a:avLst/>
                <a:gdLst>
                  <a:gd name="T0" fmla="*/ 0 w 160"/>
                  <a:gd name="T1" fmla="*/ 0 h 208"/>
                  <a:gd name="T2" fmla="*/ 160 w 160"/>
                  <a:gd name="T3" fmla="*/ 208 h 208"/>
                  <a:gd name="T4" fmla="*/ 0 60000 65536"/>
                  <a:gd name="T5" fmla="*/ 0 60000 65536"/>
                  <a:gd name="T6" fmla="*/ 0 w 160"/>
                  <a:gd name="T7" fmla="*/ 0 h 208"/>
                  <a:gd name="T8" fmla="*/ 160 w 160"/>
                  <a:gd name="T9" fmla="*/ 208 h 20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0" h="208">
                    <a:moveTo>
                      <a:pt x="0" y="0"/>
                    </a:moveTo>
                    <a:lnTo>
                      <a:pt x="160" y="208"/>
                    </a:lnTo>
                  </a:path>
                </a:pathLst>
              </a:custGeom>
              <a:noFill/>
              <a:ln w="50800">
                <a:solidFill>
                  <a:srgbClr val="32329A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2000" name="Freeform 58"/>
              <p:cNvSpPr>
                <a:spLocks/>
              </p:cNvSpPr>
              <p:nvPr/>
            </p:nvSpPr>
            <p:spPr bwMode="auto">
              <a:xfrm flipH="1">
                <a:off x="4064" y="1613"/>
                <a:ext cx="160" cy="208"/>
              </a:xfrm>
              <a:custGeom>
                <a:avLst/>
                <a:gdLst>
                  <a:gd name="T0" fmla="*/ 0 w 160"/>
                  <a:gd name="T1" fmla="*/ 0 h 208"/>
                  <a:gd name="T2" fmla="*/ 160 w 160"/>
                  <a:gd name="T3" fmla="*/ 208 h 208"/>
                  <a:gd name="T4" fmla="*/ 0 60000 65536"/>
                  <a:gd name="T5" fmla="*/ 0 60000 65536"/>
                  <a:gd name="T6" fmla="*/ 0 w 160"/>
                  <a:gd name="T7" fmla="*/ 0 h 208"/>
                  <a:gd name="T8" fmla="*/ 160 w 160"/>
                  <a:gd name="T9" fmla="*/ 208 h 20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0" h="208">
                    <a:moveTo>
                      <a:pt x="0" y="0"/>
                    </a:moveTo>
                    <a:lnTo>
                      <a:pt x="160" y="208"/>
                    </a:lnTo>
                  </a:path>
                </a:pathLst>
              </a:custGeom>
              <a:noFill/>
              <a:ln w="50800">
                <a:solidFill>
                  <a:srgbClr val="800000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41997" name="Freeform 59"/>
            <p:cNvSpPr>
              <a:spLocks/>
            </p:cNvSpPr>
            <p:nvPr/>
          </p:nvSpPr>
          <p:spPr bwMode="auto">
            <a:xfrm flipH="1">
              <a:off x="4368" y="1392"/>
              <a:ext cx="64" cy="208"/>
            </a:xfrm>
            <a:custGeom>
              <a:avLst/>
              <a:gdLst>
                <a:gd name="T0" fmla="*/ 0 w 160"/>
                <a:gd name="T1" fmla="*/ 0 h 208"/>
                <a:gd name="T2" fmla="*/ 64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66FF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graphicFrame>
        <p:nvGraphicFramePr>
          <p:cNvPr id="41990" name="Object 60"/>
          <p:cNvGraphicFramePr>
            <a:graphicFrameLocks noChangeAspect="1"/>
          </p:cNvGraphicFramePr>
          <p:nvPr/>
        </p:nvGraphicFramePr>
        <p:xfrm>
          <a:off x="6096000" y="5638800"/>
          <a:ext cx="2374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4" imgW="2362200" imgH="342900" progId="Equation.3">
                  <p:embed/>
                </p:oleObj>
              </mc:Choice>
              <mc:Fallback>
                <p:oleObj name="Equation" r:id="rId4" imgW="2362200" imgH="342900" progId="Equation.3">
                  <p:embed/>
                  <p:pic>
                    <p:nvPicPr>
                      <p:cNvPr id="0" name="Picture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5638800"/>
                        <a:ext cx="2374900" cy="3429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r>
              <a:rPr lang="en-US" sz="1400" b="0"/>
              <a:t>(c)  Giovanni De Micheli</a:t>
            </a:r>
          </a:p>
        </p:txBody>
      </p:sp>
      <p:sp>
        <p:nvSpPr>
          <p:cNvPr id="3993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5EB501EC-21AD-AF47-83B7-C5522B013D02}" type="slidenum">
              <a:rPr lang="en-US" sz="1400" b="0"/>
              <a:pPr/>
              <a:t>17</a:t>
            </a:fld>
            <a:endParaRPr lang="en-US" sz="1400" b="0"/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Narrow" charset="0"/>
              </a:rPr>
              <a:t>BDD semantics</a:t>
            </a:r>
          </a:p>
        </p:txBody>
      </p:sp>
      <p:sp>
        <p:nvSpPr>
          <p:cNvPr id="39940" name="Text Box 3"/>
          <p:cNvSpPr txBox="1">
            <a:spLocks noChangeArrowheads="1"/>
          </p:cNvSpPr>
          <p:nvPr/>
        </p:nvSpPr>
        <p:spPr bwMode="auto">
          <a:xfrm>
            <a:off x="1143000" y="2108200"/>
            <a:ext cx="21685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2000" b="0">
                <a:latin typeface="Verdana" charset="0"/>
                <a:cs typeface="Arial" charset="0"/>
              </a:rPr>
              <a:t>Constant nodes</a:t>
            </a:r>
          </a:p>
        </p:txBody>
      </p:sp>
      <p:grpSp>
        <p:nvGrpSpPr>
          <p:cNvPr id="39941" name="Group 4"/>
          <p:cNvGrpSpPr>
            <a:grpSpLocks/>
          </p:cNvGrpSpPr>
          <p:nvPr/>
        </p:nvGrpSpPr>
        <p:grpSpPr bwMode="auto">
          <a:xfrm>
            <a:off x="1371600" y="2590800"/>
            <a:ext cx="265113" cy="320675"/>
            <a:chOff x="3087" y="2784"/>
            <a:chExt cx="167" cy="202"/>
          </a:xfrm>
        </p:grpSpPr>
        <p:sp>
          <p:nvSpPr>
            <p:cNvPr id="39970" name="Rectangle 5"/>
            <p:cNvSpPr>
              <a:spLocks noChangeArrowheads="1"/>
            </p:cNvSpPr>
            <p:nvPr/>
          </p:nvSpPr>
          <p:spPr bwMode="auto">
            <a:xfrm>
              <a:off x="3087" y="2809"/>
              <a:ext cx="167" cy="168"/>
            </a:xfrm>
            <a:prstGeom prst="rect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71" name="Rectangle 6"/>
            <p:cNvSpPr>
              <a:spLocks noChangeArrowheads="1"/>
            </p:cNvSpPr>
            <p:nvPr/>
          </p:nvSpPr>
          <p:spPr bwMode="auto">
            <a:xfrm>
              <a:off x="3087" y="2809"/>
              <a:ext cx="167" cy="168"/>
            </a:xfrm>
            <a:prstGeom prst="rect">
              <a:avLst/>
            </a:pr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72" name="Rectangle 7"/>
            <p:cNvSpPr>
              <a:spLocks noChangeArrowheads="1"/>
            </p:cNvSpPr>
            <p:nvPr/>
          </p:nvSpPr>
          <p:spPr bwMode="auto">
            <a:xfrm>
              <a:off x="3120" y="2784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/>
            <a:p>
              <a:r>
                <a:rPr lang="en-US" sz="2100">
                  <a:solidFill>
                    <a:srgbClr val="000080"/>
                  </a:solidFill>
                  <a:latin typeface="Times New Roman" charset="0"/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</p:grpSp>
      <p:grpSp>
        <p:nvGrpSpPr>
          <p:cNvPr id="39942" name="Group 8"/>
          <p:cNvGrpSpPr>
            <a:grpSpLocks/>
          </p:cNvGrpSpPr>
          <p:nvPr/>
        </p:nvGrpSpPr>
        <p:grpSpPr bwMode="auto">
          <a:xfrm>
            <a:off x="2554288" y="2590800"/>
            <a:ext cx="265112" cy="320675"/>
            <a:chOff x="3087" y="2784"/>
            <a:chExt cx="167" cy="202"/>
          </a:xfrm>
        </p:grpSpPr>
        <p:sp>
          <p:nvSpPr>
            <p:cNvPr id="39967" name="Rectangle 9"/>
            <p:cNvSpPr>
              <a:spLocks noChangeArrowheads="1"/>
            </p:cNvSpPr>
            <p:nvPr/>
          </p:nvSpPr>
          <p:spPr bwMode="auto">
            <a:xfrm>
              <a:off x="3087" y="2809"/>
              <a:ext cx="167" cy="168"/>
            </a:xfrm>
            <a:prstGeom prst="rect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68" name="Rectangle 10"/>
            <p:cNvSpPr>
              <a:spLocks noChangeArrowheads="1"/>
            </p:cNvSpPr>
            <p:nvPr/>
          </p:nvSpPr>
          <p:spPr bwMode="auto">
            <a:xfrm>
              <a:off x="3087" y="2809"/>
              <a:ext cx="167" cy="168"/>
            </a:xfrm>
            <a:prstGeom prst="rect">
              <a:avLst/>
            </a:pr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69" name="Rectangle 11"/>
            <p:cNvSpPr>
              <a:spLocks noChangeArrowheads="1"/>
            </p:cNvSpPr>
            <p:nvPr/>
          </p:nvSpPr>
          <p:spPr bwMode="auto">
            <a:xfrm>
              <a:off x="3120" y="2784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/>
            <a:p>
              <a:r>
                <a:rPr lang="en-US" sz="2100">
                  <a:solidFill>
                    <a:srgbClr val="000080"/>
                  </a:solidFill>
                  <a:latin typeface="Times New Roman" charset="0"/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</p:grpSp>
      <p:grpSp>
        <p:nvGrpSpPr>
          <p:cNvPr id="39943" name="Group 12"/>
          <p:cNvGrpSpPr>
            <a:grpSpLocks/>
          </p:cNvGrpSpPr>
          <p:nvPr/>
        </p:nvGrpSpPr>
        <p:grpSpPr bwMode="auto">
          <a:xfrm>
            <a:off x="3429000" y="2362200"/>
            <a:ext cx="4268788" cy="2387600"/>
            <a:chOff x="1824" y="1568"/>
            <a:chExt cx="2689" cy="1504"/>
          </a:xfrm>
        </p:grpSpPr>
        <p:grpSp>
          <p:nvGrpSpPr>
            <p:cNvPr id="39945" name="Group 13"/>
            <p:cNvGrpSpPr>
              <a:grpSpLocks/>
            </p:cNvGrpSpPr>
            <p:nvPr/>
          </p:nvGrpSpPr>
          <p:grpSpPr bwMode="auto">
            <a:xfrm>
              <a:off x="2923" y="2112"/>
              <a:ext cx="293" cy="305"/>
              <a:chOff x="2895" y="1488"/>
              <a:chExt cx="293" cy="305"/>
            </a:xfrm>
          </p:grpSpPr>
          <p:sp>
            <p:nvSpPr>
              <p:cNvPr id="39964" name="Freeform 14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965" name="Freeform 15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966" name="Rectangle 16"/>
              <p:cNvSpPr>
                <a:spLocks noChangeArrowheads="1"/>
              </p:cNvSpPr>
              <p:nvPr/>
            </p:nvSpPr>
            <p:spPr bwMode="auto">
              <a:xfrm>
                <a:off x="2995" y="1488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x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39946" name="Freeform 17"/>
            <p:cNvSpPr>
              <a:spLocks/>
            </p:cNvSpPr>
            <p:nvPr/>
          </p:nvSpPr>
          <p:spPr bwMode="auto">
            <a:xfrm>
              <a:off x="3168" y="2381"/>
              <a:ext cx="160" cy="208"/>
            </a:xfrm>
            <a:custGeom>
              <a:avLst/>
              <a:gdLst>
                <a:gd name="T0" fmla="*/ 0 w 160"/>
                <a:gd name="T1" fmla="*/ 0 h 208"/>
                <a:gd name="T2" fmla="*/ 160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9947" name="Freeform 18"/>
            <p:cNvSpPr>
              <a:spLocks/>
            </p:cNvSpPr>
            <p:nvPr/>
          </p:nvSpPr>
          <p:spPr bwMode="auto">
            <a:xfrm flipH="1">
              <a:off x="2816" y="2381"/>
              <a:ext cx="160" cy="208"/>
            </a:xfrm>
            <a:custGeom>
              <a:avLst/>
              <a:gdLst>
                <a:gd name="T0" fmla="*/ 0 w 160"/>
                <a:gd name="T1" fmla="*/ 0 h 208"/>
                <a:gd name="T2" fmla="*/ 160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9948" name="Rectangle 19"/>
            <p:cNvSpPr>
              <a:spLocks noChangeArrowheads="1"/>
            </p:cNvSpPr>
            <p:nvPr/>
          </p:nvSpPr>
          <p:spPr bwMode="auto">
            <a:xfrm>
              <a:off x="2832" y="2285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39949" name="Rectangle 20"/>
            <p:cNvSpPr>
              <a:spLocks noChangeArrowheads="1"/>
            </p:cNvSpPr>
            <p:nvPr/>
          </p:nvSpPr>
          <p:spPr bwMode="auto">
            <a:xfrm>
              <a:off x="3216" y="2285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39950" name="Freeform 21"/>
            <p:cNvSpPr>
              <a:spLocks/>
            </p:cNvSpPr>
            <p:nvPr/>
          </p:nvSpPr>
          <p:spPr bwMode="auto">
            <a:xfrm flipH="1">
              <a:off x="3104" y="1920"/>
              <a:ext cx="64" cy="208"/>
            </a:xfrm>
            <a:custGeom>
              <a:avLst/>
              <a:gdLst>
                <a:gd name="T0" fmla="*/ 0 w 160"/>
                <a:gd name="T1" fmla="*/ 0 h 208"/>
                <a:gd name="T2" fmla="*/ 64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66FF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9951" name="Text Box 22"/>
            <p:cNvSpPr txBox="1">
              <a:spLocks noChangeArrowheads="1"/>
            </p:cNvSpPr>
            <p:nvPr/>
          </p:nvSpPr>
          <p:spPr bwMode="auto">
            <a:xfrm>
              <a:off x="2640" y="1568"/>
              <a:ext cx="112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lang="en-US" sz="2000" b="0">
                  <a:latin typeface="Verdana" charset="0"/>
                  <a:cs typeface="Arial" charset="0"/>
                </a:rPr>
                <a:t>ITE(x,F1,F0)</a:t>
              </a:r>
            </a:p>
          </p:txBody>
        </p:sp>
        <p:sp>
          <p:nvSpPr>
            <p:cNvPr id="39952" name="AutoShape 23"/>
            <p:cNvSpPr>
              <a:spLocks noChangeArrowheads="1"/>
            </p:cNvSpPr>
            <p:nvPr/>
          </p:nvSpPr>
          <p:spPr bwMode="auto">
            <a:xfrm>
              <a:off x="2619" y="2592"/>
              <a:ext cx="384" cy="480"/>
            </a:xfrm>
            <a:prstGeom prst="triangle">
              <a:avLst>
                <a:gd name="adj" fmla="val 50000"/>
              </a:avLst>
            </a:prstGeom>
            <a:solidFill>
              <a:srgbClr val="008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9953" name="AutoShape 24"/>
            <p:cNvSpPr>
              <a:spLocks noChangeArrowheads="1"/>
            </p:cNvSpPr>
            <p:nvPr/>
          </p:nvSpPr>
          <p:spPr bwMode="auto">
            <a:xfrm>
              <a:off x="3132" y="2592"/>
              <a:ext cx="384" cy="480"/>
            </a:xfrm>
            <a:prstGeom prst="triangle">
              <a:avLst>
                <a:gd name="adj" fmla="val 50000"/>
              </a:avLst>
            </a:prstGeom>
            <a:solidFill>
              <a:srgbClr val="008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9954" name="Text Box 25"/>
            <p:cNvSpPr txBox="1">
              <a:spLocks noChangeArrowheads="1"/>
            </p:cNvSpPr>
            <p:nvPr/>
          </p:nvSpPr>
          <p:spPr bwMode="auto">
            <a:xfrm>
              <a:off x="3390" y="2112"/>
              <a:ext cx="9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lang="en-US" sz="2000" b="0" i="1">
                  <a:latin typeface="Verdana" charset="0"/>
                  <a:cs typeface="Arial" charset="0"/>
                </a:rPr>
                <a:t>then edge</a:t>
              </a:r>
            </a:p>
          </p:txBody>
        </p:sp>
        <p:sp>
          <p:nvSpPr>
            <p:cNvPr id="39955" name="Text Box 26"/>
            <p:cNvSpPr txBox="1">
              <a:spLocks noChangeArrowheads="1"/>
            </p:cNvSpPr>
            <p:nvPr/>
          </p:nvSpPr>
          <p:spPr bwMode="auto">
            <a:xfrm>
              <a:off x="1824" y="2112"/>
              <a:ext cx="8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lang="en-US" sz="2000" b="0" i="1">
                  <a:latin typeface="Verdana" charset="0"/>
                  <a:cs typeface="Arial" charset="0"/>
                </a:rPr>
                <a:t>else edge</a:t>
              </a:r>
            </a:p>
          </p:txBody>
        </p:sp>
        <p:sp>
          <p:nvSpPr>
            <p:cNvPr id="39956" name="Line 27"/>
            <p:cNvSpPr>
              <a:spLocks noChangeShapeType="1"/>
            </p:cNvSpPr>
            <p:nvPr/>
          </p:nvSpPr>
          <p:spPr bwMode="auto">
            <a:xfrm>
              <a:off x="2352" y="2352"/>
              <a:ext cx="432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9957" name="Line 28"/>
            <p:cNvSpPr>
              <a:spLocks noChangeShapeType="1"/>
            </p:cNvSpPr>
            <p:nvPr/>
          </p:nvSpPr>
          <p:spPr bwMode="auto">
            <a:xfrm flipH="1">
              <a:off x="3312" y="2352"/>
              <a:ext cx="432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9958" name="Text Box 29"/>
            <p:cNvSpPr txBox="1">
              <a:spLocks noChangeArrowheads="1"/>
            </p:cNvSpPr>
            <p:nvPr/>
          </p:nvSpPr>
          <p:spPr bwMode="auto">
            <a:xfrm>
              <a:off x="1824" y="2544"/>
              <a:ext cx="93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lang="en-US" sz="2000" b="0" i="1">
                  <a:latin typeface="Verdana" charset="0"/>
                  <a:cs typeface="Arial" charset="0"/>
                </a:rPr>
                <a:t>0-cofactor</a:t>
              </a:r>
            </a:p>
          </p:txBody>
        </p:sp>
        <p:sp>
          <p:nvSpPr>
            <p:cNvPr id="39959" name="Line 30"/>
            <p:cNvSpPr>
              <a:spLocks noChangeShapeType="1"/>
            </p:cNvSpPr>
            <p:nvPr/>
          </p:nvSpPr>
          <p:spPr bwMode="auto">
            <a:xfrm>
              <a:off x="2352" y="2784"/>
              <a:ext cx="288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9960" name="Text Box 31"/>
            <p:cNvSpPr txBox="1">
              <a:spLocks noChangeArrowheads="1"/>
            </p:cNvSpPr>
            <p:nvPr/>
          </p:nvSpPr>
          <p:spPr bwMode="auto">
            <a:xfrm>
              <a:off x="3578" y="2544"/>
              <a:ext cx="93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lang="en-US" sz="2000" b="0" i="1">
                  <a:latin typeface="Verdana" charset="0"/>
                  <a:cs typeface="Arial" charset="0"/>
                </a:rPr>
                <a:t>1-cofactor</a:t>
              </a:r>
            </a:p>
          </p:txBody>
        </p:sp>
        <p:sp>
          <p:nvSpPr>
            <p:cNvPr id="39961" name="Line 32"/>
            <p:cNvSpPr>
              <a:spLocks noChangeShapeType="1"/>
            </p:cNvSpPr>
            <p:nvPr/>
          </p:nvSpPr>
          <p:spPr bwMode="auto">
            <a:xfrm flipH="1">
              <a:off x="3552" y="2784"/>
              <a:ext cx="55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9962" name="Text Box 33"/>
            <p:cNvSpPr txBox="1">
              <a:spLocks noChangeArrowheads="1"/>
            </p:cNvSpPr>
            <p:nvPr/>
          </p:nvSpPr>
          <p:spPr bwMode="auto">
            <a:xfrm>
              <a:off x="2688" y="2803"/>
              <a:ext cx="34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lang="en-US" sz="2200" b="0">
                  <a:solidFill>
                    <a:schemeClr val="bg1"/>
                  </a:solidFill>
                  <a:latin typeface="Verdana" charset="0"/>
                  <a:cs typeface="Arial" charset="0"/>
                </a:rPr>
                <a:t>F</a:t>
              </a:r>
              <a:r>
                <a:rPr lang="en-US" sz="2200" b="0" baseline="-25000">
                  <a:solidFill>
                    <a:schemeClr val="bg1"/>
                  </a:solidFill>
                  <a:latin typeface="Verdana" charset="0"/>
                  <a:cs typeface="Arial" charset="0"/>
                </a:rPr>
                <a:t>0</a:t>
              </a:r>
              <a:r>
                <a:rPr lang="en-US" sz="1800" b="0">
                  <a:latin typeface="Verdana" charset="0"/>
                  <a:cs typeface="Arial" charset="0"/>
                </a:rPr>
                <a:t> </a:t>
              </a:r>
            </a:p>
          </p:txBody>
        </p:sp>
        <p:sp>
          <p:nvSpPr>
            <p:cNvPr id="39963" name="Text Box 34"/>
            <p:cNvSpPr txBox="1">
              <a:spLocks noChangeArrowheads="1"/>
            </p:cNvSpPr>
            <p:nvPr/>
          </p:nvSpPr>
          <p:spPr bwMode="auto">
            <a:xfrm>
              <a:off x="3168" y="2803"/>
              <a:ext cx="34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lang="en-US" sz="2200" b="0">
                  <a:solidFill>
                    <a:schemeClr val="bg1"/>
                  </a:solidFill>
                  <a:latin typeface="Verdana" charset="0"/>
                  <a:cs typeface="Arial" charset="0"/>
                </a:rPr>
                <a:t>F</a:t>
              </a:r>
              <a:r>
                <a:rPr lang="en-US" sz="2200" b="0" baseline="-25000">
                  <a:solidFill>
                    <a:schemeClr val="bg1"/>
                  </a:solidFill>
                  <a:latin typeface="Verdana" charset="0"/>
                  <a:cs typeface="Arial" charset="0"/>
                </a:rPr>
                <a:t>1</a:t>
              </a:r>
              <a:r>
                <a:rPr lang="en-US" sz="1800" b="0">
                  <a:latin typeface="Verdana" charset="0"/>
                  <a:cs typeface="Arial" charset="0"/>
                </a:rPr>
                <a:t> </a:t>
              </a:r>
            </a:p>
          </p:txBody>
        </p:sp>
      </p:grpSp>
      <p:sp>
        <p:nvSpPr>
          <p:cNvPr id="39944" name="Text Box 35"/>
          <p:cNvSpPr txBox="1">
            <a:spLocks noChangeArrowheads="1"/>
          </p:cNvSpPr>
          <p:nvPr/>
        </p:nvSpPr>
        <p:spPr bwMode="auto">
          <a:xfrm>
            <a:off x="381000" y="5410200"/>
            <a:ext cx="8388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800" b="0">
                <a:solidFill>
                  <a:schemeClr val="bg2"/>
                </a:solidFill>
                <a:latin typeface="Verdana" charset="0"/>
                <a:cs typeface="Arial" charset="0"/>
              </a:rPr>
              <a:t>Cofactor(F,x):</a:t>
            </a:r>
            <a:r>
              <a:rPr lang="en-US" sz="1800" b="0">
                <a:latin typeface="Verdana" charset="0"/>
                <a:cs typeface="Arial" charset="0"/>
              </a:rPr>
              <a:t> the function you obtain when you substitute </a:t>
            </a:r>
            <a:r>
              <a:rPr lang="en-US" sz="1800" b="0">
                <a:solidFill>
                  <a:schemeClr val="bg2"/>
                </a:solidFill>
                <a:latin typeface="Verdana" charset="0"/>
                <a:cs typeface="Arial" charset="0"/>
              </a:rPr>
              <a:t>1</a:t>
            </a:r>
            <a:r>
              <a:rPr lang="en-US" sz="1800" b="0">
                <a:latin typeface="Verdana" charset="0"/>
                <a:cs typeface="Arial" charset="0"/>
              </a:rPr>
              <a:t> for </a:t>
            </a:r>
            <a:r>
              <a:rPr lang="en-US" sz="1800" b="0">
                <a:solidFill>
                  <a:schemeClr val="bg2"/>
                </a:solidFill>
                <a:latin typeface="Verdana" charset="0"/>
                <a:cs typeface="Arial" charset="0"/>
              </a:rPr>
              <a:t>x</a:t>
            </a:r>
            <a:r>
              <a:rPr lang="en-US" sz="1800" b="0">
                <a:latin typeface="Verdana" charset="0"/>
                <a:cs typeface="Arial" charset="0"/>
              </a:rPr>
              <a:t> in </a:t>
            </a:r>
            <a:r>
              <a:rPr lang="en-US" sz="1800" b="0">
                <a:solidFill>
                  <a:schemeClr val="bg2"/>
                </a:solidFill>
                <a:latin typeface="Verdana" charset="0"/>
                <a:cs typeface="Arial" charset="0"/>
              </a:rPr>
              <a:t>F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r>
              <a:rPr lang="en-US" sz="1400" b="0"/>
              <a:t>(c)  Giovanni De Micheli</a:t>
            </a:r>
          </a:p>
        </p:txBody>
      </p:sp>
      <p:sp>
        <p:nvSpPr>
          <p:cNvPr id="4403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F66E2768-912A-9F4C-AD65-44E267C606A7}" type="slidenum">
              <a:rPr lang="en-US" sz="1400" b="0"/>
              <a:pPr/>
              <a:t>18</a:t>
            </a:fld>
            <a:endParaRPr lang="en-US" sz="1400" b="0"/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574675" y="-50800"/>
            <a:ext cx="8188325" cy="1216025"/>
          </a:xfrm>
        </p:spPr>
        <p:txBody>
          <a:bodyPr/>
          <a:lstStyle/>
          <a:p>
            <a:r>
              <a:rPr lang="en-US">
                <a:latin typeface="Arial Narrow" charset="0"/>
              </a:rPr>
              <a:t>A few simple functions</a:t>
            </a:r>
          </a:p>
        </p:txBody>
      </p:sp>
      <p:grpSp>
        <p:nvGrpSpPr>
          <p:cNvPr id="44036" name="Group 3"/>
          <p:cNvGrpSpPr>
            <a:grpSpLocks/>
          </p:cNvGrpSpPr>
          <p:nvPr/>
        </p:nvGrpSpPr>
        <p:grpSpPr bwMode="auto">
          <a:xfrm>
            <a:off x="1524000" y="4267200"/>
            <a:ext cx="1066800" cy="1036638"/>
            <a:chOff x="2741" y="2640"/>
            <a:chExt cx="672" cy="653"/>
          </a:xfrm>
        </p:grpSpPr>
        <p:grpSp>
          <p:nvGrpSpPr>
            <p:cNvPr id="44094" name="Group 4"/>
            <p:cNvGrpSpPr>
              <a:grpSpLocks/>
            </p:cNvGrpSpPr>
            <p:nvPr/>
          </p:nvGrpSpPr>
          <p:grpSpPr bwMode="auto">
            <a:xfrm>
              <a:off x="2928" y="2640"/>
              <a:ext cx="293" cy="305"/>
              <a:chOff x="2895" y="1488"/>
              <a:chExt cx="293" cy="305"/>
            </a:xfrm>
          </p:grpSpPr>
          <p:sp>
            <p:nvSpPr>
              <p:cNvPr id="44107" name="Freeform 5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108" name="Freeform 6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109" name="Rectangle 7"/>
              <p:cNvSpPr>
                <a:spLocks noChangeArrowheads="1"/>
              </p:cNvSpPr>
              <p:nvPr/>
            </p:nvSpPr>
            <p:spPr bwMode="auto">
              <a:xfrm>
                <a:off x="2995" y="1488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x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grpSp>
          <p:nvGrpSpPr>
            <p:cNvPr id="44095" name="Group 8"/>
            <p:cNvGrpSpPr>
              <a:grpSpLocks/>
            </p:cNvGrpSpPr>
            <p:nvPr/>
          </p:nvGrpSpPr>
          <p:grpSpPr bwMode="auto">
            <a:xfrm>
              <a:off x="3246" y="3091"/>
              <a:ext cx="167" cy="202"/>
              <a:chOff x="3087" y="2784"/>
              <a:chExt cx="167" cy="202"/>
            </a:xfrm>
          </p:grpSpPr>
          <p:sp>
            <p:nvSpPr>
              <p:cNvPr id="44104" name="Rectangle 9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105" name="Rectangle 10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106" name="Rectangle 11"/>
              <p:cNvSpPr>
                <a:spLocks noChangeArrowheads="1"/>
              </p:cNvSpPr>
              <p:nvPr/>
            </p:nvSpPr>
            <p:spPr bwMode="auto">
              <a:xfrm>
                <a:off x="3120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1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44096" name="Freeform 12"/>
            <p:cNvSpPr>
              <a:spLocks/>
            </p:cNvSpPr>
            <p:nvPr/>
          </p:nvSpPr>
          <p:spPr bwMode="auto">
            <a:xfrm>
              <a:off x="3173" y="2909"/>
              <a:ext cx="160" cy="208"/>
            </a:xfrm>
            <a:custGeom>
              <a:avLst/>
              <a:gdLst>
                <a:gd name="T0" fmla="*/ 0 w 160"/>
                <a:gd name="T1" fmla="*/ 0 h 208"/>
                <a:gd name="T2" fmla="*/ 160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44097" name="Group 13"/>
            <p:cNvGrpSpPr>
              <a:grpSpLocks/>
            </p:cNvGrpSpPr>
            <p:nvPr/>
          </p:nvGrpSpPr>
          <p:grpSpPr bwMode="auto">
            <a:xfrm>
              <a:off x="2741" y="3091"/>
              <a:ext cx="167" cy="202"/>
              <a:chOff x="3087" y="2784"/>
              <a:chExt cx="167" cy="202"/>
            </a:xfrm>
          </p:grpSpPr>
          <p:sp>
            <p:nvSpPr>
              <p:cNvPr id="44101" name="Rectangle 14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102" name="Rectangle 15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103" name="Rectangle 16"/>
              <p:cNvSpPr>
                <a:spLocks noChangeArrowheads="1"/>
              </p:cNvSpPr>
              <p:nvPr/>
            </p:nvSpPr>
            <p:spPr bwMode="auto">
              <a:xfrm>
                <a:off x="3120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0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44098" name="Freeform 17"/>
            <p:cNvSpPr>
              <a:spLocks/>
            </p:cNvSpPr>
            <p:nvPr/>
          </p:nvSpPr>
          <p:spPr bwMode="auto">
            <a:xfrm flipH="1">
              <a:off x="2821" y="2909"/>
              <a:ext cx="160" cy="208"/>
            </a:xfrm>
            <a:custGeom>
              <a:avLst/>
              <a:gdLst>
                <a:gd name="T0" fmla="*/ 0 w 160"/>
                <a:gd name="T1" fmla="*/ 0 h 208"/>
                <a:gd name="T2" fmla="*/ 160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4099" name="Rectangle 18"/>
            <p:cNvSpPr>
              <a:spLocks noChangeArrowheads="1"/>
            </p:cNvSpPr>
            <p:nvPr/>
          </p:nvSpPr>
          <p:spPr bwMode="auto">
            <a:xfrm>
              <a:off x="2837" y="2813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44100" name="Rectangle 19"/>
            <p:cNvSpPr>
              <a:spLocks noChangeArrowheads="1"/>
            </p:cNvSpPr>
            <p:nvPr/>
          </p:nvSpPr>
          <p:spPr bwMode="auto">
            <a:xfrm>
              <a:off x="3221" y="2813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</p:grpSp>
      <p:grpSp>
        <p:nvGrpSpPr>
          <p:cNvPr id="44037" name="Group 20"/>
          <p:cNvGrpSpPr>
            <a:grpSpLocks/>
          </p:cNvGrpSpPr>
          <p:nvPr/>
        </p:nvGrpSpPr>
        <p:grpSpPr bwMode="auto">
          <a:xfrm>
            <a:off x="1219200" y="2438400"/>
            <a:ext cx="265113" cy="320675"/>
            <a:chOff x="3087" y="2784"/>
            <a:chExt cx="167" cy="202"/>
          </a:xfrm>
        </p:grpSpPr>
        <p:sp>
          <p:nvSpPr>
            <p:cNvPr id="44091" name="Rectangle 21"/>
            <p:cNvSpPr>
              <a:spLocks noChangeArrowheads="1"/>
            </p:cNvSpPr>
            <p:nvPr/>
          </p:nvSpPr>
          <p:spPr bwMode="auto">
            <a:xfrm>
              <a:off x="3087" y="2809"/>
              <a:ext cx="167" cy="168"/>
            </a:xfrm>
            <a:prstGeom prst="rect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92" name="Rectangle 22"/>
            <p:cNvSpPr>
              <a:spLocks noChangeArrowheads="1"/>
            </p:cNvSpPr>
            <p:nvPr/>
          </p:nvSpPr>
          <p:spPr bwMode="auto">
            <a:xfrm>
              <a:off x="3087" y="2809"/>
              <a:ext cx="167" cy="168"/>
            </a:xfrm>
            <a:prstGeom prst="rect">
              <a:avLst/>
            </a:pr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93" name="Rectangle 23"/>
            <p:cNvSpPr>
              <a:spLocks noChangeArrowheads="1"/>
            </p:cNvSpPr>
            <p:nvPr/>
          </p:nvSpPr>
          <p:spPr bwMode="auto">
            <a:xfrm>
              <a:off x="3120" y="2784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/>
            <a:p>
              <a:r>
                <a:rPr lang="en-US" sz="2100">
                  <a:solidFill>
                    <a:srgbClr val="000080"/>
                  </a:solidFill>
                  <a:latin typeface="Times New Roman" charset="0"/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</p:grpSp>
      <p:grpSp>
        <p:nvGrpSpPr>
          <p:cNvPr id="44038" name="Group 24"/>
          <p:cNvGrpSpPr>
            <a:grpSpLocks/>
          </p:cNvGrpSpPr>
          <p:nvPr/>
        </p:nvGrpSpPr>
        <p:grpSpPr bwMode="auto">
          <a:xfrm>
            <a:off x="2401888" y="2438400"/>
            <a:ext cx="265112" cy="320675"/>
            <a:chOff x="3087" y="2784"/>
            <a:chExt cx="167" cy="202"/>
          </a:xfrm>
        </p:grpSpPr>
        <p:sp>
          <p:nvSpPr>
            <p:cNvPr id="44088" name="Rectangle 25"/>
            <p:cNvSpPr>
              <a:spLocks noChangeArrowheads="1"/>
            </p:cNvSpPr>
            <p:nvPr/>
          </p:nvSpPr>
          <p:spPr bwMode="auto">
            <a:xfrm>
              <a:off x="3087" y="2809"/>
              <a:ext cx="167" cy="168"/>
            </a:xfrm>
            <a:prstGeom prst="rect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89" name="Rectangle 26"/>
            <p:cNvSpPr>
              <a:spLocks noChangeArrowheads="1"/>
            </p:cNvSpPr>
            <p:nvPr/>
          </p:nvSpPr>
          <p:spPr bwMode="auto">
            <a:xfrm>
              <a:off x="3087" y="2809"/>
              <a:ext cx="167" cy="168"/>
            </a:xfrm>
            <a:prstGeom prst="rect">
              <a:avLst/>
            </a:pr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90" name="Rectangle 27"/>
            <p:cNvSpPr>
              <a:spLocks noChangeArrowheads="1"/>
            </p:cNvSpPr>
            <p:nvPr/>
          </p:nvSpPr>
          <p:spPr bwMode="auto">
            <a:xfrm>
              <a:off x="3120" y="2784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/>
            <a:p>
              <a:r>
                <a:rPr lang="en-US" sz="2100">
                  <a:solidFill>
                    <a:srgbClr val="000080"/>
                  </a:solidFill>
                  <a:latin typeface="Times New Roman" charset="0"/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</p:grpSp>
      <p:sp>
        <p:nvSpPr>
          <p:cNvPr id="44039" name="Text Box 28"/>
          <p:cNvSpPr txBox="1">
            <a:spLocks noChangeArrowheads="1"/>
          </p:cNvSpPr>
          <p:nvPr/>
        </p:nvSpPr>
        <p:spPr bwMode="auto">
          <a:xfrm>
            <a:off x="914400" y="2971800"/>
            <a:ext cx="820738" cy="3794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800" b="0">
                <a:latin typeface="Verdana" charset="0"/>
                <a:cs typeface="Arial" charset="0"/>
              </a:rPr>
              <a:t>F = 0</a:t>
            </a:r>
          </a:p>
        </p:txBody>
      </p:sp>
      <p:sp>
        <p:nvSpPr>
          <p:cNvPr id="44040" name="Text Box 29"/>
          <p:cNvSpPr txBox="1">
            <a:spLocks noChangeArrowheads="1"/>
          </p:cNvSpPr>
          <p:nvPr/>
        </p:nvSpPr>
        <p:spPr bwMode="auto">
          <a:xfrm>
            <a:off x="2133600" y="2971800"/>
            <a:ext cx="820738" cy="3794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800" b="0">
                <a:latin typeface="Verdana" charset="0"/>
                <a:cs typeface="Arial" charset="0"/>
              </a:rPr>
              <a:t>F = 1</a:t>
            </a:r>
          </a:p>
        </p:txBody>
      </p:sp>
      <p:sp>
        <p:nvSpPr>
          <p:cNvPr id="44041" name="Text Box 30"/>
          <p:cNvSpPr txBox="1">
            <a:spLocks noChangeArrowheads="1"/>
          </p:cNvSpPr>
          <p:nvPr/>
        </p:nvSpPr>
        <p:spPr bwMode="auto">
          <a:xfrm>
            <a:off x="1600200" y="5410200"/>
            <a:ext cx="811213" cy="3794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800" b="0">
                <a:latin typeface="Verdana" charset="0"/>
                <a:cs typeface="Arial" charset="0"/>
              </a:rPr>
              <a:t>F = x</a:t>
            </a:r>
          </a:p>
        </p:txBody>
      </p:sp>
      <p:sp>
        <p:nvSpPr>
          <p:cNvPr id="44042" name="Freeform 31"/>
          <p:cNvSpPr>
            <a:spLocks/>
          </p:cNvSpPr>
          <p:nvPr/>
        </p:nvSpPr>
        <p:spPr bwMode="auto">
          <a:xfrm flipH="1">
            <a:off x="2108200" y="3962400"/>
            <a:ext cx="101600" cy="330200"/>
          </a:xfrm>
          <a:custGeom>
            <a:avLst/>
            <a:gdLst>
              <a:gd name="T0" fmla="*/ 0 w 160"/>
              <a:gd name="T1" fmla="*/ 0 h 208"/>
              <a:gd name="T2" fmla="*/ 101600 w 160"/>
              <a:gd name="T3" fmla="*/ 330200 h 208"/>
              <a:gd name="T4" fmla="*/ 0 60000 65536"/>
              <a:gd name="T5" fmla="*/ 0 60000 65536"/>
              <a:gd name="T6" fmla="*/ 0 w 160"/>
              <a:gd name="T7" fmla="*/ 0 h 208"/>
              <a:gd name="T8" fmla="*/ 160 w 160"/>
              <a:gd name="T9" fmla="*/ 208 h 20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60" h="208">
                <a:moveTo>
                  <a:pt x="0" y="0"/>
                </a:moveTo>
                <a:lnTo>
                  <a:pt x="160" y="208"/>
                </a:lnTo>
              </a:path>
            </a:pathLst>
          </a:custGeom>
          <a:noFill/>
          <a:ln w="50800">
            <a:solidFill>
              <a:srgbClr val="66FF99"/>
            </a:solidFill>
            <a:round/>
            <a:headEnd/>
            <a:tailEnd type="stealth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4043" name="Freeform 32"/>
          <p:cNvSpPr>
            <a:spLocks/>
          </p:cNvSpPr>
          <p:nvPr/>
        </p:nvSpPr>
        <p:spPr bwMode="auto">
          <a:xfrm flipH="1">
            <a:off x="2514600" y="2133600"/>
            <a:ext cx="101600" cy="330200"/>
          </a:xfrm>
          <a:custGeom>
            <a:avLst/>
            <a:gdLst>
              <a:gd name="T0" fmla="*/ 0 w 160"/>
              <a:gd name="T1" fmla="*/ 0 h 208"/>
              <a:gd name="T2" fmla="*/ 101600 w 160"/>
              <a:gd name="T3" fmla="*/ 330200 h 208"/>
              <a:gd name="T4" fmla="*/ 0 60000 65536"/>
              <a:gd name="T5" fmla="*/ 0 60000 65536"/>
              <a:gd name="T6" fmla="*/ 0 w 160"/>
              <a:gd name="T7" fmla="*/ 0 h 208"/>
              <a:gd name="T8" fmla="*/ 160 w 160"/>
              <a:gd name="T9" fmla="*/ 208 h 20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60" h="208">
                <a:moveTo>
                  <a:pt x="0" y="0"/>
                </a:moveTo>
                <a:lnTo>
                  <a:pt x="160" y="208"/>
                </a:lnTo>
              </a:path>
            </a:pathLst>
          </a:custGeom>
          <a:noFill/>
          <a:ln w="50800">
            <a:solidFill>
              <a:srgbClr val="66FF99"/>
            </a:solidFill>
            <a:round/>
            <a:headEnd/>
            <a:tailEnd type="stealth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4044" name="Freeform 33"/>
          <p:cNvSpPr>
            <a:spLocks/>
          </p:cNvSpPr>
          <p:nvPr/>
        </p:nvSpPr>
        <p:spPr bwMode="auto">
          <a:xfrm flipH="1">
            <a:off x="1371600" y="2133600"/>
            <a:ext cx="101600" cy="330200"/>
          </a:xfrm>
          <a:custGeom>
            <a:avLst/>
            <a:gdLst>
              <a:gd name="T0" fmla="*/ 0 w 160"/>
              <a:gd name="T1" fmla="*/ 0 h 208"/>
              <a:gd name="T2" fmla="*/ 101600 w 160"/>
              <a:gd name="T3" fmla="*/ 330200 h 208"/>
              <a:gd name="T4" fmla="*/ 0 60000 65536"/>
              <a:gd name="T5" fmla="*/ 0 60000 65536"/>
              <a:gd name="T6" fmla="*/ 0 w 160"/>
              <a:gd name="T7" fmla="*/ 0 h 208"/>
              <a:gd name="T8" fmla="*/ 160 w 160"/>
              <a:gd name="T9" fmla="*/ 208 h 20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60" h="208">
                <a:moveTo>
                  <a:pt x="0" y="0"/>
                </a:moveTo>
                <a:lnTo>
                  <a:pt x="160" y="208"/>
                </a:lnTo>
              </a:path>
            </a:pathLst>
          </a:custGeom>
          <a:noFill/>
          <a:ln w="50800">
            <a:solidFill>
              <a:srgbClr val="66FF99"/>
            </a:solidFill>
            <a:round/>
            <a:headEnd/>
            <a:tailEnd type="stealth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44045" name="Group 34"/>
          <p:cNvGrpSpPr>
            <a:grpSpLocks/>
          </p:cNvGrpSpPr>
          <p:nvPr/>
        </p:nvGrpSpPr>
        <p:grpSpPr bwMode="auto">
          <a:xfrm>
            <a:off x="4419600" y="2209800"/>
            <a:ext cx="2130425" cy="2768600"/>
            <a:chOff x="3450" y="1392"/>
            <a:chExt cx="1342" cy="1744"/>
          </a:xfrm>
        </p:grpSpPr>
        <p:sp>
          <p:nvSpPr>
            <p:cNvPr id="44054" name="Rectangle 35"/>
            <p:cNvSpPr>
              <a:spLocks noChangeArrowheads="1"/>
            </p:cNvSpPr>
            <p:nvPr/>
          </p:nvSpPr>
          <p:spPr bwMode="auto">
            <a:xfrm>
              <a:off x="4077" y="1725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44055" name="Rectangle 36"/>
            <p:cNvSpPr>
              <a:spLocks noChangeArrowheads="1"/>
            </p:cNvSpPr>
            <p:nvPr/>
          </p:nvSpPr>
          <p:spPr bwMode="auto">
            <a:xfrm>
              <a:off x="4495" y="1725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44056" name="Line 37"/>
            <p:cNvSpPr>
              <a:spLocks noChangeShapeType="1"/>
            </p:cNvSpPr>
            <p:nvPr/>
          </p:nvSpPr>
          <p:spPr bwMode="auto">
            <a:xfrm flipH="1">
              <a:off x="3837" y="1840"/>
              <a:ext cx="384" cy="240"/>
            </a:xfrm>
            <a:prstGeom prst="line">
              <a:avLst/>
            </a:pr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4057" name="Freeform 38"/>
            <p:cNvSpPr>
              <a:spLocks/>
            </p:cNvSpPr>
            <p:nvPr/>
          </p:nvSpPr>
          <p:spPr bwMode="auto">
            <a:xfrm>
              <a:off x="4413" y="1840"/>
              <a:ext cx="379" cy="692"/>
            </a:xfrm>
            <a:custGeom>
              <a:avLst/>
              <a:gdLst>
                <a:gd name="T0" fmla="*/ 0 w 379"/>
                <a:gd name="T1" fmla="*/ 0 h 692"/>
                <a:gd name="T2" fmla="*/ 369 w 379"/>
                <a:gd name="T3" fmla="*/ 272 h 692"/>
                <a:gd name="T4" fmla="*/ 57 w 379"/>
                <a:gd name="T5" fmla="*/ 692 h 692"/>
                <a:gd name="T6" fmla="*/ 0 60000 65536"/>
                <a:gd name="T7" fmla="*/ 0 60000 65536"/>
                <a:gd name="T8" fmla="*/ 0 60000 65536"/>
                <a:gd name="T9" fmla="*/ 0 w 379"/>
                <a:gd name="T10" fmla="*/ 0 h 692"/>
                <a:gd name="T11" fmla="*/ 379 w 379"/>
                <a:gd name="T12" fmla="*/ 692 h 6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9" h="692">
                  <a:moveTo>
                    <a:pt x="0" y="0"/>
                  </a:moveTo>
                  <a:cubicBezTo>
                    <a:pt x="61" y="45"/>
                    <a:pt x="359" y="157"/>
                    <a:pt x="369" y="272"/>
                  </a:cubicBezTo>
                  <a:cubicBezTo>
                    <a:pt x="379" y="387"/>
                    <a:pt x="122" y="605"/>
                    <a:pt x="57" y="692"/>
                  </a:cubicBez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44058" name="Group 39"/>
            <p:cNvGrpSpPr>
              <a:grpSpLocks/>
            </p:cNvGrpSpPr>
            <p:nvPr/>
          </p:nvGrpSpPr>
          <p:grpSpPr bwMode="auto">
            <a:xfrm>
              <a:off x="4188" y="1583"/>
              <a:ext cx="293" cy="305"/>
              <a:chOff x="2895" y="1488"/>
              <a:chExt cx="293" cy="305"/>
            </a:xfrm>
          </p:grpSpPr>
          <p:sp>
            <p:nvSpPr>
              <p:cNvPr id="44085" name="Freeform 40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086" name="Freeform 41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087" name="Rectangle 42"/>
              <p:cNvSpPr>
                <a:spLocks noChangeArrowheads="1"/>
              </p:cNvSpPr>
              <p:nvPr/>
            </p:nvSpPr>
            <p:spPr bwMode="auto">
              <a:xfrm>
                <a:off x="2995" y="1488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a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44059" name="Rectangle 43"/>
            <p:cNvSpPr>
              <a:spLocks noChangeArrowheads="1"/>
            </p:cNvSpPr>
            <p:nvPr/>
          </p:nvSpPr>
          <p:spPr bwMode="auto">
            <a:xfrm>
              <a:off x="3501" y="2224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44060" name="Rectangle 44"/>
            <p:cNvSpPr>
              <a:spLocks noChangeArrowheads="1"/>
            </p:cNvSpPr>
            <p:nvPr/>
          </p:nvSpPr>
          <p:spPr bwMode="auto">
            <a:xfrm>
              <a:off x="3967" y="2208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44061" name="Line 45"/>
            <p:cNvSpPr>
              <a:spLocks noChangeShapeType="1"/>
            </p:cNvSpPr>
            <p:nvPr/>
          </p:nvSpPr>
          <p:spPr bwMode="auto">
            <a:xfrm>
              <a:off x="3837" y="2291"/>
              <a:ext cx="432" cy="253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4062" name="Freeform 46"/>
            <p:cNvSpPr>
              <a:spLocks/>
            </p:cNvSpPr>
            <p:nvPr/>
          </p:nvSpPr>
          <p:spPr bwMode="auto">
            <a:xfrm flipH="1">
              <a:off x="4365" y="1392"/>
              <a:ext cx="64" cy="208"/>
            </a:xfrm>
            <a:custGeom>
              <a:avLst/>
              <a:gdLst>
                <a:gd name="T0" fmla="*/ 0 w 160"/>
                <a:gd name="T1" fmla="*/ 0 h 208"/>
                <a:gd name="T2" fmla="*/ 64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66FF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44063" name="Group 47"/>
            <p:cNvGrpSpPr>
              <a:grpSpLocks/>
            </p:cNvGrpSpPr>
            <p:nvPr/>
          </p:nvGrpSpPr>
          <p:grpSpPr bwMode="auto">
            <a:xfrm>
              <a:off x="3597" y="2032"/>
              <a:ext cx="293" cy="305"/>
              <a:chOff x="2895" y="1488"/>
              <a:chExt cx="293" cy="305"/>
            </a:xfrm>
          </p:grpSpPr>
          <p:sp>
            <p:nvSpPr>
              <p:cNvPr id="44082" name="Freeform 48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083" name="Freeform 49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084" name="Rectangle 50"/>
              <p:cNvSpPr>
                <a:spLocks noChangeArrowheads="1"/>
              </p:cNvSpPr>
              <p:nvPr/>
            </p:nvSpPr>
            <p:spPr bwMode="auto">
              <a:xfrm>
                <a:off x="2995" y="1488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b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44064" name="Freeform 51"/>
            <p:cNvSpPr>
              <a:spLocks/>
            </p:cNvSpPr>
            <p:nvPr/>
          </p:nvSpPr>
          <p:spPr bwMode="auto">
            <a:xfrm>
              <a:off x="3450" y="2280"/>
              <a:ext cx="672" cy="678"/>
            </a:xfrm>
            <a:custGeom>
              <a:avLst/>
              <a:gdLst>
                <a:gd name="T0" fmla="*/ 180 w 672"/>
                <a:gd name="T1" fmla="*/ 0 h 678"/>
                <a:gd name="T2" fmla="*/ 82 w 672"/>
                <a:gd name="T3" fmla="*/ 373 h 678"/>
                <a:gd name="T4" fmla="*/ 672 w 672"/>
                <a:gd name="T5" fmla="*/ 678 h 678"/>
                <a:gd name="T6" fmla="*/ 0 60000 65536"/>
                <a:gd name="T7" fmla="*/ 0 60000 65536"/>
                <a:gd name="T8" fmla="*/ 0 60000 65536"/>
                <a:gd name="T9" fmla="*/ 0 w 672"/>
                <a:gd name="T10" fmla="*/ 0 h 678"/>
                <a:gd name="T11" fmla="*/ 672 w 672"/>
                <a:gd name="T12" fmla="*/ 678 h 6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72" h="678">
                  <a:moveTo>
                    <a:pt x="180" y="0"/>
                  </a:moveTo>
                  <a:cubicBezTo>
                    <a:pt x="164" y="61"/>
                    <a:pt x="0" y="260"/>
                    <a:pt x="82" y="373"/>
                  </a:cubicBezTo>
                  <a:cubicBezTo>
                    <a:pt x="164" y="446"/>
                    <a:pt x="549" y="614"/>
                    <a:pt x="672" y="678"/>
                  </a:cubicBez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44065" name="Group 52"/>
            <p:cNvGrpSpPr>
              <a:grpSpLocks/>
            </p:cNvGrpSpPr>
            <p:nvPr/>
          </p:nvGrpSpPr>
          <p:grpSpPr bwMode="auto">
            <a:xfrm>
              <a:off x="4029" y="2483"/>
              <a:ext cx="672" cy="653"/>
              <a:chOff x="3504" y="2531"/>
              <a:chExt cx="672" cy="653"/>
            </a:xfrm>
          </p:grpSpPr>
          <p:grpSp>
            <p:nvGrpSpPr>
              <p:cNvPr id="44066" name="Group 53"/>
              <p:cNvGrpSpPr>
                <a:grpSpLocks/>
              </p:cNvGrpSpPr>
              <p:nvPr/>
            </p:nvGrpSpPr>
            <p:grpSpPr bwMode="auto">
              <a:xfrm>
                <a:off x="3691" y="2531"/>
                <a:ext cx="293" cy="305"/>
                <a:chOff x="2895" y="1488"/>
                <a:chExt cx="293" cy="305"/>
              </a:xfrm>
            </p:grpSpPr>
            <p:sp>
              <p:nvSpPr>
                <p:cNvPr id="44079" name="Freeform 54"/>
                <p:cNvSpPr>
                  <a:spLocks/>
                </p:cNvSpPr>
                <p:nvPr/>
              </p:nvSpPr>
              <p:spPr bwMode="auto">
                <a:xfrm>
                  <a:off x="2895" y="1500"/>
                  <a:ext cx="293" cy="293"/>
                </a:xfrm>
                <a:custGeom>
                  <a:avLst/>
                  <a:gdLst>
                    <a:gd name="T0" fmla="*/ 0 w 778"/>
                    <a:gd name="T1" fmla="*/ 147 h 778"/>
                    <a:gd name="T2" fmla="*/ 147 w 778"/>
                    <a:gd name="T3" fmla="*/ 0 h 778"/>
                    <a:gd name="T4" fmla="*/ 293 w 778"/>
                    <a:gd name="T5" fmla="*/ 147 h 778"/>
                    <a:gd name="T6" fmla="*/ 293 w 778"/>
                    <a:gd name="T7" fmla="*/ 147 h 778"/>
                    <a:gd name="T8" fmla="*/ 147 w 778"/>
                    <a:gd name="T9" fmla="*/ 293 h 778"/>
                    <a:gd name="T10" fmla="*/ 0 w 778"/>
                    <a:gd name="T11" fmla="*/ 147 h 77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778"/>
                    <a:gd name="T19" fmla="*/ 0 h 778"/>
                    <a:gd name="T20" fmla="*/ 778 w 778"/>
                    <a:gd name="T21" fmla="*/ 778 h 77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778" h="778">
                      <a:moveTo>
                        <a:pt x="0" y="389"/>
                      </a:moveTo>
                      <a:cubicBezTo>
                        <a:pt x="0" y="174"/>
                        <a:pt x="174" y="0"/>
                        <a:pt x="389" y="0"/>
                      </a:cubicBezTo>
                      <a:cubicBezTo>
                        <a:pt x="604" y="0"/>
                        <a:pt x="778" y="174"/>
                        <a:pt x="778" y="389"/>
                      </a:cubicBezTo>
                      <a:cubicBezTo>
                        <a:pt x="778" y="389"/>
                        <a:pt x="778" y="389"/>
                        <a:pt x="778" y="389"/>
                      </a:cubicBezTo>
                      <a:cubicBezTo>
                        <a:pt x="778" y="604"/>
                        <a:pt x="604" y="778"/>
                        <a:pt x="389" y="778"/>
                      </a:cubicBezTo>
                      <a:cubicBezTo>
                        <a:pt x="174" y="778"/>
                        <a:pt x="0" y="604"/>
                        <a:pt x="0" y="389"/>
                      </a:cubicBezTo>
                    </a:path>
                  </a:pathLst>
                </a:custGeom>
                <a:solidFill>
                  <a:srgbClr val="66FF99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80" name="Freeform 55"/>
                <p:cNvSpPr>
                  <a:spLocks/>
                </p:cNvSpPr>
                <p:nvPr/>
              </p:nvSpPr>
              <p:spPr bwMode="auto">
                <a:xfrm>
                  <a:off x="2895" y="1500"/>
                  <a:ext cx="293" cy="293"/>
                </a:xfrm>
                <a:custGeom>
                  <a:avLst/>
                  <a:gdLst>
                    <a:gd name="T0" fmla="*/ 0 w 293"/>
                    <a:gd name="T1" fmla="*/ 147 h 293"/>
                    <a:gd name="T2" fmla="*/ 147 w 293"/>
                    <a:gd name="T3" fmla="*/ 0 h 293"/>
                    <a:gd name="T4" fmla="*/ 293 w 293"/>
                    <a:gd name="T5" fmla="*/ 147 h 293"/>
                    <a:gd name="T6" fmla="*/ 293 w 293"/>
                    <a:gd name="T7" fmla="*/ 147 h 293"/>
                    <a:gd name="T8" fmla="*/ 147 w 293"/>
                    <a:gd name="T9" fmla="*/ 293 h 293"/>
                    <a:gd name="T10" fmla="*/ 0 w 293"/>
                    <a:gd name="T11" fmla="*/ 147 h 29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93"/>
                    <a:gd name="T19" fmla="*/ 0 h 293"/>
                    <a:gd name="T20" fmla="*/ 293 w 293"/>
                    <a:gd name="T21" fmla="*/ 293 h 29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93" h="293">
                      <a:moveTo>
                        <a:pt x="0" y="147"/>
                      </a:moveTo>
                      <a:cubicBezTo>
                        <a:pt x="0" y="66"/>
                        <a:pt x="66" y="0"/>
                        <a:pt x="147" y="0"/>
                      </a:cubicBezTo>
                      <a:cubicBezTo>
                        <a:pt x="228" y="0"/>
                        <a:pt x="293" y="66"/>
                        <a:pt x="293" y="147"/>
                      </a:cubicBezTo>
                      <a:cubicBezTo>
                        <a:pt x="293" y="147"/>
                        <a:pt x="293" y="147"/>
                        <a:pt x="293" y="147"/>
                      </a:cubicBezTo>
                      <a:cubicBezTo>
                        <a:pt x="293" y="228"/>
                        <a:pt x="228" y="293"/>
                        <a:pt x="147" y="293"/>
                      </a:cubicBezTo>
                      <a:cubicBezTo>
                        <a:pt x="66" y="293"/>
                        <a:pt x="0" y="228"/>
                        <a:pt x="0" y="147"/>
                      </a:cubicBezTo>
                    </a:path>
                  </a:pathLst>
                </a:custGeom>
                <a:noFill/>
                <a:ln w="3175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81" name="Rectangle 56"/>
                <p:cNvSpPr>
                  <a:spLocks noChangeArrowheads="1"/>
                </p:cNvSpPr>
                <p:nvPr/>
              </p:nvSpPr>
              <p:spPr bwMode="auto">
                <a:xfrm>
                  <a:off x="3001" y="1488"/>
                  <a:ext cx="99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/>
                <a:p>
                  <a:r>
                    <a:rPr lang="en-US" sz="2800" i="1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c</a:t>
                  </a:r>
                  <a:endParaRPr lang="en-US">
                    <a:latin typeface="Times New Roman" charset="0"/>
                    <a:cs typeface="Arial" charset="0"/>
                  </a:endParaRPr>
                </a:p>
              </p:txBody>
            </p:sp>
          </p:grpSp>
          <p:grpSp>
            <p:nvGrpSpPr>
              <p:cNvPr id="44067" name="Group 57"/>
              <p:cNvGrpSpPr>
                <a:grpSpLocks/>
              </p:cNvGrpSpPr>
              <p:nvPr/>
            </p:nvGrpSpPr>
            <p:grpSpPr bwMode="auto">
              <a:xfrm>
                <a:off x="4009" y="2982"/>
                <a:ext cx="167" cy="202"/>
                <a:chOff x="3087" y="2784"/>
                <a:chExt cx="167" cy="202"/>
              </a:xfrm>
            </p:grpSpPr>
            <p:sp>
              <p:nvSpPr>
                <p:cNvPr id="44076" name="Rectangle 58"/>
                <p:cNvSpPr>
                  <a:spLocks noChangeArrowheads="1"/>
                </p:cNvSpPr>
                <p:nvPr/>
              </p:nvSpPr>
              <p:spPr bwMode="auto">
                <a:xfrm>
                  <a:off x="3087" y="2809"/>
                  <a:ext cx="167" cy="168"/>
                </a:xfrm>
                <a:prstGeom prst="rect">
                  <a:avLst/>
                </a:prstGeom>
                <a:solidFill>
                  <a:srgbClr val="339966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77" name="Rectangle 59"/>
                <p:cNvSpPr>
                  <a:spLocks noChangeArrowheads="1"/>
                </p:cNvSpPr>
                <p:nvPr/>
              </p:nvSpPr>
              <p:spPr bwMode="auto">
                <a:xfrm>
                  <a:off x="3087" y="2809"/>
                  <a:ext cx="167" cy="168"/>
                </a:xfrm>
                <a:prstGeom prst="rect">
                  <a:avLst/>
                </a:prstGeom>
                <a:noFill/>
                <a:ln w="3175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78" name="Rectangle 60"/>
                <p:cNvSpPr>
                  <a:spLocks noChangeArrowheads="1"/>
                </p:cNvSpPr>
                <p:nvPr/>
              </p:nvSpPr>
              <p:spPr bwMode="auto">
                <a:xfrm>
                  <a:off x="3120" y="2784"/>
                  <a:ext cx="84" cy="2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/>
                <a:p>
                  <a:r>
                    <a:rPr lang="en-US" sz="2100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1</a:t>
                  </a:r>
                  <a:endParaRPr lang="en-US">
                    <a:latin typeface="Times New Roman" charset="0"/>
                    <a:cs typeface="Arial" charset="0"/>
                  </a:endParaRPr>
                </a:p>
              </p:txBody>
            </p:sp>
          </p:grpSp>
          <p:sp>
            <p:nvSpPr>
              <p:cNvPr id="44068" name="Freeform 61"/>
              <p:cNvSpPr>
                <a:spLocks/>
              </p:cNvSpPr>
              <p:nvPr/>
            </p:nvSpPr>
            <p:spPr bwMode="auto">
              <a:xfrm>
                <a:off x="3936" y="2800"/>
                <a:ext cx="160" cy="208"/>
              </a:xfrm>
              <a:custGeom>
                <a:avLst/>
                <a:gdLst>
                  <a:gd name="T0" fmla="*/ 0 w 160"/>
                  <a:gd name="T1" fmla="*/ 0 h 208"/>
                  <a:gd name="T2" fmla="*/ 160 w 160"/>
                  <a:gd name="T3" fmla="*/ 208 h 208"/>
                  <a:gd name="T4" fmla="*/ 0 60000 65536"/>
                  <a:gd name="T5" fmla="*/ 0 60000 65536"/>
                  <a:gd name="T6" fmla="*/ 0 w 160"/>
                  <a:gd name="T7" fmla="*/ 0 h 208"/>
                  <a:gd name="T8" fmla="*/ 160 w 160"/>
                  <a:gd name="T9" fmla="*/ 208 h 20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0" h="208">
                    <a:moveTo>
                      <a:pt x="0" y="0"/>
                    </a:moveTo>
                    <a:lnTo>
                      <a:pt x="160" y="208"/>
                    </a:lnTo>
                  </a:path>
                </a:pathLst>
              </a:custGeom>
              <a:noFill/>
              <a:ln w="50800">
                <a:solidFill>
                  <a:schemeClr val="accent2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grpSp>
            <p:nvGrpSpPr>
              <p:cNvPr id="44069" name="Group 62"/>
              <p:cNvGrpSpPr>
                <a:grpSpLocks/>
              </p:cNvGrpSpPr>
              <p:nvPr/>
            </p:nvGrpSpPr>
            <p:grpSpPr bwMode="auto">
              <a:xfrm>
                <a:off x="3504" y="2982"/>
                <a:ext cx="167" cy="202"/>
                <a:chOff x="3087" y="2784"/>
                <a:chExt cx="167" cy="202"/>
              </a:xfrm>
            </p:grpSpPr>
            <p:sp>
              <p:nvSpPr>
                <p:cNvPr id="44073" name="Rectangle 63"/>
                <p:cNvSpPr>
                  <a:spLocks noChangeArrowheads="1"/>
                </p:cNvSpPr>
                <p:nvPr/>
              </p:nvSpPr>
              <p:spPr bwMode="auto">
                <a:xfrm>
                  <a:off x="3087" y="2809"/>
                  <a:ext cx="167" cy="168"/>
                </a:xfrm>
                <a:prstGeom prst="rect">
                  <a:avLst/>
                </a:prstGeom>
                <a:solidFill>
                  <a:srgbClr val="339966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74" name="Rectangle 64"/>
                <p:cNvSpPr>
                  <a:spLocks noChangeArrowheads="1"/>
                </p:cNvSpPr>
                <p:nvPr/>
              </p:nvSpPr>
              <p:spPr bwMode="auto">
                <a:xfrm>
                  <a:off x="3087" y="2809"/>
                  <a:ext cx="167" cy="168"/>
                </a:xfrm>
                <a:prstGeom prst="rect">
                  <a:avLst/>
                </a:prstGeom>
                <a:noFill/>
                <a:ln w="3175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75" name="Rectangle 65"/>
                <p:cNvSpPr>
                  <a:spLocks noChangeArrowheads="1"/>
                </p:cNvSpPr>
                <p:nvPr/>
              </p:nvSpPr>
              <p:spPr bwMode="auto">
                <a:xfrm>
                  <a:off x="3120" y="2784"/>
                  <a:ext cx="84" cy="2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/>
                <a:p>
                  <a:r>
                    <a:rPr lang="en-US" sz="2100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0</a:t>
                  </a:r>
                  <a:endParaRPr lang="en-US">
                    <a:latin typeface="Times New Roman" charset="0"/>
                    <a:cs typeface="Arial" charset="0"/>
                  </a:endParaRPr>
                </a:p>
              </p:txBody>
            </p:sp>
          </p:grpSp>
          <p:sp>
            <p:nvSpPr>
              <p:cNvPr id="44070" name="Freeform 66"/>
              <p:cNvSpPr>
                <a:spLocks/>
              </p:cNvSpPr>
              <p:nvPr/>
            </p:nvSpPr>
            <p:spPr bwMode="auto">
              <a:xfrm flipH="1">
                <a:off x="3584" y="2800"/>
                <a:ext cx="160" cy="208"/>
              </a:xfrm>
              <a:custGeom>
                <a:avLst/>
                <a:gdLst>
                  <a:gd name="T0" fmla="*/ 0 w 160"/>
                  <a:gd name="T1" fmla="*/ 0 h 208"/>
                  <a:gd name="T2" fmla="*/ 160 w 160"/>
                  <a:gd name="T3" fmla="*/ 208 h 208"/>
                  <a:gd name="T4" fmla="*/ 0 60000 65536"/>
                  <a:gd name="T5" fmla="*/ 0 60000 65536"/>
                  <a:gd name="T6" fmla="*/ 0 w 160"/>
                  <a:gd name="T7" fmla="*/ 0 h 208"/>
                  <a:gd name="T8" fmla="*/ 160 w 160"/>
                  <a:gd name="T9" fmla="*/ 208 h 20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0" h="208">
                    <a:moveTo>
                      <a:pt x="0" y="0"/>
                    </a:moveTo>
                    <a:lnTo>
                      <a:pt x="160" y="208"/>
                    </a:lnTo>
                  </a:path>
                </a:pathLst>
              </a:custGeom>
              <a:noFill/>
              <a:ln w="50800">
                <a:solidFill>
                  <a:srgbClr val="333399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4071" name="Rectangle 67"/>
              <p:cNvSpPr>
                <a:spLocks noChangeArrowheads="1"/>
              </p:cNvSpPr>
              <p:nvPr/>
            </p:nvSpPr>
            <p:spPr bwMode="auto">
              <a:xfrm>
                <a:off x="3600" y="2704"/>
                <a:ext cx="62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cs typeface="Arial" charset="0"/>
                  </a:rPr>
                  <a:t>0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  <p:sp>
            <p:nvSpPr>
              <p:cNvPr id="44072" name="Rectangle 68"/>
              <p:cNvSpPr>
                <a:spLocks noChangeArrowheads="1"/>
              </p:cNvSpPr>
              <p:nvPr/>
            </p:nvSpPr>
            <p:spPr bwMode="auto">
              <a:xfrm>
                <a:off x="3984" y="2704"/>
                <a:ext cx="62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cs typeface="Arial" charset="0"/>
                  </a:rPr>
                  <a:t>1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</p:grpSp>
      <p:sp>
        <p:nvSpPr>
          <p:cNvPr id="44046" name="Text Box 69"/>
          <p:cNvSpPr txBox="1">
            <a:spLocks noChangeArrowheads="1"/>
          </p:cNvSpPr>
          <p:nvPr/>
        </p:nvSpPr>
        <p:spPr bwMode="auto">
          <a:xfrm>
            <a:off x="7010400" y="3659188"/>
            <a:ext cx="795338" cy="3794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800" b="0">
                <a:latin typeface="Verdana" charset="0"/>
                <a:cs typeface="Arial" charset="0"/>
              </a:rPr>
              <a:t>F = c</a:t>
            </a:r>
          </a:p>
        </p:txBody>
      </p:sp>
      <p:sp>
        <p:nvSpPr>
          <p:cNvPr id="44047" name="Text Box 70"/>
          <p:cNvSpPr txBox="1">
            <a:spLocks noChangeArrowheads="1"/>
          </p:cNvSpPr>
          <p:nvPr/>
        </p:nvSpPr>
        <p:spPr bwMode="auto">
          <a:xfrm>
            <a:off x="6302375" y="2057400"/>
            <a:ext cx="1470025" cy="3794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800" b="0">
                <a:latin typeface="Verdana" charset="0"/>
                <a:cs typeface="Arial" charset="0"/>
              </a:rPr>
              <a:t>F = (a+b)c</a:t>
            </a:r>
          </a:p>
        </p:txBody>
      </p:sp>
      <p:sp>
        <p:nvSpPr>
          <p:cNvPr id="44048" name="Text Box 71"/>
          <p:cNvSpPr txBox="1">
            <a:spLocks noChangeArrowheads="1"/>
          </p:cNvSpPr>
          <p:nvPr/>
        </p:nvSpPr>
        <p:spPr bwMode="auto">
          <a:xfrm>
            <a:off x="6858000" y="2833688"/>
            <a:ext cx="938213" cy="3794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800" b="0">
                <a:latin typeface="Verdana" charset="0"/>
                <a:cs typeface="Arial" charset="0"/>
              </a:rPr>
              <a:t>F = bc</a:t>
            </a:r>
          </a:p>
        </p:txBody>
      </p:sp>
      <p:sp>
        <p:nvSpPr>
          <p:cNvPr id="44049" name="Text Box 72"/>
          <p:cNvSpPr txBox="1">
            <a:spLocks noChangeArrowheads="1"/>
          </p:cNvSpPr>
          <p:nvPr/>
        </p:nvSpPr>
        <p:spPr bwMode="auto">
          <a:xfrm>
            <a:off x="7024688" y="4343400"/>
            <a:ext cx="820737" cy="3794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800" b="0">
                <a:latin typeface="Verdana" charset="0"/>
                <a:cs typeface="Arial" charset="0"/>
              </a:rPr>
              <a:t>F = 1</a:t>
            </a:r>
          </a:p>
        </p:txBody>
      </p:sp>
      <p:sp>
        <p:nvSpPr>
          <p:cNvPr id="44050" name="Line 73"/>
          <p:cNvSpPr>
            <a:spLocks noChangeShapeType="1"/>
          </p:cNvSpPr>
          <p:nvPr/>
        </p:nvSpPr>
        <p:spPr bwMode="auto">
          <a:xfrm flipH="1">
            <a:off x="6477000" y="4572000"/>
            <a:ext cx="5334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4051" name="Line 74"/>
          <p:cNvSpPr>
            <a:spLocks noChangeShapeType="1"/>
          </p:cNvSpPr>
          <p:nvPr/>
        </p:nvSpPr>
        <p:spPr bwMode="auto">
          <a:xfrm flipH="1">
            <a:off x="6172200" y="3886200"/>
            <a:ext cx="8382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4052" name="Line 75"/>
          <p:cNvSpPr>
            <a:spLocks noChangeShapeType="1"/>
          </p:cNvSpPr>
          <p:nvPr/>
        </p:nvSpPr>
        <p:spPr bwMode="auto">
          <a:xfrm flipH="1">
            <a:off x="5181600" y="2971800"/>
            <a:ext cx="16764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4053" name="Freeform 76"/>
          <p:cNvSpPr>
            <a:spLocks/>
          </p:cNvSpPr>
          <p:nvPr/>
        </p:nvSpPr>
        <p:spPr bwMode="auto">
          <a:xfrm>
            <a:off x="5981700" y="2266950"/>
            <a:ext cx="304800" cy="276225"/>
          </a:xfrm>
          <a:custGeom>
            <a:avLst/>
            <a:gdLst>
              <a:gd name="T0" fmla="*/ 304800 w 192"/>
              <a:gd name="T1" fmla="*/ 0 h 174"/>
              <a:gd name="T2" fmla="*/ 0 w 192"/>
              <a:gd name="T3" fmla="*/ 276225 h 174"/>
              <a:gd name="T4" fmla="*/ 0 60000 65536"/>
              <a:gd name="T5" fmla="*/ 0 60000 65536"/>
              <a:gd name="T6" fmla="*/ 0 w 192"/>
              <a:gd name="T7" fmla="*/ 0 h 174"/>
              <a:gd name="T8" fmla="*/ 192 w 192"/>
              <a:gd name="T9" fmla="*/ 174 h 1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92" h="174">
                <a:moveTo>
                  <a:pt x="192" y="0"/>
                </a:moveTo>
                <a:lnTo>
                  <a:pt x="0" y="174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r>
              <a:rPr lang="en-US" sz="1400" b="0"/>
              <a:t>(c)  Giovanni De Micheli</a:t>
            </a:r>
          </a:p>
        </p:txBody>
      </p:sp>
      <p:sp>
        <p:nvSpPr>
          <p:cNvPr id="4608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72AEA389-7140-3E47-B870-315F17C6F3FE}" type="slidenum">
              <a:rPr lang="en-US" sz="1400" b="0"/>
              <a:pPr/>
              <a:t>19</a:t>
            </a:fld>
            <a:endParaRPr lang="en-US" sz="1400" b="0"/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Narrow" charset="0"/>
              </a:rPr>
              <a:t>A network example</a:t>
            </a:r>
          </a:p>
        </p:txBody>
      </p:sp>
      <p:grpSp>
        <p:nvGrpSpPr>
          <p:cNvPr id="46084" name="Group 3"/>
          <p:cNvGrpSpPr>
            <a:grpSpLocks noChangeAspect="1"/>
          </p:cNvGrpSpPr>
          <p:nvPr/>
        </p:nvGrpSpPr>
        <p:grpSpPr bwMode="auto">
          <a:xfrm>
            <a:off x="5251450" y="3656013"/>
            <a:ext cx="1516063" cy="758825"/>
            <a:chOff x="1872" y="3024"/>
            <a:chExt cx="332" cy="166"/>
          </a:xfrm>
        </p:grpSpPr>
        <p:sp>
          <p:nvSpPr>
            <p:cNvPr id="46246" name="Freeform 4"/>
            <p:cNvSpPr>
              <a:spLocks noChangeAspect="1"/>
            </p:cNvSpPr>
            <p:nvPr/>
          </p:nvSpPr>
          <p:spPr bwMode="auto">
            <a:xfrm>
              <a:off x="1920" y="3024"/>
              <a:ext cx="216" cy="166"/>
            </a:xfrm>
            <a:custGeom>
              <a:avLst/>
              <a:gdLst>
                <a:gd name="T0" fmla="*/ 216 w 578"/>
                <a:gd name="T1" fmla="*/ 83 h 444"/>
                <a:gd name="T2" fmla="*/ 65 w 578"/>
                <a:gd name="T3" fmla="*/ 166 h 444"/>
                <a:gd name="T4" fmla="*/ 65 w 578"/>
                <a:gd name="T5" fmla="*/ 166 h 444"/>
                <a:gd name="T6" fmla="*/ 0 w 578"/>
                <a:gd name="T7" fmla="*/ 166 h 444"/>
                <a:gd name="T8" fmla="*/ 0 w 578"/>
                <a:gd name="T9" fmla="*/ 0 h 444"/>
                <a:gd name="T10" fmla="*/ 0 w 578"/>
                <a:gd name="T11" fmla="*/ 0 h 444"/>
                <a:gd name="T12" fmla="*/ 65 w 578"/>
                <a:gd name="T13" fmla="*/ 0 h 444"/>
                <a:gd name="T14" fmla="*/ 216 w 578"/>
                <a:gd name="T15" fmla="*/ 83 h 4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78"/>
                <a:gd name="T25" fmla="*/ 0 h 444"/>
                <a:gd name="T26" fmla="*/ 578 w 578"/>
                <a:gd name="T27" fmla="*/ 444 h 44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78" h="444">
                  <a:moveTo>
                    <a:pt x="578" y="222"/>
                  </a:moveTo>
                  <a:cubicBezTo>
                    <a:pt x="509" y="332"/>
                    <a:pt x="359" y="414"/>
                    <a:pt x="174" y="444"/>
                  </a:cubicBezTo>
                  <a:lnTo>
                    <a:pt x="0" y="444"/>
                  </a:lnTo>
                  <a:cubicBezTo>
                    <a:pt x="108" y="304"/>
                    <a:pt x="108" y="141"/>
                    <a:pt x="0" y="0"/>
                  </a:cubicBezTo>
                  <a:lnTo>
                    <a:pt x="174" y="0"/>
                  </a:lnTo>
                  <a:cubicBezTo>
                    <a:pt x="360" y="29"/>
                    <a:pt x="510" y="112"/>
                    <a:pt x="578" y="222"/>
                  </a:cubicBezTo>
                  <a:close/>
                </a:path>
              </a:pathLst>
            </a:custGeom>
            <a:solidFill>
              <a:srgbClr val="000080"/>
            </a:solidFill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47" name="Freeform 5"/>
            <p:cNvSpPr>
              <a:spLocks noChangeAspect="1"/>
            </p:cNvSpPr>
            <p:nvPr/>
          </p:nvSpPr>
          <p:spPr bwMode="auto">
            <a:xfrm>
              <a:off x="1920" y="3024"/>
              <a:ext cx="216" cy="166"/>
            </a:xfrm>
            <a:custGeom>
              <a:avLst/>
              <a:gdLst>
                <a:gd name="T0" fmla="*/ 216 w 578"/>
                <a:gd name="T1" fmla="*/ 83 h 444"/>
                <a:gd name="T2" fmla="*/ 65 w 578"/>
                <a:gd name="T3" fmla="*/ 166 h 444"/>
                <a:gd name="T4" fmla="*/ 65 w 578"/>
                <a:gd name="T5" fmla="*/ 166 h 444"/>
                <a:gd name="T6" fmla="*/ 0 w 578"/>
                <a:gd name="T7" fmla="*/ 166 h 444"/>
                <a:gd name="T8" fmla="*/ 0 w 578"/>
                <a:gd name="T9" fmla="*/ 0 h 444"/>
                <a:gd name="T10" fmla="*/ 0 w 578"/>
                <a:gd name="T11" fmla="*/ 0 h 444"/>
                <a:gd name="T12" fmla="*/ 65 w 578"/>
                <a:gd name="T13" fmla="*/ 0 h 444"/>
                <a:gd name="T14" fmla="*/ 216 w 578"/>
                <a:gd name="T15" fmla="*/ 83 h 4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78"/>
                <a:gd name="T25" fmla="*/ 0 h 444"/>
                <a:gd name="T26" fmla="*/ 578 w 578"/>
                <a:gd name="T27" fmla="*/ 444 h 44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78" h="444">
                  <a:moveTo>
                    <a:pt x="578" y="222"/>
                  </a:moveTo>
                  <a:cubicBezTo>
                    <a:pt x="509" y="332"/>
                    <a:pt x="359" y="414"/>
                    <a:pt x="174" y="444"/>
                  </a:cubicBezTo>
                  <a:lnTo>
                    <a:pt x="0" y="444"/>
                  </a:lnTo>
                  <a:cubicBezTo>
                    <a:pt x="108" y="304"/>
                    <a:pt x="108" y="141"/>
                    <a:pt x="0" y="0"/>
                  </a:cubicBezTo>
                  <a:lnTo>
                    <a:pt x="174" y="0"/>
                  </a:lnTo>
                  <a:cubicBezTo>
                    <a:pt x="360" y="29"/>
                    <a:pt x="510" y="112"/>
                    <a:pt x="578" y="222"/>
                  </a:cubicBezTo>
                  <a:close/>
                </a:path>
              </a:pathLst>
            </a:custGeom>
            <a:solidFill>
              <a:srgbClr val="000080"/>
            </a:solidFill>
            <a:ln w="31750" cap="rnd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48" name="Freeform 6"/>
            <p:cNvSpPr>
              <a:spLocks noChangeAspect="1" noEditPoints="1"/>
            </p:cNvSpPr>
            <p:nvPr/>
          </p:nvSpPr>
          <p:spPr bwMode="auto">
            <a:xfrm>
              <a:off x="1872" y="3069"/>
              <a:ext cx="332" cy="84"/>
            </a:xfrm>
            <a:custGeom>
              <a:avLst/>
              <a:gdLst>
                <a:gd name="T0" fmla="*/ 0 w 332"/>
                <a:gd name="T1" fmla="*/ 0 h 84"/>
                <a:gd name="T2" fmla="*/ 165 w 332"/>
                <a:gd name="T3" fmla="*/ 0 h 84"/>
                <a:gd name="T4" fmla="*/ 0 w 332"/>
                <a:gd name="T5" fmla="*/ 84 h 84"/>
                <a:gd name="T6" fmla="*/ 165 w 332"/>
                <a:gd name="T7" fmla="*/ 84 h 84"/>
                <a:gd name="T8" fmla="*/ 332 w 332"/>
                <a:gd name="T9" fmla="*/ 42 h 84"/>
                <a:gd name="T10" fmla="*/ 165 w 332"/>
                <a:gd name="T11" fmla="*/ 42 h 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32"/>
                <a:gd name="T19" fmla="*/ 0 h 84"/>
                <a:gd name="T20" fmla="*/ 332 w 332"/>
                <a:gd name="T21" fmla="*/ 84 h 8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32" h="84">
                  <a:moveTo>
                    <a:pt x="0" y="0"/>
                  </a:moveTo>
                  <a:lnTo>
                    <a:pt x="165" y="0"/>
                  </a:lnTo>
                  <a:moveTo>
                    <a:pt x="0" y="84"/>
                  </a:moveTo>
                  <a:lnTo>
                    <a:pt x="165" y="84"/>
                  </a:lnTo>
                  <a:moveTo>
                    <a:pt x="332" y="42"/>
                  </a:moveTo>
                  <a:lnTo>
                    <a:pt x="165" y="42"/>
                  </a:lnTo>
                </a:path>
              </a:pathLst>
            </a:custGeom>
            <a:solidFill>
              <a:srgbClr val="000080"/>
            </a:solidFill>
            <a:ln w="31750" cap="rnd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085" name="Group 7"/>
          <p:cNvGrpSpPr>
            <a:grpSpLocks noChangeAspect="1"/>
          </p:cNvGrpSpPr>
          <p:nvPr/>
        </p:nvGrpSpPr>
        <p:grpSpPr bwMode="auto">
          <a:xfrm>
            <a:off x="3108325" y="2584450"/>
            <a:ext cx="1517650" cy="758825"/>
            <a:chOff x="1170" y="3512"/>
            <a:chExt cx="398" cy="199"/>
          </a:xfrm>
        </p:grpSpPr>
        <p:sp>
          <p:nvSpPr>
            <p:cNvPr id="46241" name="Freeform 8"/>
            <p:cNvSpPr>
              <a:spLocks noChangeAspect="1"/>
            </p:cNvSpPr>
            <p:nvPr/>
          </p:nvSpPr>
          <p:spPr bwMode="auto">
            <a:xfrm>
              <a:off x="1254" y="3512"/>
              <a:ext cx="259" cy="199"/>
            </a:xfrm>
            <a:custGeom>
              <a:avLst/>
              <a:gdLst>
                <a:gd name="T0" fmla="*/ 259 w 578"/>
                <a:gd name="T1" fmla="*/ 100 h 444"/>
                <a:gd name="T2" fmla="*/ 78 w 578"/>
                <a:gd name="T3" fmla="*/ 199 h 444"/>
                <a:gd name="T4" fmla="*/ 78 w 578"/>
                <a:gd name="T5" fmla="*/ 199 h 444"/>
                <a:gd name="T6" fmla="*/ 0 w 578"/>
                <a:gd name="T7" fmla="*/ 199 h 444"/>
                <a:gd name="T8" fmla="*/ 0 w 578"/>
                <a:gd name="T9" fmla="*/ 0 h 444"/>
                <a:gd name="T10" fmla="*/ 0 w 578"/>
                <a:gd name="T11" fmla="*/ 0 h 444"/>
                <a:gd name="T12" fmla="*/ 78 w 578"/>
                <a:gd name="T13" fmla="*/ 0 h 444"/>
                <a:gd name="T14" fmla="*/ 259 w 578"/>
                <a:gd name="T15" fmla="*/ 100 h 4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78"/>
                <a:gd name="T25" fmla="*/ 0 h 444"/>
                <a:gd name="T26" fmla="*/ 578 w 578"/>
                <a:gd name="T27" fmla="*/ 444 h 44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78" h="444">
                  <a:moveTo>
                    <a:pt x="578" y="222"/>
                  </a:moveTo>
                  <a:cubicBezTo>
                    <a:pt x="509" y="332"/>
                    <a:pt x="359" y="414"/>
                    <a:pt x="174" y="444"/>
                  </a:cubicBezTo>
                  <a:lnTo>
                    <a:pt x="0" y="444"/>
                  </a:lnTo>
                  <a:cubicBezTo>
                    <a:pt x="108" y="304"/>
                    <a:pt x="108" y="141"/>
                    <a:pt x="0" y="0"/>
                  </a:cubicBezTo>
                  <a:lnTo>
                    <a:pt x="174" y="0"/>
                  </a:lnTo>
                  <a:cubicBezTo>
                    <a:pt x="360" y="29"/>
                    <a:pt x="510" y="112"/>
                    <a:pt x="578" y="222"/>
                  </a:cubicBezTo>
                  <a:close/>
                </a:path>
              </a:pathLst>
            </a:custGeom>
            <a:solidFill>
              <a:srgbClr val="000080"/>
            </a:solidFill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42" name="Freeform 9"/>
            <p:cNvSpPr>
              <a:spLocks noChangeAspect="1"/>
            </p:cNvSpPr>
            <p:nvPr/>
          </p:nvSpPr>
          <p:spPr bwMode="auto">
            <a:xfrm>
              <a:off x="1254" y="3512"/>
              <a:ext cx="259" cy="199"/>
            </a:xfrm>
            <a:custGeom>
              <a:avLst/>
              <a:gdLst>
                <a:gd name="T0" fmla="*/ 259 w 578"/>
                <a:gd name="T1" fmla="*/ 100 h 444"/>
                <a:gd name="T2" fmla="*/ 78 w 578"/>
                <a:gd name="T3" fmla="*/ 199 h 444"/>
                <a:gd name="T4" fmla="*/ 78 w 578"/>
                <a:gd name="T5" fmla="*/ 199 h 444"/>
                <a:gd name="T6" fmla="*/ 0 w 578"/>
                <a:gd name="T7" fmla="*/ 199 h 444"/>
                <a:gd name="T8" fmla="*/ 0 w 578"/>
                <a:gd name="T9" fmla="*/ 0 h 444"/>
                <a:gd name="T10" fmla="*/ 0 w 578"/>
                <a:gd name="T11" fmla="*/ 0 h 444"/>
                <a:gd name="T12" fmla="*/ 78 w 578"/>
                <a:gd name="T13" fmla="*/ 0 h 444"/>
                <a:gd name="T14" fmla="*/ 259 w 578"/>
                <a:gd name="T15" fmla="*/ 100 h 4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78"/>
                <a:gd name="T25" fmla="*/ 0 h 444"/>
                <a:gd name="T26" fmla="*/ 578 w 578"/>
                <a:gd name="T27" fmla="*/ 444 h 44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78" h="444">
                  <a:moveTo>
                    <a:pt x="578" y="222"/>
                  </a:moveTo>
                  <a:cubicBezTo>
                    <a:pt x="509" y="332"/>
                    <a:pt x="359" y="414"/>
                    <a:pt x="174" y="444"/>
                  </a:cubicBezTo>
                  <a:lnTo>
                    <a:pt x="0" y="444"/>
                  </a:lnTo>
                  <a:cubicBezTo>
                    <a:pt x="108" y="304"/>
                    <a:pt x="108" y="141"/>
                    <a:pt x="0" y="0"/>
                  </a:cubicBezTo>
                  <a:lnTo>
                    <a:pt x="174" y="0"/>
                  </a:lnTo>
                  <a:cubicBezTo>
                    <a:pt x="360" y="29"/>
                    <a:pt x="510" y="112"/>
                    <a:pt x="578" y="222"/>
                  </a:cubicBezTo>
                  <a:close/>
                </a:path>
              </a:pathLst>
            </a:custGeom>
            <a:solidFill>
              <a:srgbClr val="000080"/>
            </a:solidFill>
            <a:ln w="31750" cap="rnd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43" name="Freeform 10"/>
            <p:cNvSpPr>
              <a:spLocks noChangeAspect="1"/>
            </p:cNvSpPr>
            <p:nvPr/>
          </p:nvSpPr>
          <p:spPr bwMode="auto">
            <a:xfrm>
              <a:off x="1254" y="3512"/>
              <a:ext cx="259" cy="199"/>
            </a:xfrm>
            <a:custGeom>
              <a:avLst/>
              <a:gdLst>
                <a:gd name="T0" fmla="*/ 160 w 578"/>
                <a:gd name="T1" fmla="*/ 199 h 444"/>
                <a:gd name="T2" fmla="*/ 0 w 578"/>
                <a:gd name="T3" fmla="*/ 199 h 444"/>
                <a:gd name="T4" fmla="*/ 0 w 578"/>
                <a:gd name="T5" fmla="*/ 0 h 444"/>
                <a:gd name="T6" fmla="*/ 160 w 578"/>
                <a:gd name="T7" fmla="*/ 0 h 444"/>
                <a:gd name="T8" fmla="*/ 259 w 578"/>
                <a:gd name="T9" fmla="*/ 100 h 444"/>
                <a:gd name="T10" fmla="*/ 160 w 578"/>
                <a:gd name="T11" fmla="*/ 199 h 444"/>
                <a:gd name="T12" fmla="*/ 160 w 578"/>
                <a:gd name="T13" fmla="*/ 199 h 4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78"/>
                <a:gd name="T22" fmla="*/ 0 h 444"/>
                <a:gd name="T23" fmla="*/ 578 w 578"/>
                <a:gd name="T24" fmla="*/ 444 h 44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78" h="444">
                  <a:moveTo>
                    <a:pt x="356" y="444"/>
                  </a:moveTo>
                  <a:lnTo>
                    <a:pt x="0" y="444"/>
                  </a:lnTo>
                  <a:lnTo>
                    <a:pt x="0" y="0"/>
                  </a:lnTo>
                  <a:lnTo>
                    <a:pt x="356" y="0"/>
                  </a:lnTo>
                  <a:cubicBezTo>
                    <a:pt x="479" y="0"/>
                    <a:pt x="578" y="99"/>
                    <a:pt x="578" y="222"/>
                  </a:cubicBezTo>
                  <a:cubicBezTo>
                    <a:pt x="578" y="345"/>
                    <a:pt x="479" y="444"/>
                    <a:pt x="356" y="444"/>
                  </a:cubicBezTo>
                  <a:cubicBezTo>
                    <a:pt x="356" y="444"/>
                    <a:pt x="356" y="444"/>
                    <a:pt x="356" y="444"/>
                  </a:cubicBezTo>
                  <a:close/>
                </a:path>
              </a:pathLst>
            </a:custGeom>
            <a:solidFill>
              <a:srgbClr val="000080"/>
            </a:solidFill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44" name="Freeform 11"/>
            <p:cNvSpPr>
              <a:spLocks noChangeAspect="1"/>
            </p:cNvSpPr>
            <p:nvPr/>
          </p:nvSpPr>
          <p:spPr bwMode="auto">
            <a:xfrm>
              <a:off x="1254" y="3512"/>
              <a:ext cx="259" cy="199"/>
            </a:xfrm>
            <a:custGeom>
              <a:avLst/>
              <a:gdLst>
                <a:gd name="T0" fmla="*/ 160 w 578"/>
                <a:gd name="T1" fmla="*/ 199 h 444"/>
                <a:gd name="T2" fmla="*/ 0 w 578"/>
                <a:gd name="T3" fmla="*/ 199 h 444"/>
                <a:gd name="T4" fmla="*/ 0 w 578"/>
                <a:gd name="T5" fmla="*/ 0 h 444"/>
                <a:gd name="T6" fmla="*/ 160 w 578"/>
                <a:gd name="T7" fmla="*/ 0 h 444"/>
                <a:gd name="T8" fmla="*/ 259 w 578"/>
                <a:gd name="T9" fmla="*/ 100 h 444"/>
                <a:gd name="T10" fmla="*/ 160 w 578"/>
                <a:gd name="T11" fmla="*/ 199 h 444"/>
                <a:gd name="T12" fmla="*/ 160 w 578"/>
                <a:gd name="T13" fmla="*/ 199 h 4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78"/>
                <a:gd name="T22" fmla="*/ 0 h 444"/>
                <a:gd name="T23" fmla="*/ 578 w 578"/>
                <a:gd name="T24" fmla="*/ 444 h 44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78" h="444">
                  <a:moveTo>
                    <a:pt x="356" y="444"/>
                  </a:moveTo>
                  <a:lnTo>
                    <a:pt x="0" y="444"/>
                  </a:lnTo>
                  <a:lnTo>
                    <a:pt x="0" y="0"/>
                  </a:lnTo>
                  <a:lnTo>
                    <a:pt x="356" y="0"/>
                  </a:lnTo>
                  <a:cubicBezTo>
                    <a:pt x="479" y="0"/>
                    <a:pt x="578" y="99"/>
                    <a:pt x="578" y="222"/>
                  </a:cubicBezTo>
                  <a:cubicBezTo>
                    <a:pt x="578" y="345"/>
                    <a:pt x="479" y="444"/>
                    <a:pt x="356" y="444"/>
                  </a:cubicBezTo>
                  <a:cubicBezTo>
                    <a:pt x="356" y="444"/>
                    <a:pt x="356" y="444"/>
                    <a:pt x="356" y="444"/>
                  </a:cubicBezTo>
                  <a:close/>
                </a:path>
              </a:pathLst>
            </a:custGeom>
            <a:solidFill>
              <a:srgbClr val="000080"/>
            </a:solidFill>
            <a:ln w="31750" cap="rnd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45" name="Freeform 12"/>
            <p:cNvSpPr>
              <a:spLocks noChangeAspect="1" noEditPoints="1"/>
            </p:cNvSpPr>
            <p:nvPr/>
          </p:nvSpPr>
          <p:spPr bwMode="auto">
            <a:xfrm>
              <a:off x="1170" y="3561"/>
              <a:ext cx="398" cy="101"/>
            </a:xfrm>
            <a:custGeom>
              <a:avLst/>
              <a:gdLst>
                <a:gd name="T0" fmla="*/ 0 w 332"/>
                <a:gd name="T1" fmla="*/ 0 h 84"/>
                <a:gd name="T2" fmla="*/ 198 w 332"/>
                <a:gd name="T3" fmla="*/ 0 h 84"/>
                <a:gd name="T4" fmla="*/ 0 w 332"/>
                <a:gd name="T5" fmla="*/ 101 h 84"/>
                <a:gd name="T6" fmla="*/ 198 w 332"/>
                <a:gd name="T7" fmla="*/ 101 h 84"/>
                <a:gd name="T8" fmla="*/ 398 w 332"/>
                <a:gd name="T9" fmla="*/ 51 h 84"/>
                <a:gd name="T10" fmla="*/ 198 w 332"/>
                <a:gd name="T11" fmla="*/ 51 h 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32"/>
                <a:gd name="T19" fmla="*/ 0 h 84"/>
                <a:gd name="T20" fmla="*/ 332 w 332"/>
                <a:gd name="T21" fmla="*/ 84 h 8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32" h="84">
                  <a:moveTo>
                    <a:pt x="0" y="0"/>
                  </a:moveTo>
                  <a:lnTo>
                    <a:pt x="165" y="0"/>
                  </a:lnTo>
                  <a:moveTo>
                    <a:pt x="0" y="84"/>
                  </a:moveTo>
                  <a:lnTo>
                    <a:pt x="165" y="84"/>
                  </a:lnTo>
                  <a:moveTo>
                    <a:pt x="332" y="42"/>
                  </a:moveTo>
                  <a:lnTo>
                    <a:pt x="165" y="42"/>
                  </a:lnTo>
                </a:path>
              </a:pathLst>
            </a:custGeom>
            <a:solidFill>
              <a:srgbClr val="000080"/>
            </a:solidFill>
            <a:ln w="31750" cap="rnd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6086" name="Freeform 13"/>
          <p:cNvSpPr>
            <a:spLocks noChangeAspect="1"/>
          </p:cNvSpPr>
          <p:nvPr/>
        </p:nvSpPr>
        <p:spPr bwMode="auto">
          <a:xfrm>
            <a:off x="1981200" y="3148013"/>
            <a:ext cx="1112838" cy="2166937"/>
          </a:xfrm>
          <a:custGeom>
            <a:avLst/>
            <a:gdLst>
              <a:gd name="T0" fmla="*/ 1079116 w 132"/>
              <a:gd name="T1" fmla="*/ 2166937 h 568"/>
              <a:gd name="T2" fmla="*/ 1112838 w 132"/>
              <a:gd name="T3" fmla="*/ 0 h 568"/>
              <a:gd name="T4" fmla="*/ 0 w 132"/>
              <a:gd name="T5" fmla="*/ 0 h 568"/>
              <a:gd name="T6" fmla="*/ 0 60000 65536"/>
              <a:gd name="T7" fmla="*/ 0 60000 65536"/>
              <a:gd name="T8" fmla="*/ 0 60000 65536"/>
              <a:gd name="T9" fmla="*/ 0 w 132"/>
              <a:gd name="T10" fmla="*/ 0 h 568"/>
              <a:gd name="T11" fmla="*/ 132 w 132"/>
              <a:gd name="T12" fmla="*/ 568 h 5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2" h="568">
                <a:moveTo>
                  <a:pt x="128" y="568"/>
                </a:moveTo>
                <a:lnTo>
                  <a:pt x="132" y="0"/>
                </a:lnTo>
                <a:lnTo>
                  <a:pt x="0" y="0"/>
                </a:lnTo>
              </a:path>
            </a:pathLst>
          </a:custGeom>
          <a:noFill/>
          <a:ln w="3175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46087" name="Group 14"/>
          <p:cNvGrpSpPr>
            <a:grpSpLocks noChangeAspect="1"/>
          </p:cNvGrpSpPr>
          <p:nvPr/>
        </p:nvGrpSpPr>
        <p:grpSpPr bwMode="auto">
          <a:xfrm>
            <a:off x="3048000" y="5119688"/>
            <a:ext cx="1577975" cy="758825"/>
            <a:chOff x="1170" y="3512"/>
            <a:chExt cx="398" cy="199"/>
          </a:xfrm>
        </p:grpSpPr>
        <p:sp>
          <p:nvSpPr>
            <p:cNvPr id="46236" name="Freeform 15"/>
            <p:cNvSpPr>
              <a:spLocks noChangeAspect="1"/>
            </p:cNvSpPr>
            <p:nvPr/>
          </p:nvSpPr>
          <p:spPr bwMode="auto">
            <a:xfrm>
              <a:off x="1254" y="3512"/>
              <a:ext cx="259" cy="199"/>
            </a:xfrm>
            <a:custGeom>
              <a:avLst/>
              <a:gdLst>
                <a:gd name="T0" fmla="*/ 259 w 578"/>
                <a:gd name="T1" fmla="*/ 100 h 444"/>
                <a:gd name="T2" fmla="*/ 78 w 578"/>
                <a:gd name="T3" fmla="*/ 199 h 444"/>
                <a:gd name="T4" fmla="*/ 78 w 578"/>
                <a:gd name="T5" fmla="*/ 199 h 444"/>
                <a:gd name="T6" fmla="*/ 0 w 578"/>
                <a:gd name="T7" fmla="*/ 199 h 444"/>
                <a:gd name="T8" fmla="*/ 0 w 578"/>
                <a:gd name="T9" fmla="*/ 0 h 444"/>
                <a:gd name="T10" fmla="*/ 0 w 578"/>
                <a:gd name="T11" fmla="*/ 0 h 444"/>
                <a:gd name="T12" fmla="*/ 78 w 578"/>
                <a:gd name="T13" fmla="*/ 0 h 444"/>
                <a:gd name="T14" fmla="*/ 259 w 578"/>
                <a:gd name="T15" fmla="*/ 100 h 4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78"/>
                <a:gd name="T25" fmla="*/ 0 h 444"/>
                <a:gd name="T26" fmla="*/ 578 w 578"/>
                <a:gd name="T27" fmla="*/ 444 h 44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78" h="444">
                  <a:moveTo>
                    <a:pt x="578" y="222"/>
                  </a:moveTo>
                  <a:cubicBezTo>
                    <a:pt x="509" y="332"/>
                    <a:pt x="359" y="414"/>
                    <a:pt x="174" y="444"/>
                  </a:cubicBezTo>
                  <a:lnTo>
                    <a:pt x="0" y="444"/>
                  </a:lnTo>
                  <a:cubicBezTo>
                    <a:pt x="108" y="304"/>
                    <a:pt x="108" y="141"/>
                    <a:pt x="0" y="0"/>
                  </a:cubicBezTo>
                  <a:lnTo>
                    <a:pt x="174" y="0"/>
                  </a:lnTo>
                  <a:cubicBezTo>
                    <a:pt x="360" y="29"/>
                    <a:pt x="510" y="112"/>
                    <a:pt x="578" y="222"/>
                  </a:cubicBezTo>
                  <a:close/>
                </a:path>
              </a:pathLst>
            </a:custGeom>
            <a:solidFill>
              <a:srgbClr val="000080"/>
            </a:solidFill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37" name="Freeform 16"/>
            <p:cNvSpPr>
              <a:spLocks noChangeAspect="1"/>
            </p:cNvSpPr>
            <p:nvPr/>
          </p:nvSpPr>
          <p:spPr bwMode="auto">
            <a:xfrm>
              <a:off x="1254" y="3512"/>
              <a:ext cx="259" cy="199"/>
            </a:xfrm>
            <a:custGeom>
              <a:avLst/>
              <a:gdLst>
                <a:gd name="T0" fmla="*/ 259 w 578"/>
                <a:gd name="T1" fmla="*/ 100 h 444"/>
                <a:gd name="T2" fmla="*/ 78 w 578"/>
                <a:gd name="T3" fmla="*/ 199 h 444"/>
                <a:gd name="T4" fmla="*/ 78 w 578"/>
                <a:gd name="T5" fmla="*/ 199 h 444"/>
                <a:gd name="T6" fmla="*/ 0 w 578"/>
                <a:gd name="T7" fmla="*/ 199 h 444"/>
                <a:gd name="T8" fmla="*/ 0 w 578"/>
                <a:gd name="T9" fmla="*/ 0 h 444"/>
                <a:gd name="T10" fmla="*/ 0 w 578"/>
                <a:gd name="T11" fmla="*/ 0 h 444"/>
                <a:gd name="T12" fmla="*/ 78 w 578"/>
                <a:gd name="T13" fmla="*/ 0 h 444"/>
                <a:gd name="T14" fmla="*/ 259 w 578"/>
                <a:gd name="T15" fmla="*/ 100 h 4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78"/>
                <a:gd name="T25" fmla="*/ 0 h 444"/>
                <a:gd name="T26" fmla="*/ 578 w 578"/>
                <a:gd name="T27" fmla="*/ 444 h 44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78" h="444">
                  <a:moveTo>
                    <a:pt x="578" y="222"/>
                  </a:moveTo>
                  <a:cubicBezTo>
                    <a:pt x="509" y="332"/>
                    <a:pt x="359" y="414"/>
                    <a:pt x="174" y="444"/>
                  </a:cubicBezTo>
                  <a:lnTo>
                    <a:pt x="0" y="444"/>
                  </a:lnTo>
                  <a:cubicBezTo>
                    <a:pt x="108" y="304"/>
                    <a:pt x="108" y="141"/>
                    <a:pt x="0" y="0"/>
                  </a:cubicBezTo>
                  <a:lnTo>
                    <a:pt x="174" y="0"/>
                  </a:lnTo>
                  <a:cubicBezTo>
                    <a:pt x="360" y="29"/>
                    <a:pt x="510" y="112"/>
                    <a:pt x="578" y="222"/>
                  </a:cubicBezTo>
                  <a:close/>
                </a:path>
              </a:pathLst>
            </a:custGeom>
            <a:solidFill>
              <a:srgbClr val="000080"/>
            </a:solidFill>
            <a:ln w="31750" cap="rnd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38" name="Freeform 17"/>
            <p:cNvSpPr>
              <a:spLocks noChangeAspect="1"/>
            </p:cNvSpPr>
            <p:nvPr/>
          </p:nvSpPr>
          <p:spPr bwMode="auto">
            <a:xfrm>
              <a:off x="1254" y="3512"/>
              <a:ext cx="259" cy="199"/>
            </a:xfrm>
            <a:custGeom>
              <a:avLst/>
              <a:gdLst>
                <a:gd name="T0" fmla="*/ 160 w 578"/>
                <a:gd name="T1" fmla="*/ 199 h 444"/>
                <a:gd name="T2" fmla="*/ 0 w 578"/>
                <a:gd name="T3" fmla="*/ 199 h 444"/>
                <a:gd name="T4" fmla="*/ 0 w 578"/>
                <a:gd name="T5" fmla="*/ 0 h 444"/>
                <a:gd name="T6" fmla="*/ 160 w 578"/>
                <a:gd name="T7" fmla="*/ 0 h 444"/>
                <a:gd name="T8" fmla="*/ 259 w 578"/>
                <a:gd name="T9" fmla="*/ 100 h 444"/>
                <a:gd name="T10" fmla="*/ 160 w 578"/>
                <a:gd name="T11" fmla="*/ 199 h 444"/>
                <a:gd name="T12" fmla="*/ 160 w 578"/>
                <a:gd name="T13" fmla="*/ 199 h 4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78"/>
                <a:gd name="T22" fmla="*/ 0 h 444"/>
                <a:gd name="T23" fmla="*/ 578 w 578"/>
                <a:gd name="T24" fmla="*/ 444 h 44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78" h="444">
                  <a:moveTo>
                    <a:pt x="356" y="444"/>
                  </a:moveTo>
                  <a:lnTo>
                    <a:pt x="0" y="444"/>
                  </a:lnTo>
                  <a:lnTo>
                    <a:pt x="0" y="0"/>
                  </a:lnTo>
                  <a:lnTo>
                    <a:pt x="356" y="0"/>
                  </a:lnTo>
                  <a:cubicBezTo>
                    <a:pt x="479" y="0"/>
                    <a:pt x="578" y="99"/>
                    <a:pt x="578" y="222"/>
                  </a:cubicBezTo>
                  <a:cubicBezTo>
                    <a:pt x="578" y="345"/>
                    <a:pt x="479" y="444"/>
                    <a:pt x="356" y="444"/>
                  </a:cubicBezTo>
                  <a:cubicBezTo>
                    <a:pt x="356" y="444"/>
                    <a:pt x="356" y="444"/>
                    <a:pt x="356" y="444"/>
                  </a:cubicBezTo>
                  <a:close/>
                </a:path>
              </a:pathLst>
            </a:custGeom>
            <a:solidFill>
              <a:srgbClr val="000080"/>
            </a:solidFill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39" name="Freeform 18"/>
            <p:cNvSpPr>
              <a:spLocks noChangeAspect="1"/>
            </p:cNvSpPr>
            <p:nvPr/>
          </p:nvSpPr>
          <p:spPr bwMode="auto">
            <a:xfrm>
              <a:off x="1254" y="3512"/>
              <a:ext cx="259" cy="199"/>
            </a:xfrm>
            <a:custGeom>
              <a:avLst/>
              <a:gdLst>
                <a:gd name="T0" fmla="*/ 160 w 578"/>
                <a:gd name="T1" fmla="*/ 199 h 444"/>
                <a:gd name="T2" fmla="*/ 0 w 578"/>
                <a:gd name="T3" fmla="*/ 199 h 444"/>
                <a:gd name="T4" fmla="*/ 0 w 578"/>
                <a:gd name="T5" fmla="*/ 0 h 444"/>
                <a:gd name="T6" fmla="*/ 160 w 578"/>
                <a:gd name="T7" fmla="*/ 0 h 444"/>
                <a:gd name="T8" fmla="*/ 259 w 578"/>
                <a:gd name="T9" fmla="*/ 100 h 444"/>
                <a:gd name="T10" fmla="*/ 160 w 578"/>
                <a:gd name="T11" fmla="*/ 199 h 444"/>
                <a:gd name="T12" fmla="*/ 160 w 578"/>
                <a:gd name="T13" fmla="*/ 199 h 4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78"/>
                <a:gd name="T22" fmla="*/ 0 h 444"/>
                <a:gd name="T23" fmla="*/ 578 w 578"/>
                <a:gd name="T24" fmla="*/ 444 h 44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78" h="444">
                  <a:moveTo>
                    <a:pt x="356" y="444"/>
                  </a:moveTo>
                  <a:lnTo>
                    <a:pt x="0" y="444"/>
                  </a:lnTo>
                  <a:lnTo>
                    <a:pt x="0" y="0"/>
                  </a:lnTo>
                  <a:lnTo>
                    <a:pt x="356" y="0"/>
                  </a:lnTo>
                  <a:cubicBezTo>
                    <a:pt x="479" y="0"/>
                    <a:pt x="578" y="99"/>
                    <a:pt x="578" y="222"/>
                  </a:cubicBezTo>
                  <a:cubicBezTo>
                    <a:pt x="578" y="345"/>
                    <a:pt x="479" y="444"/>
                    <a:pt x="356" y="444"/>
                  </a:cubicBezTo>
                  <a:cubicBezTo>
                    <a:pt x="356" y="444"/>
                    <a:pt x="356" y="444"/>
                    <a:pt x="356" y="444"/>
                  </a:cubicBezTo>
                  <a:close/>
                </a:path>
              </a:pathLst>
            </a:custGeom>
            <a:solidFill>
              <a:srgbClr val="000080"/>
            </a:solidFill>
            <a:ln w="31750" cap="rnd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40" name="Freeform 19"/>
            <p:cNvSpPr>
              <a:spLocks noChangeAspect="1" noEditPoints="1"/>
            </p:cNvSpPr>
            <p:nvPr/>
          </p:nvSpPr>
          <p:spPr bwMode="auto">
            <a:xfrm>
              <a:off x="1170" y="3561"/>
              <a:ext cx="398" cy="101"/>
            </a:xfrm>
            <a:custGeom>
              <a:avLst/>
              <a:gdLst>
                <a:gd name="T0" fmla="*/ 0 w 332"/>
                <a:gd name="T1" fmla="*/ 0 h 84"/>
                <a:gd name="T2" fmla="*/ 198 w 332"/>
                <a:gd name="T3" fmla="*/ 0 h 84"/>
                <a:gd name="T4" fmla="*/ 0 w 332"/>
                <a:gd name="T5" fmla="*/ 101 h 84"/>
                <a:gd name="T6" fmla="*/ 198 w 332"/>
                <a:gd name="T7" fmla="*/ 101 h 84"/>
                <a:gd name="T8" fmla="*/ 398 w 332"/>
                <a:gd name="T9" fmla="*/ 51 h 84"/>
                <a:gd name="T10" fmla="*/ 198 w 332"/>
                <a:gd name="T11" fmla="*/ 51 h 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32"/>
                <a:gd name="T19" fmla="*/ 0 h 84"/>
                <a:gd name="T20" fmla="*/ 332 w 332"/>
                <a:gd name="T21" fmla="*/ 84 h 8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32" h="84">
                  <a:moveTo>
                    <a:pt x="0" y="0"/>
                  </a:moveTo>
                  <a:lnTo>
                    <a:pt x="165" y="0"/>
                  </a:lnTo>
                  <a:moveTo>
                    <a:pt x="0" y="84"/>
                  </a:moveTo>
                  <a:lnTo>
                    <a:pt x="165" y="84"/>
                  </a:lnTo>
                  <a:moveTo>
                    <a:pt x="332" y="42"/>
                  </a:moveTo>
                  <a:lnTo>
                    <a:pt x="165" y="42"/>
                  </a:lnTo>
                </a:path>
              </a:pathLst>
            </a:custGeom>
            <a:solidFill>
              <a:srgbClr val="000080"/>
            </a:solidFill>
            <a:ln w="31750" cap="rnd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6088" name="Freeform 20"/>
          <p:cNvSpPr>
            <a:spLocks noChangeAspect="1"/>
          </p:cNvSpPr>
          <p:nvPr/>
        </p:nvSpPr>
        <p:spPr bwMode="auto">
          <a:xfrm>
            <a:off x="4389438" y="4232275"/>
            <a:ext cx="1189037" cy="1279525"/>
          </a:xfrm>
          <a:custGeom>
            <a:avLst/>
            <a:gdLst>
              <a:gd name="T0" fmla="*/ 1189037 w 312"/>
              <a:gd name="T1" fmla="*/ 0 h 336"/>
              <a:gd name="T2" fmla="*/ 731715 w 312"/>
              <a:gd name="T3" fmla="*/ 15232 h 336"/>
              <a:gd name="T4" fmla="*/ 746959 w 312"/>
              <a:gd name="T5" fmla="*/ 1279525 h 336"/>
              <a:gd name="T6" fmla="*/ 0 w 312"/>
              <a:gd name="T7" fmla="*/ 1279525 h 336"/>
              <a:gd name="T8" fmla="*/ 0 60000 65536"/>
              <a:gd name="T9" fmla="*/ 0 60000 65536"/>
              <a:gd name="T10" fmla="*/ 0 60000 65536"/>
              <a:gd name="T11" fmla="*/ 0 60000 65536"/>
              <a:gd name="T12" fmla="*/ 0 w 312"/>
              <a:gd name="T13" fmla="*/ 0 h 336"/>
              <a:gd name="T14" fmla="*/ 312 w 312"/>
              <a:gd name="T15" fmla="*/ 336 h 3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12" h="336">
                <a:moveTo>
                  <a:pt x="312" y="0"/>
                </a:moveTo>
                <a:lnTo>
                  <a:pt x="192" y="4"/>
                </a:lnTo>
                <a:lnTo>
                  <a:pt x="196" y="336"/>
                </a:lnTo>
                <a:lnTo>
                  <a:pt x="0" y="336"/>
                </a:lnTo>
              </a:path>
            </a:pathLst>
          </a:custGeom>
          <a:noFill/>
          <a:ln w="3175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6089" name="Freeform 21"/>
          <p:cNvSpPr>
            <a:spLocks noChangeAspect="1"/>
          </p:cNvSpPr>
          <p:nvPr/>
        </p:nvSpPr>
        <p:spPr bwMode="auto">
          <a:xfrm flipV="1">
            <a:off x="4389438" y="2951163"/>
            <a:ext cx="1189037" cy="914400"/>
          </a:xfrm>
          <a:custGeom>
            <a:avLst/>
            <a:gdLst>
              <a:gd name="T0" fmla="*/ 1189037 w 312"/>
              <a:gd name="T1" fmla="*/ 0 h 336"/>
              <a:gd name="T2" fmla="*/ 731715 w 312"/>
              <a:gd name="T3" fmla="*/ 10886 h 336"/>
              <a:gd name="T4" fmla="*/ 746959 w 312"/>
              <a:gd name="T5" fmla="*/ 914400 h 336"/>
              <a:gd name="T6" fmla="*/ 0 w 312"/>
              <a:gd name="T7" fmla="*/ 914400 h 336"/>
              <a:gd name="T8" fmla="*/ 0 60000 65536"/>
              <a:gd name="T9" fmla="*/ 0 60000 65536"/>
              <a:gd name="T10" fmla="*/ 0 60000 65536"/>
              <a:gd name="T11" fmla="*/ 0 60000 65536"/>
              <a:gd name="T12" fmla="*/ 0 w 312"/>
              <a:gd name="T13" fmla="*/ 0 h 336"/>
              <a:gd name="T14" fmla="*/ 312 w 312"/>
              <a:gd name="T15" fmla="*/ 336 h 3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12" h="336">
                <a:moveTo>
                  <a:pt x="312" y="0"/>
                </a:moveTo>
                <a:lnTo>
                  <a:pt x="192" y="4"/>
                </a:lnTo>
                <a:lnTo>
                  <a:pt x="196" y="336"/>
                </a:lnTo>
                <a:lnTo>
                  <a:pt x="0" y="336"/>
                </a:lnTo>
              </a:path>
            </a:pathLst>
          </a:custGeom>
          <a:noFill/>
          <a:ln w="3175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46090" name="Group 22"/>
          <p:cNvGrpSpPr>
            <a:grpSpLocks noChangeAspect="1"/>
          </p:cNvGrpSpPr>
          <p:nvPr/>
        </p:nvGrpSpPr>
        <p:grpSpPr bwMode="auto">
          <a:xfrm>
            <a:off x="2120900" y="1803400"/>
            <a:ext cx="850900" cy="1103313"/>
            <a:chOff x="1056" y="2592"/>
            <a:chExt cx="672" cy="871"/>
          </a:xfrm>
        </p:grpSpPr>
        <p:grpSp>
          <p:nvGrpSpPr>
            <p:cNvPr id="46218" name="Group 23"/>
            <p:cNvGrpSpPr>
              <a:grpSpLocks noChangeAspect="1"/>
            </p:cNvGrpSpPr>
            <p:nvPr/>
          </p:nvGrpSpPr>
          <p:grpSpPr bwMode="auto">
            <a:xfrm>
              <a:off x="1056" y="2750"/>
              <a:ext cx="672" cy="713"/>
              <a:chOff x="2741" y="2606"/>
              <a:chExt cx="672" cy="713"/>
            </a:xfrm>
          </p:grpSpPr>
          <p:grpSp>
            <p:nvGrpSpPr>
              <p:cNvPr id="46220" name="Group 24"/>
              <p:cNvGrpSpPr>
                <a:grpSpLocks noChangeAspect="1"/>
              </p:cNvGrpSpPr>
              <p:nvPr/>
            </p:nvGrpSpPr>
            <p:grpSpPr bwMode="auto">
              <a:xfrm>
                <a:off x="2928" y="2606"/>
                <a:ext cx="293" cy="339"/>
                <a:chOff x="2895" y="1454"/>
                <a:chExt cx="293" cy="339"/>
              </a:xfrm>
            </p:grpSpPr>
            <p:sp>
              <p:nvSpPr>
                <p:cNvPr id="46233" name="Freeform 25"/>
                <p:cNvSpPr>
                  <a:spLocks noChangeAspect="1"/>
                </p:cNvSpPr>
                <p:nvPr/>
              </p:nvSpPr>
              <p:spPr bwMode="auto">
                <a:xfrm>
                  <a:off x="2895" y="1500"/>
                  <a:ext cx="293" cy="293"/>
                </a:xfrm>
                <a:custGeom>
                  <a:avLst/>
                  <a:gdLst>
                    <a:gd name="T0" fmla="*/ 0 w 778"/>
                    <a:gd name="T1" fmla="*/ 147 h 778"/>
                    <a:gd name="T2" fmla="*/ 147 w 778"/>
                    <a:gd name="T3" fmla="*/ 0 h 778"/>
                    <a:gd name="T4" fmla="*/ 293 w 778"/>
                    <a:gd name="T5" fmla="*/ 147 h 778"/>
                    <a:gd name="T6" fmla="*/ 293 w 778"/>
                    <a:gd name="T7" fmla="*/ 147 h 778"/>
                    <a:gd name="T8" fmla="*/ 147 w 778"/>
                    <a:gd name="T9" fmla="*/ 293 h 778"/>
                    <a:gd name="T10" fmla="*/ 0 w 778"/>
                    <a:gd name="T11" fmla="*/ 147 h 77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778"/>
                    <a:gd name="T19" fmla="*/ 0 h 778"/>
                    <a:gd name="T20" fmla="*/ 778 w 778"/>
                    <a:gd name="T21" fmla="*/ 778 h 77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778" h="778">
                      <a:moveTo>
                        <a:pt x="0" y="389"/>
                      </a:moveTo>
                      <a:cubicBezTo>
                        <a:pt x="0" y="174"/>
                        <a:pt x="174" y="0"/>
                        <a:pt x="389" y="0"/>
                      </a:cubicBezTo>
                      <a:cubicBezTo>
                        <a:pt x="604" y="0"/>
                        <a:pt x="778" y="174"/>
                        <a:pt x="778" y="389"/>
                      </a:cubicBezTo>
                      <a:cubicBezTo>
                        <a:pt x="778" y="389"/>
                        <a:pt x="778" y="389"/>
                        <a:pt x="778" y="389"/>
                      </a:cubicBezTo>
                      <a:cubicBezTo>
                        <a:pt x="778" y="604"/>
                        <a:pt x="604" y="778"/>
                        <a:pt x="389" y="778"/>
                      </a:cubicBezTo>
                      <a:cubicBezTo>
                        <a:pt x="174" y="778"/>
                        <a:pt x="0" y="604"/>
                        <a:pt x="0" y="389"/>
                      </a:cubicBezTo>
                    </a:path>
                  </a:pathLst>
                </a:custGeom>
                <a:solidFill>
                  <a:srgbClr val="66FF99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234" name="Freeform 26"/>
                <p:cNvSpPr>
                  <a:spLocks noChangeAspect="1"/>
                </p:cNvSpPr>
                <p:nvPr/>
              </p:nvSpPr>
              <p:spPr bwMode="auto">
                <a:xfrm>
                  <a:off x="2895" y="1500"/>
                  <a:ext cx="293" cy="293"/>
                </a:xfrm>
                <a:custGeom>
                  <a:avLst/>
                  <a:gdLst>
                    <a:gd name="T0" fmla="*/ 0 w 293"/>
                    <a:gd name="T1" fmla="*/ 147 h 293"/>
                    <a:gd name="T2" fmla="*/ 147 w 293"/>
                    <a:gd name="T3" fmla="*/ 0 h 293"/>
                    <a:gd name="T4" fmla="*/ 293 w 293"/>
                    <a:gd name="T5" fmla="*/ 147 h 293"/>
                    <a:gd name="T6" fmla="*/ 293 w 293"/>
                    <a:gd name="T7" fmla="*/ 147 h 293"/>
                    <a:gd name="T8" fmla="*/ 147 w 293"/>
                    <a:gd name="T9" fmla="*/ 293 h 293"/>
                    <a:gd name="T10" fmla="*/ 0 w 293"/>
                    <a:gd name="T11" fmla="*/ 147 h 29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93"/>
                    <a:gd name="T19" fmla="*/ 0 h 293"/>
                    <a:gd name="T20" fmla="*/ 293 w 293"/>
                    <a:gd name="T21" fmla="*/ 293 h 29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93" h="293">
                      <a:moveTo>
                        <a:pt x="0" y="147"/>
                      </a:moveTo>
                      <a:cubicBezTo>
                        <a:pt x="0" y="66"/>
                        <a:pt x="66" y="0"/>
                        <a:pt x="147" y="0"/>
                      </a:cubicBezTo>
                      <a:cubicBezTo>
                        <a:pt x="228" y="0"/>
                        <a:pt x="293" y="66"/>
                        <a:pt x="293" y="147"/>
                      </a:cubicBezTo>
                      <a:cubicBezTo>
                        <a:pt x="293" y="147"/>
                        <a:pt x="293" y="147"/>
                        <a:pt x="293" y="147"/>
                      </a:cubicBezTo>
                      <a:cubicBezTo>
                        <a:pt x="293" y="228"/>
                        <a:pt x="228" y="293"/>
                        <a:pt x="147" y="293"/>
                      </a:cubicBezTo>
                      <a:cubicBezTo>
                        <a:pt x="66" y="293"/>
                        <a:pt x="0" y="228"/>
                        <a:pt x="0" y="147"/>
                      </a:cubicBezTo>
                    </a:path>
                  </a:pathLst>
                </a:custGeom>
                <a:noFill/>
                <a:ln w="3175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235" name="Rectangle 27"/>
                <p:cNvSpPr>
                  <a:spLocks noChangeAspect="1" noChangeArrowheads="1"/>
                </p:cNvSpPr>
                <p:nvPr/>
              </p:nvSpPr>
              <p:spPr bwMode="auto">
                <a:xfrm>
                  <a:off x="2981" y="1454"/>
                  <a:ext cx="141" cy="3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/>
                <a:p>
                  <a:r>
                    <a:rPr lang="en-US" sz="2800" i="1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a</a:t>
                  </a:r>
                  <a:endParaRPr lang="en-US">
                    <a:latin typeface="Times New Roman" charset="0"/>
                    <a:cs typeface="Arial" charset="0"/>
                  </a:endParaRPr>
                </a:p>
              </p:txBody>
            </p:sp>
          </p:grpSp>
          <p:grpSp>
            <p:nvGrpSpPr>
              <p:cNvPr id="46221" name="Group 28"/>
              <p:cNvGrpSpPr>
                <a:grpSpLocks noChangeAspect="1"/>
              </p:cNvGrpSpPr>
              <p:nvPr/>
            </p:nvGrpSpPr>
            <p:grpSpPr bwMode="auto">
              <a:xfrm>
                <a:off x="3246" y="3066"/>
                <a:ext cx="167" cy="253"/>
                <a:chOff x="3087" y="2759"/>
                <a:chExt cx="167" cy="253"/>
              </a:xfrm>
            </p:grpSpPr>
            <p:sp>
              <p:nvSpPr>
                <p:cNvPr id="46230" name="Rectangle 29"/>
                <p:cNvSpPr>
                  <a:spLocks noChangeAspect="1" noChangeArrowheads="1"/>
                </p:cNvSpPr>
                <p:nvPr/>
              </p:nvSpPr>
              <p:spPr bwMode="auto">
                <a:xfrm>
                  <a:off x="3087" y="2809"/>
                  <a:ext cx="167" cy="168"/>
                </a:xfrm>
                <a:prstGeom prst="rect">
                  <a:avLst/>
                </a:prstGeom>
                <a:solidFill>
                  <a:srgbClr val="339966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231" name="Rectangle 30"/>
                <p:cNvSpPr>
                  <a:spLocks noChangeAspect="1" noChangeArrowheads="1"/>
                </p:cNvSpPr>
                <p:nvPr/>
              </p:nvSpPr>
              <p:spPr bwMode="auto">
                <a:xfrm>
                  <a:off x="3087" y="2809"/>
                  <a:ext cx="167" cy="168"/>
                </a:xfrm>
                <a:prstGeom prst="rect">
                  <a:avLst/>
                </a:prstGeom>
                <a:noFill/>
                <a:ln w="3175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232" name="Rectangle 31"/>
                <p:cNvSpPr>
                  <a:spLocks noChangeAspect="1" noChangeArrowheads="1"/>
                </p:cNvSpPr>
                <p:nvPr/>
              </p:nvSpPr>
              <p:spPr bwMode="auto">
                <a:xfrm>
                  <a:off x="3110" y="2759"/>
                  <a:ext cx="105" cy="25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/>
                <a:p>
                  <a:r>
                    <a:rPr lang="en-US" sz="2100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1</a:t>
                  </a:r>
                  <a:endParaRPr lang="en-US">
                    <a:latin typeface="Times New Roman" charset="0"/>
                    <a:cs typeface="Arial" charset="0"/>
                  </a:endParaRPr>
                </a:p>
              </p:txBody>
            </p:sp>
          </p:grpSp>
          <p:sp>
            <p:nvSpPr>
              <p:cNvPr id="46222" name="Freeform 32"/>
              <p:cNvSpPr>
                <a:spLocks noChangeAspect="1"/>
              </p:cNvSpPr>
              <p:nvPr/>
            </p:nvSpPr>
            <p:spPr bwMode="auto">
              <a:xfrm>
                <a:off x="3173" y="2909"/>
                <a:ext cx="160" cy="208"/>
              </a:xfrm>
              <a:custGeom>
                <a:avLst/>
                <a:gdLst>
                  <a:gd name="T0" fmla="*/ 0 w 160"/>
                  <a:gd name="T1" fmla="*/ 0 h 208"/>
                  <a:gd name="T2" fmla="*/ 160 w 160"/>
                  <a:gd name="T3" fmla="*/ 208 h 208"/>
                  <a:gd name="T4" fmla="*/ 0 60000 65536"/>
                  <a:gd name="T5" fmla="*/ 0 60000 65536"/>
                  <a:gd name="T6" fmla="*/ 0 w 160"/>
                  <a:gd name="T7" fmla="*/ 0 h 208"/>
                  <a:gd name="T8" fmla="*/ 160 w 160"/>
                  <a:gd name="T9" fmla="*/ 208 h 20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0" h="208">
                    <a:moveTo>
                      <a:pt x="0" y="0"/>
                    </a:moveTo>
                    <a:lnTo>
                      <a:pt x="160" y="208"/>
                    </a:lnTo>
                  </a:path>
                </a:pathLst>
              </a:custGeom>
              <a:noFill/>
              <a:ln w="50800">
                <a:solidFill>
                  <a:schemeClr val="accent2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grpSp>
            <p:nvGrpSpPr>
              <p:cNvPr id="46223" name="Group 33"/>
              <p:cNvGrpSpPr>
                <a:grpSpLocks noChangeAspect="1"/>
              </p:cNvGrpSpPr>
              <p:nvPr/>
            </p:nvGrpSpPr>
            <p:grpSpPr bwMode="auto">
              <a:xfrm>
                <a:off x="2741" y="3066"/>
                <a:ext cx="167" cy="253"/>
                <a:chOff x="3087" y="2759"/>
                <a:chExt cx="167" cy="253"/>
              </a:xfrm>
            </p:grpSpPr>
            <p:sp>
              <p:nvSpPr>
                <p:cNvPr id="46227" name="Rectangle 34"/>
                <p:cNvSpPr>
                  <a:spLocks noChangeAspect="1" noChangeArrowheads="1"/>
                </p:cNvSpPr>
                <p:nvPr/>
              </p:nvSpPr>
              <p:spPr bwMode="auto">
                <a:xfrm>
                  <a:off x="3087" y="2809"/>
                  <a:ext cx="167" cy="168"/>
                </a:xfrm>
                <a:prstGeom prst="rect">
                  <a:avLst/>
                </a:prstGeom>
                <a:solidFill>
                  <a:srgbClr val="339966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228" name="Rectangle 35"/>
                <p:cNvSpPr>
                  <a:spLocks noChangeAspect="1" noChangeArrowheads="1"/>
                </p:cNvSpPr>
                <p:nvPr/>
              </p:nvSpPr>
              <p:spPr bwMode="auto">
                <a:xfrm>
                  <a:off x="3087" y="2809"/>
                  <a:ext cx="167" cy="168"/>
                </a:xfrm>
                <a:prstGeom prst="rect">
                  <a:avLst/>
                </a:prstGeom>
                <a:noFill/>
                <a:ln w="3175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229" name="Rectangle 36"/>
                <p:cNvSpPr>
                  <a:spLocks noChangeAspect="1" noChangeArrowheads="1"/>
                </p:cNvSpPr>
                <p:nvPr/>
              </p:nvSpPr>
              <p:spPr bwMode="auto">
                <a:xfrm>
                  <a:off x="3110" y="2759"/>
                  <a:ext cx="105" cy="25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/>
                <a:p>
                  <a:r>
                    <a:rPr lang="en-US" sz="2100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0</a:t>
                  </a:r>
                  <a:endParaRPr lang="en-US">
                    <a:latin typeface="Times New Roman" charset="0"/>
                    <a:cs typeface="Arial" charset="0"/>
                  </a:endParaRPr>
                </a:p>
              </p:txBody>
            </p:sp>
          </p:grpSp>
          <p:sp>
            <p:nvSpPr>
              <p:cNvPr id="46224" name="Freeform 37"/>
              <p:cNvSpPr>
                <a:spLocks noChangeAspect="1"/>
              </p:cNvSpPr>
              <p:nvPr/>
            </p:nvSpPr>
            <p:spPr bwMode="auto">
              <a:xfrm flipH="1">
                <a:off x="2821" y="2909"/>
                <a:ext cx="160" cy="208"/>
              </a:xfrm>
              <a:custGeom>
                <a:avLst/>
                <a:gdLst>
                  <a:gd name="T0" fmla="*/ 0 w 160"/>
                  <a:gd name="T1" fmla="*/ 0 h 208"/>
                  <a:gd name="T2" fmla="*/ 160 w 160"/>
                  <a:gd name="T3" fmla="*/ 208 h 208"/>
                  <a:gd name="T4" fmla="*/ 0 60000 65536"/>
                  <a:gd name="T5" fmla="*/ 0 60000 65536"/>
                  <a:gd name="T6" fmla="*/ 0 w 160"/>
                  <a:gd name="T7" fmla="*/ 0 h 208"/>
                  <a:gd name="T8" fmla="*/ 160 w 160"/>
                  <a:gd name="T9" fmla="*/ 208 h 20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0" h="208">
                    <a:moveTo>
                      <a:pt x="0" y="0"/>
                    </a:moveTo>
                    <a:lnTo>
                      <a:pt x="160" y="208"/>
                    </a:lnTo>
                  </a:path>
                </a:pathLst>
              </a:custGeom>
              <a:noFill/>
              <a:ln w="50800">
                <a:solidFill>
                  <a:srgbClr val="333399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6225" name="Rectangle 38"/>
              <p:cNvSpPr>
                <a:spLocks noChangeAspect="1" noChangeArrowheads="1"/>
              </p:cNvSpPr>
              <p:nvPr/>
            </p:nvSpPr>
            <p:spPr bwMode="auto">
              <a:xfrm>
                <a:off x="2830" y="2813"/>
                <a:ext cx="78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cs typeface="Arial" charset="0"/>
                  </a:rPr>
                  <a:t>0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  <p:sp>
            <p:nvSpPr>
              <p:cNvPr id="46226" name="Rectangle 39"/>
              <p:cNvSpPr>
                <a:spLocks noChangeAspect="1" noChangeArrowheads="1"/>
              </p:cNvSpPr>
              <p:nvPr/>
            </p:nvSpPr>
            <p:spPr bwMode="auto">
              <a:xfrm>
                <a:off x="3214" y="2813"/>
                <a:ext cx="77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cs typeface="Arial" charset="0"/>
                  </a:rPr>
                  <a:t>1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46219" name="Freeform 40"/>
            <p:cNvSpPr>
              <a:spLocks noChangeAspect="1"/>
            </p:cNvSpPr>
            <p:nvPr/>
          </p:nvSpPr>
          <p:spPr bwMode="auto">
            <a:xfrm flipH="1">
              <a:off x="1424" y="2592"/>
              <a:ext cx="64" cy="208"/>
            </a:xfrm>
            <a:custGeom>
              <a:avLst/>
              <a:gdLst>
                <a:gd name="T0" fmla="*/ 0 w 160"/>
                <a:gd name="T1" fmla="*/ 0 h 208"/>
                <a:gd name="T2" fmla="*/ 64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66FF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grpSp>
        <p:nvGrpSpPr>
          <p:cNvPr id="46091" name="Group 41"/>
          <p:cNvGrpSpPr>
            <a:grpSpLocks noChangeAspect="1"/>
          </p:cNvGrpSpPr>
          <p:nvPr/>
        </p:nvGrpSpPr>
        <p:grpSpPr bwMode="auto">
          <a:xfrm>
            <a:off x="2044700" y="4927600"/>
            <a:ext cx="850900" cy="1103313"/>
            <a:chOff x="1056" y="2592"/>
            <a:chExt cx="672" cy="871"/>
          </a:xfrm>
        </p:grpSpPr>
        <p:grpSp>
          <p:nvGrpSpPr>
            <p:cNvPr id="46200" name="Group 42"/>
            <p:cNvGrpSpPr>
              <a:grpSpLocks noChangeAspect="1"/>
            </p:cNvGrpSpPr>
            <p:nvPr/>
          </p:nvGrpSpPr>
          <p:grpSpPr bwMode="auto">
            <a:xfrm>
              <a:off x="1056" y="2750"/>
              <a:ext cx="672" cy="713"/>
              <a:chOff x="2741" y="2606"/>
              <a:chExt cx="672" cy="713"/>
            </a:xfrm>
          </p:grpSpPr>
          <p:grpSp>
            <p:nvGrpSpPr>
              <p:cNvPr id="46202" name="Group 43"/>
              <p:cNvGrpSpPr>
                <a:grpSpLocks noChangeAspect="1"/>
              </p:cNvGrpSpPr>
              <p:nvPr/>
            </p:nvGrpSpPr>
            <p:grpSpPr bwMode="auto">
              <a:xfrm>
                <a:off x="2928" y="2606"/>
                <a:ext cx="293" cy="340"/>
                <a:chOff x="2895" y="1454"/>
                <a:chExt cx="293" cy="340"/>
              </a:xfrm>
            </p:grpSpPr>
            <p:sp>
              <p:nvSpPr>
                <p:cNvPr id="46215" name="Freeform 44"/>
                <p:cNvSpPr>
                  <a:spLocks noChangeAspect="1"/>
                </p:cNvSpPr>
                <p:nvPr/>
              </p:nvSpPr>
              <p:spPr bwMode="auto">
                <a:xfrm>
                  <a:off x="2895" y="1500"/>
                  <a:ext cx="293" cy="293"/>
                </a:xfrm>
                <a:custGeom>
                  <a:avLst/>
                  <a:gdLst>
                    <a:gd name="T0" fmla="*/ 0 w 778"/>
                    <a:gd name="T1" fmla="*/ 147 h 778"/>
                    <a:gd name="T2" fmla="*/ 147 w 778"/>
                    <a:gd name="T3" fmla="*/ 0 h 778"/>
                    <a:gd name="T4" fmla="*/ 293 w 778"/>
                    <a:gd name="T5" fmla="*/ 147 h 778"/>
                    <a:gd name="T6" fmla="*/ 293 w 778"/>
                    <a:gd name="T7" fmla="*/ 147 h 778"/>
                    <a:gd name="T8" fmla="*/ 147 w 778"/>
                    <a:gd name="T9" fmla="*/ 293 h 778"/>
                    <a:gd name="T10" fmla="*/ 0 w 778"/>
                    <a:gd name="T11" fmla="*/ 147 h 77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778"/>
                    <a:gd name="T19" fmla="*/ 0 h 778"/>
                    <a:gd name="T20" fmla="*/ 778 w 778"/>
                    <a:gd name="T21" fmla="*/ 778 h 77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778" h="778">
                      <a:moveTo>
                        <a:pt x="0" y="389"/>
                      </a:moveTo>
                      <a:cubicBezTo>
                        <a:pt x="0" y="174"/>
                        <a:pt x="174" y="0"/>
                        <a:pt x="389" y="0"/>
                      </a:cubicBezTo>
                      <a:cubicBezTo>
                        <a:pt x="604" y="0"/>
                        <a:pt x="778" y="174"/>
                        <a:pt x="778" y="389"/>
                      </a:cubicBezTo>
                      <a:cubicBezTo>
                        <a:pt x="778" y="389"/>
                        <a:pt x="778" y="389"/>
                        <a:pt x="778" y="389"/>
                      </a:cubicBezTo>
                      <a:cubicBezTo>
                        <a:pt x="778" y="604"/>
                        <a:pt x="604" y="778"/>
                        <a:pt x="389" y="778"/>
                      </a:cubicBezTo>
                      <a:cubicBezTo>
                        <a:pt x="174" y="778"/>
                        <a:pt x="0" y="604"/>
                        <a:pt x="0" y="389"/>
                      </a:cubicBezTo>
                    </a:path>
                  </a:pathLst>
                </a:custGeom>
                <a:solidFill>
                  <a:srgbClr val="66FF99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216" name="Freeform 45"/>
                <p:cNvSpPr>
                  <a:spLocks noChangeAspect="1"/>
                </p:cNvSpPr>
                <p:nvPr/>
              </p:nvSpPr>
              <p:spPr bwMode="auto">
                <a:xfrm>
                  <a:off x="2895" y="1500"/>
                  <a:ext cx="293" cy="293"/>
                </a:xfrm>
                <a:custGeom>
                  <a:avLst/>
                  <a:gdLst>
                    <a:gd name="T0" fmla="*/ 0 w 293"/>
                    <a:gd name="T1" fmla="*/ 147 h 293"/>
                    <a:gd name="T2" fmla="*/ 147 w 293"/>
                    <a:gd name="T3" fmla="*/ 0 h 293"/>
                    <a:gd name="T4" fmla="*/ 293 w 293"/>
                    <a:gd name="T5" fmla="*/ 147 h 293"/>
                    <a:gd name="T6" fmla="*/ 293 w 293"/>
                    <a:gd name="T7" fmla="*/ 147 h 293"/>
                    <a:gd name="T8" fmla="*/ 147 w 293"/>
                    <a:gd name="T9" fmla="*/ 293 h 293"/>
                    <a:gd name="T10" fmla="*/ 0 w 293"/>
                    <a:gd name="T11" fmla="*/ 147 h 29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93"/>
                    <a:gd name="T19" fmla="*/ 0 h 293"/>
                    <a:gd name="T20" fmla="*/ 293 w 293"/>
                    <a:gd name="T21" fmla="*/ 293 h 29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93" h="293">
                      <a:moveTo>
                        <a:pt x="0" y="147"/>
                      </a:moveTo>
                      <a:cubicBezTo>
                        <a:pt x="0" y="66"/>
                        <a:pt x="66" y="0"/>
                        <a:pt x="147" y="0"/>
                      </a:cubicBezTo>
                      <a:cubicBezTo>
                        <a:pt x="228" y="0"/>
                        <a:pt x="293" y="66"/>
                        <a:pt x="293" y="147"/>
                      </a:cubicBezTo>
                      <a:cubicBezTo>
                        <a:pt x="293" y="147"/>
                        <a:pt x="293" y="147"/>
                        <a:pt x="293" y="147"/>
                      </a:cubicBezTo>
                      <a:cubicBezTo>
                        <a:pt x="293" y="228"/>
                        <a:pt x="228" y="293"/>
                        <a:pt x="147" y="293"/>
                      </a:cubicBezTo>
                      <a:cubicBezTo>
                        <a:pt x="66" y="293"/>
                        <a:pt x="0" y="228"/>
                        <a:pt x="0" y="147"/>
                      </a:cubicBezTo>
                    </a:path>
                  </a:pathLst>
                </a:custGeom>
                <a:noFill/>
                <a:ln w="3175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217" name="Rectangle 46"/>
                <p:cNvSpPr>
                  <a:spLocks noChangeAspect="1" noChangeArrowheads="1"/>
                </p:cNvSpPr>
                <p:nvPr/>
              </p:nvSpPr>
              <p:spPr bwMode="auto">
                <a:xfrm>
                  <a:off x="2989" y="1454"/>
                  <a:ext cx="142" cy="3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/>
                <a:p>
                  <a:r>
                    <a:rPr lang="en-US" sz="2800" i="1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b</a:t>
                  </a:r>
                  <a:endParaRPr lang="en-US">
                    <a:latin typeface="Times New Roman" charset="0"/>
                    <a:cs typeface="Arial" charset="0"/>
                  </a:endParaRPr>
                </a:p>
              </p:txBody>
            </p:sp>
          </p:grpSp>
          <p:grpSp>
            <p:nvGrpSpPr>
              <p:cNvPr id="46203" name="Group 47"/>
              <p:cNvGrpSpPr>
                <a:grpSpLocks noChangeAspect="1"/>
              </p:cNvGrpSpPr>
              <p:nvPr/>
            </p:nvGrpSpPr>
            <p:grpSpPr bwMode="auto">
              <a:xfrm>
                <a:off x="3246" y="3066"/>
                <a:ext cx="167" cy="253"/>
                <a:chOff x="3087" y="2759"/>
                <a:chExt cx="167" cy="253"/>
              </a:xfrm>
            </p:grpSpPr>
            <p:sp>
              <p:nvSpPr>
                <p:cNvPr id="46212" name="Rectangle 48"/>
                <p:cNvSpPr>
                  <a:spLocks noChangeAspect="1" noChangeArrowheads="1"/>
                </p:cNvSpPr>
                <p:nvPr/>
              </p:nvSpPr>
              <p:spPr bwMode="auto">
                <a:xfrm>
                  <a:off x="3087" y="2809"/>
                  <a:ext cx="167" cy="168"/>
                </a:xfrm>
                <a:prstGeom prst="rect">
                  <a:avLst/>
                </a:prstGeom>
                <a:solidFill>
                  <a:srgbClr val="339966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213" name="Rectangle 49"/>
                <p:cNvSpPr>
                  <a:spLocks noChangeAspect="1" noChangeArrowheads="1"/>
                </p:cNvSpPr>
                <p:nvPr/>
              </p:nvSpPr>
              <p:spPr bwMode="auto">
                <a:xfrm>
                  <a:off x="3087" y="2809"/>
                  <a:ext cx="167" cy="168"/>
                </a:xfrm>
                <a:prstGeom prst="rect">
                  <a:avLst/>
                </a:prstGeom>
                <a:noFill/>
                <a:ln w="3175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214" name="Rectangle 50"/>
                <p:cNvSpPr>
                  <a:spLocks noChangeAspect="1" noChangeArrowheads="1"/>
                </p:cNvSpPr>
                <p:nvPr/>
              </p:nvSpPr>
              <p:spPr bwMode="auto">
                <a:xfrm>
                  <a:off x="3110" y="2759"/>
                  <a:ext cx="105" cy="25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/>
                <a:p>
                  <a:r>
                    <a:rPr lang="en-US" sz="2100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1</a:t>
                  </a:r>
                  <a:endParaRPr lang="en-US">
                    <a:latin typeface="Times New Roman" charset="0"/>
                    <a:cs typeface="Arial" charset="0"/>
                  </a:endParaRPr>
                </a:p>
              </p:txBody>
            </p:sp>
          </p:grpSp>
          <p:sp>
            <p:nvSpPr>
              <p:cNvPr id="46204" name="Freeform 51"/>
              <p:cNvSpPr>
                <a:spLocks noChangeAspect="1"/>
              </p:cNvSpPr>
              <p:nvPr/>
            </p:nvSpPr>
            <p:spPr bwMode="auto">
              <a:xfrm>
                <a:off x="3173" y="2909"/>
                <a:ext cx="160" cy="208"/>
              </a:xfrm>
              <a:custGeom>
                <a:avLst/>
                <a:gdLst>
                  <a:gd name="T0" fmla="*/ 0 w 160"/>
                  <a:gd name="T1" fmla="*/ 0 h 208"/>
                  <a:gd name="T2" fmla="*/ 160 w 160"/>
                  <a:gd name="T3" fmla="*/ 208 h 208"/>
                  <a:gd name="T4" fmla="*/ 0 60000 65536"/>
                  <a:gd name="T5" fmla="*/ 0 60000 65536"/>
                  <a:gd name="T6" fmla="*/ 0 w 160"/>
                  <a:gd name="T7" fmla="*/ 0 h 208"/>
                  <a:gd name="T8" fmla="*/ 160 w 160"/>
                  <a:gd name="T9" fmla="*/ 208 h 20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0" h="208">
                    <a:moveTo>
                      <a:pt x="0" y="0"/>
                    </a:moveTo>
                    <a:lnTo>
                      <a:pt x="160" y="208"/>
                    </a:lnTo>
                  </a:path>
                </a:pathLst>
              </a:custGeom>
              <a:noFill/>
              <a:ln w="50800">
                <a:solidFill>
                  <a:schemeClr val="accent2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grpSp>
            <p:nvGrpSpPr>
              <p:cNvPr id="46205" name="Group 52"/>
              <p:cNvGrpSpPr>
                <a:grpSpLocks noChangeAspect="1"/>
              </p:cNvGrpSpPr>
              <p:nvPr/>
            </p:nvGrpSpPr>
            <p:grpSpPr bwMode="auto">
              <a:xfrm>
                <a:off x="2741" y="3066"/>
                <a:ext cx="167" cy="253"/>
                <a:chOff x="3087" y="2759"/>
                <a:chExt cx="167" cy="253"/>
              </a:xfrm>
            </p:grpSpPr>
            <p:sp>
              <p:nvSpPr>
                <p:cNvPr id="46209" name="Rectangle 53"/>
                <p:cNvSpPr>
                  <a:spLocks noChangeAspect="1" noChangeArrowheads="1"/>
                </p:cNvSpPr>
                <p:nvPr/>
              </p:nvSpPr>
              <p:spPr bwMode="auto">
                <a:xfrm>
                  <a:off x="3087" y="2809"/>
                  <a:ext cx="167" cy="168"/>
                </a:xfrm>
                <a:prstGeom prst="rect">
                  <a:avLst/>
                </a:prstGeom>
                <a:solidFill>
                  <a:srgbClr val="339966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210" name="Rectangle 54"/>
                <p:cNvSpPr>
                  <a:spLocks noChangeAspect="1" noChangeArrowheads="1"/>
                </p:cNvSpPr>
                <p:nvPr/>
              </p:nvSpPr>
              <p:spPr bwMode="auto">
                <a:xfrm>
                  <a:off x="3087" y="2809"/>
                  <a:ext cx="167" cy="168"/>
                </a:xfrm>
                <a:prstGeom prst="rect">
                  <a:avLst/>
                </a:prstGeom>
                <a:noFill/>
                <a:ln w="3175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211" name="Rectangle 55"/>
                <p:cNvSpPr>
                  <a:spLocks noChangeAspect="1" noChangeArrowheads="1"/>
                </p:cNvSpPr>
                <p:nvPr/>
              </p:nvSpPr>
              <p:spPr bwMode="auto">
                <a:xfrm>
                  <a:off x="3110" y="2759"/>
                  <a:ext cx="105" cy="25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/>
                <a:p>
                  <a:r>
                    <a:rPr lang="en-US" sz="2100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0</a:t>
                  </a:r>
                  <a:endParaRPr lang="en-US">
                    <a:latin typeface="Times New Roman" charset="0"/>
                    <a:cs typeface="Arial" charset="0"/>
                  </a:endParaRPr>
                </a:p>
              </p:txBody>
            </p:sp>
          </p:grpSp>
          <p:sp>
            <p:nvSpPr>
              <p:cNvPr id="46206" name="Freeform 56"/>
              <p:cNvSpPr>
                <a:spLocks noChangeAspect="1"/>
              </p:cNvSpPr>
              <p:nvPr/>
            </p:nvSpPr>
            <p:spPr bwMode="auto">
              <a:xfrm flipH="1">
                <a:off x="2821" y="2909"/>
                <a:ext cx="160" cy="208"/>
              </a:xfrm>
              <a:custGeom>
                <a:avLst/>
                <a:gdLst>
                  <a:gd name="T0" fmla="*/ 0 w 160"/>
                  <a:gd name="T1" fmla="*/ 0 h 208"/>
                  <a:gd name="T2" fmla="*/ 160 w 160"/>
                  <a:gd name="T3" fmla="*/ 208 h 208"/>
                  <a:gd name="T4" fmla="*/ 0 60000 65536"/>
                  <a:gd name="T5" fmla="*/ 0 60000 65536"/>
                  <a:gd name="T6" fmla="*/ 0 w 160"/>
                  <a:gd name="T7" fmla="*/ 0 h 208"/>
                  <a:gd name="T8" fmla="*/ 160 w 160"/>
                  <a:gd name="T9" fmla="*/ 208 h 20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0" h="208">
                    <a:moveTo>
                      <a:pt x="0" y="0"/>
                    </a:moveTo>
                    <a:lnTo>
                      <a:pt x="160" y="208"/>
                    </a:lnTo>
                  </a:path>
                </a:pathLst>
              </a:custGeom>
              <a:noFill/>
              <a:ln w="50800">
                <a:solidFill>
                  <a:srgbClr val="333399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6207" name="Rectangle 57"/>
              <p:cNvSpPr>
                <a:spLocks noChangeAspect="1" noChangeArrowheads="1"/>
              </p:cNvSpPr>
              <p:nvPr/>
            </p:nvSpPr>
            <p:spPr bwMode="auto">
              <a:xfrm>
                <a:off x="2830" y="2813"/>
                <a:ext cx="78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cs typeface="Arial" charset="0"/>
                  </a:rPr>
                  <a:t>0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  <p:sp>
            <p:nvSpPr>
              <p:cNvPr id="46208" name="Rectangle 58"/>
              <p:cNvSpPr>
                <a:spLocks noChangeAspect="1" noChangeArrowheads="1"/>
              </p:cNvSpPr>
              <p:nvPr/>
            </p:nvSpPr>
            <p:spPr bwMode="auto">
              <a:xfrm>
                <a:off x="3214" y="2813"/>
                <a:ext cx="77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cs typeface="Arial" charset="0"/>
                  </a:rPr>
                  <a:t>1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46201" name="Freeform 59"/>
            <p:cNvSpPr>
              <a:spLocks noChangeAspect="1"/>
            </p:cNvSpPr>
            <p:nvPr/>
          </p:nvSpPr>
          <p:spPr bwMode="auto">
            <a:xfrm flipH="1">
              <a:off x="1424" y="2592"/>
              <a:ext cx="64" cy="208"/>
            </a:xfrm>
            <a:custGeom>
              <a:avLst/>
              <a:gdLst>
                <a:gd name="T0" fmla="*/ 0 w 160"/>
                <a:gd name="T1" fmla="*/ 0 h 208"/>
                <a:gd name="T2" fmla="*/ 64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66FF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grpSp>
        <p:nvGrpSpPr>
          <p:cNvPr id="46092" name="Group 60"/>
          <p:cNvGrpSpPr>
            <a:grpSpLocks noChangeAspect="1"/>
          </p:cNvGrpSpPr>
          <p:nvPr/>
        </p:nvGrpSpPr>
        <p:grpSpPr bwMode="auto">
          <a:xfrm>
            <a:off x="1143000" y="2641600"/>
            <a:ext cx="850900" cy="1103313"/>
            <a:chOff x="1056" y="2592"/>
            <a:chExt cx="672" cy="871"/>
          </a:xfrm>
        </p:grpSpPr>
        <p:grpSp>
          <p:nvGrpSpPr>
            <p:cNvPr id="46182" name="Group 61"/>
            <p:cNvGrpSpPr>
              <a:grpSpLocks noChangeAspect="1"/>
            </p:cNvGrpSpPr>
            <p:nvPr/>
          </p:nvGrpSpPr>
          <p:grpSpPr bwMode="auto">
            <a:xfrm>
              <a:off x="1056" y="2750"/>
              <a:ext cx="672" cy="713"/>
              <a:chOff x="2741" y="2606"/>
              <a:chExt cx="672" cy="713"/>
            </a:xfrm>
          </p:grpSpPr>
          <p:grpSp>
            <p:nvGrpSpPr>
              <p:cNvPr id="46184" name="Group 62"/>
              <p:cNvGrpSpPr>
                <a:grpSpLocks noChangeAspect="1"/>
              </p:cNvGrpSpPr>
              <p:nvPr/>
            </p:nvGrpSpPr>
            <p:grpSpPr bwMode="auto">
              <a:xfrm>
                <a:off x="2928" y="2606"/>
                <a:ext cx="293" cy="340"/>
                <a:chOff x="2895" y="1454"/>
                <a:chExt cx="293" cy="340"/>
              </a:xfrm>
            </p:grpSpPr>
            <p:sp>
              <p:nvSpPr>
                <p:cNvPr id="46197" name="Freeform 63"/>
                <p:cNvSpPr>
                  <a:spLocks noChangeAspect="1"/>
                </p:cNvSpPr>
                <p:nvPr/>
              </p:nvSpPr>
              <p:spPr bwMode="auto">
                <a:xfrm>
                  <a:off x="2895" y="1500"/>
                  <a:ext cx="293" cy="293"/>
                </a:xfrm>
                <a:custGeom>
                  <a:avLst/>
                  <a:gdLst>
                    <a:gd name="T0" fmla="*/ 0 w 778"/>
                    <a:gd name="T1" fmla="*/ 147 h 778"/>
                    <a:gd name="T2" fmla="*/ 147 w 778"/>
                    <a:gd name="T3" fmla="*/ 0 h 778"/>
                    <a:gd name="T4" fmla="*/ 293 w 778"/>
                    <a:gd name="T5" fmla="*/ 147 h 778"/>
                    <a:gd name="T6" fmla="*/ 293 w 778"/>
                    <a:gd name="T7" fmla="*/ 147 h 778"/>
                    <a:gd name="T8" fmla="*/ 147 w 778"/>
                    <a:gd name="T9" fmla="*/ 293 h 778"/>
                    <a:gd name="T10" fmla="*/ 0 w 778"/>
                    <a:gd name="T11" fmla="*/ 147 h 77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778"/>
                    <a:gd name="T19" fmla="*/ 0 h 778"/>
                    <a:gd name="T20" fmla="*/ 778 w 778"/>
                    <a:gd name="T21" fmla="*/ 778 h 77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778" h="778">
                      <a:moveTo>
                        <a:pt x="0" y="389"/>
                      </a:moveTo>
                      <a:cubicBezTo>
                        <a:pt x="0" y="174"/>
                        <a:pt x="174" y="0"/>
                        <a:pt x="389" y="0"/>
                      </a:cubicBezTo>
                      <a:cubicBezTo>
                        <a:pt x="604" y="0"/>
                        <a:pt x="778" y="174"/>
                        <a:pt x="778" y="389"/>
                      </a:cubicBezTo>
                      <a:cubicBezTo>
                        <a:pt x="778" y="389"/>
                        <a:pt x="778" y="389"/>
                        <a:pt x="778" y="389"/>
                      </a:cubicBezTo>
                      <a:cubicBezTo>
                        <a:pt x="778" y="604"/>
                        <a:pt x="604" y="778"/>
                        <a:pt x="389" y="778"/>
                      </a:cubicBezTo>
                      <a:cubicBezTo>
                        <a:pt x="174" y="778"/>
                        <a:pt x="0" y="604"/>
                        <a:pt x="0" y="389"/>
                      </a:cubicBezTo>
                    </a:path>
                  </a:pathLst>
                </a:custGeom>
                <a:solidFill>
                  <a:srgbClr val="66FF99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198" name="Freeform 64"/>
                <p:cNvSpPr>
                  <a:spLocks noChangeAspect="1"/>
                </p:cNvSpPr>
                <p:nvPr/>
              </p:nvSpPr>
              <p:spPr bwMode="auto">
                <a:xfrm>
                  <a:off x="2895" y="1500"/>
                  <a:ext cx="293" cy="293"/>
                </a:xfrm>
                <a:custGeom>
                  <a:avLst/>
                  <a:gdLst>
                    <a:gd name="T0" fmla="*/ 0 w 293"/>
                    <a:gd name="T1" fmla="*/ 147 h 293"/>
                    <a:gd name="T2" fmla="*/ 147 w 293"/>
                    <a:gd name="T3" fmla="*/ 0 h 293"/>
                    <a:gd name="T4" fmla="*/ 293 w 293"/>
                    <a:gd name="T5" fmla="*/ 147 h 293"/>
                    <a:gd name="T6" fmla="*/ 293 w 293"/>
                    <a:gd name="T7" fmla="*/ 147 h 293"/>
                    <a:gd name="T8" fmla="*/ 147 w 293"/>
                    <a:gd name="T9" fmla="*/ 293 h 293"/>
                    <a:gd name="T10" fmla="*/ 0 w 293"/>
                    <a:gd name="T11" fmla="*/ 147 h 29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93"/>
                    <a:gd name="T19" fmla="*/ 0 h 293"/>
                    <a:gd name="T20" fmla="*/ 293 w 293"/>
                    <a:gd name="T21" fmla="*/ 293 h 29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93" h="293">
                      <a:moveTo>
                        <a:pt x="0" y="147"/>
                      </a:moveTo>
                      <a:cubicBezTo>
                        <a:pt x="0" y="66"/>
                        <a:pt x="66" y="0"/>
                        <a:pt x="147" y="0"/>
                      </a:cubicBezTo>
                      <a:cubicBezTo>
                        <a:pt x="228" y="0"/>
                        <a:pt x="293" y="66"/>
                        <a:pt x="293" y="147"/>
                      </a:cubicBezTo>
                      <a:cubicBezTo>
                        <a:pt x="293" y="147"/>
                        <a:pt x="293" y="147"/>
                        <a:pt x="293" y="147"/>
                      </a:cubicBezTo>
                      <a:cubicBezTo>
                        <a:pt x="293" y="228"/>
                        <a:pt x="228" y="293"/>
                        <a:pt x="147" y="293"/>
                      </a:cubicBezTo>
                      <a:cubicBezTo>
                        <a:pt x="66" y="293"/>
                        <a:pt x="0" y="228"/>
                        <a:pt x="0" y="147"/>
                      </a:cubicBezTo>
                    </a:path>
                  </a:pathLst>
                </a:custGeom>
                <a:noFill/>
                <a:ln w="3175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199" name="Rectangle 65"/>
                <p:cNvSpPr>
                  <a:spLocks noChangeAspect="1" noChangeArrowheads="1"/>
                </p:cNvSpPr>
                <p:nvPr/>
              </p:nvSpPr>
              <p:spPr bwMode="auto">
                <a:xfrm>
                  <a:off x="2981" y="1454"/>
                  <a:ext cx="125" cy="3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/>
                <a:p>
                  <a:r>
                    <a:rPr lang="en-US" sz="2800" i="1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c</a:t>
                  </a:r>
                  <a:endParaRPr lang="en-US">
                    <a:latin typeface="Times New Roman" charset="0"/>
                    <a:cs typeface="Arial" charset="0"/>
                  </a:endParaRPr>
                </a:p>
              </p:txBody>
            </p:sp>
          </p:grpSp>
          <p:grpSp>
            <p:nvGrpSpPr>
              <p:cNvPr id="46185" name="Group 66"/>
              <p:cNvGrpSpPr>
                <a:grpSpLocks noChangeAspect="1"/>
              </p:cNvGrpSpPr>
              <p:nvPr/>
            </p:nvGrpSpPr>
            <p:grpSpPr bwMode="auto">
              <a:xfrm>
                <a:off x="3246" y="3066"/>
                <a:ext cx="167" cy="253"/>
                <a:chOff x="3087" y="2759"/>
                <a:chExt cx="167" cy="253"/>
              </a:xfrm>
            </p:grpSpPr>
            <p:sp>
              <p:nvSpPr>
                <p:cNvPr id="46194" name="Rectangle 67"/>
                <p:cNvSpPr>
                  <a:spLocks noChangeAspect="1" noChangeArrowheads="1"/>
                </p:cNvSpPr>
                <p:nvPr/>
              </p:nvSpPr>
              <p:spPr bwMode="auto">
                <a:xfrm>
                  <a:off x="3087" y="2809"/>
                  <a:ext cx="167" cy="168"/>
                </a:xfrm>
                <a:prstGeom prst="rect">
                  <a:avLst/>
                </a:prstGeom>
                <a:solidFill>
                  <a:srgbClr val="339966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195" name="Rectangle 68"/>
                <p:cNvSpPr>
                  <a:spLocks noChangeAspect="1" noChangeArrowheads="1"/>
                </p:cNvSpPr>
                <p:nvPr/>
              </p:nvSpPr>
              <p:spPr bwMode="auto">
                <a:xfrm>
                  <a:off x="3087" y="2809"/>
                  <a:ext cx="167" cy="168"/>
                </a:xfrm>
                <a:prstGeom prst="rect">
                  <a:avLst/>
                </a:prstGeom>
                <a:noFill/>
                <a:ln w="3175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196" name="Rectangle 69"/>
                <p:cNvSpPr>
                  <a:spLocks noChangeAspect="1" noChangeArrowheads="1"/>
                </p:cNvSpPr>
                <p:nvPr/>
              </p:nvSpPr>
              <p:spPr bwMode="auto">
                <a:xfrm>
                  <a:off x="3110" y="2759"/>
                  <a:ext cx="105" cy="25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/>
                <a:p>
                  <a:r>
                    <a:rPr lang="en-US" sz="2100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1</a:t>
                  </a:r>
                  <a:endParaRPr lang="en-US">
                    <a:latin typeface="Times New Roman" charset="0"/>
                    <a:cs typeface="Arial" charset="0"/>
                  </a:endParaRPr>
                </a:p>
              </p:txBody>
            </p:sp>
          </p:grpSp>
          <p:sp>
            <p:nvSpPr>
              <p:cNvPr id="46186" name="Freeform 70"/>
              <p:cNvSpPr>
                <a:spLocks noChangeAspect="1"/>
              </p:cNvSpPr>
              <p:nvPr/>
            </p:nvSpPr>
            <p:spPr bwMode="auto">
              <a:xfrm>
                <a:off x="3173" y="2909"/>
                <a:ext cx="160" cy="208"/>
              </a:xfrm>
              <a:custGeom>
                <a:avLst/>
                <a:gdLst>
                  <a:gd name="T0" fmla="*/ 0 w 160"/>
                  <a:gd name="T1" fmla="*/ 0 h 208"/>
                  <a:gd name="T2" fmla="*/ 160 w 160"/>
                  <a:gd name="T3" fmla="*/ 208 h 208"/>
                  <a:gd name="T4" fmla="*/ 0 60000 65536"/>
                  <a:gd name="T5" fmla="*/ 0 60000 65536"/>
                  <a:gd name="T6" fmla="*/ 0 w 160"/>
                  <a:gd name="T7" fmla="*/ 0 h 208"/>
                  <a:gd name="T8" fmla="*/ 160 w 160"/>
                  <a:gd name="T9" fmla="*/ 208 h 20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0" h="208">
                    <a:moveTo>
                      <a:pt x="0" y="0"/>
                    </a:moveTo>
                    <a:lnTo>
                      <a:pt x="160" y="208"/>
                    </a:lnTo>
                  </a:path>
                </a:pathLst>
              </a:custGeom>
              <a:noFill/>
              <a:ln w="50800">
                <a:solidFill>
                  <a:schemeClr val="accent2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grpSp>
            <p:nvGrpSpPr>
              <p:cNvPr id="46187" name="Group 71"/>
              <p:cNvGrpSpPr>
                <a:grpSpLocks noChangeAspect="1"/>
              </p:cNvGrpSpPr>
              <p:nvPr/>
            </p:nvGrpSpPr>
            <p:grpSpPr bwMode="auto">
              <a:xfrm>
                <a:off x="2741" y="3066"/>
                <a:ext cx="167" cy="253"/>
                <a:chOff x="3087" y="2759"/>
                <a:chExt cx="167" cy="253"/>
              </a:xfrm>
            </p:grpSpPr>
            <p:sp>
              <p:nvSpPr>
                <p:cNvPr id="46191" name="Rectangle 72"/>
                <p:cNvSpPr>
                  <a:spLocks noChangeAspect="1" noChangeArrowheads="1"/>
                </p:cNvSpPr>
                <p:nvPr/>
              </p:nvSpPr>
              <p:spPr bwMode="auto">
                <a:xfrm>
                  <a:off x="3087" y="2809"/>
                  <a:ext cx="167" cy="168"/>
                </a:xfrm>
                <a:prstGeom prst="rect">
                  <a:avLst/>
                </a:prstGeom>
                <a:solidFill>
                  <a:srgbClr val="339966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192" name="Rectangle 73"/>
                <p:cNvSpPr>
                  <a:spLocks noChangeAspect="1" noChangeArrowheads="1"/>
                </p:cNvSpPr>
                <p:nvPr/>
              </p:nvSpPr>
              <p:spPr bwMode="auto">
                <a:xfrm>
                  <a:off x="3087" y="2809"/>
                  <a:ext cx="167" cy="168"/>
                </a:xfrm>
                <a:prstGeom prst="rect">
                  <a:avLst/>
                </a:prstGeom>
                <a:noFill/>
                <a:ln w="3175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193" name="Rectangle 74"/>
                <p:cNvSpPr>
                  <a:spLocks noChangeAspect="1" noChangeArrowheads="1"/>
                </p:cNvSpPr>
                <p:nvPr/>
              </p:nvSpPr>
              <p:spPr bwMode="auto">
                <a:xfrm>
                  <a:off x="3110" y="2759"/>
                  <a:ext cx="105" cy="25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/>
                <a:p>
                  <a:r>
                    <a:rPr lang="en-US" sz="2100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0</a:t>
                  </a:r>
                  <a:endParaRPr lang="en-US">
                    <a:latin typeface="Times New Roman" charset="0"/>
                    <a:cs typeface="Arial" charset="0"/>
                  </a:endParaRPr>
                </a:p>
              </p:txBody>
            </p:sp>
          </p:grpSp>
          <p:sp>
            <p:nvSpPr>
              <p:cNvPr id="46188" name="Freeform 75"/>
              <p:cNvSpPr>
                <a:spLocks noChangeAspect="1"/>
              </p:cNvSpPr>
              <p:nvPr/>
            </p:nvSpPr>
            <p:spPr bwMode="auto">
              <a:xfrm flipH="1">
                <a:off x="2821" y="2909"/>
                <a:ext cx="160" cy="208"/>
              </a:xfrm>
              <a:custGeom>
                <a:avLst/>
                <a:gdLst>
                  <a:gd name="T0" fmla="*/ 0 w 160"/>
                  <a:gd name="T1" fmla="*/ 0 h 208"/>
                  <a:gd name="T2" fmla="*/ 160 w 160"/>
                  <a:gd name="T3" fmla="*/ 208 h 208"/>
                  <a:gd name="T4" fmla="*/ 0 60000 65536"/>
                  <a:gd name="T5" fmla="*/ 0 60000 65536"/>
                  <a:gd name="T6" fmla="*/ 0 w 160"/>
                  <a:gd name="T7" fmla="*/ 0 h 208"/>
                  <a:gd name="T8" fmla="*/ 160 w 160"/>
                  <a:gd name="T9" fmla="*/ 208 h 20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0" h="208">
                    <a:moveTo>
                      <a:pt x="0" y="0"/>
                    </a:moveTo>
                    <a:lnTo>
                      <a:pt x="160" y="208"/>
                    </a:lnTo>
                  </a:path>
                </a:pathLst>
              </a:custGeom>
              <a:noFill/>
              <a:ln w="50800">
                <a:solidFill>
                  <a:srgbClr val="333399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6189" name="Rectangle 76"/>
              <p:cNvSpPr>
                <a:spLocks noChangeAspect="1" noChangeArrowheads="1"/>
              </p:cNvSpPr>
              <p:nvPr/>
            </p:nvSpPr>
            <p:spPr bwMode="auto">
              <a:xfrm>
                <a:off x="2830" y="2813"/>
                <a:ext cx="78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cs typeface="Arial" charset="0"/>
                  </a:rPr>
                  <a:t>0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  <p:sp>
            <p:nvSpPr>
              <p:cNvPr id="46190" name="Rectangle 77"/>
              <p:cNvSpPr>
                <a:spLocks noChangeAspect="1" noChangeArrowheads="1"/>
              </p:cNvSpPr>
              <p:nvPr/>
            </p:nvSpPr>
            <p:spPr bwMode="auto">
              <a:xfrm>
                <a:off x="3214" y="2813"/>
                <a:ext cx="77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cs typeface="Arial" charset="0"/>
                  </a:rPr>
                  <a:t>1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46183" name="Freeform 78"/>
            <p:cNvSpPr>
              <a:spLocks noChangeAspect="1"/>
            </p:cNvSpPr>
            <p:nvPr/>
          </p:nvSpPr>
          <p:spPr bwMode="auto">
            <a:xfrm flipH="1">
              <a:off x="1424" y="2592"/>
              <a:ext cx="64" cy="208"/>
            </a:xfrm>
            <a:custGeom>
              <a:avLst/>
              <a:gdLst>
                <a:gd name="T0" fmla="*/ 0 w 160"/>
                <a:gd name="T1" fmla="*/ 0 h 208"/>
                <a:gd name="T2" fmla="*/ 64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66FF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grpSp>
        <p:nvGrpSpPr>
          <p:cNvPr id="46093" name="Group 79"/>
          <p:cNvGrpSpPr>
            <a:grpSpLocks noChangeAspect="1"/>
          </p:cNvGrpSpPr>
          <p:nvPr/>
        </p:nvGrpSpPr>
        <p:grpSpPr bwMode="auto">
          <a:xfrm>
            <a:off x="5116513" y="1752600"/>
            <a:ext cx="1055687" cy="1687513"/>
            <a:chOff x="4495" y="2227"/>
            <a:chExt cx="833" cy="1332"/>
          </a:xfrm>
        </p:grpSpPr>
        <p:grpSp>
          <p:nvGrpSpPr>
            <p:cNvPr id="46156" name="Group 80"/>
            <p:cNvGrpSpPr>
              <a:grpSpLocks noChangeAspect="1"/>
            </p:cNvGrpSpPr>
            <p:nvPr/>
          </p:nvGrpSpPr>
          <p:grpSpPr bwMode="auto">
            <a:xfrm>
              <a:off x="4603" y="2385"/>
              <a:ext cx="293" cy="339"/>
              <a:chOff x="2895" y="1454"/>
              <a:chExt cx="293" cy="339"/>
            </a:xfrm>
          </p:grpSpPr>
          <p:sp>
            <p:nvSpPr>
              <p:cNvPr id="46179" name="Freeform 81"/>
              <p:cNvSpPr>
                <a:spLocks noChangeAspect="1"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180" name="Freeform 82"/>
              <p:cNvSpPr>
                <a:spLocks noChangeAspect="1"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181" name="Rectangle 83"/>
              <p:cNvSpPr>
                <a:spLocks noChangeAspect="1" noChangeArrowheads="1"/>
              </p:cNvSpPr>
              <p:nvPr/>
            </p:nvSpPr>
            <p:spPr bwMode="auto">
              <a:xfrm>
                <a:off x="2981" y="1454"/>
                <a:ext cx="141" cy="3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a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46157" name="Freeform 84"/>
            <p:cNvSpPr>
              <a:spLocks noChangeAspect="1"/>
            </p:cNvSpPr>
            <p:nvPr/>
          </p:nvSpPr>
          <p:spPr bwMode="auto">
            <a:xfrm>
              <a:off x="4848" y="2688"/>
              <a:ext cx="160" cy="208"/>
            </a:xfrm>
            <a:custGeom>
              <a:avLst/>
              <a:gdLst>
                <a:gd name="T0" fmla="*/ 0 w 160"/>
                <a:gd name="T1" fmla="*/ 0 h 208"/>
                <a:gd name="T2" fmla="*/ 160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6158" name="Freeform 85"/>
            <p:cNvSpPr>
              <a:spLocks noChangeAspect="1"/>
            </p:cNvSpPr>
            <p:nvPr/>
          </p:nvSpPr>
          <p:spPr bwMode="auto">
            <a:xfrm>
              <a:off x="4495" y="2688"/>
              <a:ext cx="227" cy="672"/>
            </a:xfrm>
            <a:custGeom>
              <a:avLst/>
              <a:gdLst>
                <a:gd name="T0" fmla="*/ 161 w 227"/>
                <a:gd name="T1" fmla="*/ 0 h 654"/>
                <a:gd name="T2" fmla="*/ 11 w 227"/>
                <a:gd name="T3" fmla="*/ 327 h 654"/>
                <a:gd name="T4" fmla="*/ 227 w 227"/>
                <a:gd name="T5" fmla="*/ 672 h 654"/>
                <a:gd name="T6" fmla="*/ 0 60000 65536"/>
                <a:gd name="T7" fmla="*/ 0 60000 65536"/>
                <a:gd name="T8" fmla="*/ 0 60000 65536"/>
                <a:gd name="T9" fmla="*/ 0 w 227"/>
                <a:gd name="T10" fmla="*/ 0 h 654"/>
                <a:gd name="T11" fmla="*/ 227 w 227"/>
                <a:gd name="T12" fmla="*/ 654 h 65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7" h="654">
                  <a:moveTo>
                    <a:pt x="161" y="0"/>
                  </a:moveTo>
                  <a:cubicBezTo>
                    <a:pt x="136" y="53"/>
                    <a:pt x="0" y="209"/>
                    <a:pt x="11" y="318"/>
                  </a:cubicBezTo>
                  <a:cubicBezTo>
                    <a:pt x="22" y="427"/>
                    <a:pt x="182" y="584"/>
                    <a:pt x="227" y="654"/>
                  </a:cubicBez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6159" name="Rectangle 86"/>
            <p:cNvSpPr>
              <a:spLocks noChangeAspect="1" noChangeArrowheads="1"/>
            </p:cNvSpPr>
            <p:nvPr/>
          </p:nvSpPr>
          <p:spPr bwMode="auto">
            <a:xfrm>
              <a:off x="4505" y="2592"/>
              <a:ext cx="78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46160" name="Rectangle 87"/>
            <p:cNvSpPr>
              <a:spLocks noChangeAspect="1" noChangeArrowheads="1"/>
            </p:cNvSpPr>
            <p:nvPr/>
          </p:nvSpPr>
          <p:spPr bwMode="auto">
            <a:xfrm>
              <a:off x="4888" y="2592"/>
              <a:ext cx="78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46161" name="Freeform 88"/>
            <p:cNvSpPr>
              <a:spLocks noChangeAspect="1"/>
            </p:cNvSpPr>
            <p:nvPr/>
          </p:nvSpPr>
          <p:spPr bwMode="auto">
            <a:xfrm flipH="1">
              <a:off x="4784" y="2227"/>
              <a:ext cx="64" cy="208"/>
            </a:xfrm>
            <a:custGeom>
              <a:avLst/>
              <a:gdLst>
                <a:gd name="T0" fmla="*/ 0 w 160"/>
                <a:gd name="T1" fmla="*/ 0 h 208"/>
                <a:gd name="T2" fmla="*/ 64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66FF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46162" name="Group 89"/>
            <p:cNvGrpSpPr>
              <a:grpSpLocks noChangeAspect="1"/>
            </p:cNvGrpSpPr>
            <p:nvPr/>
          </p:nvGrpSpPr>
          <p:grpSpPr bwMode="auto">
            <a:xfrm>
              <a:off x="4656" y="2846"/>
              <a:ext cx="672" cy="713"/>
              <a:chOff x="2741" y="2606"/>
              <a:chExt cx="672" cy="713"/>
            </a:xfrm>
          </p:grpSpPr>
          <p:grpSp>
            <p:nvGrpSpPr>
              <p:cNvPr id="46163" name="Group 90"/>
              <p:cNvGrpSpPr>
                <a:grpSpLocks noChangeAspect="1"/>
              </p:cNvGrpSpPr>
              <p:nvPr/>
            </p:nvGrpSpPr>
            <p:grpSpPr bwMode="auto">
              <a:xfrm>
                <a:off x="2928" y="2606"/>
                <a:ext cx="293" cy="340"/>
                <a:chOff x="2895" y="1454"/>
                <a:chExt cx="293" cy="340"/>
              </a:xfrm>
            </p:grpSpPr>
            <p:sp>
              <p:nvSpPr>
                <p:cNvPr id="46176" name="Freeform 91"/>
                <p:cNvSpPr>
                  <a:spLocks noChangeAspect="1"/>
                </p:cNvSpPr>
                <p:nvPr/>
              </p:nvSpPr>
              <p:spPr bwMode="auto">
                <a:xfrm>
                  <a:off x="2895" y="1500"/>
                  <a:ext cx="293" cy="293"/>
                </a:xfrm>
                <a:custGeom>
                  <a:avLst/>
                  <a:gdLst>
                    <a:gd name="T0" fmla="*/ 0 w 778"/>
                    <a:gd name="T1" fmla="*/ 147 h 778"/>
                    <a:gd name="T2" fmla="*/ 147 w 778"/>
                    <a:gd name="T3" fmla="*/ 0 h 778"/>
                    <a:gd name="T4" fmla="*/ 293 w 778"/>
                    <a:gd name="T5" fmla="*/ 147 h 778"/>
                    <a:gd name="T6" fmla="*/ 293 w 778"/>
                    <a:gd name="T7" fmla="*/ 147 h 778"/>
                    <a:gd name="T8" fmla="*/ 147 w 778"/>
                    <a:gd name="T9" fmla="*/ 293 h 778"/>
                    <a:gd name="T10" fmla="*/ 0 w 778"/>
                    <a:gd name="T11" fmla="*/ 147 h 77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778"/>
                    <a:gd name="T19" fmla="*/ 0 h 778"/>
                    <a:gd name="T20" fmla="*/ 778 w 778"/>
                    <a:gd name="T21" fmla="*/ 778 h 77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778" h="778">
                      <a:moveTo>
                        <a:pt x="0" y="389"/>
                      </a:moveTo>
                      <a:cubicBezTo>
                        <a:pt x="0" y="174"/>
                        <a:pt x="174" y="0"/>
                        <a:pt x="389" y="0"/>
                      </a:cubicBezTo>
                      <a:cubicBezTo>
                        <a:pt x="604" y="0"/>
                        <a:pt x="778" y="174"/>
                        <a:pt x="778" y="389"/>
                      </a:cubicBezTo>
                      <a:cubicBezTo>
                        <a:pt x="778" y="389"/>
                        <a:pt x="778" y="389"/>
                        <a:pt x="778" y="389"/>
                      </a:cubicBezTo>
                      <a:cubicBezTo>
                        <a:pt x="778" y="604"/>
                        <a:pt x="604" y="778"/>
                        <a:pt x="389" y="778"/>
                      </a:cubicBezTo>
                      <a:cubicBezTo>
                        <a:pt x="174" y="778"/>
                        <a:pt x="0" y="604"/>
                        <a:pt x="0" y="389"/>
                      </a:cubicBezTo>
                    </a:path>
                  </a:pathLst>
                </a:custGeom>
                <a:solidFill>
                  <a:srgbClr val="66FF99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177" name="Freeform 92"/>
                <p:cNvSpPr>
                  <a:spLocks noChangeAspect="1"/>
                </p:cNvSpPr>
                <p:nvPr/>
              </p:nvSpPr>
              <p:spPr bwMode="auto">
                <a:xfrm>
                  <a:off x="2895" y="1500"/>
                  <a:ext cx="293" cy="293"/>
                </a:xfrm>
                <a:custGeom>
                  <a:avLst/>
                  <a:gdLst>
                    <a:gd name="T0" fmla="*/ 0 w 293"/>
                    <a:gd name="T1" fmla="*/ 147 h 293"/>
                    <a:gd name="T2" fmla="*/ 147 w 293"/>
                    <a:gd name="T3" fmla="*/ 0 h 293"/>
                    <a:gd name="T4" fmla="*/ 293 w 293"/>
                    <a:gd name="T5" fmla="*/ 147 h 293"/>
                    <a:gd name="T6" fmla="*/ 293 w 293"/>
                    <a:gd name="T7" fmla="*/ 147 h 293"/>
                    <a:gd name="T8" fmla="*/ 147 w 293"/>
                    <a:gd name="T9" fmla="*/ 293 h 293"/>
                    <a:gd name="T10" fmla="*/ 0 w 293"/>
                    <a:gd name="T11" fmla="*/ 147 h 29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93"/>
                    <a:gd name="T19" fmla="*/ 0 h 293"/>
                    <a:gd name="T20" fmla="*/ 293 w 293"/>
                    <a:gd name="T21" fmla="*/ 293 h 29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93" h="293">
                      <a:moveTo>
                        <a:pt x="0" y="147"/>
                      </a:moveTo>
                      <a:cubicBezTo>
                        <a:pt x="0" y="66"/>
                        <a:pt x="66" y="0"/>
                        <a:pt x="147" y="0"/>
                      </a:cubicBezTo>
                      <a:cubicBezTo>
                        <a:pt x="228" y="0"/>
                        <a:pt x="293" y="66"/>
                        <a:pt x="293" y="147"/>
                      </a:cubicBezTo>
                      <a:cubicBezTo>
                        <a:pt x="293" y="147"/>
                        <a:pt x="293" y="147"/>
                        <a:pt x="293" y="147"/>
                      </a:cubicBezTo>
                      <a:cubicBezTo>
                        <a:pt x="293" y="228"/>
                        <a:pt x="228" y="293"/>
                        <a:pt x="147" y="293"/>
                      </a:cubicBezTo>
                      <a:cubicBezTo>
                        <a:pt x="66" y="293"/>
                        <a:pt x="0" y="228"/>
                        <a:pt x="0" y="147"/>
                      </a:cubicBezTo>
                    </a:path>
                  </a:pathLst>
                </a:custGeom>
                <a:noFill/>
                <a:ln w="3175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178" name="Rectangle 93"/>
                <p:cNvSpPr>
                  <a:spLocks noChangeAspect="1" noChangeArrowheads="1"/>
                </p:cNvSpPr>
                <p:nvPr/>
              </p:nvSpPr>
              <p:spPr bwMode="auto">
                <a:xfrm>
                  <a:off x="2982" y="1454"/>
                  <a:ext cx="125" cy="3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/>
                <a:p>
                  <a:r>
                    <a:rPr lang="en-US" sz="2800" i="1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c</a:t>
                  </a:r>
                  <a:endParaRPr lang="en-US">
                    <a:latin typeface="Times New Roman" charset="0"/>
                    <a:cs typeface="Arial" charset="0"/>
                  </a:endParaRPr>
                </a:p>
              </p:txBody>
            </p:sp>
          </p:grpSp>
          <p:grpSp>
            <p:nvGrpSpPr>
              <p:cNvPr id="46164" name="Group 94"/>
              <p:cNvGrpSpPr>
                <a:grpSpLocks noChangeAspect="1"/>
              </p:cNvGrpSpPr>
              <p:nvPr/>
            </p:nvGrpSpPr>
            <p:grpSpPr bwMode="auto">
              <a:xfrm>
                <a:off x="3246" y="3066"/>
                <a:ext cx="167" cy="253"/>
                <a:chOff x="3087" y="2759"/>
                <a:chExt cx="167" cy="253"/>
              </a:xfrm>
            </p:grpSpPr>
            <p:sp>
              <p:nvSpPr>
                <p:cNvPr id="46173" name="Rectangle 95"/>
                <p:cNvSpPr>
                  <a:spLocks noChangeAspect="1" noChangeArrowheads="1"/>
                </p:cNvSpPr>
                <p:nvPr/>
              </p:nvSpPr>
              <p:spPr bwMode="auto">
                <a:xfrm>
                  <a:off x="3087" y="2809"/>
                  <a:ext cx="167" cy="168"/>
                </a:xfrm>
                <a:prstGeom prst="rect">
                  <a:avLst/>
                </a:prstGeom>
                <a:solidFill>
                  <a:srgbClr val="339966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174" name="Rectangle 96"/>
                <p:cNvSpPr>
                  <a:spLocks noChangeAspect="1" noChangeArrowheads="1"/>
                </p:cNvSpPr>
                <p:nvPr/>
              </p:nvSpPr>
              <p:spPr bwMode="auto">
                <a:xfrm>
                  <a:off x="3087" y="2809"/>
                  <a:ext cx="167" cy="168"/>
                </a:xfrm>
                <a:prstGeom prst="rect">
                  <a:avLst/>
                </a:prstGeom>
                <a:noFill/>
                <a:ln w="3175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175" name="Rectangle 97"/>
                <p:cNvSpPr>
                  <a:spLocks noChangeAspect="1" noChangeArrowheads="1"/>
                </p:cNvSpPr>
                <p:nvPr/>
              </p:nvSpPr>
              <p:spPr bwMode="auto">
                <a:xfrm>
                  <a:off x="3110" y="2759"/>
                  <a:ext cx="105" cy="25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/>
                <a:p>
                  <a:r>
                    <a:rPr lang="en-US" sz="2100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1</a:t>
                  </a:r>
                  <a:endParaRPr lang="en-US">
                    <a:latin typeface="Times New Roman" charset="0"/>
                    <a:cs typeface="Arial" charset="0"/>
                  </a:endParaRPr>
                </a:p>
              </p:txBody>
            </p:sp>
          </p:grpSp>
          <p:sp>
            <p:nvSpPr>
              <p:cNvPr id="46165" name="Freeform 98"/>
              <p:cNvSpPr>
                <a:spLocks noChangeAspect="1"/>
              </p:cNvSpPr>
              <p:nvPr/>
            </p:nvSpPr>
            <p:spPr bwMode="auto">
              <a:xfrm>
                <a:off x="3173" y="2909"/>
                <a:ext cx="160" cy="208"/>
              </a:xfrm>
              <a:custGeom>
                <a:avLst/>
                <a:gdLst>
                  <a:gd name="T0" fmla="*/ 0 w 160"/>
                  <a:gd name="T1" fmla="*/ 0 h 208"/>
                  <a:gd name="T2" fmla="*/ 160 w 160"/>
                  <a:gd name="T3" fmla="*/ 208 h 208"/>
                  <a:gd name="T4" fmla="*/ 0 60000 65536"/>
                  <a:gd name="T5" fmla="*/ 0 60000 65536"/>
                  <a:gd name="T6" fmla="*/ 0 w 160"/>
                  <a:gd name="T7" fmla="*/ 0 h 208"/>
                  <a:gd name="T8" fmla="*/ 160 w 160"/>
                  <a:gd name="T9" fmla="*/ 208 h 20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0" h="208">
                    <a:moveTo>
                      <a:pt x="0" y="0"/>
                    </a:moveTo>
                    <a:lnTo>
                      <a:pt x="160" y="208"/>
                    </a:lnTo>
                  </a:path>
                </a:pathLst>
              </a:custGeom>
              <a:noFill/>
              <a:ln w="50800">
                <a:solidFill>
                  <a:schemeClr val="accent2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grpSp>
            <p:nvGrpSpPr>
              <p:cNvPr id="46166" name="Group 99"/>
              <p:cNvGrpSpPr>
                <a:grpSpLocks noChangeAspect="1"/>
              </p:cNvGrpSpPr>
              <p:nvPr/>
            </p:nvGrpSpPr>
            <p:grpSpPr bwMode="auto">
              <a:xfrm>
                <a:off x="2741" y="3066"/>
                <a:ext cx="167" cy="253"/>
                <a:chOff x="3087" y="2759"/>
                <a:chExt cx="167" cy="253"/>
              </a:xfrm>
            </p:grpSpPr>
            <p:sp>
              <p:nvSpPr>
                <p:cNvPr id="46170" name="Rectangle 100"/>
                <p:cNvSpPr>
                  <a:spLocks noChangeAspect="1" noChangeArrowheads="1"/>
                </p:cNvSpPr>
                <p:nvPr/>
              </p:nvSpPr>
              <p:spPr bwMode="auto">
                <a:xfrm>
                  <a:off x="3087" y="2809"/>
                  <a:ext cx="167" cy="168"/>
                </a:xfrm>
                <a:prstGeom prst="rect">
                  <a:avLst/>
                </a:prstGeom>
                <a:solidFill>
                  <a:srgbClr val="339966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171" name="Rectangle 101"/>
                <p:cNvSpPr>
                  <a:spLocks noChangeAspect="1" noChangeArrowheads="1"/>
                </p:cNvSpPr>
                <p:nvPr/>
              </p:nvSpPr>
              <p:spPr bwMode="auto">
                <a:xfrm>
                  <a:off x="3087" y="2809"/>
                  <a:ext cx="167" cy="168"/>
                </a:xfrm>
                <a:prstGeom prst="rect">
                  <a:avLst/>
                </a:prstGeom>
                <a:noFill/>
                <a:ln w="3175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172" name="Rectangle 102"/>
                <p:cNvSpPr>
                  <a:spLocks noChangeAspect="1" noChangeArrowheads="1"/>
                </p:cNvSpPr>
                <p:nvPr/>
              </p:nvSpPr>
              <p:spPr bwMode="auto">
                <a:xfrm>
                  <a:off x="3110" y="2759"/>
                  <a:ext cx="105" cy="25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/>
                <a:p>
                  <a:r>
                    <a:rPr lang="en-US" sz="2100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0</a:t>
                  </a:r>
                  <a:endParaRPr lang="en-US">
                    <a:latin typeface="Times New Roman" charset="0"/>
                    <a:cs typeface="Arial" charset="0"/>
                  </a:endParaRPr>
                </a:p>
              </p:txBody>
            </p:sp>
          </p:grpSp>
          <p:sp>
            <p:nvSpPr>
              <p:cNvPr id="46167" name="Freeform 103"/>
              <p:cNvSpPr>
                <a:spLocks noChangeAspect="1"/>
              </p:cNvSpPr>
              <p:nvPr/>
            </p:nvSpPr>
            <p:spPr bwMode="auto">
              <a:xfrm flipH="1">
                <a:off x="2821" y="2909"/>
                <a:ext cx="160" cy="208"/>
              </a:xfrm>
              <a:custGeom>
                <a:avLst/>
                <a:gdLst>
                  <a:gd name="T0" fmla="*/ 0 w 160"/>
                  <a:gd name="T1" fmla="*/ 0 h 208"/>
                  <a:gd name="T2" fmla="*/ 160 w 160"/>
                  <a:gd name="T3" fmla="*/ 208 h 208"/>
                  <a:gd name="T4" fmla="*/ 0 60000 65536"/>
                  <a:gd name="T5" fmla="*/ 0 60000 65536"/>
                  <a:gd name="T6" fmla="*/ 0 w 160"/>
                  <a:gd name="T7" fmla="*/ 0 h 208"/>
                  <a:gd name="T8" fmla="*/ 160 w 160"/>
                  <a:gd name="T9" fmla="*/ 208 h 20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0" h="208">
                    <a:moveTo>
                      <a:pt x="0" y="0"/>
                    </a:moveTo>
                    <a:lnTo>
                      <a:pt x="160" y="208"/>
                    </a:lnTo>
                  </a:path>
                </a:pathLst>
              </a:custGeom>
              <a:noFill/>
              <a:ln w="50800">
                <a:solidFill>
                  <a:srgbClr val="333399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6168" name="Rectangle 104"/>
              <p:cNvSpPr>
                <a:spLocks noChangeAspect="1" noChangeArrowheads="1"/>
              </p:cNvSpPr>
              <p:nvPr/>
            </p:nvSpPr>
            <p:spPr bwMode="auto">
              <a:xfrm>
                <a:off x="2830" y="2813"/>
                <a:ext cx="78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cs typeface="Arial" charset="0"/>
                  </a:rPr>
                  <a:t>0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  <p:sp>
            <p:nvSpPr>
              <p:cNvPr id="46169" name="Rectangle 105"/>
              <p:cNvSpPr>
                <a:spLocks noChangeAspect="1" noChangeArrowheads="1"/>
              </p:cNvSpPr>
              <p:nvPr/>
            </p:nvSpPr>
            <p:spPr bwMode="auto">
              <a:xfrm>
                <a:off x="3214" y="2813"/>
                <a:ext cx="77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cs typeface="Arial" charset="0"/>
                  </a:rPr>
                  <a:t>1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</p:grpSp>
      <p:grpSp>
        <p:nvGrpSpPr>
          <p:cNvPr id="46094" name="Group 106"/>
          <p:cNvGrpSpPr>
            <a:grpSpLocks noChangeAspect="1"/>
          </p:cNvGrpSpPr>
          <p:nvPr/>
        </p:nvGrpSpPr>
        <p:grpSpPr bwMode="auto">
          <a:xfrm>
            <a:off x="5345113" y="4572000"/>
            <a:ext cx="1055687" cy="1687513"/>
            <a:chOff x="4495" y="2227"/>
            <a:chExt cx="833" cy="1332"/>
          </a:xfrm>
        </p:grpSpPr>
        <p:grpSp>
          <p:nvGrpSpPr>
            <p:cNvPr id="46130" name="Group 107"/>
            <p:cNvGrpSpPr>
              <a:grpSpLocks noChangeAspect="1"/>
            </p:cNvGrpSpPr>
            <p:nvPr/>
          </p:nvGrpSpPr>
          <p:grpSpPr bwMode="auto">
            <a:xfrm>
              <a:off x="4603" y="2385"/>
              <a:ext cx="293" cy="339"/>
              <a:chOff x="2895" y="1454"/>
              <a:chExt cx="293" cy="339"/>
            </a:xfrm>
          </p:grpSpPr>
          <p:sp>
            <p:nvSpPr>
              <p:cNvPr id="46153" name="Freeform 108"/>
              <p:cNvSpPr>
                <a:spLocks noChangeAspect="1"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154" name="Freeform 109"/>
              <p:cNvSpPr>
                <a:spLocks noChangeAspect="1"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155" name="Rectangle 110"/>
              <p:cNvSpPr>
                <a:spLocks noChangeAspect="1" noChangeArrowheads="1"/>
              </p:cNvSpPr>
              <p:nvPr/>
            </p:nvSpPr>
            <p:spPr bwMode="auto">
              <a:xfrm>
                <a:off x="2981" y="1454"/>
                <a:ext cx="141" cy="3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b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46131" name="Freeform 111"/>
            <p:cNvSpPr>
              <a:spLocks noChangeAspect="1"/>
            </p:cNvSpPr>
            <p:nvPr/>
          </p:nvSpPr>
          <p:spPr bwMode="auto">
            <a:xfrm>
              <a:off x="4848" y="2688"/>
              <a:ext cx="160" cy="208"/>
            </a:xfrm>
            <a:custGeom>
              <a:avLst/>
              <a:gdLst>
                <a:gd name="T0" fmla="*/ 0 w 160"/>
                <a:gd name="T1" fmla="*/ 0 h 208"/>
                <a:gd name="T2" fmla="*/ 160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6132" name="Freeform 112"/>
            <p:cNvSpPr>
              <a:spLocks noChangeAspect="1"/>
            </p:cNvSpPr>
            <p:nvPr/>
          </p:nvSpPr>
          <p:spPr bwMode="auto">
            <a:xfrm>
              <a:off x="4495" y="2688"/>
              <a:ext cx="227" cy="672"/>
            </a:xfrm>
            <a:custGeom>
              <a:avLst/>
              <a:gdLst>
                <a:gd name="T0" fmla="*/ 161 w 227"/>
                <a:gd name="T1" fmla="*/ 0 h 654"/>
                <a:gd name="T2" fmla="*/ 11 w 227"/>
                <a:gd name="T3" fmla="*/ 327 h 654"/>
                <a:gd name="T4" fmla="*/ 227 w 227"/>
                <a:gd name="T5" fmla="*/ 672 h 654"/>
                <a:gd name="T6" fmla="*/ 0 60000 65536"/>
                <a:gd name="T7" fmla="*/ 0 60000 65536"/>
                <a:gd name="T8" fmla="*/ 0 60000 65536"/>
                <a:gd name="T9" fmla="*/ 0 w 227"/>
                <a:gd name="T10" fmla="*/ 0 h 654"/>
                <a:gd name="T11" fmla="*/ 227 w 227"/>
                <a:gd name="T12" fmla="*/ 654 h 65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7" h="654">
                  <a:moveTo>
                    <a:pt x="161" y="0"/>
                  </a:moveTo>
                  <a:cubicBezTo>
                    <a:pt x="136" y="53"/>
                    <a:pt x="0" y="209"/>
                    <a:pt x="11" y="318"/>
                  </a:cubicBezTo>
                  <a:cubicBezTo>
                    <a:pt x="22" y="427"/>
                    <a:pt x="182" y="584"/>
                    <a:pt x="227" y="654"/>
                  </a:cubicBez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6133" name="Rectangle 113"/>
            <p:cNvSpPr>
              <a:spLocks noChangeAspect="1" noChangeArrowheads="1"/>
            </p:cNvSpPr>
            <p:nvPr/>
          </p:nvSpPr>
          <p:spPr bwMode="auto">
            <a:xfrm>
              <a:off x="4505" y="2592"/>
              <a:ext cx="78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46134" name="Rectangle 114"/>
            <p:cNvSpPr>
              <a:spLocks noChangeAspect="1" noChangeArrowheads="1"/>
            </p:cNvSpPr>
            <p:nvPr/>
          </p:nvSpPr>
          <p:spPr bwMode="auto">
            <a:xfrm>
              <a:off x="4888" y="2592"/>
              <a:ext cx="78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46135" name="Freeform 115"/>
            <p:cNvSpPr>
              <a:spLocks noChangeAspect="1"/>
            </p:cNvSpPr>
            <p:nvPr/>
          </p:nvSpPr>
          <p:spPr bwMode="auto">
            <a:xfrm flipH="1">
              <a:off x="4784" y="2227"/>
              <a:ext cx="64" cy="208"/>
            </a:xfrm>
            <a:custGeom>
              <a:avLst/>
              <a:gdLst>
                <a:gd name="T0" fmla="*/ 0 w 160"/>
                <a:gd name="T1" fmla="*/ 0 h 208"/>
                <a:gd name="T2" fmla="*/ 64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66FF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46136" name="Group 116"/>
            <p:cNvGrpSpPr>
              <a:grpSpLocks noChangeAspect="1"/>
            </p:cNvGrpSpPr>
            <p:nvPr/>
          </p:nvGrpSpPr>
          <p:grpSpPr bwMode="auto">
            <a:xfrm>
              <a:off x="4656" y="2846"/>
              <a:ext cx="672" cy="713"/>
              <a:chOff x="2741" y="2606"/>
              <a:chExt cx="672" cy="713"/>
            </a:xfrm>
          </p:grpSpPr>
          <p:grpSp>
            <p:nvGrpSpPr>
              <p:cNvPr id="46137" name="Group 117"/>
              <p:cNvGrpSpPr>
                <a:grpSpLocks noChangeAspect="1"/>
              </p:cNvGrpSpPr>
              <p:nvPr/>
            </p:nvGrpSpPr>
            <p:grpSpPr bwMode="auto">
              <a:xfrm>
                <a:off x="2928" y="2606"/>
                <a:ext cx="293" cy="339"/>
                <a:chOff x="2895" y="1454"/>
                <a:chExt cx="293" cy="339"/>
              </a:xfrm>
            </p:grpSpPr>
            <p:sp>
              <p:nvSpPr>
                <p:cNvPr id="46150" name="Freeform 118"/>
                <p:cNvSpPr>
                  <a:spLocks noChangeAspect="1"/>
                </p:cNvSpPr>
                <p:nvPr/>
              </p:nvSpPr>
              <p:spPr bwMode="auto">
                <a:xfrm>
                  <a:off x="2895" y="1500"/>
                  <a:ext cx="293" cy="293"/>
                </a:xfrm>
                <a:custGeom>
                  <a:avLst/>
                  <a:gdLst>
                    <a:gd name="T0" fmla="*/ 0 w 778"/>
                    <a:gd name="T1" fmla="*/ 147 h 778"/>
                    <a:gd name="T2" fmla="*/ 147 w 778"/>
                    <a:gd name="T3" fmla="*/ 0 h 778"/>
                    <a:gd name="T4" fmla="*/ 293 w 778"/>
                    <a:gd name="T5" fmla="*/ 147 h 778"/>
                    <a:gd name="T6" fmla="*/ 293 w 778"/>
                    <a:gd name="T7" fmla="*/ 147 h 778"/>
                    <a:gd name="T8" fmla="*/ 147 w 778"/>
                    <a:gd name="T9" fmla="*/ 293 h 778"/>
                    <a:gd name="T10" fmla="*/ 0 w 778"/>
                    <a:gd name="T11" fmla="*/ 147 h 77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778"/>
                    <a:gd name="T19" fmla="*/ 0 h 778"/>
                    <a:gd name="T20" fmla="*/ 778 w 778"/>
                    <a:gd name="T21" fmla="*/ 778 h 77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778" h="778">
                      <a:moveTo>
                        <a:pt x="0" y="389"/>
                      </a:moveTo>
                      <a:cubicBezTo>
                        <a:pt x="0" y="174"/>
                        <a:pt x="174" y="0"/>
                        <a:pt x="389" y="0"/>
                      </a:cubicBezTo>
                      <a:cubicBezTo>
                        <a:pt x="604" y="0"/>
                        <a:pt x="778" y="174"/>
                        <a:pt x="778" y="389"/>
                      </a:cubicBezTo>
                      <a:cubicBezTo>
                        <a:pt x="778" y="389"/>
                        <a:pt x="778" y="389"/>
                        <a:pt x="778" y="389"/>
                      </a:cubicBezTo>
                      <a:cubicBezTo>
                        <a:pt x="778" y="604"/>
                        <a:pt x="604" y="778"/>
                        <a:pt x="389" y="778"/>
                      </a:cubicBezTo>
                      <a:cubicBezTo>
                        <a:pt x="174" y="778"/>
                        <a:pt x="0" y="604"/>
                        <a:pt x="0" y="389"/>
                      </a:cubicBezTo>
                    </a:path>
                  </a:pathLst>
                </a:custGeom>
                <a:solidFill>
                  <a:srgbClr val="66FF99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151" name="Freeform 119"/>
                <p:cNvSpPr>
                  <a:spLocks noChangeAspect="1"/>
                </p:cNvSpPr>
                <p:nvPr/>
              </p:nvSpPr>
              <p:spPr bwMode="auto">
                <a:xfrm>
                  <a:off x="2895" y="1500"/>
                  <a:ext cx="293" cy="293"/>
                </a:xfrm>
                <a:custGeom>
                  <a:avLst/>
                  <a:gdLst>
                    <a:gd name="T0" fmla="*/ 0 w 293"/>
                    <a:gd name="T1" fmla="*/ 147 h 293"/>
                    <a:gd name="T2" fmla="*/ 147 w 293"/>
                    <a:gd name="T3" fmla="*/ 0 h 293"/>
                    <a:gd name="T4" fmla="*/ 293 w 293"/>
                    <a:gd name="T5" fmla="*/ 147 h 293"/>
                    <a:gd name="T6" fmla="*/ 293 w 293"/>
                    <a:gd name="T7" fmla="*/ 147 h 293"/>
                    <a:gd name="T8" fmla="*/ 147 w 293"/>
                    <a:gd name="T9" fmla="*/ 293 h 293"/>
                    <a:gd name="T10" fmla="*/ 0 w 293"/>
                    <a:gd name="T11" fmla="*/ 147 h 29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93"/>
                    <a:gd name="T19" fmla="*/ 0 h 293"/>
                    <a:gd name="T20" fmla="*/ 293 w 293"/>
                    <a:gd name="T21" fmla="*/ 293 h 29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93" h="293">
                      <a:moveTo>
                        <a:pt x="0" y="147"/>
                      </a:moveTo>
                      <a:cubicBezTo>
                        <a:pt x="0" y="66"/>
                        <a:pt x="66" y="0"/>
                        <a:pt x="147" y="0"/>
                      </a:cubicBezTo>
                      <a:cubicBezTo>
                        <a:pt x="228" y="0"/>
                        <a:pt x="293" y="66"/>
                        <a:pt x="293" y="147"/>
                      </a:cubicBezTo>
                      <a:cubicBezTo>
                        <a:pt x="293" y="147"/>
                        <a:pt x="293" y="147"/>
                        <a:pt x="293" y="147"/>
                      </a:cubicBezTo>
                      <a:cubicBezTo>
                        <a:pt x="293" y="228"/>
                        <a:pt x="228" y="293"/>
                        <a:pt x="147" y="293"/>
                      </a:cubicBezTo>
                      <a:cubicBezTo>
                        <a:pt x="66" y="293"/>
                        <a:pt x="0" y="228"/>
                        <a:pt x="0" y="147"/>
                      </a:cubicBezTo>
                    </a:path>
                  </a:pathLst>
                </a:custGeom>
                <a:noFill/>
                <a:ln w="3175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152" name="Rectangle 120"/>
                <p:cNvSpPr>
                  <a:spLocks noChangeAspect="1" noChangeArrowheads="1"/>
                </p:cNvSpPr>
                <p:nvPr/>
              </p:nvSpPr>
              <p:spPr bwMode="auto">
                <a:xfrm>
                  <a:off x="2989" y="1454"/>
                  <a:ext cx="124" cy="3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/>
                <a:p>
                  <a:r>
                    <a:rPr lang="en-US" sz="2800" i="1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c</a:t>
                  </a:r>
                  <a:endParaRPr lang="en-US">
                    <a:latin typeface="Times New Roman" charset="0"/>
                    <a:cs typeface="Arial" charset="0"/>
                  </a:endParaRPr>
                </a:p>
              </p:txBody>
            </p:sp>
          </p:grpSp>
          <p:grpSp>
            <p:nvGrpSpPr>
              <p:cNvPr id="46138" name="Group 121"/>
              <p:cNvGrpSpPr>
                <a:grpSpLocks noChangeAspect="1"/>
              </p:cNvGrpSpPr>
              <p:nvPr/>
            </p:nvGrpSpPr>
            <p:grpSpPr bwMode="auto">
              <a:xfrm>
                <a:off x="3246" y="3066"/>
                <a:ext cx="167" cy="253"/>
                <a:chOff x="3087" y="2759"/>
                <a:chExt cx="167" cy="253"/>
              </a:xfrm>
            </p:grpSpPr>
            <p:sp>
              <p:nvSpPr>
                <p:cNvPr id="46147" name="Rectangle 122"/>
                <p:cNvSpPr>
                  <a:spLocks noChangeAspect="1" noChangeArrowheads="1"/>
                </p:cNvSpPr>
                <p:nvPr/>
              </p:nvSpPr>
              <p:spPr bwMode="auto">
                <a:xfrm>
                  <a:off x="3087" y="2809"/>
                  <a:ext cx="167" cy="168"/>
                </a:xfrm>
                <a:prstGeom prst="rect">
                  <a:avLst/>
                </a:prstGeom>
                <a:solidFill>
                  <a:srgbClr val="339966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148" name="Rectangle 123"/>
                <p:cNvSpPr>
                  <a:spLocks noChangeAspect="1" noChangeArrowheads="1"/>
                </p:cNvSpPr>
                <p:nvPr/>
              </p:nvSpPr>
              <p:spPr bwMode="auto">
                <a:xfrm>
                  <a:off x="3087" y="2809"/>
                  <a:ext cx="167" cy="168"/>
                </a:xfrm>
                <a:prstGeom prst="rect">
                  <a:avLst/>
                </a:prstGeom>
                <a:noFill/>
                <a:ln w="3175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149" name="Rectangle 124"/>
                <p:cNvSpPr>
                  <a:spLocks noChangeAspect="1" noChangeArrowheads="1"/>
                </p:cNvSpPr>
                <p:nvPr/>
              </p:nvSpPr>
              <p:spPr bwMode="auto">
                <a:xfrm>
                  <a:off x="3110" y="2759"/>
                  <a:ext cx="105" cy="25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/>
                <a:p>
                  <a:r>
                    <a:rPr lang="en-US" sz="2100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1</a:t>
                  </a:r>
                  <a:endParaRPr lang="en-US">
                    <a:latin typeface="Times New Roman" charset="0"/>
                    <a:cs typeface="Arial" charset="0"/>
                  </a:endParaRPr>
                </a:p>
              </p:txBody>
            </p:sp>
          </p:grpSp>
          <p:sp>
            <p:nvSpPr>
              <p:cNvPr id="46139" name="Freeform 125"/>
              <p:cNvSpPr>
                <a:spLocks noChangeAspect="1"/>
              </p:cNvSpPr>
              <p:nvPr/>
            </p:nvSpPr>
            <p:spPr bwMode="auto">
              <a:xfrm>
                <a:off x="3173" y="2909"/>
                <a:ext cx="160" cy="208"/>
              </a:xfrm>
              <a:custGeom>
                <a:avLst/>
                <a:gdLst>
                  <a:gd name="T0" fmla="*/ 0 w 160"/>
                  <a:gd name="T1" fmla="*/ 0 h 208"/>
                  <a:gd name="T2" fmla="*/ 160 w 160"/>
                  <a:gd name="T3" fmla="*/ 208 h 208"/>
                  <a:gd name="T4" fmla="*/ 0 60000 65536"/>
                  <a:gd name="T5" fmla="*/ 0 60000 65536"/>
                  <a:gd name="T6" fmla="*/ 0 w 160"/>
                  <a:gd name="T7" fmla="*/ 0 h 208"/>
                  <a:gd name="T8" fmla="*/ 160 w 160"/>
                  <a:gd name="T9" fmla="*/ 208 h 20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0" h="208">
                    <a:moveTo>
                      <a:pt x="0" y="0"/>
                    </a:moveTo>
                    <a:lnTo>
                      <a:pt x="160" y="208"/>
                    </a:lnTo>
                  </a:path>
                </a:pathLst>
              </a:custGeom>
              <a:noFill/>
              <a:ln w="50800">
                <a:solidFill>
                  <a:schemeClr val="accent2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grpSp>
            <p:nvGrpSpPr>
              <p:cNvPr id="46140" name="Group 126"/>
              <p:cNvGrpSpPr>
                <a:grpSpLocks noChangeAspect="1"/>
              </p:cNvGrpSpPr>
              <p:nvPr/>
            </p:nvGrpSpPr>
            <p:grpSpPr bwMode="auto">
              <a:xfrm>
                <a:off x="2741" y="3066"/>
                <a:ext cx="167" cy="253"/>
                <a:chOff x="3087" y="2759"/>
                <a:chExt cx="167" cy="253"/>
              </a:xfrm>
            </p:grpSpPr>
            <p:sp>
              <p:nvSpPr>
                <p:cNvPr id="46144" name="Rectangle 127"/>
                <p:cNvSpPr>
                  <a:spLocks noChangeAspect="1" noChangeArrowheads="1"/>
                </p:cNvSpPr>
                <p:nvPr/>
              </p:nvSpPr>
              <p:spPr bwMode="auto">
                <a:xfrm>
                  <a:off x="3087" y="2809"/>
                  <a:ext cx="167" cy="168"/>
                </a:xfrm>
                <a:prstGeom prst="rect">
                  <a:avLst/>
                </a:prstGeom>
                <a:solidFill>
                  <a:srgbClr val="339966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145" name="Rectangle 128"/>
                <p:cNvSpPr>
                  <a:spLocks noChangeAspect="1" noChangeArrowheads="1"/>
                </p:cNvSpPr>
                <p:nvPr/>
              </p:nvSpPr>
              <p:spPr bwMode="auto">
                <a:xfrm>
                  <a:off x="3087" y="2809"/>
                  <a:ext cx="167" cy="168"/>
                </a:xfrm>
                <a:prstGeom prst="rect">
                  <a:avLst/>
                </a:prstGeom>
                <a:noFill/>
                <a:ln w="3175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146" name="Rectangle 129"/>
                <p:cNvSpPr>
                  <a:spLocks noChangeAspect="1" noChangeArrowheads="1"/>
                </p:cNvSpPr>
                <p:nvPr/>
              </p:nvSpPr>
              <p:spPr bwMode="auto">
                <a:xfrm>
                  <a:off x="3110" y="2759"/>
                  <a:ext cx="105" cy="25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/>
                <a:p>
                  <a:r>
                    <a:rPr lang="en-US" sz="2100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0</a:t>
                  </a:r>
                  <a:endParaRPr lang="en-US">
                    <a:latin typeface="Times New Roman" charset="0"/>
                    <a:cs typeface="Arial" charset="0"/>
                  </a:endParaRPr>
                </a:p>
              </p:txBody>
            </p:sp>
          </p:grpSp>
          <p:sp>
            <p:nvSpPr>
              <p:cNvPr id="46141" name="Freeform 130"/>
              <p:cNvSpPr>
                <a:spLocks noChangeAspect="1"/>
              </p:cNvSpPr>
              <p:nvPr/>
            </p:nvSpPr>
            <p:spPr bwMode="auto">
              <a:xfrm flipH="1">
                <a:off x="2821" y="2909"/>
                <a:ext cx="160" cy="208"/>
              </a:xfrm>
              <a:custGeom>
                <a:avLst/>
                <a:gdLst>
                  <a:gd name="T0" fmla="*/ 0 w 160"/>
                  <a:gd name="T1" fmla="*/ 0 h 208"/>
                  <a:gd name="T2" fmla="*/ 160 w 160"/>
                  <a:gd name="T3" fmla="*/ 208 h 208"/>
                  <a:gd name="T4" fmla="*/ 0 60000 65536"/>
                  <a:gd name="T5" fmla="*/ 0 60000 65536"/>
                  <a:gd name="T6" fmla="*/ 0 w 160"/>
                  <a:gd name="T7" fmla="*/ 0 h 208"/>
                  <a:gd name="T8" fmla="*/ 160 w 160"/>
                  <a:gd name="T9" fmla="*/ 208 h 20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0" h="208">
                    <a:moveTo>
                      <a:pt x="0" y="0"/>
                    </a:moveTo>
                    <a:lnTo>
                      <a:pt x="160" y="208"/>
                    </a:lnTo>
                  </a:path>
                </a:pathLst>
              </a:custGeom>
              <a:noFill/>
              <a:ln w="50800">
                <a:solidFill>
                  <a:srgbClr val="333399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6142" name="Rectangle 131"/>
              <p:cNvSpPr>
                <a:spLocks noChangeAspect="1" noChangeArrowheads="1"/>
              </p:cNvSpPr>
              <p:nvPr/>
            </p:nvSpPr>
            <p:spPr bwMode="auto">
              <a:xfrm>
                <a:off x="2830" y="2813"/>
                <a:ext cx="78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cs typeface="Arial" charset="0"/>
                  </a:rPr>
                  <a:t>0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  <p:sp>
            <p:nvSpPr>
              <p:cNvPr id="46143" name="Rectangle 132"/>
              <p:cNvSpPr>
                <a:spLocks noChangeAspect="1" noChangeArrowheads="1"/>
              </p:cNvSpPr>
              <p:nvPr/>
            </p:nvSpPr>
            <p:spPr bwMode="auto">
              <a:xfrm>
                <a:off x="3214" y="2813"/>
                <a:ext cx="77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cs typeface="Arial" charset="0"/>
                  </a:rPr>
                  <a:t>1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</p:grpSp>
      <p:grpSp>
        <p:nvGrpSpPr>
          <p:cNvPr id="46095" name="Group 133"/>
          <p:cNvGrpSpPr>
            <a:grpSpLocks noChangeAspect="1"/>
          </p:cNvGrpSpPr>
          <p:nvPr/>
        </p:nvGrpSpPr>
        <p:grpSpPr bwMode="auto">
          <a:xfrm>
            <a:off x="6781800" y="2678113"/>
            <a:ext cx="1233488" cy="2244725"/>
            <a:chOff x="4504" y="1392"/>
            <a:chExt cx="973" cy="1770"/>
          </a:xfrm>
        </p:grpSpPr>
        <p:sp>
          <p:nvSpPr>
            <p:cNvPr id="46096" name="Rectangle 134"/>
            <p:cNvSpPr>
              <a:spLocks noChangeAspect="1" noChangeArrowheads="1"/>
            </p:cNvSpPr>
            <p:nvPr/>
          </p:nvSpPr>
          <p:spPr bwMode="auto">
            <a:xfrm>
              <a:off x="4846" y="1725"/>
              <a:ext cx="78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46097" name="Rectangle 135"/>
            <p:cNvSpPr>
              <a:spLocks noChangeAspect="1" noChangeArrowheads="1"/>
            </p:cNvSpPr>
            <p:nvPr/>
          </p:nvSpPr>
          <p:spPr bwMode="auto">
            <a:xfrm>
              <a:off x="5263" y="1725"/>
              <a:ext cx="78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46098" name="Line 136"/>
            <p:cNvSpPr>
              <a:spLocks noChangeAspect="1" noChangeShapeType="1"/>
            </p:cNvSpPr>
            <p:nvPr/>
          </p:nvSpPr>
          <p:spPr bwMode="auto">
            <a:xfrm flipH="1">
              <a:off x="4752" y="1840"/>
              <a:ext cx="245" cy="224"/>
            </a:xfrm>
            <a:prstGeom prst="line">
              <a:avLst/>
            </a:pr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6099" name="Freeform 137"/>
            <p:cNvSpPr>
              <a:spLocks noChangeAspect="1"/>
            </p:cNvSpPr>
            <p:nvPr/>
          </p:nvSpPr>
          <p:spPr bwMode="auto">
            <a:xfrm>
              <a:off x="5154" y="1840"/>
              <a:ext cx="35" cy="650"/>
            </a:xfrm>
            <a:custGeom>
              <a:avLst/>
              <a:gdLst>
                <a:gd name="T0" fmla="*/ 35 w 35"/>
                <a:gd name="T1" fmla="*/ 0 h 650"/>
                <a:gd name="T2" fmla="*/ 0 w 35"/>
                <a:gd name="T3" fmla="*/ 650 h 650"/>
                <a:gd name="T4" fmla="*/ 0 60000 65536"/>
                <a:gd name="T5" fmla="*/ 0 60000 65536"/>
                <a:gd name="T6" fmla="*/ 0 w 35"/>
                <a:gd name="T7" fmla="*/ 0 h 650"/>
                <a:gd name="T8" fmla="*/ 35 w 35"/>
                <a:gd name="T9" fmla="*/ 650 h 65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5" h="650">
                  <a:moveTo>
                    <a:pt x="35" y="0"/>
                  </a:moveTo>
                  <a:cubicBezTo>
                    <a:pt x="29" y="108"/>
                    <a:pt x="7" y="515"/>
                    <a:pt x="0" y="650"/>
                  </a:cubicBez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46100" name="Group 138"/>
            <p:cNvGrpSpPr>
              <a:grpSpLocks noChangeAspect="1"/>
            </p:cNvGrpSpPr>
            <p:nvPr/>
          </p:nvGrpSpPr>
          <p:grpSpPr bwMode="auto">
            <a:xfrm>
              <a:off x="4964" y="1548"/>
              <a:ext cx="293" cy="340"/>
              <a:chOff x="2895" y="1453"/>
              <a:chExt cx="293" cy="340"/>
            </a:xfrm>
          </p:grpSpPr>
          <p:sp>
            <p:nvSpPr>
              <p:cNvPr id="46127" name="Freeform 139"/>
              <p:cNvSpPr>
                <a:spLocks noChangeAspect="1"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128" name="Freeform 140"/>
              <p:cNvSpPr>
                <a:spLocks noChangeAspect="1"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129" name="Rectangle 141"/>
              <p:cNvSpPr>
                <a:spLocks noChangeAspect="1" noChangeArrowheads="1"/>
              </p:cNvSpPr>
              <p:nvPr/>
            </p:nvSpPr>
            <p:spPr bwMode="auto">
              <a:xfrm>
                <a:off x="2981" y="1453"/>
                <a:ext cx="140" cy="3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a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46101" name="Rectangle 142"/>
            <p:cNvSpPr>
              <a:spLocks noChangeAspect="1" noChangeArrowheads="1"/>
            </p:cNvSpPr>
            <p:nvPr/>
          </p:nvSpPr>
          <p:spPr bwMode="auto">
            <a:xfrm>
              <a:off x="4504" y="2224"/>
              <a:ext cx="78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46102" name="Rectangle 143"/>
            <p:cNvSpPr>
              <a:spLocks noChangeAspect="1" noChangeArrowheads="1"/>
            </p:cNvSpPr>
            <p:nvPr/>
          </p:nvSpPr>
          <p:spPr bwMode="auto">
            <a:xfrm>
              <a:off x="4970" y="2208"/>
              <a:ext cx="78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46103" name="Line 144"/>
            <p:cNvSpPr>
              <a:spLocks noChangeAspect="1" noChangeShapeType="1"/>
            </p:cNvSpPr>
            <p:nvPr/>
          </p:nvSpPr>
          <p:spPr bwMode="auto">
            <a:xfrm>
              <a:off x="4848" y="2304"/>
              <a:ext cx="197" cy="24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6104" name="Freeform 145"/>
            <p:cNvSpPr>
              <a:spLocks noChangeAspect="1"/>
            </p:cNvSpPr>
            <p:nvPr/>
          </p:nvSpPr>
          <p:spPr bwMode="auto">
            <a:xfrm flipH="1">
              <a:off x="5141" y="1392"/>
              <a:ext cx="64" cy="208"/>
            </a:xfrm>
            <a:custGeom>
              <a:avLst/>
              <a:gdLst>
                <a:gd name="T0" fmla="*/ 0 w 160"/>
                <a:gd name="T1" fmla="*/ 0 h 208"/>
                <a:gd name="T2" fmla="*/ 64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66FF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46105" name="Group 146"/>
            <p:cNvGrpSpPr>
              <a:grpSpLocks noChangeAspect="1"/>
            </p:cNvGrpSpPr>
            <p:nvPr/>
          </p:nvGrpSpPr>
          <p:grpSpPr bwMode="auto">
            <a:xfrm>
              <a:off x="4608" y="1998"/>
              <a:ext cx="293" cy="339"/>
              <a:chOff x="2895" y="1454"/>
              <a:chExt cx="293" cy="339"/>
            </a:xfrm>
          </p:grpSpPr>
          <p:sp>
            <p:nvSpPr>
              <p:cNvPr id="46124" name="Freeform 147"/>
              <p:cNvSpPr>
                <a:spLocks noChangeAspect="1"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125" name="Freeform 148"/>
              <p:cNvSpPr>
                <a:spLocks noChangeAspect="1"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126" name="Rectangle 149"/>
              <p:cNvSpPr>
                <a:spLocks noChangeAspect="1" noChangeArrowheads="1"/>
              </p:cNvSpPr>
              <p:nvPr/>
            </p:nvSpPr>
            <p:spPr bwMode="auto">
              <a:xfrm>
                <a:off x="2981" y="1454"/>
                <a:ext cx="141" cy="3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b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46106" name="Freeform 150"/>
            <p:cNvSpPr>
              <a:spLocks noChangeAspect="1"/>
            </p:cNvSpPr>
            <p:nvPr/>
          </p:nvSpPr>
          <p:spPr bwMode="auto">
            <a:xfrm>
              <a:off x="4539" y="2316"/>
              <a:ext cx="359" cy="642"/>
            </a:xfrm>
            <a:custGeom>
              <a:avLst/>
              <a:gdLst>
                <a:gd name="T0" fmla="*/ 123 w 359"/>
                <a:gd name="T1" fmla="*/ 0 h 642"/>
                <a:gd name="T2" fmla="*/ 39 w 359"/>
                <a:gd name="T3" fmla="*/ 438 h 642"/>
                <a:gd name="T4" fmla="*/ 359 w 359"/>
                <a:gd name="T5" fmla="*/ 642 h 642"/>
                <a:gd name="T6" fmla="*/ 0 60000 65536"/>
                <a:gd name="T7" fmla="*/ 0 60000 65536"/>
                <a:gd name="T8" fmla="*/ 0 60000 65536"/>
                <a:gd name="T9" fmla="*/ 0 w 359"/>
                <a:gd name="T10" fmla="*/ 0 h 642"/>
                <a:gd name="T11" fmla="*/ 359 w 359"/>
                <a:gd name="T12" fmla="*/ 642 h 6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9" h="642">
                  <a:moveTo>
                    <a:pt x="123" y="0"/>
                  </a:moveTo>
                  <a:cubicBezTo>
                    <a:pt x="109" y="73"/>
                    <a:pt x="0" y="331"/>
                    <a:pt x="39" y="438"/>
                  </a:cubicBezTo>
                  <a:cubicBezTo>
                    <a:pt x="121" y="511"/>
                    <a:pt x="292" y="600"/>
                    <a:pt x="359" y="642"/>
                  </a:cubicBez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46107" name="Group 151"/>
            <p:cNvGrpSpPr>
              <a:grpSpLocks noChangeAspect="1"/>
            </p:cNvGrpSpPr>
            <p:nvPr/>
          </p:nvGrpSpPr>
          <p:grpSpPr bwMode="auto">
            <a:xfrm>
              <a:off x="4805" y="2448"/>
              <a:ext cx="672" cy="714"/>
              <a:chOff x="3504" y="2496"/>
              <a:chExt cx="672" cy="714"/>
            </a:xfrm>
          </p:grpSpPr>
          <p:grpSp>
            <p:nvGrpSpPr>
              <p:cNvPr id="46108" name="Group 152"/>
              <p:cNvGrpSpPr>
                <a:grpSpLocks noChangeAspect="1"/>
              </p:cNvGrpSpPr>
              <p:nvPr/>
            </p:nvGrpSpPr>
            <p:grpSpPr bwMode="auto">
              <a:xfrm>
                <a:off x="3691" y="2496"/>
                <a:ext cx="293" cy="340"/>
                <a:chOff x="2895" y="1453"/>
                <a:chExt cx="293" cy="340"/>
              </a:xfrm>
            </p:grpSpPr>
            <p:sp>
              <p:nvSpPr>
                <p:cNvPr id="46121" name="Freeform 153"/>
                <p:cNvSpPr>
                  <a:spLocks noChangeAspect="1"/>
                </p:cNvSpPr>
                <p:nvPr/>
              </p:nvSpPr>
              <p:spPr bwMode="auto">
                <a:xfrm>
                  <a:off x="2895" y="1500"/>
                  <a:ext cx="293" cy="293"/>
                </a:xfrm>
                <a:custGeom>
                  <a:avLst/>
                  <a:gdLst>
                    <a:gd name="T0" fmla="*/ 0 w 778"/>
                    <a:gd name="T1" fmla="*/ 147 h 778"/>
                    <a:gd name="T2" fmla="*/ 147 w 778"/>
                    <a:gd name="T3" fmla="*/ 0 h 778"/>
                    <a:gd name="T4" fmla="*/ 293 w 778"/>
                    <a:gd name="T5" fmla="*/ 147 h 778"/>
                    <a:gd name="T6" fmla="*/ 293 w 778"/>
                    <a:gd name="T7" fmla="*/ 147 h 778"/>
                    <a:gd name="T8" fmla="*/ 147 w 778"/>
                    <a:gd name="T9" fmla="*/ 293 h 778"/>
                    <a:gd name="T10" fmla="*/ 0 w 778"/>
                    <a:gd name="T11" fmla="*/ 147 h 77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778"/>
                    <a:gd name="T19" fmla="*/ 0 h 778"/>
                    <a:gd name="T20" fmla="*/ 778 w 778"/>
                    <a:gd name="T21" fmla="*/ 778 h 77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778" h="778">
                      <a:moveTo>
                        <a:pt x="0" y="389"/>
                      </a:moveTo>
                      <a:cubicBezTo>
                        <a:pt x="0" y="174"/>
                        <a:pt x="174" y="0"/>
                        <a:pt x="389" y="0"/>
                      </a:cubicBezTo>
                      <a:cubicBezTo>
                        <a:pt x="604" y="0"/>
                        <a:pt x="778" y="174"/>
                        <a:pt x="778" y="389"/>
                      </a:cubicBezTo>
                      <a:cubicBezTo>
                        <a:pt x="778" y="389"/>
                        <a:pt x="778" y="389"/>
                        <a:pt x="778" y="389"/>
                      </a:cubicBezTo>
                      <a:cubicBezTo>
                        <a:pt x="778" y="604"/>
                        <a:pt x="604" y="778"/>
                        <a:pt x="389" y="778"/>
                      </a:cubicBezTo>
                      <a:cubicBezTo>
                        <a:pt x="174" y="778"/>
                        <a:pt x="0" y="604"/>
                        <a:pt x="0" y="389"/>
                      </a:cubicBezTo>
                    </a:path>
                  </a:pathLst>
                </a:custGeom>
                <a:solidFill>
                  <a:srgbClr val="66FF99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122" name="Freeform 154"/>
                <p:cNvSpPr>
                  <a:spLocks noChangeAspect="1"/>
                </p:cNvSpPr>
                <p:nvPr/>
              </p:nvSpPr>
              <p:spPr bwMode="auto">
                <a:xfrm>
                  <a:off x="2895" y="1500"/>
                  <a:ext cx="293" cy="293"/>
                </a:xfrm>
                <a:custGeom>
                  <a:avLst/>
                  <a:gdLst>
                    <a:gd name="T0" fmla="*/ 0 w 293"/>
                    <a:gd name="T1" fmla="*/ 147 h 293"/>
                    <a:gd name="T2" fmla="*/ 147 w 293"/>
                    <a:gd name="T3" fmla="*/ 0 h 293"/>
                    <a:gd name="T4" fmla="*/ 293 w 293"/>
                    <a:gd name="T5" fmla="*/ 147 h 293"/>
                    <a:gd name="T6" fmla="*/ 293 w 293"/>
                    <a:gd name="T7" fmla="*/ 147 h 293"/>
                    <a:gd name="T8" fmla="*/ 147 w 293"/>
                    <a:gd name="T9" fmla="*/ 293 h 293"/>
                    <a:gd name="T10" fmla="*/ 0 w 293"/>
                    <a:gd name="T11" fmla="*/ 147 h 29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93"/>
                    <a:gd name="T19" fmla="*/ 0 h 293"/>
                    <a:gd name="T20" fmla="*/ 293 w 293"/>
                    <a:gd name="T21" fmla="*/ 293 h 29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93" h="293">
                      <a:moveTo>
                        <a:pt x="0" y="147"/>
                      </a:moveTo>
                      <a:cubicBezTo>
                        <a:pt x="0" y="66"/>
                        <a:pt x="66" y="0"/>
                        <a:pt x="147" y="0"/>
                      </a:cubicBezTo>
                      <a:cubicBezTo>
                        <a:pt x="228" y="0"/>
                        <a:pt x="293" y="66"/>
                        <a:pt x="293" y="147"/>
                      </a:cubicBezTo>
                      <a:cubicBezTo>
                        <a:pt x="293" y="147"/>
                        <a:pt x="293" y="147"/>
                        <a:pt x="293" y="147"/>
                      </a:cubicBezTo>
                      <a:cubicBezTo>
                        <a:pt x="293" y="228"/>
                        <a:pt x="228" y="293"/>
                        <a:pt x="147" y="293"/>
                      </a:cubicBezTo>
                      <a:cubicBezTo>
                        <a:pt x="66" y="293"/>
                        <a:pt x="0" y="228"/>
                        <a:pt x="0" y="147"/>
                      </a:cubicBezTo>
                    </a:path>
                  </a:pathLst>
                </a:custGeom>
                <a:noFill/>
                <a:ln w="3175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123" name="Rectangle 155"/>
                <p:cNvSpPr>
                  <a:spLocks noChangeAspect="1" noChangeArrowheads="1"/>
                </p:cNvSpPr>
                <p:nvPr/>
              </p:nvSpPr>
              <p:spPr bwMode="auto">
                <a:xfrm>
                  <a:off x="2988" y="1453"/>
                  <a:ext cx="124" cy="3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/>
                <a:p>
                  <a:r>
                    <a:rPr lang="en-US" sz="2800" i="1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c</a:t>
                  </a:r>
                  <a:endParaRPr lang="en-US">
                    <a:latin typeface="Times New Roman" charset="0"/>
                    <a:cs typeface="Arial" charset="0"/>
                  </a:endParaRPr>
                </a:p>
              </p:txBody>
            </p:sp>
          </p:grpSp>
          <p:grpSp>
            <p:nvGrpSpPr>
              <p:cNvPr id="46109" name="Group 156"/>
              <p:cNvGrpSpPr>
                <a:grpSpLocks noChangeAspect="1"/>
              </p:cNvGrpSpPr>
              <p:nvPr/>
            </p:nvGrpSpPr>
            <p:grpSpPr bwMode="auto">
              <a:xfrm>
                <a:off x="4009" y="2957"/>
                <a:ext cx="167" cy="253"/>
                <a:chOff x="3087" y="2759"/>
                <a:chExt cx="167" cy="253"/>
              </a:xfrm>
            </p:grpSpPr>
            <p:sp>
              <p:nvSpPr>
                <p:cNvPr id="46118" name="Rectangle 157"/>
                <p:cNvSpPr>
                  <a:spLocks noChangeAspect="1" noChangeArrowheads="1"/>
                </p:cNvSpPr>
                <p:nvPr/>
              </p:nvSpPr>
              <p:spPr bwMode="auto">
                <a:xfrm>
                  <a:off x="3087" y="2809"/>
                  <a:ext cx="167" cy="168"/>
                </a:xfrm>
                <a:prstGeom prst="rect">
                  <a:avLst/>
                </a:prstGeom>
                <a:solidFill>
                  <a:srgbClr val="339966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119" name="Rectangle 158"/>
                <p:cNvSpPr>
                  <a:spLocks noChangeAspect="1" noChangeArrowheads="1"/>
                </p:cNvSpPr>
                <p:nvPr/>
              </p:nvSpPr>
              <p:spPr bwMode="auto">
                <a:xfrm>
                  <a:off x="3087" y="2809"/>
                  <a:ext cx="167" cy="168"/>
                </a:xfrm>
                <a:prstGeom prst="rect">
                  <a:avLst/>
                </a:prstGeom>
                <a:noFill/>
                <a:ln w="3175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120" name="Rectangle 159"/>
                <p:cNvSpPr>
                  <a:spLocks noChangeAspect="1" noChangeArrowheads="1"/>
                </p:cNvSpPr>
                <p:nvPr/>
              </p:nvSpPr>
              <p:spPr bwMode="auto">
                <a:xfrm>
                  <a:off x="3110" y="2759"/>
                  <a:ext cx="105" cy="25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/>
                <a:p>
                  <a:r>
                    <a:rPr lang="en-US" sz="2100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1</a:t>
                  </a:r>
                  <a:endParaRPr lang="en-US">
                    <a:latin typeface="Times New Roman" charset="0"/>
                    <a:cs typeface="Arial" charset="0"/>
                  </a:endParaRPr>
                </a:p>
              </p:txBody>
            </p:sp>
          </p:grpSp>
          <p:sp>
            <p:nvSpPr>
              <p:cNvPr id="46110" name="Freeform 160"/>
              <p:cNvSpPr>
                <a:spLocks noChangeAspect="1"/>
              </p:cNvSpPr>
              <p:nvPr/>
            </p:nvSpPr>
            <p:spPr bwMode="auto">
              <a:xfrm>
                <a:off x="3936" y="2800"/>
                <a:ext cx="160" cy="208"/>
              </a:xfrm>
              <a:custGeom>
                <a:avLst/>
                <a:gdLst>
                  <a:gd name="T0" fmla="*/ 0 w 160"/>
                  <a:gd name="T1" fmla="*/ 0 h 208"/>
                  <a:gd name="T2" fmla="*/ 160 w 160"/>
                  <a:gd name="T3" fmla="*/ 208 h 208"/>
                  <a:gd name="T4" fmla="*/ 0 60000 65536"/>
                  <a:gd name="T5" fmla="*/ 0 60000 65536"/>
                  <a:gd name="T6" fmla="*/ 0 w 160"/>
                  <a:gd name="T7" fmla="*/ 0 h 208"/>
                  <a:gd name="T8" fmla="*/ 160 w 160"/>
                  <a:gd name="T9" fmla="*/ 208 h 20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0" h="208">
                    <a:moveTo>
                      <a:pt x="0" y="0"/>
                    </a:moveTo>
                    <a:lnTo>
                      <a:pt x="160" y="208"/>
                    </a:lnTo>
                  </a:path>
                </a:pathLst>
              </a:custGeom>
              <a:noFill/>
              <a:ln w="50800">
                <a:solidFill>
                  <a:schemeClr val="accent2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grpSp>
            <p:nvGrpSpPr>
              <p:cNvPr id="46111" name="Group 161"/>
              <p:cNvGrpSpPr>
                <a:grpSpLocks noChangeAspect="1"/>
              </p:cNvGrpSpPr>
              <p:nvPr/>
            </p:nvGrpSpPr>
            <p:grpSpPr bwMode="auto">
              <a:xfrm>
                <a:off x="3504" y="2957"/>
                <a:ext cx="167" cy="253"/>
                <a:chOff x="3087" y="2759"/>
                <a:chExt cx="167" cy="253"/>
              </a:xfrm>
            </p:grpSpPr>
            <p:sp>
              <p:nvSpPr>
                <p:cNvPr id="46115" name="Rectangle 162"/>
                <p:cNvSpPr>
                  <a:spLocks noChangeAspect="1" noChangeArrowheads="1"/>
                </p:cNvSpPr>
                <p:nvPr/>
              </p:nvSpPr>
              <p:spPr bwMode="auto">
                <a:xfrm>
                  <a:off x="3087" y="2809"/>
                  <a:ext cx="167" cy="168"/>
                </a:xfrm>
                <a:prstGeom prst="rect">
                  <a:avLst/>
                </a:prstGeom>
                <a:solidFill>
                  <a:srgbClr val="339966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116" name="Rectangle 163"/>
                <p:cNvSpPr>
                  <a:spLocks noChangeAspect="1" noChangeArrowheads="1"/>
                </p:cNvSpPr>
                <p:nvPr/>
              </p:nvSpPr>
              <p:spPr bwMode="auto">
                <a:xfrm>
                  <a:off x="3087" y="2809"/>
                  <a:ext cx="167" cy="168"/>
                </a:xfrm>
                <a:prstGeom prst="rect">
                  <a:avLst/>
                </a:prstGeom>
                <a:noFill/>
                <a:ln w="3175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117" name="Rectangle 164"/>
                <p:cNvSpPr>
                  <a:spLocks noChangeAspect="1" noChangeArrowheads="1"/>
                </p:cNvSpPr>
                <p:nvPr/>
              </p:nvSpPr>
              <p:spPr bwMode="auto">
                <a:xfrm>
                  <a:off x="3110" y="2759"/>
                  <a:ext cx="105" cy="25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/>
                <a:p>
                  <a:r>
                    <a:rPr lang="en-US" sz="2100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0</a:t>
                  </a:r>
                  <a:endParaRPr lang="en-US">
                    <a:latin typeface="Times New Roman" charset="0"/>
                    <a:cs typeface="Arial" charset="0"/>
                  </a:endParaRPr>
                </a:p>
              </p:txBody>
            </p:sp>
          </p:grpSp>
          <p:sp>
            <p:nvSpPr>
              <p:cNvPr id="46112" name="Freeform 165"/>
              <p:cNvSpPr>
                <a:spLocks noChangeAspect="1"/>
              </p:cNvSpPr>
              <p:nvPr/>
            </p:nvSpPr>
            <p:spPr bwMode="auto">
              <a:xfrm flipH="1">
                <a:off x="3584" y="2800"/>
                <a:ext cx="160" cy="208"/>
              </a:xfrm>
              <a:custGeom>
                <a:avLst/>
                <a:gdLst>
                  <a:gd name="T0" fmla="*/ 0 w 160"/>
                  <a:gd name="T1" fmla="*/ 0 h 208"/>
                  <a:gd name="T2" fmla="*/ 160 w 160"/>
                  <a:gd name="T3" fmla="*/ 208 h 208"/>
                  <a:gd name="T4" fmla="*/ 0 60000 65536"/>
                  <a:gd name="T5" fmla="*/ 0 60000 65536"/>
                  <a:gd name="T6" fmla="*/ 0 w 160"/>
                  <a:gd name="T7" fmla="*/ 0 h 208"/>
                  <a:gd name="T8" fmla="*/ 160 w 160"/>
                  <a:gd name="T9" fmla="*/ 208 h 20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0" h="208">
                    <a:moveTo>
                      <a:pt x="0" y="0"/>
                    </a:moveTo>
                    <a:lnTo>
                      <a:pt x="160" y="208"/>
                    </a:lnTo>
                  </a:path>
                </a:pathLst>
              </a:custGeom>
              <a:noFill/>
              <a:ln w="50800">
                <a:solidFill>
                  <a:srgbClr val="333399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6113" name="Rectangle 166"/>
              <p:cNvSpPr>
                <a:spLocks noChangeAspect="1" noChangeArrowheads="1"/>
              </p:cNvSpPr>
              <p:nvPr/>
            </p:nvSpPr>
            <p:spPr bwMode="auto">
              <a:xfrm>
                <a:off x="3593" y="2704"/>
                <a:ext cx="77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cs typeface="Arial" charset="0"/>
                  </a:rPr>
                  <a:t>0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  <p:sp>
            <p:nvSpPr>
              <p:cNvPr id="46114" name="Rectangle 167"/>
              <p:cNvSpPr>
                <a:spLocks noChangeAspect="1" noChangeArrowheads="1"/>
              </p:cNvSpPr>
              <p:nvPr/>
            </p:nvSpPr>
            <p:spPr bwMode="auto">
              <a:xfrm>
                <a:off x="3977" y="2704"/>
                <a:ext cx="78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cs typeface="Arial" charset="0"/>
                  </a:rPr>
                  <a:t>1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r>
              <a:rPr lang="en-US" sz="1400" b="0"/>
              <a:t>(c)  Giovanni De Micheli</a:t>
            </a:r>
          </a:p>
        </p:txBody>
      </p:sp>
      <p:sp>
        <p:nvSpPr>
          <p:cNvPr id="5017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B92F70B5-0AD6-5949-A740-5799395589C6}" type="slidenum">
              <a:rPr lang="en-US" sz="1400" b="0"/>
              <a:pPr/>
              <a:t>20</a:t>
            </a:fld>
            <a:endParaRPr lang="en-US" sz="1400" b="0"/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Narrow" charset="0"/>
              </a:rPr>
              <a:t>ROBDD- sharing</a:t>
            </a:r>
          </a:p>
        </p:txBody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>
              <a:buFont typeface="Monotype Sorts" charset="0"/>
              <a:buNone/>
            </a:pPr>
            <a:r>
              <a:rPr lang="en-US">
                <a:latin typeface="Arial Narrow" charset="0"/>
              </a:rPr>
              <a:t>We already share subtrees within a ROBDD</a:t>
            </a:r>
          </a:p>
          <a:p>
            <a:pPr marL="533400" indent="-533400">
              <a:buFont typeface="Monotype Sorts" charset="0"/>
              <a:buNone/>
            </a:pPr>
            <a:r>
              <a:rPr lang="en-US">
                <a:latin typeface="Arial Narrow" charset="0"/>
              </a:rPr>
              <a:t>…but we can share also among multiple ROBDDS</a:t>
            </a:r>
          </a:p>
          <a:p>
            <a:pPr marL="533400" indent="-533400"/>
            <a:endParaRPr lang="en-US">
              <a:latin typeface="Arial Narrow" charset="0"/>
            </a:endParaRPr>
          </a:p>
          <a:p>
            <a:pPr marL="908050" lvl="1" indent="-436563">
              <a:buFont typeface="Monotype Sorts" charset="0"/>
              <a:buNone/>
            </a:pPr>
            <a:endParaRPr lang="en-US">
              <a:latin typeface="Arial Narrow" charset="0"/>
            </a:endParaRPr>
          </a:p>
          <a:p>
            <a:pPr marL="908050" lvl="1" indent="-436563">
              <a:buFont typeface="Monotype Sorts" charset="0"/>
              <a:buNone/>
            </a:pPr>
            <a:endParaRPr lang="en-US">
              <a:latin typeface="Arial Narrow" charset="0"/>
            </a:endParaRPr>
          </a:p>
          <a:p>
            <a:pPr marL="533400" indent="-533400"/>
            <a:endParaRPr lang="en-US">
              <a:latin typeface="Arial Narrow" charset="0"/>
            </a:endParaRPr>
          </a:p>
        </p:txBody>
      </p:sp>
      <p:sp>
        <p:nvSpPr>
          <p:cNvPr id="50181" name="Text Box 4"/>
          <p:cNvSpPr txBox="1">
            <a:spLocks noChangeAspect="1" noChangeArrowheads="1"/>
          </p:cNvSpPr>
          <p:nvPr/>
        </p:nvSpPr>
        <p:spPr bwMode="auto">
          <a:xfrm>
            <a:off x="2686050" y="4627563"/>
            <a:ext cx="974725" cy="3794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800" b="0">
                <a:latin typeface="Verdana" charset="0"/>
                <a:cs typeface="Arial" charset="0"/>
              </a:rPr>
              <a:t>shared</a:t>
            </a:r>
          </a:p>
        </p:txBody>
      </p:sp>
      <p:sp>
        <p:nvSpPr>
          <p:cNvPr id="50182" name="Freeform 5"/>
          <p:cNvSpPr>
            <a:spLocks noChangeAspect="1"/>
          </p:cNvSpPr>
          <p:nvPr/>
        </p:nvSpPr>
        <p:spPr bwMode="auto">
          <a:xfrm>
            <a:off x="3657600" y="4876800"/>
            <a:ext cx="2638425" cy="1009650"/>
          </a:xfrm>
          <a:custGeom>
            <a:avLst/>
            <a:gdLst>
              <a:gd name="T0" fmla="*/ 0 w 1662"/>
              <a:gd name="T1" fmla="*/ 0 h 636"/>
              <a:gd name="T2" fmla="*/ 2638425 w 1662"/>
              <a:gd name="T3" fmla="*/ 1009650 h 636"/>
              <a:gd name="T4" fmla="*/ 0 60000 65536"/>
              <a:gd name="T5" fmla="*/ 0 60000 65536"/>
              <a:gd name="T6" fmla="*/ 0 w 1662"/>
              <a:gd name="T7" fmla="*/ 0 h 636"/>
              <a:gd name="T8" fmla="*/ 1662 w 1662"/>
              <a:gd name="T9" fmla="*/ 636 h 6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662" h="636">
                <a:moveTo>
                  <a:pt x="0" y="0"/>
                </a:moveTo>
                <a:lnTo>
                  <a:pt x="1662" y="636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0183" name="Freeform 6"/>
          <p:cNvSpPr>
            <a:spLocks noChangeAspect="1"/>
          </p:cNvSpPr>
          <p:nvPr/>
        </p:nvSpPr>
        <p:spPr bwMode="auto">
          <a:xfrm>
            <a:off x="3657600" y="4800600"/>
            <a:ext cx="2895600" cy="485775"/>
          </a:xfrm>
          <a:custGeom>
            <a:avLst/>
            <a:gdLst>
              <a:gd name="T0" fmla="*/ 0 w 1824"/>
              <a:gd name="T1" fmla="*/ 0 h 306"/>
              <a:gd name="T2" fmla="*/ 2895600 w 1824"/>
              <a:gd name="T3" fmla="*/ 485775 h 306"/>
              <a:gd name="T4" fmla="*/ 0 60000 65536"/>
              <a:gd name="T5" fmla="*/ 0 60000 65536"/>
              <a:gd name="T6" fmla="*/ 0 w 1824"/>
              <a:gd name="T7" fmla="*/ 0 h 306"/>
              <a:gd name="T8" fmla="*/ 1824 w 1824"/>
              <a:gd name="T9" fmla="*/ 306 h 30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824" h="306">
                <a:moveTo>
                  <a:pt x="0" y="0"/>
                </a:moveTo>
                <a:lnTo>
                  <a:pt x="1824" y="306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0184" name="Rectangle 7"/>
          <p:cNvSpPr>
            <a:spLocks noChangeArrowheads="1"/>
          </p:cNvSpPr>
          <p:nvPr/>
        </p:nvSpPr>
        <p:spPr bwMode="auto">
          <a:xfrm>
            <a:off x="6437313" y="3932238"/>
            <a:ext cx="98425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700">
                <a:cs typeface="Arial" charset="0"/>
              </a:rPr>
              <a:t>0</a:t>
            </a:r>
            <a:endParaRPr lang="en-US">
              <a:latin typeface="Times New Roman" charset="0"/>
              <a:cs typeface="Arial" charset="0"/>
            </a:endParaRPr>
          </a:p>
        </p:txBody>
      </p:sp>
      <p:sp>
        <p:nvSpPr>
          <p:cNvPr id="50185" name="Rectangle 8"/>
          <p:cNvSpPr>
            <a:spLocks noChangeArrowheads="1"/>
          </p:cNvSpPr>
          <p:nvPr/>
        </p:nvSpPr>
        <p:spPr bwMode="auto">
          <a:xfrm>
            <a:off x="7100888" y="3932238"/>
            <a:ext cx="98425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700">
                <a:cs typeface="Arial" charset="0"/>
              </a:rPr>
              <a:t>1</a:t>
            </a:r>
            <a:endParaRPr lang="en-US">
              <a:latin typeface="Times New Roman" charset="0"/>
              <a:cs typeface="Arial" charset="0"/>
            </a:endParaRPr>
          </a:p>
        </p:txBody>
      </p:sp>
      <p:sp>
        <p:nvSpPr>
          <p:cNvPr id="50186" name="Line 9"/>
          <p:cNvSpPr>
            <a:spLocks noChangeShapeType="1"/>
          </p:cNvSpPr>
          <p:nvPr/>
        </p:nvSpPr>
        <p:spPr bwMode="auto">
          <a:xfrm flipH="1">
            <a:off x="6056313" y="4114800"/>
            <a:ext cx="609600" cy="381000"/>
          </a:xfrm>
          <a:prstGeom prst="line">
            <a:avLst/>
          </a:prstGeom>
          <a:noFill/>
          <a:ln w="50800">
            <a:solidFill>
              <a:srgbClr val="333399"/>
            </a:solidFill>
            <a:round/>
            <a:headEnd/>
            <a:tailEnd type="stealth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0187" name="Freeform 10"/>
          <p:cNvSpPr>
            <a:spLocks/>
          </p:cNvSpPr>
          <p:nvPr/>
        </p:nvSpPr>
        <p:spPr bwMode="auto">
          <a:xfrm>
            <a:off x="6970713" y="4114800"/>
            <a:ext cx="601662" cy="1098550"/>
          </a:xfrm>
          <a:custGeom>
            <a:avLst/>
            <a:gdLst>
              <a:gd name="T0" fmla="*/ 0 w 379"/>
              <a:gd name="T1" fmla="*/ 0 h 692"/>
              <a:gd name="T2" fmla="*/ 585787 w 379"/>
              <a:gd name="T3" fmla="*/ 431800 h 692"/>
              <a:gd name="T4" fmla="*/ 90487 w 379"/>
              <a:gd name="T5" fmla="*/ 1098550 h 692"/>
              <a:gd name="T6" fmla="*/ 0 60000 65536"/>
              <a:gd name="T7" fmla="*/ 0 60000 65536"/>
              <a:gd name="T8" fmla="*/ 0 60000 65536"/>
              <a:gd name="T9" fmla="*/ 0 w 379"/>
              <a:gd name="T10" fmla="*/ 0 h 692"/>
              <a:gd name="T11" fmla="*/ 379 w 379"/>
              <a:gd name="T12" fmla="*/ 692 h 6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79" h="692">
                <a:moveTo>
                  <a:pt x="0" y="0"/>
                </a:moveTo>
                <a:cubicBezTo>
                  <a:pt x="61" y="45"/>
                  <a:pt x="359" y="157"/>
                  <a:pt x="369" y="272"/>
                </a:cubicBezTo>
                <a:cubicBezTo>
                  <a:pt x="379" y="387"/>
                  <a:pt x="122" y="605"/>
                  <a:pt x="57" y="692"/>
                </a:cubicBezTo>
              </a:path>
            </a:pathLst>
          </a:custGeom>
          <a:noFill/>
          <a:ln w="50800">
            <a:solidFill>
              <a:schemeClr val="accent2"/>
            </a:solidFill>
            <a:round/>
            <a:headEnd/>
            <a:tailEnd type="stealth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50188" name="Group 11"/>
          <p:cNvGrpSpPr>
            <a:grpSpLocks/>
          </p:cNvGrpSpPr>
          <p:nvPr/>
        </p:nvGrpSpPr>
        <p:grpSpPr bwMode="auto">
          <a:xfrm>
            <a:off x="6613525" y="3706813"/>
            <a:ext cx="465138" cy="484187"/>
            <a:chOff x="2895" y="1488"/>
            <a:chExt cx="293" cy="305"/>
          </a:xfrm>
        </p:grpSpPr>
        <p:sp>
          <p:nvSpPr>
            <p:cNvPr id="50228" name="Freeform 12"/>
            <p:cNvSpPr>
              <a:spLocks/>
            </p:cNvSpPr>
            <p:nvPr/>
          </p:nvSpPr>
          <p:spPr bwMode="auto">
            <a:xfrm>
              <a:off x="2895" y="1500"/>
              <a:ext cx="293" cy="293"/>
            </a:xfrm>
            <a:custGeom>
              <a:avLst/>
              <a:gdLst>
                <a:gd name="T0" fmla="*/ 0 w 778"/>
                <a:gd name="T1" fmla="*/ 147 h 778"/>
                <a:gd name="T2" fmla="*/ 147 w 778"/>
                <a:gd name="T3" fmla="*/ 0 h 778"/>
                <a:gd name="T4" fmla="*/ 293 w 778"/>
                <a:gd name="T5" fmla="*/ 147 h 778"/>
                <a:gd name="T6" fmla="*/ 293 w 778"/>
                <a:gd name="T7" fmla="*/ 147 h 778"/>
                <a:gd name="T8" fmla="*/ 147 w 778"/>
                <a:gd name="T9" fmla="*/ 293 h 778"/>
                <a:gd name="T10" fmla="*/ 0 w 778"/>
                <a:gd name="T11" fmla="*/ 147 h 7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78"/>
                <a:gd name="T19" fmla="*/ 0 h 778"/>
                <a:gd name="T20" fmla="*/ 778 w 778"/>
                <a:gd name="T21" fmla="*/ 778 h 77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78" h="778">
                  <a:moveTo>
                    <a:pt x="0" y="389"/>
                  </a:moveTo>
                  <a:cubicBezTo>
                    <a:pt x="0" y="174"/>
                    <a:pt x="174" y="0"/>
                    <a:pt x="389" y="0"/>
                  </a:cubicBezTo>
                  <a:cubicBezTo>
                    <a:pt x="604" y="0"/>
                    <a:pt x="778" y="174"/>
                    <a:pt x="778" y="389"/>
                  </a:cubicBezTo>
                  <a:cubicBezTo>
                    <a:pt x="778" y="389"/>
                    <a:pt x="778" y="389"/>
                    <a:pt x="778" y="389"/>
                  </a:cubicBezTo>
                  <a:cubicBezTo>
                    <a:pt x="778" y="604"/>
                    <a:pt x="604" y="778"/>
                    <a:pt x="389" y="778"/>
                  </a:cubicBezTo>
                  <a:cubicBezTo>
                    <a:pt x="174" y="778"/>
                    <a:pt x="0" y="604"/>
                    <a:pt x="0" y="389"/>
                  </a:cubicBezTo>
                </a:path>
              </a:pathLst>
            </a:custGeom>
            <a:solidFill>
              <a:srgbClr val="66FF99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229" name="Freeform 13"/>
            <p:cNvSpPr>
              <a:spLocks/>
            </p:cNvSpPr>
            <p:nvPr/>
          </p:nvSpPr>
          <p:spPr bwMode="auto">
            <a:xfrm>
              <a:off x="2895" y="1500"/>
              <a:ext cx="293" cy="293"/>
            </a:xfrm>
            <a:custGeom>
              <a:avLst/>
              <a:gdLst>
                <a:gd name="T0" fmla="*/ 0 w 293"/>
                <a:gd name="T1" fmla="*/ 147 h 293"/>
                <a:gd name="T2" fmla="*/ 147 w 293"/>
                <a:gd name="T3" fmla="*/ 0 h 293"/>
                <a:gd name="T4" fmla="*/ 293 w 293"/>
                <a:gd name="T5" fmla="*/ 147 h 293"/>
                <a:gd name="T6" fmla="*/ 293 w 293"/>
                <a:gd name="T7" fmla="*/ 147 h 293"/>
                <a:gd name="T8" fmla="*/ 147 w 293"/>
                <a:gd name="T9" fmla="*/ 293 h 293"/>
                <a:gd name="T10" fmla="*/ 0 w 293"/>
                <a:gd name="T11" fmla="*/ 147 h 29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93"/>
                <a:gd name="T19" fmla="*/ 0 h 293"/>
                <a:gd name="T20" fmla="*/ 293 w 293"/>
                <a:gd name="T21" fmla="*/ 293 h 29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93" h="293">
                  <a:moveTo>
                    <a:pt x="0" y="147"/>
                  </a:moveTo>
                  <a:cubicBezTo>
                    <a:pt x="0" y="66"/>
                    <a:pt x="66" y="0"/>
                    <a:pt x="147" y="0"/>
                  </a:cubicBezTo>
                  <a:cubicBezTo>
                    <a:pt x="228" y="0"/>
                    <a:pt x="293" y="66"/>
                    <a:pt x="293" y="147"/>
                  </a:cubicBezTo>
                  <a:cubicBezTo>
                    <a:pt x="293" y="147"/>
                    <a:pt x="293" y="147"/>
                    <a:pt x="293" y="147"/>
                  </a:cubicBezTo>
                  <a:cubicBezTo>
                    <a:pt x="293" y="228"/>
                    <a:pt x="228" y="293"/>
                    <a:pt x="147" y="293"/>
                  </a:cubicBezTo>
                  <a:cubicBezTo>
                    <a:pt x="66" y="293"/>
                    <a:pt x="0" y="228"/>
                    <a:pt x="0" y="147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230" name="Rectangle 14"/>
            <p:cNvSpPr>
              <a:spLocks noChangeArrowheads="1"/>
            </p:cNvSpPr>
            <p:nvPr/>
          </p:nvSpPr>
          <p:spPr bwMode="auto">
            <a:xfrm>
              <a:off x="2995" y="1488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/>
            <a:p>
              <a:r>
                <a:rPr lang="en-US" sz="2800" i="1">
                  <a:solidFill>
                    <a:srgbClr val="000080"/>
                  </a:solidFill>
                  <a:latin typeface="Times New Roman" charset="0"/>
                  <a:cs typeface="Arial" charset="0"/>
                </a:rPr>
                <a:t>a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</p:grpSp>
      <p:sp>
        <p:nvSpPr>
          <p:cNvPr id="50189" name="Rectangle 15"/>
          <p:cNvSpPr>
            <a:spLocks noChangeArrowheads="1"/>
          </p:cNvSpPr>
          <p:nvPr/>
        </p:nvSpPr>
        <p:spPr bwMode="auto">
          <a:xfrm>
            <a:off x="5522913" y="4724400"/>
            <a:ext cx="98425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700">
                <a:cs typeface="Arial" charset="0"/>
              </a:rPr>
              <a:t>0</a:t>
            </a:r>
            <a:endParaRPr lang="en-US">
              <a:latin typeface="Times New Roman" charset="0"/>
              <a:cs typeface="Arial" charset="0"/>
            </a:endParaRPr>
          </a:p>
        </p:txBody>
      </p:sp>
      <p:sp>
        <p:nvSpPr>
          <p:cNvPr id="50190" name="Rectangle 16"/>
          <p:cNvSpPr>
            <a:spLocks noChangeArrowheads="1"/>
          </p:cNvSpPr>
          <p:nvPr/>
        </p:nvSpPr>
        <p:spPr bwMode="auto">
          <a:xfrm>
            <a:off x="6262688" y="4699000"/>
            <a:ext cx="98425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700">
                <a:cs typeface="Arial" charset="0"/>
              </a:rPr>
              <a:t>1</a:t>
            </a:r>
            <a:endParaRPr lang="en-US">
              <a:latin typeface="Times New Roman" charset="0"/>
              <a:cs typeface="Arial" charset="0"/>
            </a:endParaRPr>
          </a:p>
        </p:txBody>
      </p:sp>
      <p:sp>
        <p:nvSpPr>
          <p:cNvPr id="50191" name="Line 17"/>
          <p:cNvSpPr>
            <a:spLocks noChangeShapeType="1"/>
          </p:cNvSpPr>
          <p:nvPr/>
        </p:nvSpPr>
        <p:spPr bwMode="auto">
          <a:xfrm>
            <a:off x="6056313" y="4830763"/>
            <a:ext cx="685800" cy="401637"/>
          </a:xfrm>
          <a:prstGeom prst="line">
            <a:avLst/>
          </a:prstGeom>
          <a:noFill/>
          <a:ln w="50800">
            <a:solidFill>
              <a:schemeClr val="accent2"/>
            </a:solidFill>
            <a:round/>
            <a:headEnd/>
            <a:tailEnd type="stealth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0192" name="Freeform 18"/>
          <p:cNvSpPr>
            <a:spLocks/>
          </p:cNvSpPr>
          <p:nvPr/>
        </p:nvSpPr>
        <p:spPr bwMode="auto">
          <a:xfrm flipH="1">
            <a:off x="6894513" y="3403600"/>
            <a:ext cx="101600" cy="330200"/>
          </a:xfrm>
          <a:custGeom>
            <a:avLst/>
            <a:gdLst>
              <a:gd name="T0" fmla="*/ 0 w 160"/>
              <a:gd name="T1" fmla="*/ 0 h 208"/>
              <a:gd name="T2" fmla="*/ 101600 w 160"/>
              <a:gd name="T3" fmla="*/ 330200 h 208"/>
              <a:gd name="T4" fmla="*/ 0 60000 65536"/>
              <a:gd name="T5" fmla="*/ 0 60000 65536"/>
              <a:gd name="T6" fmla="*/ 0 w 160"/>
              <a:gd name="T7" fmla="*/ 0 h 208"/>
              <a:gd name="T8" fmla="*/ 160 w 160"/>
              <a:gd name="T9" fmla="*/ 208 h 20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60" h="208">
                <a:moveTo>
                  <a:pt x="0" y="0"/>
                </a:moveTo>
                <a:lnTo>
                  <a:pt x="160" y="208"/>
                </a:lnTo>
              </a:path>
            </a:pathLst>
          </a:custGeom>
          <a:noFill/>
          <a:ln w="50800">
            <a:solidFill>
              <a:srgbClr val="66FF99"/>
            </a:solidFill>
            <a:round/>
            <a:headEnd/>
            <a:tailEnd type="stealth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50193" name="Group 19"/>
          <p:cNvGrpSpPr>
            <a:grpSpLocks/>
          </p:cNvGrpSpPr>
          <p:nvPr/>
        </p:nvGrpSpPr>
        <p:grpSpPr bwMode="auto">
          <a:xfrm>
            <a:off x="5675313" y="4419600"/>
            <a:ext cx="465137" cy="484188"/>
            <a:chOff x="2895" y="1488"/>
            <a:chExt cx="293" cy="305"/>
          </a:xfrm>
        </p:grpSpPr>
        <p:sp>
          <p:nvSpPr>
            <p:cNvPr id="50225" name="Freeform 20"/>
            <p:cNvSpPr>
              <a:spLocks/>
            </p:cNvSpPr>
            <p:nvPr/>
          </p:nvSpPr>
          <p:spPr bwMode="auto">
            <a:xfrm>
              <a:off x="2895" y="1500"/>
              <a:ext cx="293" cy="293"/>
            </a:xfrm>
            <a:custGeom>
              <a:avLst/>
              <a:gdLst>
                <a:gd name="T0" fmla="*/ 0 w 778"/>
                <a:gd name="T1" fmla="*/ 147 h 778"/>
                <a:gd name="T2" fmla="*/ 147 w 778"/>
                <a:gd name="T3" fmla="*/ 0 h 778"/>
                <a:gd name="T4" fmla="*/ 293 w 778"/>
                <a:gd name="T5" fmla="*/ 147 h 778"/>
                <a:gd name="T6" fmla="*/ 293 w 778"/>
                <a:gd name="T7" fmla="*/ 147 h 778"/>
                <a:gd name="T8" fmla="*/ 147 w 778"/>
                <a:gd name="T9" fmla="*/ 293 h 778"/>
                <a:gd name="T10" fmla="*/ 0 w 778"/>
                <a:gd name="T11" fmla="*/ 147 h 7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78"/>
                <a:gd name="T19" fmla="*/ 0 h 778"/>
                <a:gd name="T20" fmla="*/ 778 w 778"/>
                <a:gd name="T21" fmla="*/ 778 h 77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78" h="778">
                  <a:moveTo>
                    <a:pt x="0" y="389"/>
                  </a:moveTo>
                  <a:cubicBezTo>
                    <a:pt x="0" y="174"/>
                    <a:pt x="174" y="0"/>
                    <a:pt x="389" y="0"/>
                  </a:cubicBezTo>
                  <a:cubicBezTo>
                    <a:pt x="604" y="0"/>
                    <a:pt x="778" y="174"/>
                    <a:pt x="778" y="389"/>
                  </a:cubicBezTo>
                  <a:cubicBezTo>
                    <a:pt x="778" y="389"/>
                    <a:pt x="778" y="389"/>
                    <a:pt x="778" y="389"/>
                  </a:cubicBezTo>
                  <a:cubicBezTo>
                    <a:pt x="778" y="604"/>
                    <a:pt x="604" y="778"/>
                    <a:pt x="389" y="778"/>
                  </a:cubicBezTo>
                  <a:cubicBezTo>
                    <a:pt x="174" y="778"/>
                    <a:pt x="0" y="604"/>
                    <a:pt x="0" y="389"/>
                  </a:cubicBezTo>
                </a:path>
              </a:pathLst>
            </a:custGeom>
            <a:solidFill>
              <a:srgbClr val="66FF99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226" name="Freeform 21"/>
            <p:cNvSpPr>
              <a:spLocks/>
            </p:cNvSpPr>
            <p:nvPr/>
          </p:nvSpPr>
          <p:spPr bwMode="auto">
            <a:xfrm>
              <a:off x="2895" y="1500"/>
              <a:ext cx="293" cy="293"/>
            </a:xfrm>
            <a:custGeom>
              <a:avLst/>
              <a:gdLst>
                <a:gd name="T0" fmla="*/ 0 w 293"/>
                <a:gd name="T1" fmla="*/ 147 h 293"/>
                <a:gd name="T2" fmla="*/ 147 w 293"/>
                <a:gd name="T3" fmla="*/ 0 h 293"/>
                <a:gd name="T4" fmla="*/ 293 w 293"/>
                <a:gd name="T5" fmla="*/ 147 h 293"/>
                <a:gd name="T6" fmla="*/ 293 w 293"/>
                <a:gd name="T7" fmla="*/ 147 h 293"/>
                <a:gd name="T8" fmla="*/ 147 w 293"/>
                <a:gd name="T9" fmla="*/ 293 h 293"/>
                <a:gd name="T10" fmla="*/ 0 w 293"/>
                <a:gd name="T11" fmla="*/ 147 h 29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93"/>
                <a:gd name="T19" fmla="*/ 0 h 293"/>
                <a:gd name="T20" fmla="*/ 293 w 293"/>
                <a:gd name="T21" fmla="*/ 293 h 29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93" h="293">
                  <a:moveTo>
                    <a:pt x="0" y="147"/>
                  </a:moveTo>
                  <a:cubicBezTo>
                    <a:pt x="0" y="66"/>
                    <a:pt x="66" y="0"/>
                    <a:pt x="147" y="0"/>
                  </a:cubicBezTo>
                  <a:cubicBezTo>
                    <a:pt x="228" y="0"/>
                    <a:pt x="293" y="66"/>
                    <a:pt x="293" y="147"/>
                  </a:cubicBezTo>
                  <a:cubicBezTo>
                    <a:pt x="293" y="147"/>
                    <a:pt x="293" y="147"/>
                    <a:pt x="293" y="147"/>
                  </a:cubicBezTo>
                  <a:cubicBezTo>
                    <a:pt x="293" y="228"/>
                    <a:pt x="228" y="293"/>
                    <a:pt x="147" y="293"/>
                  </a:cubicBezTo>
                  <a:cubicBezTo>
                    <a:pt x="66" y="293"/>
                    <a:pt x="0" y="228"/>
                    <a:pt x="0" y="147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227" name="Rectangle 22"/>
            <p:cNvSpPr>
              <a:spLocks noChangeArrowheads="1"/>
            </p:cNvSpPr>
            <p:nvPr/>
          </p:nvSpPr>
          <p:spPr bwMode="auto">
            <a:xfrm>
              <a:off x="2995" y="1488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/>
            <a:p>
              <a:r>
                <a:rPr lang="en-US" sz="2800" i="1">
                  <a:solidFill>
                    <a:srgbClr val="000080"/>
                  </a:solidFill>
                  <a:latin typeface="Times New Roman" charset="0"/>
                  <a:cs typeface="Arial" charset="0"/>
                </a:rPr>
                <a:t>b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</p:grpSp>
      <p:sp>
        <p:nvSpPr>
          <p:cNvPr id="50194" name="Freeform 23"/>
          <p:cNvSpPr>
            <a:spLocks/>
          </p:cNvSpPr>
          <p:nvPr/>
        </p:nvSpPr>
        <p:spPr bwMode="auto">
          <a:xfrm>
            <a:off x="5441950" y="4813300"/>
            <a:ext cx="1066800" cy="1076325"/>
          </a:xfrm>
          <a:custGeom>
            <a:avLst/>
            <a:gdLst>
              <a:gd name="T0" fmla="*/ 285750 w 672"/>
              <a:gd name="T1" fmla="*/ 0 h 678"/>
              <a:gd name="T2" fmla="*/ 130175 w 672"/>
              <a:gd name="T3" fmla="*/ 592138 h 678"/>
              <a:gd name="T4" fmla="*/ 1066800 w 672"/>
              <a:gd name="T5" fmla="*/ 1076325 h 678"/>
              <a:gd name="T6" fmla="*/ 0 60000 65536"/>
              <a:gd name="T7" fmla="*/ 0 60000 65536"/>
              <a:gd name="T8" fmla="*/ 0 60000 65536"/>
              <a:gd name="T9" fmla="*/ 0 w 672"/>
              <a:gd name="T10" fmla="*/ 0 h 678"/>
              <a:gd name="T11" fmla="*/ 672 w 672"/>
              <a:gd name="T12" fmla="*/ 678 h 6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72" h="678">
                <a:moveTo>
                  <a:pt x="180" y="0"/>
                </a:moveTo>
                <a:cubicBezTo>
                  <a:pt x="164" y="61"/>
                  <a:pt x="0" y="260"/>
                  <a:pt x="82" y="373"/>
                </a:cubicBezTo>
                <a:cubicBezTo>
                  <a:pt x="164" y="446"/>
                  <a:pt x="549" y="614"/>
                  <a:pt x="672" y="678"/>
                </a:cubicBezTo>
              </a:path>
            </a:pathLst>
          </a:custGeom>
          <a:noFill/>
          <a:ln w="50800">
            <a:solidFill>
              <a:srgbClr val="333399"/>
            </a:solidFill>
            <a:round/>
            <a:headEnd/>
            <a:tailEnd type="stealth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50195" name="Group 24"/>
          <p:cNvGrpSpPr>
            <a:grpSpLocks/>
          </p:cNvGrpSpPr>
          <p:nvPr/>
        </p:nvGrpSpPr>
        <p:grpSpPr bwMode="auto">
          <a:xfrm>
            <a:off x="6361113" y="5135563"/>
            <a:ext cx="1066800" cy="1036637"/>
            <a:chOff x="3504" y="2531"/>
            <a:chExt cx="672" cy="653"/>
          </a:xfrm>
        </p:grpSpPr>
        <p:grpSp>
          <p:nvGrpSpPr>
            <p:cNvPr id="50209" name="Group 25"/>
            <p:cNvGrpSpPr>
              <a:grpSpLocks/>
            </p:cNvGrpSpPr>
            <p:nvPr/>
          </p:nvGrpSpPr>
          <p:grpSpPr bwMode="auto">
            <a:xfrm>
              <a:off x="3691" y="2531"/>
              <a:ext cx="293" cy="305"/>
              <a:chOff x="2895" y="1488"/>
              <a:chExt cx="293" cy="305"/>
            </a:xfrm>
          </p:grpSpPr>
          <p:sp>
            <p:nvSpPr>
              <p:cNvPr id="50222" name="Freeform 26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223" name="Freeform 27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224" name="Rectangle 28"/>
              <p:cNvSpPr>
                <a:spLocks noChangeArrowheads="1"/>
              </p:cNvSpPr>
              <p:nvPr/>
            </p:nvSpPr>
            <p:spPr bwMode="auto">
              <a:xfrm>
                <a:off x="3001" y="1488"/>
                <a:ext cx="99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c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grpSp>
          <p:nvGrpSpPr>
            <p:cNvPr id="50210" name="Group 29"/>
            <p:cNvGrpSpPr>
              <a:grpSpLocks/>
            </p:cNvGrpSpPr>
            <p:nvPr/>
          </p:nvGrpSpPr>
          <p:grpSpPr bwMode="auto">
            <a:xfrm>
              <a:off x="4009" y="2982"/>
              <a:ext cx="167" cy="202"/>
              <a:chOff x="3087" y="2784"/>
              <a:chExt cx="167" cy="202"/>
            </a:xfrm>
          </p:grpSpPr>
          <p:sp>
            <p:nvSpPr>
              <p:cNvPr id="50219" name="Rectangle 30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220" name="Rectangle 31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221" name="Rectangle 32"/>
              <p:cNvSpPr>
                <a:spLocks noChangeArrowheads="1"/>
              </p:cNvSpPr>
              <p:nvPr/>
            </p:nvSpPr>
            <p:spPr bwMode="auto">
              <a:xfrm>
                <a:off x="3120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1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50211" name="Freeform 33"/>
            <p:cNvSpPr>
              <a:spLocks/>
            </p:cNvSpPr>
            <p:nvPr/>
          </p:nvSpPr>
          <p:spPr bwMode="auto">
            <a:xfrm>
              <a:off x="3936" y="2800"/>
              <a:ext cx="160" cy="208"/>
            </a:xfrm>
            <a:custGeom>
              <a:avLst/>
              <a:gdLst>
                <a:gd name="T0" fmla="*/ 0 w 160"/>
                <a:gd name="T1" fmla="*/ 0 h 208"/>
                <a:gd name="T2" fmla="*/ 160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50212" name="Group 34"/>
            <p:cNvGrpSpPr>
              <a:grpSpLocks/>
            </p:cNvGrpSpPr>
            <p:nvPr/>
          </p:nvGrpSpPr>
          <p:grpSpPr bwMode="auto">
            <a:xfrm>
              <a:off x="3504" y="2982"/>
              <a:ext cx="167" cy="202"/>
              <a:chOff x="3087" y="2784"/>
              <a:chExt cx="167" cy="202"/>
            </a:xfrm>
          </p:grpSpPr>
          <p:sp>
            <p:nvSpPr>
              <p:cNvPr id="50216" name="Rectangle 35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217" name="Rectangle 36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218" name="Rectangle 37"/>
              <p:cNvSpPr>
                <a:spLocks noChangeArrowheads="1"/>
              </p:cNvSpPr>
              <p:nvPr/>
            </p:nvSpPr>
            <p:spPr bwMode="auto">
              <a:xfrm>
                <a:off x="3120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0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50213" name="Freeform 38"/>
            <p:cNvSpPr>
              <a:spLocks/>
            </p:cNvSpPr>
            <p:nvPr/>
          </p:nvSpPr>
          <p:spPr bwMode="auto">
            <a:xfrm flipH="1">
              <a:off x="3584" y="2800"/>
              <a:ext cx="160" cy="208"/>
            </a:xfrm>
            <a:custGeom>
              <a:avLst/>
              <a:gdLst>
                <a:gd name="T0" fmla="*/ 0 w 160"/>
                <a:gd name="T1" fmla="*/ 0 h 208"/>
                <a:gd name="T2" fmla="*/ 160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50214" name="Rectangle 39"/>
            <p:cNvSpPr>
              <a:spLocks noChangeArrowheads="1"/>
            </p:cNvSpPr>
            <p:nvPr/>
          </p:nvSpPr>
          <p:spPr bwMode="auto">
            <a:xfrm>
              <a:off x="3600" y="2704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50215" name="Rectangle 40"/>
            <p:cNvSpPr>
              <a:spLocks noChangeArrowheads="1"/>
            </p:cNvSpPr>
            <p:nvPr/>
          </p:nvSpPr>
          <p:spPr bwMode="auto">
            <a:xfrm>
              <a:off x="3984" y="2704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</p:grpSp>
      <p:sp>
        <p:nvSpPr>
          <p:cNvPr id="50196" name="Rectangle 41"/>
          <p:cNvSpPr>
            <a:spLocks noChangeArrowheads="1"/>
          </p:cNvSpPr>
          <p:nvPr/>
        </p:nvSpPr>
        <p:spPr bwMode="auto">
          <a:xfrm>
            <a:off x="4908550" y="3398838"/>
            <a:ext cx="98425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700">
                <a:cs typeface="Arial" charset="0"/>
              </a:rPr>
              <a:t>0</a:t>
            </a:r>
            <a:endParaRPr lang="en-US">
              <a:latin typeface="Times New Roman" charset="0"/>
              <a:cs typeface="Arial" charset="0"/>
            </a:endParaRPr>
          </a:p>
        </p:txBody>
      </p:sp>
      <p:sp>
        <p:nvSpPr>
          <p:cNvPr id="50197" name="Rectangle 42"/>
          <p:cNvSpPr>
            <a:spLocks noChangeArrowheads="1"/>
          </p:cNvSpPr>
          <p:nvPr/>
        </p:nvSpPr>
        <p:spPr bwMode="auto">
          <a:xfrm>
            <a:off x="5648325" y="3373438"/>
            <a:ext cx="98425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700" dirty="0">
                <a:cs typeface="Arial" charset="0"/>
              </a:rPr>
              <a:t>1</a:t>
            </a:r>
            <a:endParaRPr lang="en-US" dirty="0">
              <a:latin typeface="Times New Roman" charset="0"/>
              <a:cs typeface="Arial" charset="0"/>
            </a:endParaRPr>
          </a:p>
        </p:txBody>
      </p:sp>
      <p:sp>
        <p:nvSpPr>
          <p:cNvPr id="50198" name="Line 43"/>
          <p:cNvSpPr>
            <a:spLocks noChangeShapeType="1"/>
          </p:cNvSpPr>
          <p:nvPr/>
        </p:nvSpPr>
        <p:spPr bwMode="auto">
          <a:xfrm>
            <a:off x="5441950" y="3505200"/>
            <a:ext cx="304800" cy="990600"/>
          </a:xfrm>
          <a:prstGeom prst="line">
            <a:avLst/>
          </a:prstGeom>
          <a:noFill/>
          <a:ln w="50800">
            <a:solidFill>
              <a:schemeClr val="accent2"/>
            </a:solidFill>
            <a:round/>
            <a:headEnd/>
            <a:tailEnd type="stealth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50199" name="Group 44"/>
          <p:cNvGrpSpPr>
            <a:grpSpLocks/>
          </p:cNvGrpSpPr>
          <p:nvPr/>
        </p:nvGrpSpPr>
        <p:grpSpPr bwMode="auto">
          <a:xfrm>
            <a:off x="5060950" y="3094038"/>
            <a:ext cx="465138" cy="484187"/>
            <a:chOff x="2895" y="1488"/>
            <a:chExt cx="293" cy="305"/>
          </a:xfrm>
        </p:grpSpPr>
        <p:sp>
          <p:nvSpPr>
            <p:cNvPr id="50206" name="Freeform 45"/>
            <p:cNvSpPr>
              <a:spLocks/>
            </p:cNvSpPr>
            <p:nvPr/>
          </p:nvSpPr>
          <p:spPr bwMode="auto">
            <a:xfrm>
              <a:off x="2895" y="1500"/>
              <a:ext cx="293" cy="293"/>
            </a:xfrm>
            <a:custGeom>
              <a:avLst/>
              <a:gdLst>
                <a:gd name="T0" fmla="*/ 0 w 778"/>
                <a:gd name="T1" fmla="*/ 147 h 778"/>
                <a:gd name="T2" fmla="*/ 147 w 778"/>
                <a:gd name="T3" fmla="*/ 0 h 778"/>
                <a:gd name="T4" fmla="*/ 293 w 778"/>
                <a:gd name="T5" fmla="*/ 147 h 778"/>
                <a:gd name="T6" fmla="*/ 293 w 778"/>
                <a:gd name="T7" fmla="*/ 147 h 778"/>
                <a:gd name="T8" fmla="*/ 147 w 778"/>
                <a:gd name="T9" fmla="*/ 293 h 778"/>
                <a:gd name="T10" fmla="*/ 0 w 778"/>
                <a:gd name="T11" fmla="*/ 147 h 7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78"/>
                <a:gd name="T19" fmla="*/ 0 h 778"/>
                <a:gd name="T20" fmla="*/ 778 w 778"/>
                <a:gd name="T21" fmla="*/ 778 h 77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78" h="778">
                  <a:moveTo>
                    <a:pt x="0" y="389"/>
                  </a:moveTo>
                  <a:cubicBezTo>
                    <a:pt x="0" y="174"/>
                    <a:pt x="174" y="0"/>
                    <a:pt x="389" y="0"/>
                  </a:cubicBezTo>
                  <a:cubicBezTo>
                    <a:pt x="604" y="0"/>
                    <a:pt x="778" y="174"/>
                    <a:pt x="778" y="389"/>
                  </a:cubicBezTo>
                  <a:cubicBezTo>
                    <a:pt x="778" y="389"/>
                    <a:pt x="778" y="389"/>
                    <a:pt x="778" y="389"/>
                  </a:cubicBezTo>
                  <a:cubicBezTo>
                    <a:pt x="778" y="604"/>
                    <a:pt x="604" y="778"/>
                    <a:pt x="389" y="778"/>
                  </a:cubicBezTo>
                  <a:cubicBezTo>
                    <a:pt x="174" y="778"/>
                    <a:pt x="0" y="604"/>
                    <a:pt x="0" y="389"/>
                  </a:cubicBezTo>
                </a:path>
              </a:pathLst>
            </a:custGeom>
            <a:solidFill>
              <a:srgbClr val="66FF99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207" name="Freeform 46"/>
            <p:cNvSpPr>
              <a:spLocks/>
            </p:cNvSpPr>
            <p:nvPr/>
          </p:nvSpPr>
          <p:spPr bwMode="auto">
            <a:xfrm>
              <a:off x="2895" y="1500"/>
              <a:ext cx="293" cy="293"/>
            </a:xfrm>
            <a:custGeom>
              <a:avLst/>
              <a:gdLst>
                <a:gd name="T0" fmla="*/ 0 w 293"/>
                <a:gd name="T1" fmla="*/ 147 h 293"/>
                <a:gd name="T2" fmla="*/ 147 w 293"/>
                <a:gd name="T3" fmla="*/ 0 h 293"/>
                <a:gd name="T4" fmla="*/ 293 w 293"/>
                <a:gd name="T5" fmla="*/ 147 h 293"/>
                <a:gd name="T6" fmla="*/ 293 w 293"/>
                <a:gd name="T7" fmla="*/ 147 h 293"/>
                <a:gd name="T8" fmla="*/ 147 w 293"/>
                <a:gd name="T9" fmla="*/ 293 h 293"/>
                <a:gd name="T10" fmla="*/ 0 w 293"/>
                <a:gd name="T11" fmla="*/ 147 h 29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93"/>
                <a:gd name="T19" fmla="*/ 0 h 293"/>
                <a:gd name="T20" fmla="*/ 293 w 293"/>
                <a:gd name="T21" fmla="*/ 293 h 29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93" h="293">
                  <a:moveTo>
                    <a:pt x="0" y="147"/>
                  </a:moveTo>
                  <a:cubicBezTo>
                    <a:pt x="0" y="66"/>
                    <a:pt x="66" y="0"/>
                    <a:pt x="147" y="0"/>
                  </a:cubicBezTo>
                  <a:cubicBezTo>
                    <a:pt x="228" y="0"/>
                    <a:pt x="293" y="66"/>
                    <a:pt x="293" y="147"/>
                  </a:cubicBezTo>
                  <a:cubicBezTo>
                    <a:pt x="293" y="147"/>
                    <a:pt x="293" y="147"/>
                    <a:pt x="293" y="147"/>
                  </a:cubicBezTo>
                  <a:cubicBezTo>
                    <a:pt x="293" y="228"/>
                    <a:pt x="228" y="293"/>
                    <a:pt x="147" y="293"/>
                  </a:cubicBezTo>
                  <a:cubicBezTo>
                    <a:pt x="66" y="293"/>
                    <a:pt x="0" y="228"/>
                    <a:pt x="0" y="147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208" name="Rectangle 47"/>
            <p:cNvSpPr>
              <a:spLocks noChangeArrowheads="1"/>
            </p:cNvSpPr>
            <p:nvPr/>
          </p:nvSpPr>
          <p:spPr bwMode="auto">
            <a:xfrm>
              <a:off x="2995" y="1488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/>
            <a:p>
              <a:r>
                <a:rPr lang="en-US" sz="2800" i="1">
                  <a:solidFill>
                    <a:srgbClr val="000080"/>
                  </a:solidFill>
                  <a:latin typeface="Times New Roman" charset="0"/>
                  <a:cs typeface="Arial" charset="0"/>
                </a:rPr>
                <a:t>d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</p:grpSp>
      <p:sp>
        <p:nvSpPr>
          <p:cNvPr id="50200" name="Freeform 48"/>
          <p:cNvSpPr>
            <a:spLocks/>
          </p:cNvSpPr>
          <p:nvPr/>
        </p:nvSpPr>
        <p:spPr bwMode="auto">
          <a:xfrm>
            <a:off x="4648200" y="3505200"/>
            <a:ext cx="1860550" cy="2371725"/>
          </a:xfrm>
          <a:custGeom>
            <a:avLst/>
            <a:gdLst>
              <a:gd name="T0" fmla="*/ 465138 w 1172"/>
              <a:gd name="T1" fmla="*/ 0 h 1494"/>
              <a:gd name="T2" fmla="*/ 231775 w 1172"/>
              <a:gd name="T3" fmla="*/ 1676400 h 1494"/>
              <a:gd name="T4" fmla="*/ 1860550 w 1172"/>
              <a:gd name="T5" fmla="*/ 2371725 h 1494"/>
              <a:gd name="T6" fmla="*/ 0 60000 65536"/>
              <a:gd name="T7" fmla="*/ 0 60000 65536"/>
              <a:gd name="T8" fmla="*/ 0 60000 65536"/>
              <a:gd name="T9" fmla="*/ 0 w 1172"/>
              <a:gd name="T10" fmla="*/ 0 h 1494"/>
              <a:gd name="T11" fmla="*/ 1172 w 1172"/>
              <a:gd name="T12" fmla="*/ 1494 h 149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72" h="1494">
                <a:moveTo>
                  <a:pt x="293" y="0"/>
                </a:moveTo>
                <a:cubicBezTo>
                  <a:pt x="268" y="176"/>
                  <a:pt x="0" y="807"/>
                  <a:pt x="146" y="1056"/>
                </a:cubicBezTo>
                <a:cubicBezTo>
                  <a:pt x="293" y="1217"/>
                  <a:pt x="958" y="1403"/>
                  <a:pt x="1172" y="1494"/>
                </a:cubicBezTo>
              </a:path>
            </a:pathLst>
          </a:custGeom>
          <a:noFill/>
          <a:ln w="50800">
            <a:solidFill>
              <a:srgbClr val="333399"/>
            </a:solidFill>
            <a:round/>
            <a:headEnd/>
            <a:tailEnd type="stealth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0201" name="Freeform 49"/>
          <p:cNvSpPr>
            <a:spLocks/>
          </p:cNvSpPr>
          <p:nvPr/>
        </p:nvSpPr>
        <p:spPr bwMode="auto">
          <a:xfrm flipH="1">
            <a:off x="5365750" y="2794000"/>
            <a:ext cx="101600" cy="330200"/>
          </a:xfrm>
          <a:custGeom>
            <a:avLst/>
            <a:gdLst>
              <a:gd name="T0" fmla="*/ 0 w 160"/>
              <a:gd name="T1" fmla="*/ 0 h 208"/>
              <a:gd name="T2" fmla="*/ 101600 w 160"/>
              <a:gd name="T3" fmla="*/ 330200 h 208"/>
              <a:gd name="T4" fmla="*/ 0 60000 65536"/>
              <a:gd name="T5" fmla="*/ 0 60000 65536"/>
              <a:gd name="T6" fmla="*/ 0 w 160"/>
              <a:gd name="T7" fmla="*/ 0 h 208"/>
              <a:gd name="T8" fmla="*/ 160 w 160"/>
              <a:gd name="T9" fmla="*/ 208 h 20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60" h="208">
                <a:moveTo>
                  <a:pt x="0" y="0"/>
                </a:moveTo>
                <a:lnTo>
                  <a:pt x="160" y="208"/>
                </a:lnTo>
              </a:path>
            </a:pathLst>
          </a:custGeom>
          <a:noFill/>
          <a:ln w="50800">
            <a:solidFill>
              <a:srgbClr val="66FF99"/>
            </a:solidFill>
            <a:round/>
            <a:headEnd/>
            <a:tailEnd type="stealth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0202" name="Line 50"/>
          <p:cNvSpPr>
            <a:spLocks noChangeShapeType="1"/>
          </p:cNvSpPr>
          <p:nvPr/>
        </p:nvSpPr>
        <p:spPr bwMode="auto">
          <a:xfrm flipV="1">
            <a:off x="3657600" y="4572000"/>
            <a:ext cx="19812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0203" name="Text Box 51"/>
          <p:cNvSpPr txBox="1">
            <a:spLocks noChangeArrowheads="1"/>
          </p:cNvSpPr>
          <p:nvPr/>
        </p:nvSpPr>
        <p:spPr bwMode="auto">
          <a:xfrm>
            <a:off x="2590800" y="3657600"/>
            <a:ext cx="18494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800" b="0">
                <a:latin typeface="Verdana" charset="0"/>
                <a:cs typeface="Arial" charset="0"/>
              </a:rPr>
              <a:t>Order:</a:t>
            </a:r>
          </a:p>
          <a:p>
            <a:pPr algn="l" eaLnBrk="1" hangingPunct="1"/>
            <a:r>
              <a:rPr lang="en-US" sz="1800" b="0">
                <a:latin typeface="Verdana" charset="0"/>
                <a:cs typeface="Arial" charset="0"/>
              </a:rPr>
              <a:t>d &lt; a &lt; b &lt; c </a:t>
            </a:r>
          </a:p>
        </p:txBody>
      </p:sp>
      <p:sp>
        <p:nvSpPr>
          <p:cNvPr id="50204" name="Text Box 52"/>
          <p:cNvSpPr txBox="1">
            <a:spLocks noChangeArrowheads="1"/>
          </p:cNvSpPr>
          <p:nvPr/>
        </p:nvSpPr>
        <p:spPr bwMode="auto">
          <a:xfrm>
            <a:off x="5622925" y="2895600"/>
            <a:ext cx="1125538" cy="3794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800" b="0">
                <a:latin typeface="Verdana" charset="0"/>
                <a:cs typeface="Arial" charset="0"/>
              </a:rPr>
              <a:t>G = dbc</a:t>
            </a:r>
          </a:p>
        </p:txBody>
      </p:sp>
      <p:sp>
        <p:nvSpPr>
          <p:cNvPr id="50205" name="Text Box 53"/>
          <p:cNvSpPr txBox="1">
            <a:spLocks noChangeArrowheads="1"/>
          </p:cNvSpPr>
          <p:nvPr/>
        </p:nvSpPr>
        <p:spPr bwMode="auto">
          <a:xfrm>
            <a:off x="7140575" y="3430588"/>
            <a:ext cx="1470025" cy="3794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800" b="0">
                <a:latin typeface="Verdana" charset="0"/>
                <a:cs typeface="Arial" charset="0"/>
              </a:rPr>
              <a:t>F = (a+b)c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r>
              <a:rPr lang="en-US" sz="1400" b="0"/>
              <a:t>(c)  Giovanni De Micheli</a:t>
            </a:r>
          </a:p>
        </p:txBody>
      </p:sp>
      <p:sp>
        <p:nvSpPr>
          <p:cNvPr id="4813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C17723DF-650D-894D-86E4-3E46E6A08CBB}" type="slidenum">
              <a:rPr lang="en-US" sz="1400" b="0"/>
              <a:pPr/>
              <a:t>21</a:t>
            </a:fld>
            <a:endParaRPr lang="en-US" sz="1400" b="0"/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Narrow" charset="0"/>
              </a:rPr>
              <a:t>ROBDDs- why do we care ?</a:t>
            </a:r>
          </a:p>
        </p:txBody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>
              <a:lnSpc>
                <a:spcPct val="90000"/>
              </a:lnSpc>
            </a:pPr>
            <a:r>
              <a:rPr lang="en-US" sz="2400" dirty="0">
                <a:latin typeface="Arial Narrow" charset="0"/>
              </a:rPr>
              <a:t>Easy to solve some important problems:</a:t>
            </a:r>
          </a:p>
          <a:p>
            <a:pPr marL="908050" lvl="1" indent="-436563">
              <a:lnSpc>
                <a:spcPct val="90000"/>
              </a:lnSpc>
              <a:buFontTx/>
              <a:buAutoNum type="arabicPeriod"/>
            </a:pPr>
            <a:r>
              <a:rPr lang="en-US" sz="2000" dirty="0">
                <a:latin typeface="Arial Narrow" charset="0"/>
              </a:rPr>
              <a:t>Tautology checking</a:t>
            </a:r>
          </a:p>
          <a:p>
            <a:pPr marL="1304925" lvl="2" indent="-395288">
              <a:buFontTx/>
              <a:buNone/>
            </a:pPr>
            <a:r>
              <a:rPr lang="en-US" sz="1800" dirty="0">
                <a:latin typeface="Arial Narrow" charset="0"/>
              </a:rPr>
              <a:t>Just check if BDD is identical to function </a:t>
            </a:r>
          </a:p>
          <a:p>
            <a:pPr marL="908050" lvl="1" indent="-436563">
              <a:lnSpc>
                <a:spcPct val="90000"/>
              </a:lnSpc>
              <a:buFontTx/>
              <a:buAutoNum type="arabicPeriod"/>
            </a:pPr>
            <a:endParaRPr lang="en-US" sz="2000" dirty="0">
              <a:latin typeface="Arial Narrow" charset="0"/>
            </a:endParaRPr>
          </a:p>
          <a:p>
            <a:pPr marL="908050" lvl="1" indent="-436563">
              <a:lnSpc>
                <a:spcPct val="90000"/>
              </a:lnSpc>
              <a:buFontTx/>
              <a:buAutoNum type="arabicPeriod"/>
            </a:pPr>
            <a:r>
              <a:rPr lang="en-US" sz="2000" dirty="0">
                <a:latin typeface="Arial Narrow" charset="0"/>
              </a:rPr>
              <a:t>Identity checking: F = G</a:t>
            </a:r>
          </a:p>
          <a:p>
            <a:pPr marL="1304925" lvl="2" indent="-395288">
              <a:buFontTx/>
              <a:buNone/>
            </a:pPr>
            <a:endParaRPr lang="en-US" sz="1800" dirty="0">
              <a:latin typeface="Arial Narrow" charset="0"/>
            </a:endParaRPr>
          </a:p>
          <a:p>
            <a:pPr marL="908050" lvl="1" indent="-436563">
              <a:lnSpc>
                <a:spcPct val="90000"/>
              </a:lnSpc>
              <a:buFontTx/>
              <a:buAutoNum type="arabicPeriod"/>
            </a:pPr>
            <a:r>
              <a:rPr lang="en-US" sz="2000" dirty="0" err="1">
                <a:latin typeface="Arial Narrow" charset="0"/>
              </a:rPr>
              <a:t>Satisfiability</a:t>
            </a:r>
            <a:endParaRPr lang="en-US" sz="2000" dirty="0">
              <a:latin typeface="Arial Narrow" charset="0"/>
            </a:endParaRPr>
          </a:p>
          <a:p>
            <a:pPr marL="1304925" lvl="2" indent="-395288">
              <a:buFontTx/>
              <a:buNone/>
            </a:pPr>
            <a:r>
              <a:rPr lang="en-US" sz="1800" dirty="0">
                <a:latin typeface="Arial Narrow" charset="0"/>
              </a:rPr>
              <a:t>Look for a path from root to leaf 1</a:t>
            </a:r>
          </a:p>
          <a:p>
            <a:pPr marL="1304925" lvl="2" indent="-395288">
              <a:buFontTx/>
              <a:buNone/>
            </a:pPr>
            <a:endParaRPr lang="en-US" sz="1800" dirty="0">
              <a:latin typeface="Arial Narrow" charset="0"/>
            </a:endParaRPr>
          </a:p>
          <a:p>
            <a:pPr marL="533400" indent="-533400">
              <a:lnSpc>
                <a:spcPct val="90000"/>
              </a:lnSpc>
            </a:pPr>
            <a:r>
              <a:rPr lang="en-US" sz="2400" dirty="0">
                <a:latin typeface="Arial Narrow" charset="0"/>
              </a:rPr>
              <a:t>All while having a compact representation</a:t>
            </a:r>
          </a:p>
          <a:p>
            <a:pPr marL="908050" lvl="1" indent="-436563">
              <a:lnSpc>
                <a:spcPct val="90000"/>
              </a:lnSpc>
            </a:pPr>
            <a:r>
              <a:rPr lang="en-US" sz="2000" dirty="0">
                <a:latin typeface="Arial Narrow" charset="0"/>
              </a:rPr>
              <a:t>Use small memory footprint</a:t>
            </a:r>
          </a:p>
          <a:p>
            <a:pPr marL="908050" lvl="1" indent="-436563">
              <a:lnSpc>
                <a:spcPct val="90000"/>
              </a:lnSpc>
              <a:buFont typeface="Monotype Sorts" charset="0"/>
              <a:buNone/>
            </a:pPr>
            <a:endParaRPr lang="en-US" sz="2000" dirty="0">
              <a:latin typeface="Arial Narrow" charset="0"/>
            </a:endParaRPr>
          </a:p>
          <a:p>
            <a:pPr marL="908050" lvl="1" indent="-436563">
              <a:lnSpc>
                <a:spcPct val="90000"/>
              </a:lnSpc>
              <a:buFont typeface="Monotype Sorts" charset="0"/>
              <a:buNone/>
            </a:pPr>
            <a:endParaRPr lang="en-US" sz="2000" dirty="0">
              <a:latin typeface="Arial Narrow" charset="0"/>
            </a:endParaRPr>
          </a:p>
          <a:p>
            <a:pPr marL="533400" indent="-533400">
              <a:lnSpc>
                <a:spcPct val="90000"/>
              </a:lnSpc>
            </a:pPr>
            <a:endParaRPr lang="en-US" sz="2400" dirty="0">
              <a:latin typeface="Arial Narrow" charset="0"/>
            </a:endParaRPr>
          </a:p>
        </p:txBody>
      </p:sp>
      <p:grpSp>
        <p:nvGrpSpPr>
          <p:cNvPr id="48133" name="Group 4"/>
          <p:cNvGrpSpPr>
            <a:grpSpLocks/>
          </p:cNvGrpSpPr>
          <p:nvPr/>
        </p:nvGrpSpPr>
        <p:grpSpPr bwMode="auto">
          <a:xfrm>
            <a:off x="5892800" y="2041525"/>
            <a:ext cx="265113" cy="320675"/>
            <a:chOff x="3087" y="2784"/>
            <a:chExt cx="167" cy="202"/>
          </a:xfrm>
        </p:grpSpPr>
        <p:sp>
          <p:nvSpPr>
            <p:cNvPr id="48134" name="Rectangle 5"/>
            <p:cNvSpPr>
              <a:spLocks noChangeArrowheads="1"/>
            </p:cNvSpPr>
            <p:nvPr/>
          </p:nvSpPr>
          <p:spPr bwMode="auto">
            <a:xfrm>
              <a:off x="3087" y="2809"/>
              <a:ext cx="167" cy="168"/>
            </a:xfrm>
            <a:prstGeom prst="rect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135" name="Rectangle 6"/>
            <p:cNvSpPr>
              <a:spLocks noChangeArrowheads="1"/>
            </p:cNvSpPr>
            <p:nvPr/>
          </p:nvSpPr>
          <p:spPr bwMode="auto">
            <a:xfrm>
              <a:off x="3087" y="2809"/>
              <a:ext cx="167" cy="168"/>
            </a:xfrm>
            <a:prstGeom prst="rect">
              <a:avLst/>
            </a:pr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136" name="Rectangle 7"/>
            <p:cNvSpPr>
              <a:spLocks noChangeArrowheads="1"/>
            </p:cNvSpPr>
            <p:nvPr/>
          </p:nvSpPr>
          <p:spPr bwMode="auto">
            <a:xfrm>
              <a:off x="3120" y="2784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/>
            <a:p>
              <a:r>
                <a:rPr lang="en-US" sz="2100">
                  <a:solidFill>
                    <a:srgbClr val="000080"/>
                  </a:solidFill>
                  <a:latin typeface="Times New Roman" charset="0"/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operations with ROBDDs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Cofactor</a:t>
                </a:r>
              </a:p>
              <a:p>
                <a:pPr lvl="1"/>
                <a:r>
                  <a:rPr lang="en-US" dirty="0"/>
                  <a:t>Given: ROBDD for </a:t>
                </a:r>
                <a14:m>
                  <m:oMath xmlns:m="http://schemas.openxmlformats.org/officeDocument/2006/math">
                    <m:r>
                      <a:rPr lang="en-US" dirty="0">
                        <a:solidFill>
                          <a:schemeClr val="tx2"/>
                        </a:solidFill>
                        <a:latin typeface="Cambria Math" charset="0"/>
                        <a:ea typeface="Arial Narrow" charset="0"/>
                        <a:cs typeface="Arial Narrow" charset="0"/>
                      </a:rPr>
                      <m:t>𝐆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Positive co-factor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Arial Narrow" charset="0"/>
                            <a:cs typeface="Arial Narrow" charset="0"/>
                          </a:rPr>
                        </m:ctrlPr>
                      </m:sSubPr>
                      <m:e>
                        <m:r>
                          <a:rPr lang="en-US" b="1" i="0" dirty="0" smtClean="0">
                            <a:solidFill>
                              <a:schemeClr val="tx2"/>
                            </a:solidFill>
                            <a:latin typeface="Cambria Math" charset="0"/>
                            <a:ea typeface="Arial Narrow" charset="0"/>
                            <a:cs typeface="Arial Narrow" charset="0"/>
                          </a:rPr>
                          <m:t>𝐆</m:t>
                        </m:r>
                      </m:e>
                      <m:sub>
                        <m:r>
                          <a:rPr lang="en-US" b="1" i="0" dirty="0" smtClean="0">
                            <a:solidFill>
                              <a:schemeClr val="tx2"/>
                            </a:solidFill>
                            <a:latin typeface="Cambria Math" charset="0"/>
                            <a:ea typeface="Arial Narrow" charset="0"/>
                            <a:cs typeface="Arial Narrow" charset="0"/>
                          </a:rPr>
                          <m:t>𝐱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2"/>
                    </a:solidFill>
                    <a:latin typeface="Arial Narrow" charset="0"/>
                  </a:rPr>
                  <a:t> </a:t>
                </a:r>
                <a:r>
                  <a:rPr lang="en-US" dirty="0"/>
                  <a:t>wrt.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charset="0"/>
                      </a:rPr>
                      <m:t>𝑥</m:t>
                    </m:r>
                  </m:oMath>
                </a14:m>
                <a:r>
                  <a:rPr lang="en-US" dirty="0"/>
                  <a:t>: restrict </a:t>
                </a:r>
                <a14:m>
                  <m:oMath xmlns:m="http://schemas.openxmlformats.org/officeDocument/2006/math">
                    <m:r>
                      <a:rPr lang="en-US" dirty="0">
                        <a:solidFill>
                          <a:schemeClr val="tx2"/>
                        </a:solidFill>
                        <a:latin typeface="Cambria Math" charset="0"/>
                        <a:ea typeface="Arial Narrow" charset="0"/>
                        <a:cs typeface="Arial Narrow" charset="0"/>
                      </a:rPr>
                      <m:t>𝐆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charset="0"/>
                      </a:rPr>
                      <m:t>𝑥</m:t>
                    </m:r>
                    <m:r>
                      <a:rPr lang="en-US" i="1" dirty="0" smtClean="0">
                        <a:latin typeface="Cambria Math" charset="0"/>
                      </a:rPr>
                      <m:t> = 1</m:t>
                    </m:r>
                  </m:oMath>
                </a14:m>
                <a:br>
                  <a:rPr lang="en-US" dirty="0"/>
                </a:br>
                <a:r>
                  <a:rPr lang="en-US" sz="1900" dirty="0"/>
                  <a:t>Remove every node with label </a:t>
                </a:r>
                <a14:m>
                  <m:oMath xmlns:m="http://schemas.openxmlformats.org/officeDocument/2006/math">
                    <m:r>
                      <a:rPr lang="en-US" sz="1900" i="1" dirty="0" smtClean="0">
                        <a:latin typeface="Cambria Math" charset="0"/>
                      </a:rPr>
                      <m:t>𝑥</m:t>
                    </m:r>
                  </m:oMath>
                </a14:m>
                <a:r>
                  <a:rPr lang="en-US" sz="1900" dirty="0"/>
                  <a:t>, redirect incoming edges to node with </a:t>
                </a:r>
                <a:r>
                  <a:rPr lang="en-US" sz="1900" dirty="0">
                    <a:solidFill>
                      <a:schemeClr val="tx2">
                        <a:lumMod val="75000"/>
                      </a:schemeClr>
                    </a:solidFill>
                  </a:rPr>
                  <a:t>then edge</a:t>
                </a:r>
              </a:p>
              <a:p>
                <a:pPr lvl="1"/>
                <a:r>
                  <a:rPr lang="en-US" dirty="0"/>
                  <a:t>Negative co-factor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Arial Narrow" charset="0"/>
                            <a:cs typeface="Arial Narrow" charset="0"/>
                          </a:rPr>
                        </m:ctrlPr>
                      </m:sSubPr>
                      <m:e>
                        <m:r>
                          <a:rPr lang="en-US" dirty="0">
                            <a:solidFill>
                              <a:schemeClr val="tx2"/>
                            </a:solidFill>
                            <a:latin typeface="Cambria Math" charset="0"/>
                            <a:ea typeface="Arial Narrow" charset="0"/>
                            <a:cs typeface="Arial Narrow" charset="0"/>
                          </a:rPr>
                          <m:t>𝐆</m:t>
                        </m:r>
                      </m:e>
                      <m:sub>
                        <m:r>
                          <a:rPr lang="en-US" dirty="0">
                            <a:solidFill>
                              <a:schemeClr val="tx2"/>
                            </a:solidFill>
                            <a:latin typeface="Cambria Math" charset="0"/>
                            <a:ea typeface="Arial Narrow" charset="0"/>
                            <a:cs typeface="Arial Narrow" charset="0"/>
                          </a:rPr>
                          <m:t>𝐱</m:t>
                        </m:r>
                        <m:r>
                          <a:rPr lang="en-US" b="1" i="0" dirty="0" smtClean="0">
                            <a:solidFill>
                              <a:schemeClr val="tx2"/>
                            </a:solidFill>
                            <a:latin typeface="Cambria Math" charset="0"/>
                            <a:ea typeface="Arial Narrow" charset="0"/>
                            <a:cs typeface="Arial Narrow" charset="0"/>
                          </a:rPr>
                          <m:t>′</m:t>
                        </m:r>
                      </m:sub>
                    </m:sSub>
                    <m:r>
                      <a:rPr lang="en-US" i="1" dirty="0">
                        <a:solidFill>
                          <a:schemeClr val="tx2"/>
                        </a:solidFill>
                        <a:latin typeface="Cambria Math" charset="0"/>
                        <a:ea typeface="Arial Narrow" charset="0"/>
                        <a:cs typeface="Arial Narrow" charset="0"/>
                      </a:rPr>
                      <m:t> </m:t>
                    </m:r>
                  </m:oMath>
                </a14:m>
                <a:r>
                  <a:rPr lang="en-US" dirty="0" err="1"/>
                  <a:t>wrt</a:t>
                </a:r>
                <a:r>
                  <a:rPr lang="en-US" dirty="0"/>
                  <a:t>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𝑥</m:t>
                    </m:r>
                  </m:oMath>
                </a14:m>
                <a:r>
                  <a:rPr lang="en-US" dirty="0"/>
                  <a:t>: restrict </a:t>
                </a:r>
                <a14:m>
                  <m:oMath xmlns:m="http://schemas.openxmlformats.org/officeDocument/2006/math">
                    <m:r>
                      <a:rPr lang="en-US" dirty="0">
                        <a:solidFill>
                          <a:schemeClr val="tx2"/>
                        </a:solidFill>
                        <a:latin typeface="Cambria Math" charset="0"/>
                        <a:ea typeface="Arial Narrow" charset="0"/>
                        <a:cs typeface="Arial Narrow" charset="0"/>
                      </a:rPr>
                      <m:t>𝐆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charset="0"/>
                      </a:rPr>
                      <m:t>𝑥</m:t>
                    </m:r>
                    <m:r>
                      <a:rPr lang="en-US" i="1" dirty="0" smtClean="0">
                        <a:latin typeface="Cambria Math" charset="0"/>
                      </a:rPr>
                      <m:t> = 0</m:t>
                    </m:r>
                  </m:oMath>
                </a14:m>
                <a:br>
                  <a:rPr lang="en-US" dirty="0"/>
                </a:br>
                <a:r>
                  <a:rPr lang="en-US" sz="1900" dirty="0"/>
                  <a:t>Remove every node with label </a:t>
                </a:r>
                <a14:m>
                  <m:oMath xmlns:m="http://schemas.openxmlformats.org/officeDocument/2006/math">
                    <m:r>
                      <a:rPr lang="en-US" sz="1900" i="1" dirty="0" smtClean="0">
                        <a:latin typeface="Cambria Math" charset="0"/>
                      </a:rPr>
                      <m:t>𝑥</m:t>
                    </m:r>
                  </m:oMath>
                </a14:m>
                <a:r>
                  <a:rPr lang="en-US" sz="1900" dirty="0"/>
                  <a:t>, redirect incoming edges to node with </a:t>
                </a:r>
                <a:r>
                  <a:rPr lang="en-US" sz="1900" dirty="0">
                    <a:solidFill>
                      <a:srgbClr val="002060"/>
                    </a:solidFill>
                  </a:rPr>
                  <a:t>else edge 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51" t="-1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(c)  Giovanni De Micheli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8ED51B5-408C-0347-82E2-D7283C0E7ED0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grpSp>
        <p:nvGrpSpPr>
          <p:cNvPr id="6" name="Group 12"/>
          <p:cNvGrpSpPr>
            <a:grpSpLocks/>
          </p:cNvGrpSpPr>
          <p:nvPr/>
        </p:nvGrpSpPr>
        <p:grpSpPr bwMode="auto">
          <a:xfrm>
            <a:off x="2456656" y="4142906"/>
            <a:ext cx="4268788" cy="1828800"/>
            <a:chOff x="1824" y="1920"/>
            <a:chExt cx="2689" cy="1152"/>
          </a:xfrm>
        </p:grpSpPr>
        <p:grpSp>
          <p:nvGrpSpPr>
            <p:cNvPr id="7" name="Group 13"/>
            <p:cNvGrpSpPr>
              <a:grpSpLocks/>
            </p:cNvGrpSpPr>
            <p:nvPr/>
          </p:nvGrpSpPr>
          <p:grpSpPr bwMode="auto">
            <a:xfrm>
              <a:off x="2923" y="2112"/>
              <a:ext cx="293" cy="305"/>
              <a:chOff x="2895" y="1488"/>
              <a:chExt cx="293" cy="305"/>
            </a:xfrm>
          </p:grpSpPr>
          <p:sp>
            <p:nvSpPr>
              <p:cNvPr id="26" name="Freeform 14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5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Rectangle 16"/>
              <p:cNvSpPr>
                <a:spLocks noChangeArrowheads="1"/>
              </p:cNvSpPr>
              <p:nvPr/>
            </p:nvSpPr>
            <p:spPr bwMode="auto">
              <a:xfrm>
                <a:off x="2995" y="1488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x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8" name="Freeform 17"/>
            <p:cNvSpPr>
              <a:spLocks/>
            </p:cNvSpPr>
            <p:nvPr/>
          </p:nvSpPr>
          <p:spPr bwMode="auto">
            <a:xfrm>
              <a:off x="3168" y="2381"/>
              <a:ext cx="160" cy="208"/>
            </a:xfrm>
            <a:custGeom>
              <a:avLst/>
              <a:gdLst>
                <a:gd name="T0" fmla="*/ 0 w 160"/>
                <a:gd name="T1" fmla="*/ 0 h 208"/>
                <a:gd name="T2" fmla="*/ 160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" name="Freeform 18"/>
            <p:cNvSpPr>
              <a:spLocks/>
            </p:cNvSpPr>
            <p:nvPr/>
          </p:nvSpPr>
          <p:spPr bwMode="auto">
            <a:xfrm flipH="1">
              <a:off x="2816" y="2381"/>
              <a:ext cx="160" cy="208"/>
            </a:xfrm>
            <a:custGeom>
              <a:avLst/>
              <a:gdLst>
                <a:gd name="T0" fmla="*/ 0 w 160"/>
                <a:gd name="T1" fmla="*/ 0 h 208"/>
                <a:gd name="T2" fmla="*/ 160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0" name="Rectangle 19"/>
            <p:cNvSpPr>
              <a:spLocks noChangeArrowheads="1"/>
            </p:cNvSpPr>
            <p:nvPr/>
          </p:nvSpPr>
          <p:spPr bwMode="auto">
            <a:xfrm>
              <a:off x="2832" y="2285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11" name="Rectangle 20"/>
            <p:cNvSpPr>
              <a:spLocks noChangeArrowheads="1"/>
            </p:cNvSpPr>
            <p:nvPr/>
          </p:nvSpPr>
          <p:spPr bwMode="auto">
            <a:xfrm>
              <a:off x="3216" y="2285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12" name="Freeform 21"/>
            <p:cNvSpPr>
              <a:spLocks/>
            </p:cNvSpPr>
            <p:nvPr/>
          </p:nvSpPr>
          <p:spPr bwMode="auto">
            <a:xfrm flipH="1">
              <a:off x="3104" y="1920"/>
              <a:ext cx="64" cy="208"/>
            </a:xfrm>
            <a:custGeom>
              <a:avLst/>
              <a:gdLst>
                <a:gd name="T0" fmla="*/ 0 w 160"/>
                <a:gd name="T1" fmla="*/ 0 h 208"/>
                <a:gd name="T2" fmla="*/ 64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66FF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" name="AutoShape 23"/>
            <p:cNvSpPr>
              <a:spLocks noChangeArrowheads="1"/>
            </p:cNvSpPr>
            <p:nvPr/>
          </p:nvSpPr>
          <p:spPr bwMode="auto">
            <a:xfrm>
              <a:off x="2619" y="2592"/>
              <a:ext cx="384" cy="480"/>
            </a:xfrm>
            <a:prstGeom prst="triangle">
              <a:avLst>
                <a:gd name="adj" fmla="val 50000"/>
              </a:avLst>
            </a:prstGeom>
            <a:solidFill>
              <a:srgbClr val="008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5" name="AutoShape 24"/>
            <p:cNvSpPr>
              <a:spLocks noChangeArrowheads="1"/>
            </p:cNvSpPr>
            <p:nvPr/>
          </p:nvSpPr>
          <p:spPr bwMode="auto">
            <a:xfrm>
              <a:off x="3132" y="2592"/>
              <a:ext cx="384" cy="480"/>
            </a:xfrm>
            <a:prstGeom prst="triangle">
              <a:avLst>
                <a:gd name="adj" fmla="val 50000"/>
              </a:avLst>
            </a:prstGeom>
            <a:solidFill>
              <a:srgbClr val="008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6" name="Text Box 25"/>
            <p:cNvSpPr txBox="1">
              <a:spLocks noChangeArrowheads="1"/>
            </p:cNvSpPr>
            <p:nvPr/>
          </p:nvSpPr>
          <p:spPr bwMode="auto">
            <a:xfrm>
              <a:off x="3390" y="2112"/>
              <a:ext cx="102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lang="en-US" sz="2000" dirty="0">
                  <a:solidFill>
                    <a:schemeClr val="tx2">
                      <a:lumMod val="75000"/>
                    </a:schemeClr>
                  </a:solidFill>
                  <a:latin typeface="Verdana" charset="0"/>
                  <a:cs typeface="Arial" charset="0"/>
                </a:rPr>
                <a:t>then edge</a:t>
              </a:r>
            </a:p>
          </p:txBody>
        </p:sp>
        <p:sp>
          <p:nvSpPr>
            <p:cNvPr id="17" name="Text Box 26"/>
            <p:cNvSpPr txBox="1">
              <a:spLocks noChangeArrowheads="1"/>
            </p:cNvSpPr>
            <p:nvPr/>
          </p:nvSpPr>
          <p:spPr bwMode="auto">
            <a:xfrm>
              <a:off x="1824" y="2112"/>
              <a:ext cx="97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lang="en-US" sz="2000" dirty="0">
                  <a:solidFill>
                    <a:srgbClr val="002060"/>
                  </a:solidFill>
                  <a:latin typeface="Verdana" charset="0"/>
                  <a:cs typeface="Arial" charset="0"/>
                </a:rPr>
                <a:t>else edge</a:t>
              </a:r>
            </a:p>
          </p:txBody>
        </p:sp>
        <p:sp>
          <p:nvSpPr>
            <p:cNvPr id="18" name="Line 27"/>
            <p:cNvSpPr>
              <a:spLocks noChangeShapeType="1"/>
            </p:cNvSpPr>
            <p:nvPr/>
          </p:nvSpPr>
          <p:spPr bwMode="auto">
            <a:xfrm>
              <a:off x="2352" y="2352"/>
              <a:ext cx="432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19" name="Line 28"/>
            <p:cNvSpPr>
              <a:spLocks noChangeShapeType="1"/>
            </p:cNvSpPr>
            <p:nvPr/>
          </p:nvSpPr>
          <p:spPr bwMode="auto">
            <a:xfrm flipH="1">
              <a:off x="3312" y="2352"/>
              <a:ext cx="432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20" name="Text Box 29"/>
            <p:cNvSpPr txBox="1">
              <a:spLocks noChangeArrowheads="1"/>
            </p:cNvSpPr>
            <p:nvPr/>
          </p:nvSpPr>
          <p:spPr bwMode="auto">
            <a:xfrm>
              <a:off x="1824" y="2544"/>
              <a:ext cx="93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lang="en-US" sz="2000" b="0" dirty="0">
                  <a:latin typeface="Verdana" charset="0"/>
                  <a:cs typeface="Arial" charset="0"/>
                </a:rPr>
                <a:t>0-cofactor</a:t>
              </a:r>
            </a:p>
          </p:txBody>
        </p:sp>
        <p:sp>
          <p:nvSpPr>
            <p:cNvPr id="21" name="Line 30"/>
            <p:cNvSpPr>
              <a:spLocks noChangeShapeType="1"/>
            </p:cNvSpPr>
            <p:nvPr/>
          </p:nvSpPr>
          <p:spPr bwMode="auto">
            <a:xfrm>
              <a:off x="2352" y="2784"/>
              <a:ext cx="288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2" name="Text Box 31"/>
            <p:cNvSpPr txBox="1">
              <a:spLocks noChangeArrowheads="1"/>
            </p:cNvSpPr>
            <p:nvPr/>
          </p:nvSpPr>
          <p:spPr bwMode="auto">
            <a:xfrm>
              <a:off x="3578" y="2544"/>
              <a:ext cx="93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lang="en-US" sz="2000" b="0" dirty="0">
                  <a:latin typeface="Verdana" charset="0"/>
                  <a:cs typeface="Arial" charset="0"/>
                </a:rPr>
                <a:t>1-cofactor</a:t>
              </a:r>
            </a:p>
          </p:txBody>
        </p:sp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H="1">
              <a:off x="3552" y="2784"/>
              <a:ext cx="55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4" name="Text Box 33"/>
            <p:cNvSpPr txBox="1">
              <a:spLocks noChangeArrowheads="1"/>
            </p:cNvSpPr>
            <p:nvPr/>
          </p:nvSpPr>
          <p:spPr bwMode="auto">
            <a:xfrm>
              <a:off x="2688" y="2803"/>
              <a:ext cx="34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lang="en-US" sz="2200" b="0">
                  <a:solidFill>
                    <a:schemeClr val="bg1"/>
                  </a:solidFill>
                  <a:latin typeface="Verdana" charset="0"/>
                  <a:cs typeface="Arial" charset="0"/>
                </a:rPr>
                <a:t>F</a:t>
              </a:r>
              <a:r>
                <a:rPr lang="en-US" sz="2200" b="0" baseline="-25000">
                  <a:solidFill>
                    <a:schemeClr val="bg1"/>
                  </a:solidFill>
                  <a:latin typeface="Verdana" charset="0"/>
                  <a:cs typeface="Arial" charset="0"/>
                </a:rPr>
                <a:t>0</a:t>
              </a:r>
              <a:r>
                <a:rPr lang="en-US" sz="1800" b="0">
                  <a:latin typeface="Verdana" charset="0"/>
                  <a:cs typeface="Arial" charset="0"/>
                </a:rPr>
                <a:t> </a:t>
              </a:r>
            </a:p>
          </p:txBody>
        </p:sp>
        <p:sp>
          <p:nvSpPr>
            <p:cNvPr id="25" name="Text Box 34"/>
            <p:cNvSpPr txBox="1">
              <a:spLocks noChangeArrowheads="1"/>
            </p:cNvSpPr>
            <p:nvPr/>
          </p:nvSpPr>
          <p:spPr bwMode="auto">
            <a:xfrm>
              <a:off x="3168" y="2803"/>
              <a:ext cx="34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lang="en-US" sz="2200" b="0">
                  <a:solidFill>
                    <a:schemeClr val="bg1"/>
                  </a:solidFill>
                  <a:latin typeface="Verdana" charset="0"/>
                  <a:cs typeface="Arial" charset="0"/>
                </a:rPr>
                <a:t>F</a:t>
              </a:r>
              <a:r>
                <a:rPr lang="en-US" sz="2200" b="0" baseline="-25000">
                  <a:solidFill>
                    <a:schemeClr val="bg1"/>
                  </a:solidFill>
                  <a:latin typeface="Verdana" charset="0"/>
                  <a:cs typeface="Arial" charset="0"/>
                </a:rPr>
                <a:t>1</a:t>
              </a:r>
              <a:r>
                <a:rPr lang="en-US" sz="1800" b="0">
                  <a:latin typeface="Verdana" charset="0"/>
                  <a:cs typeface="Arial" charset="0"/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877595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operations with ROBDDs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 startAt="2"/>
                </a:pPr>
                <a:r>
                  <a:rPr lang="en-US" dirty="0"/>
                  <a:t>Boolean operators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charset="0"/>
                      </a:rPr>
                      <m:t>⋆</m:t>
                    </m:r>
                  </m:oMath>
                </a14:m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charset="0"/>
                      </a:rPr>
                      <m:t>⋅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charset="0"/>
                      </a:rPr>
                      <m:t>+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charset="0"/>
                      </a:rPr>
                      <m:t>⊕</m:t>
                    </m:r>
                  </m:oMath>
                </a14:m>
                <a:r>
                  <a:rPr lang="en-US" dirty="0"/>
                  <a:t>, </a:t>
                </a:r>
                <a:r>
                  <a:rPr lang="mr-IN" dirty="0"/>
                  <a:t>…</a:t>
                </a:r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Given: two ROBDD for</a:t>
                </a:r>
                <a:r>
                  <a:rPr lang="en-US" dirty="0">
                    <a:solidFill>
                      <a:schemeClr val="tx2"/>
                    </a:solidFill>
                    <a:latin typeface="Arial Narrow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dirty="0">
                        <a:solidFill>
                          <a:schemeClr val="tx2"/>
                        </a:solidFill>
                        <a:latin typeface="Cambria Math" charset="0"/>
                        <a:ea typeface="Arial Narrow" charset="0"/>
                        <a:cs typeface="Arial Narrow" charset="0"/>
                      </a:rPr>
                      <m:t>𝐆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chemeClr val="tx2"/>
                        </a:solidFill>
                        <a:latin typeface="Cambria Math" charset="0"/>
                        <a:ea typeface="Arial Narrow" charset="0"/>
                        <a:cs typeface="Arial Narrow" charset="0"/>
                      </a:rPr>
                      <m:t>𝐇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Find: </a:t>
                </a:r>
                <a:r>
                  <a:rPr lang="en-US" dirty="0">
                    <a:latin typeface="Arial Narrow" charset="0"/>
                  </a:rPr>
                  <a:t>the ROBDD of</a:t>
                </a:r>
                <a:r>
                  <a:rPr lang="en-US" dirty="0">
                    <a:solidFill>
                      <a:schemeClr val="tx2"/>
                    </a:solidFill>
                    <a:latin typeface="Arial Narrow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dirty="0">
                        <a:solidFill>
                          <a:schemeClr val="tx2"/>
                        </a:solidFill>
                        <a:latin typeface="Cambria Math" charset="0"/>
                        <a:ea typeface="Arial Narrow" charset="0"/>
                        <a:cs typeface="Arial Narrow" charset="0"/>
                      </a:rPr>
                      <m:t>𝐆</m:t>
                    </m:r>
                    <m:r>
                      <a:rPr lang="en-US" b="1" i="1" dirty="0" smtClean="0">
                        <a:solidFill>
                          <a:schemeClr val="tx2"/>
                        </a:solidFill>
                        <a:latin typeface="Cambria Math" charset="0"/>
                        <a:ea typeface="Arial Narrow" charset="0"/>
                        <a:cs typeface="Arial Narrow" charset="0"/>
                      </a:rPr>
                      <m:t>⋆</m:t>
                    </m:r>
                    <m:r>
                      <a:rPr lang="en-US" b="1" i="0" dirty="0" smtClean="0">
                        <a:solidFill>
                          <a:schemeClr val="tx2"/>
                        </a:solidFill>
                        <a:latin typeface="Cambria Math" charset="0"/>
                        <a:ea typeface="Arial Narrow" charset="0"/>
                        <a:cs typeface="Arial Narrow" charset="0"/>
                      </a:rPr>
                      <m:t>𝐇</m:t>
                    </m:r>
                  </m:oMath>
                </a14:m>
                <a:endParaRPr lang="en-US" dirty="0"/>
              </a:p>
              <a:p>
                <a:pPr lvl="1"/>
                <a:endParaRPr lang="en-US" sz="800" dirty="0"/>
              </a:p>
              <a:p>
                <a:pPr lvl="1"/>
                <a:r>
                  <a:rPr lang="en-US" dirty="0" err="1">
                    <a:solidFill>
                      <a:schemeClr val="bg2"/>
                    </a:solidFill>
                    <a:latin typeface="Arial Narrow" charset="0"/>
                  </a:rPr>
                  <a:t>ite</a:t>
                </a:r>
                <a:r>
                  <a:rPr lang="en-US" dirty="0">
                    <a:solidFill>
                      <a:schemeClr val="bg2"/>
                    </a:solidFill>
                    <a:latin typeface="Arial Narrow" charset="0"/>
                  </a:rPr>
                  <a:t> </a:t>
                </a:r>
                <a:r>
                  <a:rPr lang="en-US" dirty="0">
                    <a:latin typeface="Arial Narrow" charset="0"/>
                  </a:rPr>
                  <a:t>operator:</a:t>
                </a:r>
                <a:endParaRPr lang="en-US" dirty="0"/>
              </a:p>
              <a:p>
                <a:pPr lvl="2"/>
                <a:r>
                  <a:rPr lang="en-US" dirty="0" err="1">
                    <a:solidFill>
                      <a:schemeClr val="tx2"/>
                    </a:solidFill>
                    <a:latin typeface="Arial Narrow" charset="0"/>
                  </a:rPr>
                  <a:t>ite</a:t>
                </a:r>
                <a:r>
                  <a:rPr lang="en-US" dirty="0">
                    <a:solidFill>
                      <a:schemeClr val="tx2"/>
                    </a:solidFill>
                    <a:latin typeface="Arial Narrow" charset="0"/>
                  </a:rPr>
                  <a:t>(</a:t>
                </a:r>
                <a:r>
                  <a:rPr lang="en-US" dirty="0" err="1">
                    <a:solidFill>
                      <a:schemeClr val="tx2"/>
                    </a:solidFill>
                    <a:latin typeface="Arial Narrow" charset="0"/>
                  </a:rPr>
                  <a:t>f,g,h</a:t>
                </a:r>
                <a:r>
                  <a:rPr lang="en-US" dirty="0">
                    <a:solidFill>
                      <a:schemeClr val="tx2"/>
                    </a:solidFill>
                    <a:latin typeface="Arial Narrow" charset="0"/>
                  </a:rPr>
                  <a:t>) = </a:t>
                </a:r>
                <a:r>
                  <a:rPr lang="en-US" dirty="0" err="1">
                    <a:solidFill>
                      <a:schemeClr val="tx2"/>
                    </a:solidFill>
                    <a:latin typeface="Arial Narrow" charset="0"/>
                  </a:rPr>
                  <a:t>fg</a:t>
                </a:r>
                <a:r>
                  <a:rPr lang="en-US" dirty="0">
                    <a:solidFill>
                      <a:schemeClr val="tx2"/>
                    </a:solidFill>
                    <a:latin typeface="Arial Narrow" charset="0"/>
                  </a:rPr>
                  <a:t> + </a:t>
                </a:r>
                <a:r>
                  <a:rPr lang="en-US" dirty="0" err="1">
                    <a:solidFill>
                      <a:schemeClr val="tx2"/>
                    </a:solidFill>
                    <a:latin typeface="Arial Narrow" charset="0"/>
                  </a:rPr>
                  <a:t>f’h</a:t>
                </a:r>
                <a:endParaRPr lang="en-US" dirty="0">
                  <a:solidFill>
                    <a:schemeClr val="tx2"/>
                  </a:solidFill>
                  <a:latin typeface="Arial Narrow" charset="0"/>
                </a:endParaRPr>
              </a:p>
              <a:p>
                <a:pPr lvl="2"/>
                <a:r>
                  <a:rPr lang="en-US" dirty="0">
                    <a:solidFill>
                      <a:schemeClr val="tx2"/>
                    </a:solidFill>
                    <a:latin typeface="Arial Narrow" charset="0"/>
                  </a:rPr>
                  <a:t>If (f) then (g) else (h)</a:t>
                </a:r>
              </a:p>
              <a:p>
                <a:pPr lvl="2"/>
                <a:endParaRPr lang="en-US" dirty="0">
                  <a:solidFill>
                    <a:schemeClr val="tx2"/>
                  </a:solidFill>
                  <a:latin typeface="Arial Narrow" charset="0"/>
                </a:endParaRPr>
              </a:p>
              <a:p>
                <a:pPr lvl="1"/>
                <a:r>
                  <a:rPr lang="en-US" dirty="0">
                    <a:latin typeface="Arial Narrow" charset="0"/>
                  </a:rPr>
                  <a:t>Recursive paradigm</a:t>
                </a:r>
              </a:p>
              <a:p>
                <a:pPr lvl="2"/>
                <a:r>
                  <a:rPr lang="en-US" dirty="0">
                    <a:latin typeface="Arial Narrow" charset="0"/>
                  </a:rPr>
                  <a:t>Exploit the generalized expansion of </a:t>
                </a:r>
                <a:r>
                  <a:rPr lang="en-US" dirty="0">
                    <a:solidFill>
                      <a:schemeClr val="tx2"/>
                    </a:solidFill>
                    <a:latin typeface="Arial Narrow" charset="0"/>
                  </a:rPr>
                  <a:t>G</a:t>
                </a:r>
                <a:r>
                  <a:rPr lang="en-US" dirty="0">
                    <a:latin typeface="Arial Narrow" charset="0"/>
                  </a:rPr>
                  <a:t> and </a:t>
                </a:r>
                <a:r>
                  <a:rPr lang="en-US" dirty="0">
                    <a:solidFill>
                      <a:schemeClr val="tx2"/>
                    </a:solidFill>
                    <a:latin typeface="Arial Narrow" charset="0"/>
                  </a:rPr>
                  <a:t>H</a:t>
                </a:r>
                <a:endParaRPr lang="en-US" dirty="0">
                  <a:latin typeface="Arial Narrow" charset="0"/>
                </a:endParaRPr>
              </a:p>
              <a:p>
                <a:pPr lvl="2">
                  <a:buNone/>
                </a:pPr>
                <a:r>
                  <a:rPr lang="en-US" dirty="0" err="1">
                    <a:solidFill>
                      <a:schemeClr val="bg2"/>
                    </a:solidFill>
                    <a:latin typeface="Arial Narrow" charset="0"/>
                  </a:rPr>
                  <a:t>ite</a:t>
                </a:r>
                <a:r>
                  <a:rPr lang="en-US" dirty="0">
                    <a:solidFill>
                      <a:schemeClr val="bg2"/>
                    </a:solidFill>
                    <a:latin typeface="Arial Narrow" charset="0"/>
                  </a:rPr>
                  <a:t> (</a:t>
                </a:r>
                <a:r>
                  <a:rPr lang="en-US" dirty="0" err="1">
                    <a:solidFill>
                      <a:schemeClr val="bg2"/>
                    </a:solidFill>
                    <a:latin typeface="Arial Narrow" charset="0"/>
                  </a:rPr>
                  <a:t>f,g,h</a:t>
                </a:r>
                <a:r>
                  <a:rPr lang="en-US" dirty="0">
                    <a:solidFill>
                      <a:schemeClr val="bg2"/>
                    </a:solidFill>
                    <a:latin typeface="Arial Narrow" charset="0"/>
                  </a:rPr>
                  <a:t>) = </a:t>
                </a:r>
                <a:r>
                  <a:rPr lang="en-US" dirty="0" err="1">
                    <a:solidFill>
                      <a:schemeClr val="bg2"/>
                    </a:solidFill>
                    <a:latin typeface="Arial Narrow" charset="0"/>
                  </a:rPr>
                  <a:t>ite</a:t>
                </a:r>
                <a:r>
                  <a:rPr lang="en-US" dirty="0">
                    <a:solidFill>
                      <a:schemeClr val="bg2"/>
                    </a:solidFill>
                    <a:latin typeface="Arial Narrow" charset="0"/>
                  </a:rPr>
                  <a:t>(</a:t>
                </a:r>
                <a:r>
                  <a:rPr lang="en-US" dirty="0" err="1">
                    <a:solidFill>
                      <a:schemeClr val="bg2"/>
                    </a:solidFill>
                    <a:latin typeface="Arial Narrow" charset="0"/>
                  </a:rPr>
                  <a:t>x,ite</a:t>
                </a:r>
                <a:r>
                  <a:rPr lang="en-US" dirty="0">
                    <a:solidFill>
                      <a:schemeClr val="bg2"/>
                    </a:solidFill>
                    <a:latin typeface="Arial Narrow" charset="0"/>
                  </a:rPr>
                  <a:t>(</a:t>
                </a:r>
                <a:r>
                  <a:rPr lang="en-US" dirty="0" err="1">
                    <a:solidFill>
                      <a:schemeClr val="bg2"/>
                    </a:solidFill>
                    <a:latin typeface="Arial Narrow" charset="0"/>
                  </a:rPr>
                  <a:t>f</a:t>
                </a:r>
                <a:r>
                  <a:rPr lang="en-US" baseline="-25000" dirty="0" err="1">
                    <a:solidFill>
                      <a:schemeClr val="bg2"/>
                    </a:solidFill>
                    <a:latin typeface="Arial Narrow" charset="0"/>
                  </a:rPr>
                  <a:t>x</a:t>
                </a:r>
                <a:r>
                  <a:rPr lang="en-US" dirty="0" err="1">
                    <a:solidFill>
                      <a:schemeClr val="bg2"/>
                    </a:solidFill>
                    <a:latin typeface="Arial Narrow" charset="0"/>
                  </a:rPr>
                  <a:t>,g</a:t>
                </a:r>
                <a:r>
                  <a:rPr lang="en-US" baseline="-25000" dirty="0" err="1">
                    <a:solidFill>
                      <a:schemeClr val="bg2"/>
                    </a:solidFill>
                    <a:latin typeface="Arial Narrow" charset="0"/>
                  </a:rPr>
                  <a:t>x</a:t>
                </a:r>
                <a:r>
                  <a:rPr lang="en-US" dirty="0" err="1">
                    <a:solidFill>
                      <a:schemeClr val="bg2"/>
                    </a:solidFill>
                    <a:latin typeface="Arial Narrow" charset="0"/>
                  </a:rPr>
                  <a:t>,h</a:t>
                </a:r>
                <a:r>
                  <a:rPr lang="en-US" baseline="-25000" dirty="0" err="1">
                    <a:solidFill>
                      <a:schemeClr val="bg2"/>
                    </a:solidFill>
                    <a:latin typeface="Arial Narrow" charset="0"/>
                  </a:rPr>
                  <a:t>x</a:t>
                </a:r>
                <a:r>
                  <a:rPr lang="en-US" dirty="0">
                    <a:solidFill>
                      <a:schemeClr val="bg2"/>
                    </a:solidFill>
                    <a:latin typeface="Arial Narrow" charset="0"/>
                  </a:rPr>
                  <a:t>),</a:t>
                </a:r>
                <a:r>
                  <a:rPr lang="en-US" dirty="0" err="1">
                    <a:solidFill>
                      <a:schemeClr val="bg2"/>
                    </a:solidFill>
                    <a:latin typeface="Arial Narrow" charset="0"/>
                  </a:rPr>
                  <a:t>ite</a:t>
                </a:r>
                <a:r>
                  <a:rPr lang="en-US" dirty="0">
                    <a:solidFill>
                      <a:schemeClr val="bg2"/>
                    </a:solidFill>
                    <a:latin typeface="Arial Narrow" charset="0"/>
                  </a:rPr>
                  <a:t>(</a:t>
                </a:r>
                <a:r>
                  <a:rPr lang="en-US" dirty="0" err="1">
                    <a:solidFill>
                      <a:schemeClr val="bg2"/>
                    </a:solidFill>
                    <a:latin typeface="Arial Narrow" charset="0"/>
                  </a:rPr>
                  <a:t>f</a:t>
                </a:r>
                <a:r>
                  <a:rPr lang="en-US" baseline="-25000" dirty="0" err="1">
                    <a:solidFill>
                      <a:schemeClr val="bg2"/>
                    </a:solidFill>
                    <a:latin typeface="Arial Narrow" charset="0"/>
                  </a:rPr>
                  <a:t>x</a:t>
                </a:r>
                <a:r>
                  <a:rPr lang="ja-JP" altLang="en-US" baseline="-25000" dirty="0">
                    <a:solidFill>
                      <a:schemeClr val="bg2"/>
                    </a:solidFill>
                    <a:latin typeface="Arial Narrow" charset="0"/>
                  </a:rPr>
                  <a:t>’</a:t>
                </a:r>
                <a:r>
                  <a:rPr lang="en-US" altLang="ja-JP" dirty="0">
                    <a:solidFill>
                      <a:schemeClr val="bg2"/>
                    </a:solidFill>
                    <a:latin typeface="Arial Narrow" charset="0"/>
                  </a:rPr>
                  <a:t>, </a:t>
                </a:r>
                <a:r>
                  <a:rPr lang="en-US" altLang="ja-JP" dirty="0" err="1">
                    <a:solidFill>
                      <a:schemeClr val="bg2"/>
                    </a:solidFill>
                    <a:latin typeface="Arial Narrow" charset="0"/>
                  </a:rPr>
                  <a:t>g</a:t>
                </a:r>
                <a:r>
                  <a:rPr lang="en-US" altLang="ja-JP" baseline="-25000" dirty="0" err="1">
                    <a:solidFill>
                      <a:schemeClr val="bg2"/>
                    </a:solidFill>
                    <a:latin typeface="Arial Narrow" charset="0"/>
                  </a:rPr>
                  <a:t>x</a:t>
                </a:r>
                <a:r>
                  <a:rPr lang="ja-JP" altLang="en-US" baseline="-25000" dirty="0">
                    <a:solidFill>
                      <a:schemeClr val="bg2"/>
                    </a:solidFill>
                    <a:latin typeface="Arial Narrow" charset="0"/>
                  </a:rPr>
                  <a:t>’</a:t>
                </a:r>
                <a:r>
                  <a:rPr lang="en-US" altLang="ja-JP" dirty="0">
                    <a:solidFill>
                      <a:schemeClr val="bg2"/>
                    </a:solidFill>
                    <a:latin typeface="Arial Narrow" charset="0"/>
                  </a:rPr>
                  <a:t>,</a:t>
                </a:r>
                <a:r>
                  <a:rPr lang="en-US" altLang="ja-JP" dirty="0" err="1">
                    <a:solidFill>
                      <a:schemeClr val="bg2"/>
                    </a:solidFill>
                    <a:latin typeface="Arial Narrow" charset="0"/>
                  </a:rPr>
                  <a:t>h</a:t>
                </a:r>
                <a:r>
                  <a:rPr lang="en-US" altLang="ja-JP" baseline="-25000" dirty="0" err="1">
                    <a:solidFill>
                      <a:schemeClr val="bg2"/>
                    </a:solidFill>
                    <a:latin typeface="Arial Narrow" charset="0"/>
                  </a:rPr>
                  <a:t>x</a:t>
                </a:r>
                <a:r>
                  <a:rPr lang="ja-JP" altLang="en-US" baseline="-25000" dirty="0">
                    <a:solidFill>
                      <a:schemeClr val="bg2"/>
                    </a:solidFill>
                    <a:latin typeface="Arial Narrow" charset="0"/>
                  </a:rPr>
                  <a:t>’</a:t>
                </a:r>
                <a:r>
                  <a:rPr lang="en-US" altLang="ja-JP" dirty="0">
                    <a:solidFill>
                      <a:schemeClr val="bg2"/>
                    </a:solidFill>
                    <a:latin typeface="Arial Narrow" charset="0"/>
                  </a:rPr>
                  <a:t>))</a:t>
                </a:r>
              </a:p>
              <a:p>
                <a:pPr lvl="1"/>
                <a:endParaRPr lang="en-US" dirty="0">
                  <a:solidFill>
                    <a:schemeClr val="tx2"/>
                  </a:solidFill>
                  <a:latin typeface="Arial Narrow" charset="0"/>
                </a:endParaRPr>
              </a:p>
              <a:p>
                <a:pPr lvl="1"/>
                <a:endParaRPr lang="en-US" dirty="0">
                  <a:solidFill>
                    <a:schemeClr val="bg2"/>
                  </a:solidFill>
                  <a:latin typeface="Arial Narrow" charset="0"/>
                </a:endParaRPr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051" t="-1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(c)  Giovanni De Micheli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8ED51B5-408C-0347-82E2-D7283C0E7ED0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7837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r>
              <a:rPr lang="en-US" sz="1400" b="0"/>
              <a:t>(c)  Giovanni De Micheli</a:t>
            </a:r>
          </a:p>
        </p:txBody>
      </p:sp>
      <p:sp>
        <p:nvSpPr>
          <p:cNvPr id="5427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B496359F-D7FF-5746-A4B0-1F7BE1084731}" type="slidenum">
              <a:rPr lang="en-US" sz="1400" b="0"/>
              <a:pPr/>
              <a:t>24</a:t>
            </a:fld>
            <a:endParaRPr lang="en-US" sz="1400" b="0"/>
          </a:p>
        </p:txBody>
      </p:sp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Narrow" charset="0"/>
              </a:rPr>
              <a:t>Example</a:t>
            </a:r>
          </a:p>
        </p:txBody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Arial Narrow" charset="0"/>
              </a:rPr>
              <a:t>Apply </a:t>
            </a:r>
            <a:r>
              <a:rPr lang="en-US">
                <a:solidFill>
                  <a:schemeClr val="tx2"/>
                </a:solidFill>
                <a:latin typeface="Arial Narrow" charset="0"/>
              </a:rPr>
              <a:t>AND</a:t>
            </a:r>
            <a:r>
              <a:rPr lang="en-US">
                <a:latin typeface="Arial Narrow" charset="0"/>
              </a:rPr>
              <a:t> to two ROBDDs: </a:t>
            </a:r>
            <a:r>
              <a:rPr lang="en-US">
                <a:solidFill>
                  <a:schemeClr val="tx2"/>
                </a:solidFill>
                <a:latin typeface="Arial Narrow" charset="0"/>
              </a:rPr>
              <a:t>f,g</a:t>
            </a:r>
          </a:p>
          <a:p>
            <a:pPr lvl="1"/>
            <a:r>
              <a:rPr lang="en-US">
                <a:solidFill>
                  <a:schemeClr val="bg2"/>
                </a:solidFill>
                <a:latin typeface="Arial Narrow" charset="0"/>
              </a:rPr>
              <a:t>fg = ite (f,g,0)</a:t>
            </a:r>
          </a:p>
          <a:p>
            <a:r>
              <a:rPr lang="en-US">
                <a:latin typeface="Arial Narrow" charset="0"/>
              </a:rPr>
              <a:t>Apply </a:t>
            </a:r>
            <a:r>
              <a:rPr lang="en-US">
                <a:solidFill>
                  <a:schemeClr val="tx2"/>
                </a:solidFill>
                <a:latin typeface="Arial Narrow" charset="0"/>
              </a:rPr>
              <a:t>OR</a:t>
            </a:r>
            <a:r>
              <a:rPr lang="en-US">
                <a:latin typeface="Arial Narrow" charset="0"/>
              </a:rPr>
              <a:t> to two ROBDDs: </a:t>
            </a:r>
            <a:r>
              <a:rPr lang="en-US">
                <a:solidFill>
                  <a:schemeClr val="tx2"/>
                </a:solidFill>
                <a:latin typeface="Arial Narrow" charset="0"/>
              </a:rPr>
              <a:t>f,g</a:t>
            </a:r>
          </a:p>
          <a:p>
            <a:pPr lvl="1"/>
            <a:r>
              <a:rPr lang="en-US">
                <a:solidFill>
                  <a:schemeClr val="bg2"/>
                </a:solidFill>
                <a:latin typeface="Arial Narrow" charset="0"/>
              </a:rPr>
              <a:t>f+g = ite (f,1,g)</a:t>
            </a:r>
          </a:p>
          <a:p>
            <a:r>
              <a:rPr lang="en-US">
                <a:latin typeface="Arial Narrow" charset="0"/>
              </a:rPr>
              <a:t>Similar for other Boolean operators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r>
              <a:rPr lang="en-US" sz="1400" b="0"/>
              <a:t>(c)  Giovanni De Micheli</a:t>
            </a:r>
          </a:p>
        </p:txBody>
      </p:sp>
      <p:sp>
        <p:nvSpPr>
          <p:cNvPr id="5632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9B72F351-A623-B64D-8B7C-74B15E0F8E7C}" type="slidenum">
              <a:rPr lang="en-US" sz="1400" b="0"/>
              <a:pPr/>
              <a:t>25</a:t>
            </a:fld>
            <a:endParaRPr lang="en-US" sz="1400" b="0"/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Narrow" charset="0"/>
              </a:rPr>
              <a:t>Boolean operators</a:t>
            </a:r>
          </a:p>
        </p:txBody>
      </p:sp>
      <p:pic>
        <p:nvPicPr>
          <p:cNvPr id="56324" name="Picture 5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05063" y="1079500"/>
            <a:ext cx="4346575" cy="5207000"/>
          </a:xfr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r>
              <a:rPr lang="en-US" sz="1400" b="0"/>
              <a:t>(c)  Giovanni De Micheli</a:t>
            </a:r>
          </a:p>
        </p:txBody>
      </p:sp>
      <p:sp>
        <p:nvSpPr>
          <p:cNvPr id="5837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1FF57305-751C-DD4B-A785-A7A528DAF849}" type="slidenum">
              <a:rPr lang="en-US" sz="1400" b="0"/>
              <a:pPr/>
              <a:t>26</a:t>
            </a:fld>
            <a:endParaRPr lang="en-US" sz="1400" b="0"/>
          </a:p>
        </p:txBody>
      </p:sp>
      <p:sp>
        <p:nvSpPr>
          <p:cNvPr id="583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Narrow" charset="0"/>
              </a:rPr>
              <a:t>ROBDD construction </a:t>
            </a:r>
            <a:r>
              <a:rPr lang="mr-IN" dirty="0">
                <a:latin typeface="Arial Narrow" charset="0"/>
              </a:rPr>
              <a:t>–</a:t>
            </a:r>
            <a:r>
              <a:rPr lang="en-US" dirty="0">
                <a:latin typeface="Arial Narrow" charset="0"/>
              </a:rPr>
              <a:t> terminal cases (AND)</a:t>
            </a:r>
          </a:p>
        </p:txBody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 Narrow" charset="0"/>
              </a:rPr>
              <a:t>Consider a simple example: compute </a:t>
            </a:r>
            <a:r>
              <a:rPr lang="en-US" dirty="0">
                <a:solidFill>
                  <a:schemeClr val="bg2"/>
                </a:solidFill>
                <a:latin typeface="Arial Narrow" charset="0"/>
              </a:rPr>
              <a:t>AND</a:t>
            </a:r>
            <a:r>
              <a:rPr lang="en-US" dirty="0">
                <a:latin typeface="Arial Narrow" charset="0"/>
              </a:rPr>
              <a:t> of two ROBDDs</a:t>
            </a:r>
          </a:p>
          <a:p>
            <a:r>
              <a:rPr lang="en-US" dirty="0">
                <a:latin typeface="Arial Narrow" charset="0"/>
              </a:rPr>
              <a:t>Terminal cases:</a:t>
            </a:r>
          </a:p>
          <a:p>
            <a:pPr lvl="1"/>
            <a:r>
              <a:rPr lang="en-US" dirty="0">
                <a:solidFill>
                  <a:schemeClr val="bg2"/>
                </a:solidFill>
                <a:latin typeface="Arial Narrow" charset="0"/>
              </a:rPr>
              <a:t>AND (0,H) = 0</a:t>
            </a:r>
          </a:p>
          <a:p>
            <a:pPr lvl="1"/>
            <a:r>
              <a:rPr lang="en-US" dirty="0">
                <a:solidFill>
                  <a:schemeClr val="bg2"/>
                </a:solidFill>
                <a:latin typeface="Arial Narrow" charset="0"/>
              </a:rPr>
              <a:t>AND (1,H) = H</a:t>
            </a:r>
          </a:p>
          <a:p>
            <a:pPr lvl="1"/>
            <a:r>
              <a:rPr lang="en-US" dirty="0">
                <a:solidFill>
                  <a:schemeClr val="bg2"/>
                </a:solidFill>
                <a:latin typeface="Arial Narrow" charset="0"/>
              </a:rPr>
              <a:t>AND (G,0) = 0</a:t>
            </a:r>
          </a:p>
          <a:p>
            <a:pPr lvl="1"/>
            <a:r>
              <a:rPr lang="en-US" dirty="0">
                <a:solidFill>
                  <a:schemeClr val="bg2"/>
                </a:solidFill>
                <a:latin typeface="Arial Narrow" charset="0"/>
              </a:rPr>
              <a:t>AND (G,1) = G</a:t>
            </a:r>
          </a:p>
        </p:txBody>
      </p:sp>
    </p:spTree>
    <p:extLst>
      <p:ext uri="{BB962C8B-B14F-4D97-AF65-F5344CB8AC3E}">
        <p14:creationId xmlns:p14="http://schemas.microsoft.com/office/powerpoint/2010/main" val="10532946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r>
              <a:rPr lang="en-US" sz="1400" b="0"/>
              <a:t>(c)  Giovanni De Micheli</a:t>
            </a:r>
          </a:p>
        </p:txBody>
      </p:sp>
      <p:sp>
        <p:nvSpPr>
          <p:cNvPr id="6041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10B485BD-881C-C349-B7A5-29F5655521EB}" type="slidenum">
              <a:rPr lang="en-US" sz="1400" b="0"/>
              <a:pPr/>
              <a:t>27</a:t>
            </a:fld>
            <a:endParaRPr lang="en-US" sz="1400" b="0"/>
          </a:p>
        </p:txBody>
      </p:sp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Narrow" charset="0"/>
              </a:rPr>
              <a:t>ROBDD construction </a:t>
            </a:r>
            <a:r>
              <a:rPr lang="mr-IN" dirty="0">
                <a:latin typeface="Arial Narrow" charset="0"/>
              </a:rPr>
              <a:t>–</a:t>
            </a:r>
            <a:r>
              <a:rPr lang="en-US" dirty="0">
                <a:latin typeface="Arial Narrow" charset="0"/>
              </a:rPr>
              <a:t> recursive step (AND)</a:t>
            </a:r>
          </a:p>
        </p:txBody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chemeClr val="bg2"/>
                </a:solidFill>
                <a:latin typeface="Arial Narrow" charset="0"/>
              </a:rPr>
              <a:t>G(x,…) =x</a:t>
            </a:r>
            <a:r>
              <a:rPr lang="ja-JP" altLang="en-US">
                <a:solidFill>
                  <a:schemeClr val="bg2"/>
                </a:solidFill>
                <a:latin typeface="Arial Narrow" charset="0"/>
              </a:rPr>
              <a:t>’</a:t>
            </a:r>
            <a:r>
              <a:rPr lang="en-US" altLang="ja-JP">
                <a:solidFill>
                  <a:schemeClr val="bg2"/>
                </a:solidFill>
                <a:latin typeface="Arial Narrow" charset="0"/>
              </a:rPr>
              <a:t> G</a:t>
            </a:r>
            <a:r>
              <a:rPr lang="en-US" altLang="ja-JP" baseline="-25000">
                <a:solidFill>
                  <a:schemeClr val="bg2"/>
                </a:solidFill>
                <a:latin typeface="Arial Narrow" charset="0"/>
              </a:rPr>
              <a:t>x=0</a:t>
            </a:r>
            <a:r>
              <a:rPr lang="en-US" altLang="ja-JP">
                <a:solidFill>
                  <a:schemeClr val="bg2"/>
                </a:solidFill>
                <a:latin typeface="Arial Narrow" charset="0"/>
              </a:rPr>
              <a:t>+ x G</a:t>
            </a:r>
            <a:r>
              <a:rPr lang="en-US" altLang="ja-JP" baseline="-25000">
                <a:solidFill>
                  <a:schemeClr val="bg2"/>
                </a:solidFill>
                <a:latin typeface="Arial Narrow" charset="0"/>
              </a:rPr>
              <a:t>x=1</a:t>
            </a:r>
            <a:endParaRPr lang="en-US" altLang="ja-JP">
              <a:solidFill>
                <a:schemeClr val="bg2"/>
              </a:solidFill>
              <a:latin typeface="Arial Narrow" charset="0"/>
            </a:endParaRPr>
          </a:p>
          <a:p>
            <a:r>
              <a:rPr lang="en-US">
                <a:solidFill>
                  <a:schemeClr val="bg2"/>
                </a:solidFill>
                <a:latin typeface="Arial Narrow" charset="0"/>
              </a:rPr>
              <a:t>H(x,…) =x</a:t>
            </a:r>
            <a:r>
              <a:rPr lang="ja-JP" altLang="en-US">
                <a:solidFill>
                  <a:schemeClr val="bg2"/>
                </a:solidFill>
                <a:latin typeface="Arial Narrow" charset="0"/>
              </a:rPr>
              <a:t>’</a:t>
            </a:r>
            <a:r>
              <a:rPr lang="en-US" altLang="ja-JP">
                <a:solidFill>
                  <a:schemeClr val="bg2"/>
                </a:solidFill>
                <a:latin typeface="Arial Narrow" charset="0"/>
              </a:rPr>
              <a:t> H</a:t>
            </a:r>
            <a:r>
              <a:rPr lang="en-US" altLang="ja-JP" baseline="-25000">
                <a:solidFill>
                  <a:schemeClr val="bg2"/>
                </a:solidFill>
                <a:latin typeface="Arial Narrow" charset="0"/>
              </a:rPr>
              <a:t>x=0</a:t>
            </a:r>
            <a:r>
              <a:rPr lang="en-US" altLang="ja-JP">
                <a:solidFill>
                  <a:schemeClr val="bg2"/>
                </a:solidFill>
                <a:latin typeface="Arial Narrow" charset="0"/>
              </a:rPr>
              <a:t>+ x H</a:t>
            </a:r>
            <a:r>
              <a:rPr lang="en-US" altLang="ja-JP" baseline="-25000">
                <a:solidFill>
                  <a:schemeClr val="bg2"/>
                </a:solidFill>
                <a:latin typeface="Arial Narrow" charset="0"/>
              </a:rPr>
              <a:t>x=1</a:t>
            </a:r>
          </a:p>
          <a:p>
            <a:endParaRPr lang="en-US" baseline="-25000">
              <a:solidFill>
                <a:schemeClr val="bg2"/>
              </a:solidFill>
              <a:latin typeface="Arial Narrow" charset="0"/>
            </a:endParaRPr>
          </a:p>
          <a:p>
            <a:r>
              <a:rPr lang="en-US">
                <a:solidFill>
                  <a:schemeClr val="bg2"/>
                </a:solidFill>
                <a:latin typeface="Arial Narrow" charset="0"/>
              </a:rPr>
              <a:t>F = GH = x</a:t>
            </a:r>
            <a:r>
              <a:rPr lang="ja-JP" altLang="en-US">
                <a:solidFill>
                  <a:schemeClr val="bg2"/>
                </a:solidFill>
                <a:latin typeface="Arial Narrow" charset="0"/>
              </a:rPr>
              <a:t>’</a:t>
            </a:r>
            <a:r>
              <a:rPr lang="en-US" altLang="ja-JP">
                <a:solidFill>
                  <a:schemeClr val="bg2"/>
                </a:solidFill>
                <a:latin typeface="Arial Narrow" charset="0"/>
              </a:rPr>
              <a:t> G</a:t>
            </a:r>
            <a:r>
              <a:rPr lang="en-US" altLang="ja-JP" baseline="-25000">
                <a:solidFill>
                  <a:schemeClr val="bg2"/>
                </a:solidFill>
                <a:latin typeface="Arial Narrow" charset="0"/>
              </a:rPr>
              <a:t>x=0 </a:t>
            </a:r>
            <a:r>
              <a:rPr lang="en-US" altLang="ja-JP">
                <a:solidFill>
                  <a:schemeClr val="bg2"/>
                </a:solidFill>
                <a:latin typeface="Arial Narrow" charset="0"/>
              </a:rPr>
              <a:t>H</a:t>
            </a:r>
            <a:r>
              <a:rPr lang="en-US" altLang="ja-JP" baseline="-25000">
                <a:solidFill>
                  <a:schemeClr val="bg2"/>
                </a:solidFill>
                <a:latin typeface="Arial Narrow" charset="0"/>
              </a:rPr>
              <a:t>x=0  </a:t>
            </a:r>
            <a:r>
              <a:rPr lang="en-US" altLang="ja-JP">
                <a:solidFill>
                  <a:schemeClr val="bg2"/>
                </a:solidFill>
                <a:latin typeface="Arial Narrow" charset="0"/>
              </a:rPr>
              <a:t>+ x G</a:t>
            </a:r>
            <a:r>
              <a:rPr lang="en-US" altLang="ja-JP" baseline="-25000">
                <a:solidFill>
                  <a:schemeClr val="bg2"/>
                </a:solidFill>
                <a:latin typeface="Arial Narrow" charset="0"/>
              </a:rPr>
              <a:t>x=1</a:t>
            </a:r>
            <a:r>
              <a:rPr lang="en-US" altLang="ja-JP">
                <a:solidFill>
                  <a:schemeClr val="bg2"/>
                </a:solidFill>
                <a:latin typeface="Arial Narrow" charset="0"/>
              </a:rPr>
              <a:t>H</a:t>
            </a:r>
            <a:r>
              <a:rPr lang="en-US" altLang="ja-JP" baseline="-25000">
                <a:solidFill>
                  <a:schemeClr val="bg2"/>
                </a:solidFill>
                <a:latin typeface="Arial Narrow" charset="0"/>
              </a:rPr>
              <a:t>x=1</a:t>
            </a:r>
          </a:p>
          <a:p>
            <a:pPr>
              <a:buFont typeface="Monotype Sorts" charset="0"/>
              <a:buNone/>
            </a:pPr>
            <a:endParaRPr lang="en-US" baseline="-25000">
              <a:solidFill>
                <a:schemeClr val="bg2"/>
              </a:solidFill>
              <a:latin typeface="Arial Narrow" charset="0"/>
            </a:endParaRPr>
          </a:p>
        </p:txBody>
      </p:sp>
      <p:grpSp>
        <p:nvGrpSpPr>
          <p:cNvPr id="60421" name="Group 4"/>
          <p:cNvGrpSpPr>
            <a:grpSpLocks/>
          </p:cNvGrpSpPr>
          <p:nvPr/>
        </p:nvGrpSpPr>
        <p:grpSpPr bwMode="auto">
          <a:xfrm>
            <a:off x="4953000" y="2773363"/>
            <a:ext cx="3352800" cy="3170237"/>
            <a:chOff x="3600" y="1536"/>
            <a:chExt cx="2112" cy="1997"/>
          </a:xfrm>
        </p:grpSpPr>
        <p:grpSp>
          <p:nvGrpSpPr>
            <p:cNvPr id="60423" name="Group 5"/>
            <p:cNvGrpSpPr>
              <a:grpSpLocks/>
            </p:cNvGrpSpPr>
            <p:nvPr/>
          </p:nvGrpSpPr>
          <p:grpSpPr bwMode="auto">
            <a:xfrm>
              <a:off x="4495" y="1901"/>
              <a:ext cx="293" cy="305"/>
              <a:chOff x="2895" y="1488"/>
              <a:chExt cx="293" cy="305"/>
            </a:xfrm>
          </p:grpSpPr>
          <p:sp>
            <p:nvSpPr>
              <p:cNvPr id="60435" name="Freeform 6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436" name="Freeform 7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437" name="Rectangle 8"/>
              <p:cNvSpPr>
                <a:spLocks noChangeArrowheads="1"/>
              </p:cNvSpPr>
              <p:nvPr/>
            </p:nvSpPr>
            <p:spPr bwMode="auto">
              <a:xfrm>
                <a:off x="2995" y="1488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x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60424" name="Freeform 9"/>
            <p:cNvSpPr>
              <a:spLocks/>
            </p:cNvSpPr>
            <p:nvPr/>
          </p:nvSpPr>
          <p:spPr bwMode="auto">
            <a:xfrm>
              <a:off x="4740" y="2170"/>
              <a:ext cx="300" cy="208"/>
            </a:xfrm>
            <a:custGeom>
              <a:avLst/>
              <a:gdLst>
                <a:gd name="T0" fmla="*/ 0 w 160"/>
                <a:gd name="T1" fmla="*/ 0 h 208"/>
                <a:gd name="T2" fmla="*/ 300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60425" name="Freeform 10"/>
            <p:cNvSpPr>
              <a:spLocks/>
            </p:cNvSpPr>
            <p:nvPr/>
          </p:nvSpPr>
          <p:spPr bwMode="auto">
            <a:xfrm>
              <a:off x="4248" y="2170"/>
              <a:ext cx="300" cy="200"/>
            </a:xfrm>
            <a:custGeom>
              <a:avLst/>
              <a:gdLst>
                <a:gd name="T0" fmla="*/ 300 w 300"/>
                <a:gd name="T1" fmla="*/ 0 h 200"/>
                <a:gd name="T2" fmla="*/ 0 w 300"/>
                <a:gd name="T3" fmla="*/ 200 h 200"/>
                <a:gd name="T4" fmla="*/ 0 60000 65536"/>
                <a:gd name="T5" fmla="*/ 0 60000 65536"/>
                <a:gd name="T6" fmla="*/ 0 w 300"/>
                <a:gd name="T7" fmla="*/ 0 h 200"/>
                <a:gd name="T8" fmla="*/ 300 w 300"/>
                <a:gd name="T9" fmla="*/ 200 h 2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00" h="200">
                  <a:moveTo>
                    <a:pt x="300" y="0"/>
                  </a:moveTo>
                  <a:lnTo>
                    <a:pt x="0" y="200"/>
                  </a:ln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60426" name="Rectangle 11"/>
            <p:cNvSpPr>
              <a:spLocks noChangeArrowheads="1"/>
            </p:cNvSpPr>
            <p:nvPr/>
          </p:nvSpPr>
          <p:spPr bwMode="auto">
            <a:xfrm>
              <a:off x="4368" y="2074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60427" name="Rectangle 12"/>
            <p:cNvSpPr>
              <a:spLocks noChangeArrowheads="1"/>
            </p:cNvSpPr>
            <p:nvPr/>
          </p:nvSpPr>
          <p:spPr bwMode="auto">
            <a:xfrm>
              <a:off x="4834" y="2074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60428" name="AutoShape 13"/>
            <p:cNvSpPr>
              <a:spLocks noChangeArrowheads="1"/>
            </p:cNvSpPr>
            <p:nvPr/>
          </p:nvSpPr>
          <p:spPr bwMode="auto">
            <a:xfrm>
              <a:off x="4464" y="2376"/>
              <a:ext cx="1152" cy="1104"/>
            </a:xfrm>
            <a:prstGeom prst="triangle">
              <a:avLst>
                <a:gd name="adj" fmla="val 50000"/>
              </a:avLst>
            </a:prstGeom>
            <a:solidFill>
              <a:srgbClr val="008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0429" name="AutoShape 14"/>
            <p:cNvSpPr>
              <a:spLocks noChangeArrowheads="1"/>
            </p:cNvSpPr>
            <p:nvPr/>
          </p:nvSpPr>
          <p:spPr bwMode="auto">
            <a:xfrm flipV="1">
              <a:off x="3600" y="1901"/>
              <a:ext cx="2112" cy="1632"/>
            </a:xfrm>
            <a:custGeom>
              <a:avLst/>
              <a:gdLst>
                <a:gd name="T0" fmla="*/ 167 w 21600"/>
                <a:gd name="T1" fmla="*/ 62 h 21600"/>
                <a:gd name="T2" fmla="*/ 103 w 21600"/>
                <a:gd name="T3" fmla="*/ 123 h 21600"/>
                <a:gd name="T4" fmla="*/ 39 w 21600"/>
                <a:gd name="T5" fmla="*/ 62 h 21600"/>
                <a:gd name="T6" fmla="*/ 103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5901 w 21600"/>
                <a:gd name="T13" fmla="*/ 5903 h 21600"/>
                <a:gd name="T14" fmla="*/ 15699 w 21600"/>
                <a:gd name="T15" fmla="*/ 1569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8196" y="21600"/>
                  </a:lnTo>
                  <a:lnTo>
                    <a:pt x="13404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000">
                <a:alpha val="20000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0430" name="Freeform 15"/>
            <p:cNvSpPr>
              <a:spLocks/>
            </p:cNvSpPr>
            <p:nvPr/>
          </p:nvSpPr>
          <p:spPr bwMode="auto">
            <a:xfrm flipH="1">
              <a:off x="4656" y="1693"/>
              <a:ext cx="68" cy="227"/>
            </a:xfrm>
            <a:custGeom>
              <a:avLst/>
              <a:gdLst>
                <a:gd name="T0" fmla="*/ 0 w 160"/>
                <a:gd name="T1" fmla="*/ 0 h 208"/>
                <a:gd name="T2" fmla="*/ 68 w 160"/>
                <a:gd name="T3" fmla="*/ 227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66FF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60431" name="Text Box 16"/>
            <p:cNvSpPr txBox="1">
              <a:spLocks noChangeArrowheads="1"/>
            </p:cNvSpPr>
            <p:nvPr/>
          </p:nvSpPr>
          <p:spPr bwMode="auto">
            <a:xfrm>
              <a:off x="4724" y="1536"/>
              <a:ext cx="26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lang="en-US" sz="2200" b="0">
                  <a:latin typeface="Verdana" charset="0"/>
                  <a:cs typeface="Arial" charset="0"/>
                </a:rPr>
                <a:t>F</a:t>
              </a:r>
              <a:r>
                <a:rPr lang="en-US" sz="1800" b="0">
                  <a:latin typeface="Verdana" charset="0"/>
                  <a:cs typeface="Arial" charset="0"/>
                </a:rPr>
                <a:t> </a:t>
              </a:r>
            </a:p>
          </p:txBody>
        </p:sp>
        <p:sp>
          <p:nvSpPr>
            <p:cNvPr id="60432" name="AutoShape 17"/>
            <p:cNvSpPr>
              <a:spLocks noChangeArrowheads="1"/>
            </p:cNvSpPr>
            <p:nvPr/>
          </p:nvSpPr>
          <p:spPr bwMode="auto">
            <a:xfrm>
              <a:off x="3696" y="2378"/>
              <a:ext cx="1104" cy="1104"/>
            </a:xfrm>
            <a:prstGeom prst="triangle">
              <a:avLst>
                <a:gd name="adj" fmla="val 50000"/>
              </a:avLst>
            </a:prstGeom>
            <a:solidFill>
              <a:srgbClr val="008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0433" name="Text Box 18"/>
            <p:cNvSpPr txBox="1">
              <a:spLocks noChangeArrowheads="1"/>
            </p:cNvSpPr>
            <p:nvPr/>
          </p:nvSpPr>
          <p:spPr bwMode="auto">
            <a:xfrm>
              <a:off x="3807" y="3139"/>
              <a:ext cx="92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lang="en-US" sz="2200" b="0">
                  <a:solidFill>
                    <a:schemeClr val="bg1"/>
                  </a:solidFill>
                  <a:latin typeface="Verdana" charset="0"/>
                  <a:cs typeface="Arial" charset="0"/>
                </a:rPr>
                <a:t>G</a:t>
              </a:r>
              <a:r>
                <a:rPr lang="en-US" sz="2200" b="0" baseline="-25000">
                  <a:solidFill>
                    <a:schemeClr val="bg1"/>
                  </a:solidFill>
                  <a:latin typeface="Verdana" charset="0"/>
                  <a:cs typeface="Arial" charset="0"/>
                </a:rPr>
                <a:t>x=0</a:t>
              </a:r>
              <a:r>
                <a:rPr lang="en-US" sz="2200" b="0">
                  <a:solidFill>
                    <a:schemeClr val="bg1"/>
                  </a:solidFill>
                  <a:latin typeface="Verdana" charset="0"/>
                  <a:cs typeface="Arial" charset="0"/>
                </a:rPr>
                <a:t>H</a:t>
              </a:r>
              <a:r>
                <a:rPr lang="en-US" sz="2200" b="0" baseline="-25000">
                  <a:solidFill>
                    <a:schemeClr val="bg1"/>
                  </a:solidFill>
                  <a:latin typeface="Verdana" charset="0"/>
                  <a:cs typeface="Arial" charset="0"/>
                </a:rPr>
                <a:t>x=0</a:t>
              </a:r>
              <a:r>
                <a:rPr lang="en-US" sz="1800" b="0">
                  <a:latin typeface="Verdana" charset="0"/>
                  <a:cs typeface="Arial" charset="0"/>
                </a:rPr>
                <a:t> </a:t>
              </a:r>
            </a:p>
          </p:txBody>
        </p:sp>
        <p:sp>
          <p:nvSpPr>
            <p:cNvPr id="60434" name="Text Box 19"/>
            <p:cNvSpPr txBox="1">
              <a:spLocks noChangeArrowheads="1"/>
            </p:cNvSpPr>
            <p:nvPr/>
          </p:nvSpPr>
          <p:spPr bwMode="auto">
            <a:xfrm>
              <a:off x="4671" y="3139"/>
              <a:ext cx="92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lang="en-US" sz="2200" b="0">
                  <a:solidFill>
                    <a:schemeClr val="bg1"/>
                  </a:solidFill>
                  <a:latin typeface="Verdana" charset="0"/>
                  <a:cs typeface="Arial" charset="0"/>
                </a:rPr>
                <a:t>G</a:t>
              </a:r>
              <a:r>
                <a:rPr lang="en-US" sz="2200" b="0" baseline="-25000">
                  <a:solidFill>
                    <a:schemeClr val="bg1"/>
                  </a:solidFill>
                  <a:latin typeface="Verdana" charset="0"/>
                  <a:cs typeface="Arial" charset="0"/>
                </a:rPr>
                <a:t>x=1</a:t>
              </a:r>
              <a:r>
                <a:rPr lang="en-US" sz="2200" b="0">
                  <a:solidFill>
                    <a:schemeClr val="bg1"/>
                  </a:solidFill>
                  <a:latin typeface="Verdana" charset="0"/>
                  <a:cs typeface="Arial" charset="0"/>
                </a:rPr>
                <a:t>H</a:t>
              </a:r>
              <a:r>
                <a:rPr lang="en-US" sz="2200" b="0" baseline="-25000">
                  <a:solidFill>
                    <a:schemeClr val="bg1"/>
                  </a:solidFill>
                  <a:latin typeface="Verdana" charset="0"/>
                  <a:cs typeface="Arial" charset="0"/>
                </a:rPr>
                <a:t>x=1</a:t>
              </a:r>
              <a:r>
                <a:rPr lang="en-US" sz="1800" b="0">
                  <a:latin typeface="Verdana" charset="0"/>
                  <a:cs typeface="Arial" charset="0"/>
                </a:rPr>
                <a:t> </a:t>
              </a:r>
            </a:p>
          </p:txBody>
        </p:sp>
      </p:grpSp>
      <p:sp>
        <p:nvSpPr>
          <p:cNvPr id="60422" name="Text Box 20"/>
          <p:cNvSpPr txBox="1">
            <a:spLocks noChangeArrowheads="1"/>
          </p:cNvSpPr>
          <p:nvPr/>
        </p:nvSpPr>
        <p:spPr bwMode="auto">
          <a:xfrm>
            <a:off x="-428625" y="4132263"/>
            <a:ext cx="5419725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257300" indent="-3429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pPr lvl="2" algn="l" eaLnBrk="1" hangingPunct="1"/>
            <a:r>
              <a:rPr lang="en-US" b="0">
                <a:latin typeface="Verdana" charset="0"/>
                <a:cs typeface="Arial" charset="0"/>
              </a:rPr>
              <a:t>   Now we have reduced the problem to computing 2 ANDs of smaller functions</a:t>
            </a:r>
            <a:r>
              <a:rPr lang="en-US" sz="2000" b="0">
                <a:latin typeface="Verdana" charset="0"/>
                <a:cs typeface="Arial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17434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r>
              <a:rPr lang="en-US" sz="1400" b="0"/>
              <a:t>(c)  Giovanni De Micheli</a:t>
            </a:r>
          </a:p>
        </p:txBody>
      </p:sp>
      <p:sp>
        <p:nvSpPr>
          <p:cNvPr id="6246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865D5366-4516-2C41-A16C-6146058B7CC8}" type="slidenum">
              <a:rPr lang="en-US" sz="1400" b="0"/>
              <a:pPr/>
              <a:t>28</a:t>
            </a:fld>
            <a:endParaRPr lang="en-US" sz="1400" b="0"/>
          </a:p>
        </p:txBody>
      </p:sp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Narrow" charset="0"/>
              </a:rPr>
              <a:t>One last problem</a:t>
            </a:r>
          </a:p>
        </p:txBody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69900" indent="-469900">
              <a:lnSpc>
                <a:spcPct val="90000"/>
              </a:lnSpc>
            </a:pPr>
            <a:r>
              <a:rPr lang="en-US">
                <a:latin typeface="Arial Narrow" charset="0"/>
              </a:rPr>
              <a:t>Suppose we have computed </a:t>
            </a:r>
          </a:p>
          <a:p>
            <a:pPr marL="469900" indent="-469900">
              <a:lnSpc>
                <a:spcPct val="90000"/>
              </a:lnSpc>
              <a:buFont typeface="Monotype Sorts" charset="0"/>
              <a:buNone/>
            </a:pPr>
            <a:r>
              <a:rPr lang="en-US">
                <a:latin typeface="Arial Narrow" charset="0"/>
              </a:rPr>
              <a:t>	</a:t>
            </a:r>
            <a:r>
              <a:rPr lang="en-US">
                <a:solidFill>
                  <a:schemeClr val="bg2"/>
                </a:solidFill>
                <a:latin typeface="Arial Narrow" charset="0"/>
              </a:rPr>
              <a:t>G</a:t>
            </a:r>
            <a:r>
              <a:rPr lang="en-US" baseline="-25000">
                <a:solidFill>
                  <a:schemeClr val="bg2"/>
                </a:solidFill>
                <a:latin typeface="Arial Narrow" charset="0"/>
              </a:rPr>
              <a:t>x=0 </a:t>
            </a:r>
            <a:r>
              <a:rPr lang="en-US">
                <a:solidFill>
                  <a:schemeClr val="bg2"/>
                </a:solidFill>
                <a:latin typeface="Arial Narrow" charset="0"/>
              </a:rPr>
              <a:t>H</a:t>
            </a:r>
            <a:r>
              <a:rPr lang="en-US" baseline="-25000">
                <a:solidFill>
                  <a:schemeClr val="bg2"/>
                </a:solidFill>
                <a:latin typeface="Arial Narrow" charset="0"/>
              </a:rPr>
              <a:t>x=0</a:t>
            </a:r>
            <a:r>
              <a:rPr lang="en-US" baseline="-25000">
                <a:latin typeface="Arial Narrow" charset="0"/>
              </a:rPr>
              <a:t> </a:t>
            </a:r>
            <a:r>
              <a:rPr lang="en-US">
                <a:latin typeface="Arial Narrow" charset="0"/>
              </a:rPr>
              <a:t>and  </a:t>
            </a:r>
            <a:r>
              <a:rPr lang="en-US">
                <a:solidFill>
                  <a:schemeClr val="bg2"/>
                </a:solidFill>
                <a:latin typeface="Arial Narrow" charset="0"/>
              </a:rPr>
              <a:t>G</a:t>
            </a:r>
            <a:r>
              <a:rPr lang="en-US" baseline="-25000">
                <a:solidFill>
                  <a:schemeClr val="bg2"/>
                </a:solidFill>
                <a:latin typeface="Arial Narrow" charset="0"/>
              </a:rPr>
              <a:t>x=1</a:t>
            </a:r>
            <a:r>
              <a:rPr lang="en-US">
                <a:solidFill>
                  <a:schemeClr val="bg2"/>
                </a:solidFill>
                <a:latin typeface="Arial Narrow" charset="0"/>
              </a:rPr>
              <a:t>H</a:t>
            </a:r>
            <a:r>
              <a:rPr lang="en-US" baseline="-25000">
                <a:solidFill>
                  <a:schemeClr val="bg2"/>
                </a:solidFill>
                <a:latin typeface="Arial Narrow" charset="0"/>
              </a:rPr>
              <a:t>x=1</a:t>
            </a:r>
          </a:p>
          <a:p>
            <a:pPr marL="469900" indent="-469900">
              <a:lnSpc>
                <a:spcPct val="90000"/>
              </a:lnSpc>
              <a:buFont typeface="Monotype Sorts" charset="0"/>
              <a:buNone/>
            </a:pPr>
            <a:endParaRPr lang="en-US">
              <a:solidFill>
                <a:schemeClr val="bg2"/>
              </a:solidFill>
              <a:latin typeface="Arial Narrow" charset="0"/>
            </a:endParaRPr>
          </a:p>
          <a:p>
            <a:pPr marL="469900" indent="-469900">
              <a:lnSpc>
                <a:spcPct val="90000"/>
              </a:lnSpc>
            </a:pPr>
            <a:r>
              <a:rPr lang="en-US">
                <a:latin typeface="Arial Narrow" charset="0"/>
              </a:rPr>
              <a:t>We need to construct a new node,</a:t>
            </a:r>
          </a:p>
          <a:p>
            <a:pPr marL="908050" lvl="1" indent="-436563">
              <a:lnSpc>
                <a:spcPct val="90000"/>
              </a:lnSpc>
            </a:pPr>
            <a:r>
              <a:rPr lang="en-US">
                <a:latin typeface="Arial Narrow" charset="0"/>
              </a:rPr>
              <a:t>label: </a:t>
            </a:r>
            <a:r>
              <a:rPr lang="en-US">
                <a:solidFill>
                  <a:schemeClr val="bg2"/>
                </a:solidFill>
                <a:latin typeface="Arial Narrow" charset="0"/>
              </a:rPr>
              <a:t>x</a:t>
            </a:r>
          </a:p>
          <a:p>
            <a:pPr marL="908050" lvl="1" indent="-436563">
              <a:lnSpc>
                <a:spcPct val="90000"/>
              </a:lnSpc>
            </a:pPr>
            <a:r>
              <a:rPr lang="en-US">
                <a:latin typeface="Arial Narrow" charset="0"/>
              </a:rPr>
              <a:t>0-cofactor(F</a:t>
            </a:r>
            <a:r>
              <a:rPr lang="en-US" baseline="-25000">
                <a:latin typeface="Arial Narrow" charset="0"/>
              </a:rPr>
              <a:t>x=0</a:t>
            </a:r>
            <a:r>
              <a:rPr lang="en-US">
                <a:latin typeface="Arial Narrow" charset="0"/>
              </a:rPr>
              <a:t>): ROBDD of </a:t>
            </a:r>
            <a:r>
              <a:rPr lang="en-US">
                <a:solidFill>
                  <a:schemeClr val="bg2"/>
                </a:solidFill>
                <a:latin typeface="Arial Narrow" charset="0"/>
              </a:rPr>
              <a:t>G</a:t>
            </a:r>
            <a:r>
              <a:rPr lang="en-US" baseline="-25000">
                <a:solidFill>
                  <a:schemeClr val="bg2"/>
                </a:solidFill>
                <a:latin typeface="Arial Narrow" charset="0"/>
              </a:rPr>
              <a:t>x=0 </a:t>
            </a:r>
            <a:r>
              <a:rPr lang="en-US">
                <a:solidFill>
                  <a:schemeClr val="bg2"/>
                </a:solidFill>
                <a:latin typeface="Arial Narrow" charset="0"/>
              </a:rPr>
              <a:t>H</a:t>
            </a:r>
            <a:r>
              <a:rPr lang="en-US" baseline="-25000">
                <a:solidFill>
                  <a:schemeClr val="bg2"/>
                </a:solidFill>
                <a:latin typeface="Arial Narrow" charset="0"/>
              </a:rPr>
              <a:t>x=0 </a:t>
            </a:r>
          </a:p>
          <a:p>
            <a:pPr marL="908050" lvl="1" indent="-436563">
              <a:lnSpc>
                <a:spcPct val="90000"/>
              </a:lnSpc>
            </a:pPr>
            <a:r>
              <a:rPr lang="en-US">
                <a:latin typeface="Arial Narrow" charset="0"/>
              </a:rPr>
              <a:t>1-cofactor(F</a:t>
            </a:r>
            <a:r>
              <a:rPr lang="en-US" baseline="-25000">
                <a:latin typeface="Arial Narrow" charset="0"/>
              </a:rPr>
              <a:t>x=1</a:t>
            </a:r>
            <a:r>
              <a:rPr lang="en-US">
                <a:latin typeface="Arial Narrow" charset="0"/>
              </a:rPr>
              <a:t>): ROBDD of </a:t>
            </a:r>
            <a:r>
              <a:rPr lang="en-US">
                <a:solidFill>
                  <a:schemeClr val="bg2"/>
                </a:solidFill>
                <a:latin typeface="Arial Narrow" charset="0"/>
              </a:rPr>
              <a:t>G</a:t>
            </a:r>
            <a:r>
              <a:rPr lang="en-US" baseline="-25000">
                <a:solidFill>
                  <a:schemeClr val="bg2"/>
                </a:solidFill>
                <a:latin typeface="Arial Narrow" charset="0"/>
              </a:rPr>
              <a:t>x=1 </a:t>
            </a:r>
            <a:r>
              <a:rPr lang="en-US">
                <a:solidFill>
                  <a:schemeClr val="bg2"/>
                </a:solidFill>
                <a:latin typeface="Arial Narrow" charset="0"/>
              </a:rPr>
              <a:t>H</a:t>
            </a:r>
            <a:r>
              <a:rPr lang="en-US" baseline="-25000">
                <a:solidFill>
                  <a:schemeClr val="bg2"/>
                </a:solidFill>
                <a:latin typeface="Arial Narrow" charset="0"/>
              </a:rPr>
              <a:t>x=1 </a:t>
            </a:r>
          </a:p>
          <a:p>
            <a:pPr marL="908050" lvl="1" indent="-436563">
              <a:lnSpc>
                <a:spcPct val="90000"/>
              </a:lnSpc>
            </a:pPr>
            <a:endParaRPr lang="en-US" baseline="-25000">
              <a:solidFill>
                <a:schemeClr val="bg2"/>
              </a:solidFill>
              <a:latin typeface="Arial Narrow" charset="0"/>
            </a:endParaRPr>
          </a:p>
          <a:p>
            <a:pPr marL="469900" indent="-469900">
              <a:lnSpc>
                <a:spcPct val="90000"/>
              </a:lnSpc>
            </a:pPr>
            <a:r>
              <a:rPr lang="en-US">
                <a:latin typeface="Arial Narrow" charset="0"/>
              </a:rPr>
              <a:t>BUT, we need first to make sure that we don</a:t>
            </a:r>
            <a:r>
              <a:rPr lang="ja-JP" altLang="en-US">
                <a:latin typeface="Arial Narrow" charset="0"/>
              </a:rPr>
              <a:t>’</a:t>
            </a:r>
            <a:r>
              <a:rPr lang="en-US" altLang="ja-JP">
                <a:latin typeface="Arial Narrow" charset="0"/>
              </a:rPr>
              <a:t>t violate the reduction rules!</a:t>
            </a:r>
          </a:p>
          <a:p>
            <a:pPr marL="908050" lvl="1" indent="-436563">
              <a:lnSpc>
                <a:spcPct val="90000"/>
              </a:lnSpc>
            </a:pPr>
            <a:endParaRPr lang="en-US">
              <a:latin typeface="Arial Narrow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r>
              <a:rPr lang="en-US" sz="1400" b="0"/>
              <a:t>(c)  Giovanni De Micheli</a:t>
            </a:r>
          </a:p>
        </p:txBody>
      </p:sp>
      <p:sp>
        <p:nvSpPr>
          <p:cNvPr id="6451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2CA18C91-32B8-944D-8436-13BE74412E1A}" type="slidenum">
              <a:rPr lang="en-US" sz="1400" b="0"/>
              <a:pPr/>
              <a:t>29</a:t>
            </a:fld>
            <a:endParaRPr lang="en-US" sz="1400" b="0"/>
          </a:p>
        </p:txBody>
      </p:sp>
      <p:sp>
        <p:nvSpPr>
          <p:cNvPr id="645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Narrow" charset="0"/>
              </a:rPr>
              <a:t>The unique table</a:t>
            </a:r>
          </a:p>
        </p:txBody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69900" indent="-469900">
              <a:lnSpc>
                <a:spcPct val="90000"/>
              </a:lnSpc>
              <a:buFont typeface="Monotype Sorts" charset="0"/>
              <a:buNone/>
            </a:pPr>
            <a:r>
              <a:rPr lang="en-US" dirty="0">
                <a:latin typeface="Arial Narrow" charset="0"/>
              </a:rPr>
              <a:t>To obey reduction rule #1:</a:t>
            </a:r>
          </a:p>
          <a:p>
            <a:pPr marL="908050" lvl="1" indent="-436563">
              <a:lnSpc>
                <a:spcPct val="90000"/>
              </a:lnSpc>
            </a:pPr>
            <a:r>
              <a:rPr lang="en-US" dirty="0">
                <a:latin typeface="Arial Narrow" charset="0"/>
              </a:rPr>
              <a:t>If </a:t>
            </a:r>
            <a:r>
              <a:rPr lang="en-US" dirty="0" err="1">
                <a:solidFill>
                  <a:schemeClr val="bg2"/>
                </a:solidFill>
                <a:latin typeface="Arial Narrow" charset="0"/>
              </a:rPr>
              <a:t>F</a:t>
            </a:r>
            <a:r>
              <a:rPr lang="en-US" baseline="-25000" dirty="0" err="1">
                <a:solidFill>
                  <a:schemeClr val="bg2"/>
                </a:solidFill>
                <a:latin typeface="Arial Narrow" charset="0"/>
              </a:rPr>
              <a:t>x</a:t>
            </a:r>
            <a:r>
              <a:rPr lang="en-US" baseline="-25000" dirty="0">
                <a:solidFill>
                  <a:schemeClr val="bg2"/>
                </a:solidFill>
                <a:latin typeface="Arial Narrow" charset="0"/>
              </a:rPr>
              <a:t>=0</a:t>
            </a:r>
            <a:r>
              <a:rPr lang="en-US" dirty="0">
                <a:solidFill>
                  <a:schemeClr val="bg2"/>
                </a:solidFill>
                <a:latin typeface="Arial Narrow" charset="0"/>
              </a:rPr>
              <a:t> == </a:t>
            </a:r>
            <a:r>
              <a:rPr lang="en-US" dirty="0" err="1">
                <a:solidFill>
                  <a:schemeClr val="bg2"/>
                </a:solidFill>
                <a:latin typeface="Arial Narrow" charset="0"/>
              </a:rPr>
              <a:t>F</a:t>
            </a:r>
            <a:r>
              <a:rPr lang="en-US" baseline="-25000" dirty="0" err="1">
                <a:solidFill>
                  <a:schemeClr val="bg2"/>
                </a:solidFill>
                <a:latin typeface="Arial Narrow" charset="0"/>
              </a:rPr>
              <a:t>x</a:t>
            </a:r>
            <a:r>
              <a:rPr lang="en-US" baseline="-25000" dirty="0">
                <a:solidFill>
                  <a:schemeClr val="bg2"/>
                </a:solidFill>
                <a:latin typeface="Arial Narrow" charset="0"/>
              </a:rPr>
              <a:t>=1</a:t>
            </a:r>
            <a:r>
              <a:rPr lang="en-US" dirty="0">
                <a:latin typeface="Arial Narrow" charset="0"/>
              </a:rPr>
              <a:t>, the result is just </a:t>
            </a:r>
            <a:r>
              <a:rPr lang="en-US" dirty="0" err="1">
                <a:solidFill>
                  <a:schemeClr val="bg2"/>
                </a:solidFill>
                <a:latin typeface="Arial Narrow" charset="0"/>
              </a:rPr>
              <a:t>F</a:t>
            </a:r>
            <a:r>
              <a:rPr lang="en-US" baseline="-25000" dirty="0" err="1">
                <a:solidFill>
                  <a:schemeClr val="bg2"/>
                </a:solidFill>
                <a:latin typeface="Arial Narrow" charset="0"/>
              </a:rPr>
              <a:t>x</a:t>
            </a:r>
            <a:r>
              <a:rPr lang="en-US" baseline="-25000" dirty="0">
                <a:solidFill>
                  <a:schemeClr val="bg2"/>
                </a:solidFill>
                <a:latin typeface="Arial Narrow" charset="0"/>
              </a:rPr>
              <a:t>=0</a:t>
            </a:r>
          </a:p>
          <a:p>
            <a:pPr marL="908050" lvl="1" indent="-436563">
              <a:lnSpc>
                <a:spcPct val="90000"/>
              </a:lnSpc>
              <a:buFont typeface="Monotype Sorts" charset="0"/>
              <a:buNone/>
            </a:pPr>
            <a:endParaRPr lang="en-US" dirty="0">
              <a:latin typeface="Arial Narrow" charset="0"/>
            </a:endParaRPr>
          </a:p>
          <a:p>
            <a:pPr marL="469900" indent="-469900">
              <a:lnSpc>
                <a:spcPct val="90000"/>
              </a:lnSpc>
              <a:buFont typeface="Monotype Sorts" charset="0"/>
              <a:buNone/>
            </a:pPr>
            <a:r>
              <a:rPr lang="en-US" dirty="0">
                <a:latin typeface="Arial Narrow" charset="0"/>
              </a:rPr>
              <a:t>To obey reduction rule #2:</a:t>
            </a:r>
          </a:p>
          <a:p>
            <a:pPr marL="908050" lvl="1" indent="-436563">
              <a:lnSpc>
                <a:spcPct val="90000"/>
              </a:lnSpc>
            </a:pPr>
            <a:r>
              <a:rPr lang="en-US" dirty="0">
                <a:latin typeface="Arial Narrow" charset="0"/>
              </a:rPr>
              <a:t>We keep a </a:t>
            </a:r>
            <a:r>
              <a:rPr lang="en-US" i="1" dirty="0">
                <a:latin typeface="Arial Narrow" charset="0"/>
              </a:rPr>
              <a:t>unique table</a:t>
            </a:r>
            <a:r>
              <a:rPr lang="en-US" dirty="0">
                <a:latin typeface="Arial Narrow" charset="0"/>
              </a:rPr>
              <a:t> of all the BDD nodes and check first if there is already a node </a:t>
            </a:r>
          </a:p>
          <a:p>
            <a:pPr marL="908050" lvl="1" indent="-436563">
              <a:lnSpc>
                <a:spcPct val="90000"/>
              </a:lnSpc>
              <a:buFont typeface="Monotype Sorts" charset="0"/>
              <a:buNone/>
            </a:pPr>
            <a:r>
              <a:rPr lang="en-US" dirty="0">
                <a:latin typeface="Arial Narrow" charset="0"/>
              </a:rPr>
              <a:t>	</a:t>
            </a:r>
            <a:r>
              <a:rPr lang="en-US" dirty="0">
                <a:solidFill>
                  <a:schemeClr val="bg2"/>
                </a:solidFill>
                <a:latin typeface="Arial Narrow" charset="0"/>
              </a:rPr>
              <a:t>(x, </a:t>
            </a:r>
            <a:r>
              <a:rPr lang="en-US" dirty="0" err="1">
                <a:solidFill>
                  <a:schemeClr val="bg2"/>
                </a:solidFill>
                <a:latin typeface="Arial Narrow" charset="0"/>
              </a:rPr>
              <a:t>F</a:t>
            </a:r>
            <a:r>
              <a:rPr lang="en-US" baseline="-25000" dirty="0" err="1">
                <a:solidFill>
                  <a:schemeClr val="bg2"/>
                </a:solidFill>
                <a:latin typeface="Arial Narrow" charset="0"/>
              </a:rPr>
              <a:t>x</a:t>
            </a:r>
            <a:r>
              <a:rPr lang="en-US" baseline="-25000" dirty="0">
                <a:solidFill>
                  <a:schemeClr val="bg2"/>
                </a:solidFill>
                <a:latin typeface="Arial Narrow" charset="0"/>
              </a:rPr>
              <a:t>=0</a:t>
            </a:r>
            <a:r>
              <a:rPr lang="en-US" dirty="0">
                <a:solidFill>
                  <a:schemeClr val="bg2"/>
                </a:solidFill>
                <a:latin typeface="Arial Narrow" charset="0"/>
              </a:rPr>
              <a:t>, </a:t>
            </a:r>
            <a:r>
              <a:rPr lang="en-US" dirty="0" err="1">
                <a:solidFill>
                  <a:schemeClr val="bg2"/>
                </a:solidFill>
                <a:latin typeface="Arial Narrow" charset="0"/>
              </a:rPr>
              <a:t>F</a:t>
            </a:r>
            <a:r>
              <a:rPr lang="en-US" baseline="-25000" dirty="0" err="1">
                <a:solidFill>
                  <a:schemeClr val="bg2"/>
                </a:solidFill>
                <a:latin typeface="Arial Narrow" charset="0"/>
              </a:rPr>
              <a:t>x</a:t>
            </a:r>
            <a:r>
              <a:rPr lang="en-US" baseline="-25000" dirty="0">
                <a:solidFill>
                  <a:schemeClr val="bg2"/>
                </a:solidFill>
                <a:latin typeface="Arial Narrow" charset="0"/>
              </a:rPr>
              <a:t>=1</a:t>
            </a:r>
            <a:r>
              <a:rPr lang="en-US" dirty="0">
                <a:solidFill>
                  <a:schemeClr val="bg2"/>
                </a:solidFill>
                <a:latin typeface="Arial Narrow" charset="0"/>
              </a:rPr>
              <a:t>)</a:t>
            </a:r>
            <a:endParaRPr lang="en-US" baseline="-25000" dirty="0">
              <a:solidFill>
                <a:schemeClr val="bg2"/>
              </a:solidFill>
              <a:latin typeface="Arial Narrow" charset="0"/>
            </a:endParaRPr>
          </a:p>
          <a:p>
            <a:pPr marL="908050" lvl="1" indent="-436563">
              <a:lnSpc>
                <a:spcPct val="90000"/>
              </a:lnSpc>
              <a:buFont typeface="Monotype Sorts" charset="0"/>
              <a:buNone/>
            </a:pPr>
            <a:endParaRPr lang="en-US" dirty="0">
              <a:solidFill>
                <a:schemeClr val="bg2"/>
              </a:solidFill>
              <a:latin typeface="Arial Narrow" charset="0"/>
            </a:endParaRPr>
          </a:p>
          <a:p>
            <a:pPr marL="469900" indent="-469900">
              <a:lnSpc>
                <a:spcPct val="90000"/>
              </a:lnSpc>
              <a:buFont typeface="Monotype Sorts" charset="0"/>
              <a:buNone/>
            </a:pPr>
            <a:r>
              <a:rPr lang="en-US" dirty="0">
                <a:latin typeface="Arial Narrow" charset="0"/>
              </a:rPr>
              <a:t>Otherwise, we build the new node</a:t>
            </a:r>
          </a:p>
          <a:p>
            <a:pPr marL="908050" lvl="1" indent="-436563">
              <a:lnSpc>
                <a:spcPct val="90000"/>
              </a:lnSpc>
            </a:pPr>
            <a:r>
              <a:rPr lang="en-US" dirty="0">
                <a:latin typeface="Arial Narrow" charset="0"/>
              </a:rPr>
              <a:t>And add it to the unique table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r>
              <a:rPr lang="en-US" sz="1400" b="0"/>
              <a:t>(c)  Giovanni De Micheli</a:t>
            </a:r>
          </a:p>
        </p:txBody>
      </p:sp>
      <p:sp>
        <p:nvSpPr>
          <p:cNvPr id="6656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B4C58852-5CD3-EA4E-918F-EF295187FBB4}" type="slidenum">
              <a:rPr lang="en-US" sz="1400" b="0"/>
              <a:pPr/>
              <a:t>30</a:t>
            </a:fld>
            <a:endParaRPr lang="en-US" sz="1400" b="0"/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Narrow" charset="0"/>
              </a:rPr>
              <a:t>Putting all together</a:t>
            </a:r>
          </a:p>
        </p:txBody>
      </p:sp>
      <p:sp>
        <p:nvSpPr>
          <p:cNvPr id="66564" name="Text Box 3"/>
          <p:cNvSpPr txBox="1">
            <a:spLocks noChangeArrowheads="1"/>
          </p:cNvSpPr>
          <p:nvPr/>
        </p:nvSpPr>
        <p:spPr bwMode="auto">
          <a:xfrm>
            <a:off x="974725" y="1339850"/>
            <a:ext cx="5840413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600" b="0" dirty="0">
                <a:latin typeface="Verdana" charset="0"/>
                <a:cs typeface="Arial" charset="0"/>
              </a:rPr>
              <a:t>AND(G,H) {</a:t>
            </a:r>
          </a:p>
          <a:p>
            <a:pPr algn="l" eaLnBrk="1" hangingPunct="1"/>
            <a:r>
              <a:rPr lang="en-US" sz="1600" b="0" dirty="0">
                <a:latin typeface="Verdana" charset="0"/>
                <a:cs typeface="Arial" charset="0"/>
              </a:rPr>
              <a:t>	if (G==0) || (H==0) return 0;</a:t>
            </a:r>
          </a:p>
          <a:p>
            <a:pPr algn="l" eaLnBrk="1" hangingPunct="1"/>
            <a:r>
              <a:rPr lang="en-US" sz="1600" b="0" dirty="0">
                <a:latin typeface="Verdana" charset="0"/>
                <a:cs typeface="Arial" charset="0"/>
              </a:rPr>
              <a:t>	if (G==1) return H;</a:t>
            </a:r>
          </a:p>
          <a:p>
            <a:pPr algn="l" eaLnBrk="1" hangingPunct="1"/>
            <a:r>
              <a:rPr lang="en-US" sz="1600" b="0" dirty="0">
                <a:latin typeface="Verdana" charset="0"/>
                <a:cs typeface="Arial" charset="0"/>
              </a:rPr>
              <a:t>	if (H==1) return G;</a:t>
            </a:r>
          </a:p>
          <a:p>
            <a:pPr algn="l" eaLnBrk="1" hangingPunct="1"/>
            <a:r>
              <a:rPr lang="en-US" sz="1600" b="0" dirty="0">
                <a:latin typeface="Verdana" charset="0"/>
                <a:cs typeface="Arial" charset="0"/>
              </a:rPr>
              <a:t>	</a:t>
            </a:r>
            <a:r>
              <a:rPr lang="en-US" sz="1600" b="0" dirty="0" err="1">
                <a:latin typeface="Verdana" charset="0"/>
                <a:cs typeface="Arial" charset="0"/>
              </a:rPr>
              <a:t>cmp</a:t>
            </a:r>
            <a:r>
              <a:rPr lang="en-US" sz="1600" b="0" dirty="0">
                <a:latin typeface="Verdana" charset="0"/>
                <a:cs typeface="Arial" charset="0"/>
              </a:rPr>
              <a:t> = </a:t>
            </a:r>
            <a:r>
              <a:rPr lang="en-US" sz="1600" b="0" dirty="0" err="1">
                <a:latin typeface="Verdana" charset="0"/>
                <a:cs typeface="Arial" charset="0"/>
              </a:rPr>
              <a:t>computed_table_lookup</a:t>
            </a:r>
            <a:r>
              <a:rPr lang="en-US" sz="1600" b="0" dirty="0">
                <a:latin typeface="Verdana" charset="0"/>
                <a:cs typeface="Arial" charset="0"/>
              </a:rPr>
              <a:t>(G,H);</a:t>
            </a:r>
          </a:p>
          <a:p>
            <a:pPr algn="l" eaLnBrk="1" hangingPunct="1"/>
            <a:r>
              <a:rPr lang="en-US" sz="1600" b="0" dirty="0">
                <a:latin typeface="Verdana" charset="0"/>
                <a:cs typeface="Arial" charset="0"/>
              </a:rPr>
              <a:t>	if (</a:t>
            </a:r>
            <a:r>
              <a:rPr lang="en-US" sz="1600" b="0" dirty="0" err="1">
                <a:latin typeface="Verdana" charset="0"/>
                <a:cs typeface="Arial" charset="0"/>
              </a:rPr>
              <a:t>cmp</a:t>
            </a:r>
            <a:r>
              <a:rPr lang="en-US" sz="1600" b="0" dirty="0">
                <a:latin typeface="Verdana" charset="0"/>
                <a:cs typeface="Arial" charset="0"/>
              </a:rPr>
              <a:t> != NULL) return </a:t>
            </a:r>
            <a:r>
              <a:rPr lang="en-US" sz="1600" b="0" dirty="0" err="1">
                <a:latin typeface="Verdana" charset="0"/>
                <a:cs typeface="Arial" charset="0"/>
              </a:rPr>
              <a:t>cmp</a:t>
            </a:r>
            <a:r>
              <a:rPr lang="en-US" sz="1600" b="0" dirty="0">
                <a:latin typeface="Verdana" charset="0"/>
                <a:cs typeface="Arial" charset="0"/>
              </a:rPr>
              <a:t>;</a:t>
            </a:r>
          </a:p>
          <a:p>
            <a:pPr algn="l" eaLnBrk="1" hangingPunct="1"/>
            <a:r>
              <a:rPr lang="en-US" sz="1600" b="0" dirty="0">
                <a:latin typeface="Verdana" charset="0"/>
                <a:cs typeface="Arial" charset="0"/>
              </a:rPr>
              <a:t>	</a:t>
            </a:r>
          </a:p>
          <a:p>
            <a:pPr algn="l" eaLnBrk="1" hangingPunct="1"/>
            <a:r>
              <a:rPr lang="en-US" sz="1600" b="0" dirty="0">
                <a:latin typeface="Verdana" charset="0"/>
                <a:cs typeface="Arial" charset="0"/>
              </a:rPr>
              <a:t>	x = </a:t>
            </a:r>
            <a:r>
              <a:rPr lang="en-US" sz="1600" b="0" dirty="0" err="1">
                <a:latin typeface="Verdana" charset="0"/>
                <a:cs typeface="Arial" charset="0"/>
              </a:rPr>
              <a:t>top_variable</a:t>
            </a:r>
            <a:r>
              <a:rPr lang="en-US" sz="1600" b="0" dirty="0">
                <a:latin typeface="Verdana" charset="0"/>
                <a:cs typeface="Arial" charset="0"/>
              </a:rPr>
              <a:t>(G,H);</a:t>
            </a:r>
          </a:p>
          <a:p>
            <a:pPr algn="l" eaLnBrk="1" hangingPunct="1"/>
            <a:r>
              <a:rPr lang="en-US" sz="1600" b="0" dirty="0">
                <a:latin typeface="Verdana" charset="0"/>
                <a:cs typeface="Arial" charset="0"/>
              </a:rPr>
              <a:t>	G1 = </a:t>
            </a:r>
            <a:r>
              <a:rPr lang="en-US" sz="1600" b="0" dirty="0" err="1">
                <a:latin typeface="Verdana" charset="0"/>
                <a:cs typeface="Arial" charset="0"/>
              </a:rPr>
              <a:t>G.then</a:t>
            </a:r>
            <a:r>
              <a:rPr lang="en-US" sz="1600" b="0" dirty="0">
                <a:latin typeface="Verdana" charset="0"/>
                <a:cs typeface="Arial" charset="0"/>
              </a:rPr>
              <a:t>; H1 = </a:t>
            </a:r>
            <a:r>
              <a:rPr lang="en-US" sz="1600" b="0" dirty="0" err="1">
                <a:latin typeface="Verdana" charset="0"/>
                <a:cs typeface="Arial" charset="0"/>
              </a:rPr>
              <a:t>H.then</a:t>
            </a:r>
            <a:r>
              <a:rPr lang="en-US" sz="1600" b="0" dirty="0">
                <a:latin typeface="Verdana" charset="0"/>
                <a:cs typeface="Arial" charset="0"/>
              </a:rPr>
              <a:t>;</a:t>
            </a:r>
          </a:p>
          <a:p>
            <a:pPr algn="l" eaLnBrk="1" hangingPunct="1"/>
            <a:r>
              <a:rPr lang="en-US" sz="1600" b="0" dirty="0">
                <a:latin typeface="Verdana" charset="0"/>
                <a:cs typeface="Arial" charset="0"/>
              </a:rPr>
              <a:t>	G0 = </a:t>
            </a:r>
            <a:r>
              <a:rPr lang="en-US" sz="1600" b="0" dirty="0" err="1">
                <a:latin typeface="Verdana" charset="0"/>
                <a:cs typeface="Arial" charset="0"/>
              </a:rPr>
              <a:t>G.else</a:t>
            </a:r>
            <a:r>
              <a:rPr lang="en-US" sz="1600" b="0" dirty="0">
                <a:latin typeface="Verdana" charset="0"/>
                <a:cs typeface="Arial" charset="0"/>
              </a:rPr>
              <a:t>; H0 = </a:t>
            </a:r>
            <a:r>
              <a:rPr lang="en-US" sz="1600" b="0" dirty="0" err="1">
                <a:latin typeface="Verdana" charset="0"/>
                <a:cs typeface="Arial" charset="0"/>
              </a:rPr>
              <a:t>H.else</a:t>
            </a:r>
            <a:r>
              <a:rPr lang="en-US" sz="1600" b="0" dirty="0">
                <a:latin typeface="Verdana" charset="0"/>
                <a:cs typeface="Arial" charset="0"/>
              </a:rPr>
              <a:t>;</a:t>
            </a:r>
          </a:p>
          <a:p>
            <a:pPr algn="l" eaLnBrk="1" hangingPunct="1"/>
            <a:r>
              <a:rPr lang="en-US" sz="1600" b="0" dirty="0">
                <a:latin typeface="Verdana" charset="0"/>
                <a:cs typeface="Arial" charset="0"/>
              </a:rPr>
              <a:t>	F0 = AND(G0,H0);</a:t>
            </a:r>
          </a:p>
          <a:p>
            <a:pPr algn="l" eaLnBrk="1" hangingPunct="1"/>
            <a:r>
              <a:rPr lang="en-US" sz="1600" b="0" dirty="0">
                <a:latin typeface="Verdana" charset="0"/>
                <a:cs typeface="Arial" charset="0"/>
              </a:rPr>
              <a:t>	F1 = AND(G1,H1);</a:t>
            </a:r>
          </a:p>
          <a:p>
            <a:pPr algn="l" eaLnBrk="1" hangingPunct="1"/>
            <a:r>
              <a:rPr lang="en-US" sz="1600" b="0" dirty="0">
                <a:latin typeface="Verdana" charset="0"/>
                <a:cs typeface="Arial" charset="0"/>
              </a:rPr>
              <a:t>	if (F0 == F1) return F0;</a:t>
            </a:r>
          </a:p>
          <a:p>
            <a:pPr algn="l" eaLnBrk="1" hangingPunct="1"/>
            <a:r>
              <a:rPr lang="en-US" sz="1600" b="0" dirty="0">
                <a:latin typeface="Verdana" charset="0"/>
                <a:cs typeface="Arial" charset="0"/>
              </a:rPr>
              <a:t>	F = </a:t>
            </a:r>
            <a:r>
              <a:rPr lang="en-US" sz="1600" b="0" dirty="0" err="1">
                <a:latin typeface="Verdana" charset="0"/>
                <a:cs typeface="Arial" charset="0"/>
              </a:rPr>
              <a:t>find_or_add_unique_table</a:t>
            </a:r>
            <a:r>
              <a:rPr lang="en-US" sz="1600" b="0" dirty="0">
                <a:latin typeface="Verdana" charset="0"/>
                <a:cs typeface="Arial" charset="0"/>
              </a:rPr>
              <a:t>(x,F0,F1);</a:t>
            </a:r>
          </a:p>
          <a:p>
            <a:pPr algn="l" eaLnBrk="1" hangingPunct="1"/>
            <a:r>
              <a:rPr lang="en-US" sz="1600" b="0" dirty="0">
                <a:latin typeface="Verdana" charset="0"/>
                <a:cs typeface="Arial" charset="0"/>
              </a:rPr>
              <a:t>	</a:t>
            </a:r>
            <a:r>
              <a:rPr lang="en-US" sz="1600" b="0" dirty="0" err="1">
                <a:latin typeface="Verdana" charset="0"/>
                <a:cs typeface="Arial" charset="0"/>
              </a:rPr>
              <a:t>computed_table_insert</a:t>
            </a:r>
            <a:r>
              <a:rPr lang="en-US" sz="1600" b="0" dirty="0">
                <a:latin typeface="Verdana" charset="0"/>
                <a:cs typeface="Arial" charset="0"/>
              </a:rPr>
              <a:t>(G,H,F);</a:t>
            </a:r>
          </a:p>
          <a:p>
            <a:pPr algn="l" eaLnBrk="1" hangingPunct="1"/>
            <a:r>
              <a:rPr lang="en-US" sz="1600" b="0" dirty="0">
                <a:latin typeface="Verdana" charset="0"/>
                <a:cs typeface="Arial" charset="0"/>
              </a:rPr>
              <a:t>	return F;</a:t>
            </a:r>
          </a:p>
          <a:p>
            <a:pPr algn="l" eaLnBrk="1" hangingPunct="1"/>
            <a:r>
              <a:rPr lang="en-US" sz="1600" b="0" dirty="0">
                <a:latin typeface="Verdana" charset="0"/>
                <a:cs typeface="Arial" charset="0"/>
              </a:rPr>
              <a:t>}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1867552" y="2352915"/>
            <a:ext cx="4164640" cy="504196"/>
          </a:xfrm>
          <a:prstGeom prst="rect">
            <a:avLst/>
          </a:prstGeom>
          <a:solidFill>
            <a:schemeClr val="accent3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1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986271" y="4840228"/>
            <a:ext cx="4030931" cy="196467"/>
          </a:xfrm>
          <a:prstGeom prst="rect">
            <a:avLst/>
          </a:prstGeom>
          <a:solidFill>
            <a:schemeClr val="accent3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1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r>
              <a:rPr lang="en-US" sz="1400" b="0"/>
              <a:t>(c)  Giovanni De Micheli</a:t>
            </a:r>
          </a:p>
        </p:txBody>
      </p:sp>
      <p:sp>
        <p:nvSpPr>
          <p:cNvPr id="6861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0B63D98D-931D-6549-B677-386C743D9D21}" type="slidenum">
              <a:rPr lang="en-US" sz="1400" b="0"/>
              <a:pPr/>
              <a:t>31</a:t>
            </a:fld>
            <a:endParaRPr lang="en-US" sz="1400" b="0"/>
          </a:p>
        </p:txBody>
      </p:sp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Narrow" charset="0"/>
              </a:rPr>
              <a:t>Generalizing to Boolean operators</a:t>
            </a:r>
          </a:p>
        </p:txBody>
      </p:sp>
      <p:sp>
        <p:nvSpPr>
          <p:cNvPr id="68612" name="Text Box 3"/>
          <p:cNvSpPr txBox="1">
            <a:spLocks noChangeArrowheads="1"/>
          </p:cNvSpPr>
          <p:nvPr/>
        </p:nvSpPr>
        <p:spPr bwMode="auto">
          <a:xfrm>
            <a:off x="974725" y="1339850"/>
            <a:ext cx="5840413" cy="400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600" b="0" dirty="0">
                <a:latin typeface="Verdana" charset="0"/>
                <a:cs typeface="Arial" charset="0"/>
              </a:rPr>
              <a:t>ITE(F,G,H) {</a:t>
            </a:r>
          </a:p>
          <a:p>
            <a:pPr algn="l" eaLnBrk="1" hangingPunct="1"/>
            <a:endParaRPr lang="en-US" sz="1600" b="0" dirty="0">
              <a:latin typeface="Verdana" charset="0"/>
              <a:cs typeface="Arial" charset="0"/>
            </a:endParaRPr>
          </a:p>
          <a:p>
            <a:pPr algn="l" eaLnBrk="1" hangingPunct="1"/>
            <a:r>
              <a:rPr lang="en-US" sz="1600" b="0" dirty="0">
                <a:latin typeface="Verdana" charset="0"/>
                <a:cs typeface="Arial" charset="0"/>
              </a:rPr>
              <a:t>	if (terminal case) return (r = trivial result);</a:t>
            </a:r>
          </a:p>
          <a:p>
            <a:pPr algn="l" eaLnBrk="1" hangingPunct="1"/>
            <a:r>
              <a:rPr lang="en-US" sz="1600" b="0" dirty="0">
                <a:latin typeface="Verdana" charset="0"/>
                <a:cs typeface="Arial" charset="0"/>
              </a:rPr>
              <a:t>	</a:t>
            </a:r>
            <a:r>
              <a:rPr lang="en-US" sz="1600" b="0" dirty="0" err="1">
                <a:latin typeface="Verdana" charset="0"/>
                <a:cs typeface="Arial" charset="0"/>
              </a:rPr>
              <a:t>cmp</a:t>
            </a:r>
            <a:r>
              <a:rPr lang="en-US" sz="1600" b="0" dirty="0">
                <a:latin typeface="Verdana" charset="0"/>
                <a:cs typeface="Arial" charset="0"/>
              </a:rPr>
              <a:t> = </a:t>
            </a:r>
            <a:r>
              <a:rPr lang="en-US" sz="1600" b="0" dirty="0" err="1">
                <a:latin typeface="Verdana" charset="0"/>
                <a:cs typeface="Arial" charset="0"/>
              </a:rPr>
              <a:t>computed_table_lookup</a:t>
            </a:r>
            <a:r>
              <a:rPr lang="en-US" sz="1600" b="0" dirty="0">
                <a:latin typeface="Verdana" charset="0"/>
                <a:cs typeface="Arial" charset="0"/>
              </a:rPr>
              <a:t>(G,H);</a:t>
            </a:r>
          </a:p>
          <a:p>
            <a:pPr algn="l" eaLnBrk="1" hangingPunct="1"/>
            <a:r>
              <a:rPr lang="en-US" sz="1600" b="0" dirty="0">
                <a:latin typeface="Verdana" charset="0"/>
                <a:cs typeface="Arial" charset="0"/>
              </a:rPr>
              <a:t>	if (</a:t>
            </a:r>
            <a:r>
              <a:rPr lang="en-US" sz="1600" b="0" dirty="0" err="1">
                <a:latin typeface="Verdana" charset="0"/>
                <a:cs typeface="Arial" charset="0"/>
              </a:rPr>
              <a:t>cmp</a:t>
            </a:r>
            <a:r>
              <a:rPr lang="en-US" sz="1600" b="0" dirty="0">
                <a:latin typeface="Verdana" charset="0"/>
                <a:cs typeface="Arial" charset="0"/>
              </a:rPr>
              <a:t> != NULL) return (r = </a:t>
            </a:r>
            <a:r>
              <a:rPr lang="en-US" sz="1600" b="0" dirty="0" err="1">
                <a:latin typeface="Verdana" charset="0"/>
                <a:cs typeface="Arial" charset="0"/>
              </a:rPr>
              <a:t>cmp</a:t>
            </a:r>
            <a:r>
              <a:rPr lang="en-US" sz="1600" b="0" dirty="0">
                <a:latin typeface="Verdana" charset="0"/>
                <a:cs typeface="Arial" charset="0"/>
              </a:rPr>
              <a:t>);</a:t>
            </a:r>
          </a:p>
          <a:p>
            <a:pPr algn="l" eaLnBrk="1" hangingPunct="1"/>
            <a:r>
              <a:rPr lang="en-US" sz="1600" b="0" dirty="0">
                <a:latin typeface="Verdana" charset="0"/>
                <a:cs typeface="Arial" charset="0"/>
              </a:rPr>
              <a:t>	</a:t>
            </a:r>
          </a:p>
          <a:p>
            <a:pPr algn="l" eaLnBrk="1" hangingPunct="1"/>
            <a:r>
              <a:rPr lang="en-US" sz="1600" b="0" dirty="0">
                <a:latin typeface="Verdana" charset="0"/>
                <a:cs typeface="Arial" charset="0"/>
              </a:rPr>
              <a:t>	x = </a:t>
            </a:r>
            <a:r>
              <a:rPr lang="en-US" sz="1600" b="0" dirty="0" err="1">
                <a:latin typeface="Verdana" charset="0"/>
                <a:cs typeface="Arial" charset="0"/>
              </a:rPr>
              <a:t>top_variable</a:t>
            </a:r>
            <a:r>
              <a:rPr lang="en-US" sz="1600" b="0" dirty="0">
                <a:latin typeface="Verdana" charset="0"/>
                <a:cs typeface="Arial" charset="0"/>
              </a:rPr>
              <a:t>(F,G,H);</a:t>
            </a:r>
          </a:p>
          <a:p>
            <a:pPr algn="l" eaLnBrk="1" hangingPunct="1"/>
            <a:r>
              <a:rPr lang="en-US" sz="1600" b="0" dirty="0">
                <a:latin typeface="Verdana" charset="0"/>
                <a:cs typeface="Arial" charset="0"/>
              </a:rPr>
              <a:t>	t  = ITE (</a:t>
            </a:r>
            <a:r>
              <a:rPr lang="en-US" sz="1600" b="0" dirty="0" err="1">
                <a:latin typeface="Verdana" charset="0"/>
                <a:cs typeface="Arial" charset="0"/>
              </a:rPr>
              <a:t>F</a:t>
            </a:r>
            <a:r>
              <a:rPr lang="en-US" sz="1600" b="0" baseline="-25000" dirty="0" err="1">
                <a:latin typeface="Verdana" charset="0"/>
                <a:cs typeface="Arial" charset="0"/>
              </a:rPr>
              <a:t>x</a:t>
            </a:r>
            <a:r>
              <a:rPr lang="en-US" sz="1600" b="0" baseline="-25000" dirty="0">
                <a:latin typeface="Verdana" charset="0"/>
                <a:cs typeface="Arial" charset="0"/>
              </a:rPr>
              <a:t>  </a:t>
            </a:r>
            <a:r>
              <a:rPr lang="en-US" sz="1600" b="0" dirty="0">
                <a:latin typeface="Verdana" charset="0"/>
                <a:cs typeface="Arial" charset="0"/>
              </a:rPr>
              <a:t>, </a:t>
            </a:r>
            <a:r>
              <a:rPr lang="en-US" sz="1600" b="0" dirty="0" err="1">
                <a:latin typeface="Verdana" charset="0"/>
                <a:cs typeface="Arial" charset="0"/>
              </a:rPr>
              <a:t>G</a:t>
            </a:r>
            <a:r>
              <a:rPr lang="en-US" sz="1600" b="0" baseline="-25000" dirty="0" err="1">
                <a:latin typeface="Verdana" charset="0"/>
                <a:cs typeface="Arial" charset="0"/>
              </a:rPr>
              <a:t>x</a:t>
            </a:r>
            <a:r>
              <a:rPr lang="en-US" sz="1600" b="0" baseline="-25000" dirty="0">
                <a:latin typeface="Verdana" charset="0"/>
                <a:cs typeface="Arial" charset="0"/>
              </a:rPr>
              <a:t>  </a:t>
            </a:r>
            <a:r>
              <a:rPr lang="en-US" sz="1600" b="0" dirty="0">
                <a:latin typeface="Verdana" charset="0"/>
                <a:cs typeface="Arial" charset="0"/>
              </a:rPr>
              <a:t>, </a:t>
            </a:r>
            <a:r>
              <a:rPr lang="en-US" sz="1600" b="0" dirty="0" err="1">
                <a:latin typeface="Verdana" charset="0"/>
                <a:cs typeface="Arial" charset="0"/>
              </a:rPr>
              <a:t>H</a:t>
            </a:r>
            <a:r>
              <a:rPr lang="en-US" sz="1600" b="0" baseline="-25000" dirty="0" err="1">
                <a:latin typeface="Verdana" charset="0"/>
                <a:cs typeface="Arial" charset="0"/>
              </a:rPr>
              <a:t>x</a:t>
            </a:r>
            <a:r>
              <a:rPr lang="en-US" sz="1600" b="0" baseline="-25000" dirty="0">
                <a:latin typeface="Verdana" charset="0"/>
                <a:cs typeface="Arial" charset="0"/>
              </a:rPr>
              <a:t>  </a:t>
            </a:r>
            <a:r>
              <a:rPr lang="en-US" sz="1600" b="0" dirty="0">
                <a:latin typeface="Verdana" charset="0"/>
                <a:cs typeface="Arial" charset="0"/>
              </a:rPr>
              <a:t>)</a:t>
            </a:r>
          </a:p>
          <a:p>
            <a:pPr algn="l" eaLnBrk="1" hangingPunct="1"/>
            <a:r>
              <a:rPr lang="en-US" sz="1600" b="0" dirty="0">
                <a:latin typeface="Verdana" charset="0"/>
                <a:cs typeface="Arial" charset="0"/>
              </a:rPr>
              <a:t>	e  = ITE (</a:t>
            </a:r>
            <a:r>
              <a:rPr lang="en-US" sz="1600" b="0" dirty="0" err="1">
                <a:latin typeface="Verdana" charset="0"/>
                <a:cs typeface="Arial" charset="0"/>
              </a:rPr>
              <a:t>F</a:t>
            </a:r>
            <a:r>
              <a:rPr lang="en-US" sz="1600" b="0" baseline="-25000" dirty="0" err="1">
                <a:latin typeface="Verdana" charset="0"/>
                <a:cs typeface="Arial" charset="0"/>
              </a:rPr>
              <a:t>x</a:t>
            </a:r>
            <a:r>
              <a:rPr lang="ja-JP" altLang="en-US" sz="1600" b="0" baseline="-25000" dirty="0">
                <a:latin typeface="Verdana" charset="0"/>
                <a:cs typeface="Arial" charset="0"/>
              </a:rPr>
              <a:t>’</a:t>
            </a:r>
            <a:r>
              <a:rPr lang="en-US" altLang="ja-JP" sz="1600" b="0" baseline="-25000" dirty="0">
                <a:latin typeface="Verdana" charset="0"/>
                <a:cs typeface="Arial" charset="0"/>
              </a:rPr>
              <a:t> </a:t>
            </a:r>
            <a:r>
              <a:rPr lang="en-US" altLang="ja-JP" sz="1600" b="0" dirty="0">
                <a:latin typeface="Verdana" charset="0"/>
                <a:cs typeface="Arial" charset="0"/>
              </a:rPr>
              <a:t>, </a:t>
            </a:r>
            <a:r>
              <a:rPr lang="en-US" altLang="ja-JP" sz="1600" b="0" dirty="0" err="1">
                <a:latin typeface="Verdana" charset="0"/>
                <a:cs typeface="Arial" charset="0"/>
              </a:rPr>
              <a:t>G</a:t>
            </a:r>
            <a:r>
              <a:rPr lang="en-US" altLang="ja-JP" sz="1600" b="0" baseline="-25000" dirty="0" err="1">
                <a:latin typeface="Verdana" charset="0"/>
                <a:cs typeface="Arial" charset="0"/>
              </a:rPr>
              <a:t>x</a:t>
            </a:r>
            <a:r>
              <a:rPr lang="ja-JP" altLang="en-US" sz="1600" b="0" baseline="-25000" dirty="0">
                <a:latin typeface="Verdana" charset="0"/>
                <a:cs typeface="Arial" charset="0"/>
              </a:rPr>
              <a:t>’</a:t>
            </a:r>
            <a:r>
              <a:rPr lang="en-US" altLang="ja-JP" sz="1600" b="0" baseline="-25000" dirty="0">
                <a:latin typeface="Verdana" charset="0"/>
                <a:cs typeface="Arial" charset="0"/>
              </a:rPr>
              <a:t> </a:t>
            </a:r>
            <a:r>
              <a:rPr lang="en-US" altLang="ja-JP" sz="1600" b="0" dirty="0">
                <a:latin typeface="Verdana" charset="0"/>
                <a:cs typeface="Arial" charset="0"/>
              </a:rPr>
              <a:t>, </a:t>
            </a:r>
            <a:r>
              <a:rPr lang="en-US" altLang="ja-JP" sz="1600" b="0" dirty="0" err="1">
                <a:latin typeface="Verdana" charset="0"/>
                <a:cs typeface="Arial" charset="0"/>
              </a:rPr>
              <a:t>H</a:t>
            </a:r>
            <a:r>
              <a:rPr lang="en-US" altLang="ja-JP" sz="1600" b="0" baseline="-25000" dirty="0" err="1">
                <a:latin typeface="Verdana" charset="0"/>
                <a:cs typeface="Arial" charset="0"/>
              </a:rPr>
              <a:t>x</a:t>
            </a:r>
            <a:r>
              <a:rPr lang="ja-JP" altLang="en-US" sz="1600" b="0" baseline="-25000" dirty="0">
                <a:latin typeface="Verdana" charset="0"/>
                <a:cs typeface="Arial" charset="0"/>
              </a:rPr>
              <a:t>’</a:t>
            </a:r>
            <a:r>
              <a:rPr lang="en-US" altLang="ja-JP" sz="1600" b="0" dirty="0">
                <a:latin typeface="Verdana" charset="0"/>
                <a:cs typeface="Arial" charset="0"/>
              </a:rPr>
              <a:t>)</a:t>
            </a:r>
          </a:p>
          <a:p>
            <a:pPr algn="l" eaLnBrk="1" hangingPunct="1"/>
            <a:endParaRPr lang="en-US" sz="1600" b="0" dirty="0">
              <a:latin typeface="Verdana" charset="0"/>
              <a:cs typeface="Arial" charset="0"/>
            </a:endParaRPr>
          </a:p>
          <a:p>
            <a:pPr algn="l" eaLnBrk="1" hangingPunct="1"/>
            <a:r>
              <a:rPr lang="en-US" sz="1600" b="0" dirty="0">
                <a:latin typeface="Verdana" charset="0"/>
                <a:cs typeface="Arial" charset="0"/>
              </a:rPr>
              <a:t>	if (t == e) return (r = t);</a:t>
            </a:r>
          </a:p>
          <a:p>
            <a:pPr algn="l" eaLnBrk="1" hangingPunct="1"/>
            <a:r>
              <a:rPr lang="en-US" sz="1600" b="0" dirty="0">
                <a:latin typeface="Verdana" charset="0"/>
                <a:cs typeface="Arial" charset="0"/>
              </a:rPr>
              <a:t>	r = </a:t>
            </a:r>
            <a:r>
              <a:rPr lang="en-US" sz="1600" b="0" dirty="0" err="1">
                <a:latin typeface="Verdana" charset="0"/>
                <a:cs typeface="Arial" charset="0"/>
              </a:rPr>
              <a:t>find_or_add_unique_table</a:t>
            </a:r>
            <a:r>
              <a:rPr lang="en-US" sz="1600" b="0" dirty="0">
                <a:latin typeface="Verdana" charset="0"/>
                <a:cs typeface="Arial" charset="0"/>
              </a:rPr>
              <a:t>(</a:t>
            </a:r>
            <a:r>
              <a:rPr lang="en-US" sz="1600" b="0" dirty="0" err="1">
                <a:latin typeface="Verdana" charset="0"/>
                <a:cs typeface="Arial" charset="0"/>
              </a:rPr>
              <a:t>x,t,e</a:t>
            </a:r>
            <a:r>
              <a:rPr lang="en-US" sz="1600" b="0" dirty="0">
                <a:latin typeface="Verdana" charset="0"/>
                <a:cs typeface="Arial" charset="0"/>
              </a:rPr>
              <a:t>);</a:t>
            </a:r>
          </a:p>
          <a:p>
            <a:pPr algn="l" eaLnBrk="1" hangingPunct="1"/>
            <a:r>
              <a:rPr lang="en-US" sz="1600" b="0" dirty="0">
                <a:latin typeface="Verdana" charset="0"/>
                <a:cs typeface="Arial" charset="0"/>
              </a:rPr>
              <a:t>	</a:t>
            </a:r>
            <a:r>
              <a:rPr lang="en-US" sz="1600" b="0" dirty="0" err="1">
                <a:latin typeface="Verdana" charset="0"/>
                <a:cs typeface="Arial" charset="0"/>
              </a:rPr>
              <a:t>computed_table_insert</a:t>
            </a:r>
            <a:r>
              <a:rPr lang="en-US" sz="1600" b="0" dirty="0">
                <a:latin typeface="Verdana" charset="0"/>
                <a:cs typeface="Arial" charset="0"/>
              </a:rPr>
              <a:t>{(F,G,H),r};</a:t>
            </a:r>
          </a:p>
          <a:p>
            <a:pPr algn="l" eaLnBrk="1" hangingPunct="1"/>
            <a:r>
              <a:rPr lang="en-US" sz="1600" b="0" dirty="0">
                <a:latin typeface="Verdana" charset="0"/>
                <a:cs typeface="Arial" charset="0"/>
              </a:rPr>
              <a:t>	return ( r );</a:t>
            </a:r>
          </a:p>
          <a:p>
            <a:pPr algn="l" eaLnBrk="1" hangingPunct="1"/>
            <a:endParaRPr lang="en-US" sz="1600" b="0" dirty="0">
              <a:latin typeface="Verdana" charset="0"/>
              <a:cs typeface="Arial" charset="0"/>
            </a:endParaRPr>
          </a:p>
          <a:p>
            <a:pPr algn="l" eaLnBrk="1" hangingPunct="1"/>
            <a:r>
              <a:rPr lang="en-US" sz="1600" b="0" dirty="0">
                <a:latin typeface="Verdana" charset="0"/>
                <a:cs typeface="Arial" charset="0"/>
              </a:rPr>
              <a:t>}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r>
              <a:rPr lang="en-US" sz="1400" b="0"/>
              <a:t>(c)  Giovanni De Micheli</a:t>
            </a:r>
          </a:p>
        </p:txBody>
      </p:sp>
      <p:sp>
        <p:nvSpPr>
          <p:cNvPr id="7065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E6FC1E69-AAE7-2444-BDAC-A8D7AD712FC9}" type="slidenum">
              <a:rPr lang="en-US" sz="1400" b="0"/>
              <a:pPr/>
              <a:t>32</a:t>
            </a:fld>
            <a:endParaRPr lang="en-US" sz="1400" b="0"/>
          </a:p>
        </p:txBody>
      </p:sp>
      <p:sp>
        <p:nvSpPr>
          <p:cNvPr id="706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Narrow" charset="0"/>
              </a:rPr>
              <a:t>Logic operations - summary</a:t>
            </a:r>
          </a:p>
        </p:txBody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dirty="0">
                <a:latin typeface="Arial Narrow" charset="0"/>
              </a:rPr>
              <a:t>Recursive routines – traverse the DAGs depth first</a:t>
            </a:r>
          </a:p>
          <a:p>
            <a:r>
              <a:rPr lang="en-US" dirty="0">
                <a:latin typeface="Arial Narrow" charset="0"/>
              </a:rPr>
              <a:t>Two tables:</a:t>
            </a:r>
          </a:p>
          <a:p>
            <a:pPr lvl="1"/>
            <a:r>
              <a:rPr lang="en-US" dirty="0">
                <a:solidFill>
                  <a:schemeClr val="bg2"/>
                </a:solidFill>
                <a:latin typeface="Arial Narrow" charset="0"/>
              </a:rPr>
              <a:t>Unique table</a:t>
            </a:r>
            <a:r>
              <a:rPr lang="en-US" dirty="0">
                <a:latin typeface="Arial Narrow" charset="0"/>
              </a:rPr>
              <a:t> – hash table with an entry for each BDD node</a:t>
            </a:r>
          </a:p>
          <a:p>
            <a:pPr lvl="1"/>
            <a:r>
              <a:rPr lang="en-US" dirty="0">
                <a:solidFill>
                  <a:schemeClr val="bg2"/>
                </a:solidFill>
                <a:latin typeface="Arial Narrow" charset="0"/>
              </a:rPr>
              <a:t>Computed table</a:t>
            </a:r>
            <a:r>
              <a:rPr lang="en-US" dirty="0">
                <a:latin typeface="Arial Narrow" charset="0"/>
              </a:rPr>
              <a:t> – </a:t>
            </a:r>
            <a:r>
              <a:rPr lang="en-US">
                <a:latin typeface="Arial Narrow" charset="0"/>
              </a:rPr>
              <a:t>store previously-computed </a:t>
            </a:r>
            <a:r>
              <a:rPr lang="en-US" dirty="0">
                <a:latin typeface="Arial Narrow" charset="0"/>
              </a:rPr>
              <a:t>partial results </a:t>
            </a:r>
          </a:p>
          <a:p>
            <a:r>
              <a:rPr lang="en-US" dirty="0">
                <a:latin typeface="Arial Narrow" charset="0"/>
              </a:rPr>
              <a:t>Time complexity is quadratic in the BDD sizes</a:t>
            </a:r>
          </a:p>
          <a:p>
            <a:endParaRPr lang="en-US" dirty="0">
              <a:latin typeface="Arial Narrow" charset="0"/>
            </a:endParaRPr>
          </a:p>
          <a:p>
            <a:endParaRPr lang="en-US" dirty="0">
              <a:latin typeface="Arial Narrow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r>
              <a:rPr lang="en-US" sz="1400" b="0"/>
              <a:t>(c)  Giovanni De Micheli</a:t>
            </a:r>
          </a:p>
        </p:txBody>
      </p:sp>
      <p:sp>
        <p:nvSpPr>
          <p:cNvPr id="7270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8A54B5D5-F417-F144-BEFE-891DCC232B15}" type="slidenum">
              <a:rPr lang="en-US" sz="1400" b="0"/>
              <a:pPr/>
              <a:t>33</a:t>
            </a:fld>
            <a:endParaRPr lang="en-US" sz="1400" b="0"/>
          </a:p>
        </p:txBody>
      </p:sp>
      <p:sp>
        <p:nvSpPr>
          <p:cNvPr id="727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Narrow" charset="0"/>
              </a:rPr>
              <a:t>Some algorithmic complexities</a:t>
            </a:r>
          </a:p>
        </p:txBody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lvl="1"/>
            <a:r>
              <a:rPr lang="en-US" dirty="0">
                <a:latin typeface="Arial Narrow" charset="0"/>
              </a:rPr>
              <a:t>Checking tautology 		K time</a:t>
            </a:r>
          </a:p>
          <a:p>
            <a:pPr lvl="1"/>
            <a:r>
              <a:rPr lang="en-US" dirty="0">
                <a:latin typeface="Arial Narrow" charset="0"/>
              </a:rPr>
              <a:t>Checking identity 		K time</a:t>
            </a:r>
          </a:p>
          <a:p>
            <a:pPr lvl="1"/>
            <a:endParaRPr lang="en-US" dirty="0">
              <a:latin typeface="Arial Narrow" charset="0"/>
            </a:endParaRPr>
          </a:p>
          <a:p>
            <a:pPr lvl="1"/>
            <a:r>
              <a:rPr lang="en-US" dirty="0" err="1">
                <a:latin typeface="Arial Narrow" charset="0"/>
              </a:rPr>
              <a:t>Satisfiability</a:t>
            </a:r>
            <a:r>
              <a:rPr lang="en-US" dirty="0">
                <a:latin typeface="Arial Narrow" charset="0"/>
              </a:rPr>
              <a:t>			linear (#</a:t>
            </a:r>
            <a:r>
              <a:rPr lang="en-US" dirty="0" err="1">
                <a:latin typeface="Arial Narrow" charset="0"/>
              </a:rPr>
              <a:t>vars</a:t>
            </a:r>
            <a:r>
              <a:rPr lang="en-US" dirty="0">
                <a:latin typeface="Arial Narrow" charset="0"/>
              </a:rPr>
              <a:t>)</a:t>
            </a:r>
          </a:p>
          <a:p>
            <a:pPr lvl="1"/>
            <a:endParaRPr lang="en-US" dirty="0">
              <a:latin typeface="Arial Narrow" charset="0"/>
            </a:endParaRPr>
          </a:p>
          <a:p>
            <a:pPr lvl="1"/>
            <a:r>
              <a:rPr lang="en-US" dirty="0">
                <a:latin typeface="Arial Narrow" charset="0"/>
              </a:rPr>
              <a:t>Binary operators: AND, OR	quadratic</a:t>
            </a:r>
            <a:endParaRPr lang="en-US" baseline="30000" dirty="0">
              <a:latin typeface="Arial Narrow" charset="0"/>
            </a:endParaRPr>
          </a:p>
          <a:p>
            <a:pPr lvl="1"/>
            <a:r>
              <a:rPr lang="en-US" dirty="0">
                <a:latin typeface="Arial Narrow" charset="0"/>
              </a:rPr>
              <a:t>Smoothing, Consensus		quadratic</a:t>
            </a:r>
          </a:p>
          <a:p>
            <a:endParaRPr lang="en-US" dirty="0">
              <a:latin typeface="Arial Narrow" charset="0"/>
            </a:endParaRPr>
          </a:p>
          <a:p>
            <a:endParaRPr lang="en-US" dirty="0">
              <a:latin typeface="Arial Narrow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r>
              <a:rPr lang="en-US" sz="1400" b="0"/>
              <a:t>(c)  Giovanni De Micheli</a:t>
            </a:r>
          </a:p>
        </p:txBody>
      </p:sp>
      <p:sp>
        <p:nvSpPr>
          <p:cNvPr id="7475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509600D5-B367-F94E-A8C9-0A59B5F069BB}" type="slidenum">
              <a:rPr lang="en-US" sz="1400" b="0"/>
              <a:pPr/>
              <a:t>34</a:t>
            </a:fld>
            <a:endParaRPr lang="en-US" sz="1400" b="0"/>
          </a:p>
        </p:txBody>
      </p:sp>
      <p:sp>
        <p:nvSpPr>
          <p:cNvPr id="747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Narrow" charset="0"/>
              </a:rPr>
              <a:t>Motivation - again</a:t>
            </a:r>
          </a:p>
        </p:txBody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 Narrow" charset="0"/>
              </a:rPr>
              <a:t>Why are ROBDD popular?</a:t>
            </a:r>
          </a:p>
          <a:p>
            <a:pPr lvl="1"/>
            <a:r>
              <a:rPr lang="en-US" dirty="0">
                <a:latin typeface="Arial Narrow" charset="0"/>
              </a:rPr>
              <a:t>Several intractable problems can be solved in polynomial time</a:t>
            </a:r>
          </a:p>
          <a:p>
            <a:pPr lvl="2"/>
            <a:r>
              <a:rPr lang="en-US" dirty="0">
                <a:latin typeface="Arial Narrow" charset="0"/>
              </a:rPr>
              <a:t>Of the BDD size</a:t>
            </a:r>
          </a:p>
          <a:p>
            <a:pPr lvl="1"/>
            <a:r>
              <a:rPr lang="en-US" dirty="0">
                <a:latin typeface="Arial Narrow" charset="0"/>
              </a:rPr>
              <a:t>In several cases, the BDD sizes grow mildly with the problem size</a:t>
            </a:r>
          </a:p>
          <a:p>
            <a:pPr lvl="2"/>
            <a:r>
              <a:rPr lang="en-US" dirty="0">
                <a:latin typeface="Arial Narrow" charset="0"/>
              </a:rPr>
              <a:t>Variables</a:t>
            </a:r>
          </a:p>
          <a:p>
            <a:r>
              <a:rPr lang="en-US" dirty="0">
                <a:latin typeface="Arial Narrow" charset="0"/>
              </a:rPr>
              <a:t>This does not mean that BDD solve intractable problems in polynomial time</a:t>
            </a:r>
          </a:p>
          <a:p>
            <a:pPr lvl="1"/>
            <a:r>
              <a:rPr lang="en-US" dirty="0">
                <a:latin typeface="Arial Narrow" charset="0"/>
              </a:rPr>
              <a:t>Few counterexamples exists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r>
              <a:rPr lang="en-US" sz="1400" b="0"/>
              <a:t>(c)  Giovanni De Micheli</a:t>
            </a:r>
          </a:p>
        </p:txBody>
      </p:sp>
      <p:sp>
        <p:nvSpPr>
          <p:cNvPr id="7680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E2E3F2B1-2F37-DA43-8BE2-DCA2B2378BE3}" type="slidenum">
              <a:rPr lang="en-US" sz="1400" b="0"/>
              <a:pPr/>
              <a:t>35</a:t>
            </a:fld>
            <a:endParaRPr lang="en-US" sz="1400" b="0"/>
          </a:p>
        </p:txBody>
      </p:sp>
      <p:sp>
        <p:nvSpPr>
          <p:cNvPr id="768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>
                <a:latin typeface="Arial Narrow" charset="0"/>
              </a:rPr>
              <a:t>Module 2</a:t>
            </a:r>
          </a:p>
        </p:txBody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Arial Narrow" charset="0"/>
              </a:rPr>
              <a:t>Objectives:</a:t>
            </a:r>
          </a:p>
          <a:p>
            <a:pPr lvl="1"/>
            <a:r>
              <a:rPr lang="en-US">
                <a:latin typeface="Arial Narrow" charset="0"/>
              </a:rPr>
              <a:t>Variable ordering (static and dynamic)</a:t>
            </a:r>
          </a:p>
          <a:p>
            <a:pPr lvl="1"/>
            <a:r>
              <a:rPr lang="en-US">
                <a:latin typeface="Arial Narrow" charset="0"/>
              </a:rPr>
              <a:t>Other diagrams and applications</a:t>
            </a:r>
          </a:p>
          <a:p>
            <a:pPr>
              <a:buFont typeface="Monotype Sorts" charset="0"/>
              <a:buNone/>
            </a:pPr>
            <a:endParaRPr lang="en-US">
              <a:latin typeface="Arial Narrow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r>
              <a:rPr lang="en-US" sz="1400" b="0"/>
              <a:t>(c)  Giovanni De Micheli</a:t>
            </a:r>
          </a:p>
        </p:txBody>
      </p:sp>
      <p:sp>
        <p:nvSpPr>
          <p:cNvPr id="7885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CF7EAE30-A6A7-5045-8A3A-B4FC1BCA18B0}" type="slidenum">
              <a:rPr lang="en-US" sz="1400" b="0"/>
              <a:pPr/>
              <a:t>36</a:t>
            </a:fld>
            <a:endParaRPr lang="en-US" sz="1400" b="0"/>
          </a:p>
        </p:txBody>
      </p:sp>
      <p:sp>
        <p:nvSpPr>
          <p:cNvPr id="788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Narrow" charset="0"/>
              </a:rPr>
              <a:t>The importance of variable order</a:t>
            </a:r>
          </a:p>
        </p:txBody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lvl="1">
              <a:buFont typeface="Monotype Sorts" charset="0"/>
              <a:buNone/>
            </a:pPr>
            <a:r>
              <a:rPr lang="en-US">
                <a:latin typeface="Arial Narrow" charset="0"/>
              </a:rPr>
              <a:t> 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475288" y="2133600"/>
            <a:ext cx="1952625" cy="3797300"/>
            <a:chOff x="3954" y="1448"/>
            <a:chExt cx="1230" cy="2392"/>
          </a:xfrm>
        </p:grpSpPr>
        <p:grpSp>
          <p:nvGrpSpPr>
            <p:cNvPr id="78920" name="Group 5"/>
            <p:cNvGrpSpPr>
              <a:grpSpLocks/>
            </p:cNvGrpSpPr>
            <p:nvPr/>
          </p:nvGrpSpPr>
          <p:grpSpPr bwMode="auto">
            <a:xfrm>
              <a:off x="4441" y="3638"/>
              <a:ext cx="167" cy="202"/>
              <a:chOff x="3087" y="2784"/>
              <a:chExt cx="167" cy="202"/>
            </a:xfrm>
          </p:grpSpPr>
          <p:sp>
            <p:nvSpPr>
              <p:cNvPr id="78964" name="Rectangle 6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965" name="Rectangle 7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966" name="Rectangle 8"/>
              <p:cNvSpPr>
                <a:spLocks noChangeArrowheads="1"/>
              </p:cNvSpPr>
              <p:nvPr/>
            </p:nvSpPr>
            <p:spPr bwMode="auto">
              <a:xfrm>
                <a:off x="3120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0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grpSp>
          <p:nvGrpSpPr>
            <p:cNvPr id="78921" name="Group 9"/>
            <p:cNvGrpSpPr>
              <a:grpSpLocks/>
            </p:cNvGrpSpPr>
            <p:nvPr/>
          </p:nvGrpSpPr>
          <p:grpSpPr bwMode="auto">
            <a:xfrm>
              <a:off x="4992" y="3638"/>
              <a:ext cx="167" cy="202"/>
              <a:chOff x="3087" y="2784"/>
              <a:chExt cx="167" cy="202"/>
            </a:xfrm>
          </p:grpSpPr>
          <p:sp>
            <p:nvSpPr>
              <p:cNvPr id="78961" name="Rectangle 10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962" name="Rectangle 11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963" name="Rectangle 12"/>
              <p:cNvSpPr>
                <a:spLocks noChangeArrowheads="1"/>
              </p:cNvSpPr>
              <p:nvPr/>
            </p:nvSpPr>
            <p:spPr bwMode="auto">
              <a:xfrm>
                <a:off x="3120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1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grpSp>
          <p:nvGrpSpPr>
            <p:cNvPr id="78922" name="Group 13"/>
            <p:cNvGrpSpPr>
              <a:grpSpLocks/>
            </p:cNvGrpSpPr>
            <p:nvPr/>
          </p:nvGrpSpPr>
          <p:grpSpPr bwMode="auto">
            <a:xfrm>
              <a:off x="4363" y="3110"/>
              <a:ext cx="821" cy="558"/>
              <a:chOff x="3019" y="3216"/>
              <a:chExt cx="821" cy="558"/>
            </a:xfrm>
          </p:grpSpPr>
          <p:grpSp>
            <p:nvGrpSpPr>
              <p:cNvPr id="78949" name="Group 14"/>
              <p:cNvGrpSpPr>
                <a:grpSpLocks/>
              </p:cNvGrpSpPr>
              <p:nvPr/>
            </p:nvGrpSpPr>
            <p:grpSpPr bwMode="auto">
              <a:xfrm>
                <a:off x="3019" y="3216"/>
                <a:ext cx="293" cy="305"/>
                <a:chOff x="2895" y="1488"/>
                <a:chExt cx="293" cy="305"/>
              </a:xfrm>
            </p:grpSpPr>
            <p:sp>
              <p:nvSpPr>
                <p:cNvPr id="78958" name="Freeform 15"/>
                <p:cNvSpPr>
                  <a:spLocks/>
                </p:cNvSpPr>
                <p:nvPr/>
              </p:nvSpPr>
              <p:spPr bwMode="auto">
                <a:xfrm>
                  <a:off x="2895" y="1500"/>
                  <a:ext cx="293" cy="293"/>
                </a:xfrm>
                <a:custGeom>
                  <a:avLst/>
                  <a:gdLst>
                    <a:gd name="T0" fmla="*/ 0 w 778"/>
                    <a:gd name="T1" fmla="*/ 147 h 778"/>
                    <a:gd name="T2" fmla="*/ 147 w 778"/>
                    <a:gd name="T3" fmla="*/ 0 h 778"/>
                    <a:gd name="T4" fmla="*/ 293 w 778"/>
                    <a:gd name="T5" fmla="*/ 147 h 778"/>
                    <a:gd name="T6" fmla="*/ 293 w 778"/>
                    <a:gd name="T7" fmla="*/ 147 h 778"/>
                    <a:gd name="T8" fmla="*/ 147 w 778"/>
                    <a:gd name="T9" fmla="*/ 293 h 778"/>
                    <a:gd name="T10" fmla="*/ 0 w 778"/>
                    <a:gd name="T11" fmla="*/ 147 h 77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778"/>
                    <a:gd name="T19" fmla="*/ 0 h 778"/>
                    <a:gd name="T20" fmla="*/ 778 w 778"/>
                    <a:gd name="T21" fmla="*/ 778 h 77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778" h="778">
                      <a:moveTo>
                        <a:pt x="0" y="389"/>
                      </a:moveTo>
                      <a:cubicBezTo>
                        <a:pt x="0" y="174"/>
                        <a:pt x="174" y="0"/>
                        <a:pt x="389" y="0"/>
                      </a:cubicBezTo>
                      <a:cubicBezTo>
                        <a:pt x="604" y="0"/>
                        <a:pt x="778" y="174"/>
                        <a:pt x="778" y="389"/>
                      </a:cubicBezTo>
                      <a:cubicBezTo>
                        <a:pt x="778" y="389"/>
                        <a:pt x="778" y="389"/>
                        <a:pt x="778" y="389"/>
                      </a:cubicBezTo>
                      <a:cubicBezTo>
                        <a:pt x="778" y="604"/>
                        <a:pt x="604" y="778"/>
                        <a:pt x="389" y="778"/>
                      </a:cubicBezTo>
                      <a:cubicBezTo>
                        <a:pt x="174" y="778"/>
                        <a:pt x="0" y="604"/>
                        <a:pt x="0" y="389"/>
                      </a:cubicBezTo>
                    </a:path>
                  </a:pathLst>
                </a:custGeom>
                <a:solidFill>
                  <a:srgbClr val="66FF99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959" name="Freeform 16"/>
                <p:cNvSpPr>
                  <a:spLocks/>
                </p:cNvSpPr>
                <p:nvPr/>
              </p:nvSpPr>
              <p:spPr bwMode="auto">
                <a:xfrm>
                  <a:off x="2895" y="1500"/>
                  <a:ext cx="293" cy="293"/>
                </a:xfrm>
                <a:custGeom>
                  <a:avLst/>
                  <a:gdLst>
                    <a:gd name="T0" fmla="*/ 0 w 293"/>
                    <a:gd name="T1" fmla="*/ 147 h 293"/>
                    <a:gd name="T2" fmla="*/ 147 w 293"/>
                    <a:gd name="T3" fmla="*/ 0 h 293"/>
                    <a:gd name="T4" fmla="*/ 293 w 293"/>
                    <a:gd name="T5" fmla="*/ 147 h 293"/>
                    <a:gd name="T6" fmla="*/ 293 w 293"/>
                    <a:gd name="T7" fmla="*/ 147 h 293"/>
                    <a:gd name="T8" fmla="*/ 147 w 293"/>
                    <a:gd name="T9" fmla="*/ 293 h 293"/>
                    <a:gd name="T10" fmla="*/ 0 w 293"/>
                    <a:gd name="T11" fmla="*/ 147 h 29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93"/>
                    <a:gd name="T19" fmla="*/ 0 h 293"/>
                    <a:gd name="T20" fmla="*/ 293 w 293"/>
                    <a:gd name="T21" fmla="*/ 293 h 29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93" h="293">
                      <a:moveTo>
                        <a:pt x="0" y="147"/>
                      </a:moveTo>
                      <a:cubicBezTo>
                        <a:pt x="0" y="66"/>
                        <a:pt x="66" y="0"/>
                        <a:pt x="147" y="0"/>
                      </a:cubicBezTo>
                      <a:cubicBezTo>
                        <a:pt x="228" y="0"/>
                        <a:pt x="293" y="66"/>
                        <a:pt x="293" y="147"/>
                      </a:cubicBezTo>
                      <a:cubicBezTo>
                        <a:pt x="293" y="147"/>
                        <a:pt x="293" y="147"/>
                        <a:pt x="293" y="147"/>
                      </a:cubicBezTo>
                      <a:cubicBezTo>
                        <a:pt x="293" y="228"/>
                        <a:pt x="228" y="293"/>
                        <a:pt x="147" y="293"/>
                      </a:cubicBezTo>
                      <a:cubicBezTo>
                        <a:pt x="66" y="293"/>
                        <a:pt x="0" y="228"/>
                        <a:pt x="0" y="147"/>
                      </a:cubicBezTo>
                    </a:path>
                  </a:pathLst>
                </a:custGeom>
                <a:noFill/>
                <a:ln w="3175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960" name="Rectangle 17"/>
                <p:cNvSpPr>
                  <a:spLocks noChangeArrowheads="1"/>
                </p:cNvSpPr>
                <p:nvPr/>
              </p:nvSpPr>
              <p:spPr bwMode="auto">
                <a:xfrm>
                  <a:off x="3001" y="1488"/>
                  <a:ext cx="99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/>
                <a:p>
                  <a:r>
                    <a:rPr lang="en-US" sz="2800" i="1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c</a:t>
                  </a:r>
                  <a:endParaRPr lang="en-US" sz="2800" i="1" baseline="-25000">
                    <a:solidFill>
                      <a:srgbClr val="000080"/>
                    </a:solidFill>
                    <a:latin typeface="Times New Roman" charset="0"/>
                    <a:cs typeface="Arial" charset="0"/>
                  </a:endParaRPr>
                </a:p>
              </p:txBody>
            </p:sp>
          </p:grpSp>
          <p:sp>
            <p:nvSpPr>
              <p:cNvPr id="78950" name="Freeform 18"/>
              <p:cNvSpPr>
                <a:spLocks/>
              </p:cNvSpPr>
              <p:nvPr/>
            </p:nvSpPr>
            <p:spPr bwMode="auto">
              <a:xfrm>
                <a:off x="3264" y="3485"/>
                <a:ext cx="456" cy="283"/>
              </a:xfrm>
              <a:custGeom>
                <a:avLst/>
                <a:gdLst>
                  <a:gd name="T0" fmla="*/ 0 w 456"/>
                  <a:gd name="T1" fmla="*/ 0 h 283"/>
                  <a:gd name="T2" fmla="*/ 456 w 456"/>
                  <a:gd name="T3" fmla="*/ 283 h 283"/>
                  <a:gd name="T4" fmla="*/ 0 60000 65536"/>
                  <a:gd name="T5" fmla="*/ 0 60000 65536"/>
                  <a:gd name="T6" fmla="*/ 0 w 456"/>
                  <a:gd name="T7" fmla="*/ 0 h 283"/>
                  <a:gd name="T8" fmla="*/ 456 w 456"/>
                  <a:gd name="T9" fmla="*/ 283 h 28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56" h="283">
                    <a:moveTo>
                      <a:pt x="0" y="0"/>
                    </a:moveTo>
                    <a:lnTo>
                      <a:pt x="456" y="283"/>
                    </a:lnTo>
                  </a:path>
                </a:pathLst>
              </a:custGeom>
              <a:noFill/>
              <a:ln w="50800">
                <a:solidFill>
                  <a:srgbClr val="333399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8951" name="Freeform 19"/>
              <p:cNvSpPr>
                <a:spLocks/>
              </p:cNvSpPr>
              <p:nvPr/>
            </p:nvSpPr>
            <p:spPr bwMode="auto">
              <a:xfrm>
                <a:off x="3072" y="3485"/>
                <a:ext cx="90" cy="283"/>
              </a:xfrm>
              <a:custGeom>
                <a:avLst/>
                <a:gdLst>
                  <a:gd name="T0" fmla="*/ 0 w 90"/>
                  <a:gd name="T1" fmla="*/ 0 h 283"/>
                  <a:gd name="T2" fmla="*/ 90 w 90"/>
                  <a:gd name="T3" fmla="*/ 283 h 283"/>
                  <a:gd name="T4" fmla="*/ 0 60000 65536"/>
                  <a:gd name="T5" fmla="*/ 0 60000 65536"/>
                  <a:gd name="T6" fmla="*/ 0 w 90"/>
                  <a:gd name="T7" fmla="*/ 0 h 283"/>
                  <a:gd name="T8" fmla="*/ 90 w 90"/>
                  <a:gd name="T9" fmla="*/ 283 h 28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0" h="283">
                    <a:moveTo>
                      <a:pt x="0" y="0"/>
                    </a:moveTo>
                    <a:lnTo>
                      <a:pt x="90" y="283"/>
                    </a:lnTo>
                  </a:path>
                </a:pathLst>
              </a:custGeom>
              <a:noFill/>
              <a:ln w="50800">
                <a:solidFill>
                  <a:schemeClr val="accent2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grpSp>
            <p:nvGrpSpPr>
              <p:cNvPr id="78952" name="Group 20"/>
              <p:cNvGrpSpPr>
                <a:grpSpLocks/>
              </p:cNvGrpSpPr>
              <p:nvPr/>
            </p:nvGrpSpPr>
            <p:grpSpPr bwMode="auto">
              <a:xfrm>
                <a:off x="3547" y="3216"/>
                <a:ext cx="293" cy="305"/>
                <a:chOff x="2895" y="1488"/>
                <a:chExt cx="293" cy="305"/>
              </a:xfrm>
            </p:grpSpPr>
            <p:sp>
              <p:nvSpPr>
                <p:cNvPr id="78955" name="Freeform 21"/>
                <p:cNvSpPr>
                  <a:spLocks/>
                </p:cNvSpPr>
                <p:nvPr/>
              </p:nvSpPr>
              <p:spPr bwMode="auto">
                <a:xfrm>
                  <a:off x="2895" y="1500"/>
                  <a:ext cx="293" cy="293"/>
                </a:xfrm>
                <a:custGeom>
                  <a:avLst/>
                  <a:gdLst>
                    <a:gd name="T0" fmla="*/ 0 w 778"/>
                    <a:gd name="T1" fmla="*/ 147 h 778"/>
                    <a:gd name="T2" fmla="*/ 147 w 778"/>
                    <a:gd name="T3" fmla="*/ 0 h 778"/>
                    <a:gd name="T4" fmla="*/ 293 w 778"/>
                    <a:gd name="T5" fmla="*/ 147 h 778"/>
                    <a:gd name="T6" fmla="*/ 293 w 778"/>
                    <a:gd name="T7" fmla="*/ 147 h 778"/>
                    <a:gd name="T8" fmla="*/ 147 w 778"/>
                    <a:gd name="T9" fmla="*/ 293 h 778"/>
                    <a:gd name="T10" fmla="*/ 0 w 778"/>
                    <a:gd name="T11" fmla="*/ 147 h 77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778"/>
                    <a:gd name="T19" fmla="*/ 0 h 778"/>
                    <a:gd name="T20" fmla="*/ 778 w 778"/>
                    <a:gd name="T21" fmla="*/ 778 h 77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778" h="778">
                      <a:moveTo>
                        <a:pt x="0" y="389"/>
                      </a:moveTo>
                      <a:cubicBezTo>
                        <a:pt x="0" y="174"/>
                        <a:pt x="174" y="0"/>
                        <a:pt x="389" y="0"/>
                      </a:cubicBezTo>
                      <a:cubicBezTo>
                        <a:pt x="604" y="0"/>
                        <a:pt x="778" y="174"/>
                        <a:pt x="778" y="389"/>
                      </a:cubicBezTo>
                      <a:cubicBezTo>
                        <a:pt x="778" y="389"/>
                        <a:pt x="778" y="389"/>
                        <a:pt x="778" y="389"/>
                      </a:cubicBezTo>
                      <a:cubicBezTo>
                        <a:pt x="778" y="604"/>
                        <a:pt x="604" y="778"/>
                        <a:pt x="389" y="778"/>
                      </a:cubicBezTo>
                      <a:cubicBezTo>
                        <a:pt x="174" y="778"/>
                        <a:pt x="0" y="604"/>
                        <a:pt x="0" y="389"/>
                      </a:cubicBezTo>
                    </a:path>
                  </a:pathLst>
                </a:custGeom>
                <a:solidFill>
                  <a:srgbClr val="66FF99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956" name="Freeform 22"/>
                <p:cNvSpPr>
                  <a:spLocks/>
                </p:cNvSpPr>
                <p:nvPr/>
              </p:nvSpPr>
              <p:spPr bwMode="auto">
                <a:xfrm>
                  <a:off x="2895" y="1500"/>
                  <a:ext cx="293" cy="293"/>
                </a:xfrm>
                <a:custGeom>
                  <a:avLst/>
                  <a:gdLst>
                    <a:gd name="T0" fmla="*/ 0 w 293"/>
                    <a:gd name="T1" fmla="*/ 147 h 293"/>
                    <a:gd name="T2" fmla="*/ 147 w 293"/>
                    <a:gd name="T3" fmla="*/ 0 h 293"/>
                    <a:gd name="T4" fmla="*/ 293 w 293"/>
                    <a:gd name="T5" fmla="*/ 147 h 293"/>
                    <a:gd name="T6" fmla="*/ 293 w 293"/>
                    <a:gd name="T7" fmla="*/ 147 h 293"/>
                    <a:gd name="T8" fmla="*/ 147 w 293"/>
                    <a:gd name="T9" fmla="*/ 293 h 293"/>
                    <a:gd name="T10" fmla="*/ 0 w 293"/>
                    <a:gd name="T11" fmla="*/ 147 h 29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93"/>
                    <a:gd name="T19" fmla="*/ 0 h 293"/>
                    <a:gd name="T20" fmla="*/ 293 w 293"/>
                    <a:gd name="T21" fmla="*/ 293 h 29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93" h="293">
                      <a:moveTo>
                        <a:pt x="0" y="147"/>
                      </a:moveTo>
                      <a:cubicBezTo>
                        <a:pt x="0" y="66"/>
                        <a:pt x="66" y="0"/>
                        <a:pt x="147" y="0"/>
                      </a:cubicBezTo>
                      <a:cubicBezTo>
                        <a:pt x="228" y="0"/>
                        <a:pt x="293" y="66"/>
                        <a:pt x="293" y="147"/>
                      </a:cubicBezTo>
                      <a:cubicBezTo>
                        <a:pt x="293" y="147"/>
                        <a:pt x="293" y="147"/>
                        <a:pt x="293" y="147"/>
                      </a:cubicBezTo>
                      <a:cubicBezTo>
                        <a:pt x="293" y="228"/>
                        <a:pt x="228" y="293"/>
                        <a:pt x="147" y="293"/>
                      </a:cubicBezTo>
                      <a:cubicBezTo>
                        <a:pt x="66" y="293"/>
                        <a:pt x="0" y="228"/>
                        <a:pt x="0" y="147"/>
                      </a:cubicBezTo>
                    </a:path>
                  </a:pathLst>
                </a:custGeom>
                <a:noFill/>
                <a:ln w="3175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957" name="Rectangle 23"/>
                <p:cNvSpPr>
                  <a:spLocks noChangeArrowheads="1"/>
                </p:cNvSpPr>
                <p:nvPr/>
              </p:nvSpPr>
              <p:spPr bwMode="auto">
                <a:xfrm>
                  <a:off x="3001" y="1488"/>
                  <a:ext cx="99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/>
                <a:p>
                  <a:r>
                    <a:rPr lang="en-US" sz="2800" i="1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c</a:t>
                  </a:r>
                  <a:endParaRPr lang="en-US" sz="2800" i="1" baseline="-25000">
                    <a:solidFill>
                      <a:srgbClr val="000080"/>
                    </a:solidFill>
                    <a:latin typeface="Times New Roman" charset="0"/>
                    <a:cs typeface="Arial" charset="0"/>
                  </a:endParaRPr>
                </a:p>
              </p:txBody>
            </p:sp>
          </p:grpSp>
          <p:sp>
            <p:nvSpPr>
              <p:cNvPr id="78953" name="Freeform 24"/>
              <p:cNvSpPr>
                <a:spLocks/>
              </p:cNvSpPr>
              <p:nvPr/>
            </p:nvSpPr>
            <p:spPr bwMode="auto">
              <a:xfrm>
                <a:off x="3726" y="3485"/>
                <a:ext cx="66" cy="289"/>
              </a:xfrm>
              <a:custGeom>
                <a:avLst/>
                <a:gdLst>
                  <a:gd name="T0" fmla="*/ 66 w 66"/>
                  <a:gd name="T1" fmla="*/ 0 h 289"/>
                  <a:gd name="T2" fmla="*/ 0 w 66"/>
                  <a:gd name="T3" fmla="*/ 289 h 289"/>
                  <a:gd name="T4" fmla="*/ 0 60000 65536"/>
                  <a:gd name="T5" fmla="*/ 0 60000 65536"/>
                  <a:gd name="T6" fmla="*/ 0 w 66"/>
                  <a:gd name="T7" fmla="*/ 0 h 289"/>
                  <a:gd name="T8" fmla="*/ 66 w 66"/>
                  <a:gd name="T9" fmla="*/ 289 h 28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66" h="289">
                    <a:moveTo>
                      <a:pt x="66" y="0"/>
                    </a:moveTo>
                    <a:lnTo>
                      <a:pt x="0" y="289"/>
                    </a:lnTo>
                  </a:path>
                </a:pathLst>
              </a:custGeom>
              <a:noFill/>
              <a:ln w="50800">
                <a:solidFill>
                  <a:schemeClr val="accent2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8954" name="Freeform 25"/>
              <p:cNvSpPr>
                <a:spLocks/>
              </p:cNvSpPr>
              <p:nvPr/>
            </p:nvSpPr>
            <p:spPr bwMode="auto">
              <a:xfrm>
                <a:off x="3168" y="3485"/>
                <a:ext cx="432" cy="277"/>
              </a:xfrm>
              <a:custGeom>
                <a:avLst/>
                <a:gdLst>
                  <a:gd name="T0" fmla="*/ 432 w 432"/>
                  <a:gd name="T1" fmla="*/ 0 h 277"/>
                  <a:gd name="T2" fmla="*/ 0 w 432"/>
                  <a:gd name="T3" fmla="*/ 277 h 277"/>
                  <a:gd name="T4" fmla="*/ 0 60000 65536"/>
                  <a:gd name="T5" fmla="*/ 0 60000 65536"/>
                  <a:gd name="T6" fmla="*/ 0 w 432"/>
                  <a:gd name="T7" fmla="*/ 0 h 277"/>
                  <a:gd name="T8" fmla="*/ 432 w 432"/>
                  <a:gd name="T9" fmla="*/ 277 h 27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32" h="277">
                    <a:moveTo>
                      <a:pt x="432" y="0"/>
                    </a:moveTo>
                    <a:lnTo>
                      <a:pt x="0" y="277"/>
                    </a:lnTo>
                  </a:path>
                </a:pathLst>
              </a:custGeom>
              <a:noFill/>
              <a:ln w="50800">
                <a:solidFill>
                  <a:srgbClr val="333399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78923" name="Group 26"/>
            <p:cNvGrpSpPr>
              <a:grpSpLocks/>
            </p:cNvGrpSpPr>
            <p:nvPr/>
          </p:nvGrpSpPr>
          <p:grpSpPr bwMode="auto">
            <a:xfrm>
              <a:off x="4315" y="2120"/>
              <a:ext cx="293" cy="305"/>
              <a:chOff x="2895" y="1488"/>
              <a:chExt cx="293" cy="305"/>
            </a:xfrm>
          </p:grpSpPr>
          <p:sp>
            <p:nvSpPr>
              <p:cNvPr id="78946" name="Freeform 27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947" name="Freeform 28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948" name="Rectangle 29"/>
              <p:cNvSpPr>
                <a:spLocks noChangeArrowheads="1"/>
              </p:cNvSpPr>
              <p:nvPr/>
            </p:nvSpPr>
            <p:spPr bwMode="auto">
              <a:xfrm>
                <a:off x="2995" y="1488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d</a:t>
                </a:r>
                <a:endParaRPr lang="en-US" sz="2800" i="1" baseline="-25000">
                  <a:solidFill>
                    <a:srgbClr val="000080"/>
                  </a:solidFill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78924" name="Freeform 30"/>
            <p:cNvSpPr>
              <a:spLocks/>
            </p:cNvSpPr>
            <p:nvPr/>
          </p:nvSpPr>
          <p:spPr bwMode="auto">
            <a:xfrm>
              <a:off x="4560" y="2389"/>
              <a:ext cx="198" cy="265"/>
            </a:xfrm>
            <a:custGeom>
              <a:avLst/>
              <a:gdLst>
                <a:gd name="T0" fmla="*/ 0 w 198"/>
                <a:gd name="T1" fmla="*/ 0 h 265"/>
                <a:gd name="T2" fmla="*/ 198 w 198"/>
                <a:gd name="T3" fmla="*/ 265 h 265"/>
                <a:gd name="T4" fmla="*/ 0 60000 65536"/>
                <a:gd name="T5" fmla="*/ 0 60000 65536"/>
                <a:gd name="T6" fmla="*/ 0 w 198"/>
                <a:gd name="T7" fmla="*/ 0 h 265"/>
                <a:gd name="T8" fmla="*/ 198 w 198"/>
                <a:gd name="T9" fmla="*/ 265 h 26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98" h="265">
                  <a:moveTo>
                    <a:pt x="0" y="0"/>
                  </a:moveTo>
                  <a:lnTo>
                    <a:pt x="198" y="265"/>
                  </a:ln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78925" name="Freeform 31"/>
            <p:cNvSpPr>
              <a:spLocks/>
            </p:cNvSpPr>
            <p:nvPr/>
          </p:nvSpPr>
          <p:spPr bwMode="auto">
            <a:xfrm>
              <a:off x="3954" y="2389"/>
              <a:ext cx="522" cy="1267"/>
            </a:xfrm>
            <a:custGeom>
              <a:avLst/>
              <a:gdLst>
                <a:gd name="T0" fmla="*/ 414 w 522"/>
                <a:gd name="T1" fmla="*/ 0 h 1267"/>
                <a:gd name="T2" fmla="*/ 18 w 522"/>
                <a:gd name="T3" fmla="*/ 595 h 1267"/>
                <a:gd name="T4" fmla="*/ 522 w 522"/>
                <a:gd name="T5" fmla="*/ 1267 h 1267"/>
                <a:gd name="T6" fmla="*/ 0 60000 65536"/>
                <a:gd name="T7" fmla="*/ 0 60000 65536"/>
                <a:gd name="T8" fmla="*/ 0 60000 65536"/>
                <a:gd name="T9" fmla="*/ 0 w 522"/>
                <a:gd name="T10" fmla="*/ 0 h 1267"/>
                <a:gd name="T11" fmla="*/ 522 w 522"/>
                <a:gd name="T12" fmla="*/ 1267 h 12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2" h="1267">
                  <a:moveTo>
                    <a:pt x="414" y="0"/>
                  </a:moveTo>
                  <a:cubicBezTo>
                    <a:pt x="348" y="99"/>
                    <a:pt x="0" y="384"/>
                    <a:pt x="18" y="595"/>
                  </a:cubicBezTo>
                  <a:cubicBezTo>
                    <a:pt x="36" y="806"/>
                    <a:pt x="417" y="1127"/>
                    <a:pt x="522" y="1267"/>
                  </a:cubicBez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78926" name="Group 32"/>
            <p:cNvGrpSpPr>
              <a:grpSpLocks/>
            </p:cNvGrpSpPr>
            <p:nvPr/>
          </p:nvGrpSpPr>
          <p:grpSpPr bwMode="auto">
            <a:xfrm>
              <a:off x="4843" y="2120"/>
              <a:ext cx="293" cy="305"/>
              <a:chOff x="2895" y="1488"/>
              <a:chExt cx="293" cy="305"/>
            </a:xfrm>
          </p:grpSpPr>
          <p:sp>
            <p:nvSpPr>
              <p:cNvPr id="78943" name="Freeform 33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944" name="Freeform 34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945" name="Rectangle 35"/>
              <p:cNvSpPr>
                <a:spLocks noChangeArrowheads="1"/>
              </p:cNvSpPr>
              <p:nvPr/>
            </p:nvSpPr>
            <p:spPr bwMode="auto">
              <a:xfrm>
                <a:off x="2995" y="1488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d</a:t>
                </a:r>
                <a:endParaRPr lang="en-US" sz="2800" i="1" baseline="-25000">
                  <a:solidFill>
                    <a:srgbClr val="000080"/>
                  </a:solidFill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78927" name="Freeform 36"/>
            <p:cNvSpPr>
              <a:spLocks/>
            </p:cNvSpPr>
            <p:nvPr/>
          </p:nvSpPr>
          <p:spPr bwMode="auto">
            <a:xfrm>
              <a:off x="4800" y="2414"/>
              <a:ext cx="258" cy="240"/>
            </a:xfrm>
            <a:custGeom>
              <a:avLst/>
              <a:gdLst>
                <a:gd name="T0" fmla="*/ 258 w 258"/>
                <a:gd name="T1" fmla="*/ 0 h 240"/>
                <a:gd name="T2" fmla="*/ 0 w 258"/>
                <a:gd name="T3" fmla="*/ 240 h 240"/>
                <a:gd name="T4" fmla="*/ 0 60000 65536"/>
                <a:gd name="T5" fmla="*/ 0 60000 65536"/>
                <a:gd name="T6" fmla="*/ 0 w 258"/>
                <a:gd name="T7" fmla="*/ 0 h 240"/>
                <a:gd name="T8" fmla="*/ 258 w 258"/>
                <a:gd name="T9" fmla="*/ 240 h 24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58" h="240">
                  <a:moveTo>
                    <a:pt x="258" y="0"/>
                  </a:moveTo>
                  <a:lnTo>
                    <a:pt x="0" y="240"/>
                  </a:ln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78928" name="Freeform 37"/>
            <p:cNvSpPr>
              <a:spLocks/>
            </p:cNvSpPr>
            <p:nvPr/>
          </p:nvSpPr>
          <p:spPr bwMode="auto">
            <a:xfrm>
              <a:off x="4127" y="2389"/>
              <a:ext cx="769" cy="1267"/>
            </a:xfrm>
            <a:custGeom>
              <a:avLst/>
              <a:gdLst>
                <a:gd name="T0" fmla="*/ 769 w 769"/>
                <a:gd name="T1" fmla="*/ 0 h 1267"/>
                <a:gd name="T2" fmla="*/ 67 w 769"/>
                <a:gd name="T3" fmla="*/ 547 h 1267"/>
                <a:gd name="T4" fmla="*/ 367 w 769"/>
                <a:gd name="T5" fmla="*/ 1267 h 1267"/>
                <a:gd name="T6" fmla="*/ 0 60000 65536"/>
                <a:gd name="T7" fmla="*/ 0 60000 65536"/>
                <a:gd name="T8" fmla="*/ 0 60000 65536"/>
                <a:gd name="T9" fmla="*/ 0 w 769"/>
                <a:gd name="T10" fmla="*/ 0 h 1267"/>
                <a:gd name="T11" fmla="*/ 769 w 769"/>
                <a:gd name="T12" fmla="*/ 1267 h 12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9" h="1267">
                  <a:moveTo>
                    <a:pt x="769" y="0"/>
                  </a:moveTo>
                  <a:cubicBezTo>
                    <a:pt x="652" y="91"/>
                    <a:pt x="134" y="336"/>
                    <a:pt x="67" y="547"/>
                  </a:cubicBezTo>
                  <a:cubicBezTo>
                    <a:pt x="0" y="758"/>
                    <a:pt x="305" y="1117"/>
                    <a:pt x="367" y="1267"/>
                  </a:cubicBez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78929" name="Group 38"/>
            <p:cNvGrpSpPr>
              <a:grpSpLocks/>
            </p:cNvGrpSpPr>
            <p:nvPr/>
          </p:nvGrpSpPr>
          <p:grpSpPr bwMode="auto">
            <a:xfrm>
              <a:off x="4478" y="1656"/>
              <a:ext cx="512" cy="477"/>
              <a:chOff x="4064" y="1344"/>
              <a:chExt cx="512" cy="477"/>
            </a:xfrm>
          </p:grpSpPr>
          <p:grpSp>
            <p:nvGrpSpPr>
              <p:cNvPr id="78937" name="Group 39"/>
              <p:cNvGrpSpPr>
                <a:grpSpLocks/>
              </p:cNvGrpSpPr>
              <p:nvPr/>
            </p:nvGrpSpPr>
            <p:grpSpPr bwMode="auto">
              <a:xfrm>
                <a:off x="4171" y="1344"/>
                <a:ext cx="293" cy="305"/>
                <a:chOff x="2895" y="1488"/>
                <a:chExt cx="293" cy="305"/>
              </a:xfrm>
            </p:grpSpPr>
            <p:sp>
              <p:nvSpPr>
                <p:cNvPr id="78940" name="Freeform 40"/>
                <p:cNvSpPr>
                  <a:spLocks/>
                </p:cNvSpPr>
                <p:nvPr/>
              </p:nvSpPr>
              <p:spPr bwMode="auto">
                <a:xfrm>
                  <a:off x="2895" y="1500"/>
                  <a:ext cx="293" cy="293"/>
                </a:xfrm>
                <a:custGeom>
                  <a:avLst/>
                  <a:gdLst>
                    <a:gd name="T0" fmla="*/ 0 w 778"/>
                    <a:gd name="T1" fmla="*/ 147 h 778"/>
                    <a:gd name="T2" fmla="*/ 147 w 778"/>
                    <a:gd name="T3" fmla="*/ 0 h 778"/>
                    <a:gd name="T4" fmla="*/ 293 w 778"/>
                    <a:gd name="T5" fmla="*/ 147 h 778"/>
                    <a:gd name="T6" fmla="*/ 293 w 778"/>
                    <a:gd name="T7" fmla="*/ 147 h 778"/>
                    <a:gd name="T8" fmla="*/ 147 w 778"/>
                    <a:gd name="T9" fmla="*/ 293 h 778"/>
                    <a:gd name="T10" fmla="*/ 0 w 778"/>
                    <a:gd name="T11" fmla="*/ 147 h 77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778"/>
                    <a:gd name="T19" fmla="*/ 0 h 778"/>
                    <a:gd name="T20" fmla="*/ 778 w 778"/>
                    <a:gd name="T21" fmla="*/ 778 h 77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778" h="778">
                      <a:moveTo>
                        <a:pt x="0" y="389"/>
                      </a:moveTo>
                      <a:cubicBezTo>
                        <a:pt x="0" y="174"/>
                        <a:pt x="174" y="0"/>
                        <a:pt x="389" y="0"/>
                      </a:cubicBezTo>
                      <a:cubicBezTo>
                        <a:pt x="604" y="0"/>
                        <a:pt x="778" y="174"/>
                        <a:pt x="778" y="389"/>
                      </a:cubicBezTo>
                      <a:cubicBezTo>
                        <a:pt x="778" y="389"/>
                        <a:pt x="778" y="389"/>
                        <a:pt x="778" y="389"/>
                      </a:cubicBezTo>
                      <a:cubicBezTo>
                        <a:pt x="778" y="604"/>
                        <a:pt x="604" y="778"/>
                        <a:pt x="389" y="778"/>
                      </a:cubicBezTo>
                      <a:cubicBezTo>
                        <a:pt x="174" y="778"/>
                        <a:pt x="0" y="604"/>
                        <a:pt x="0" y="389"/>
                      </a:cubicBezTo>
                    </a:path>
                  </a:pathLst>
                </a:custGeom>
                <a:solidFill>
                  <a:srgbClr val="66FF99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941" name="Freeform 41"/>
                <p:cNvSpPr>
                  <a:spLocks/>
                </p:cNvSpPr>
                <p:nvPr/>
              </p:nvSpPr>
              <p:spPr bwMode="auto">
                <a:xfrm>
                  <a:off x="2895" y="1500"/>
                  <a:ext cx="293" cy="293"/>
                </a:xfrm>
                <a:custGeom>
                  <a:avLst/>
                  <a:gdLst>
                    <a:gd name="T0" fmla="*/ 0 w 293"/>
                    <a:gd name="T1" fmla="*/ 147 h 293"/>
                    <a:gd name="T2" fmla="*/ 147 w 293"/>
                    <a:gd name="T3" fmla="*/ 0 h 293"/>
                    <a:gd name="T4" fmla="*/ 293 w 293"/>
                    <a:gd name="T5" fmla="*/ 147 h 293"/>
                    <a:gd name="T6" fmla="*/ 293 w 293"/>
                    <a:gd name="T7" fmla="*/ 147 h 293"/>
                    <a:gd name="T8" fmla="*/ 147 w 293"/>
                    <a:gd name="T9" fmla="*/ 293 h 293"/>
                    <a:gd name="T10" fmla="*/ 0 w 293"/>
                    <a:gd name="T11" fmla="*/ 147 h 29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93"/>
                    <a:gd name="T19" fmla="*/ 0 h 293"/>
                    <a:gd name="T20" fmla="*/ 293 w 293"/>
                    <a:gd name="T21" fmla="*/ 293 h 29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93" h="293">
                      <a:moveTo>
                        <a:pt x="0" y="147"/>
                      </a:moveTo>
                      <a:cubicBezTo>
                        <a:pt x="0" y="66"/>
                        <a:pt x="66" y="0"/>
                        <a:pt x="147" y="0"/>
                      </a:cubicBezTo>
                      <a:cubicBezTo>
                        <a:pt x="228" y="0"/>
                        <a:pt x="293" y="66"/>
                        <a:pt x="293" y="147"/>
                      </a:cubicBezTo>
                      <a:cubicBezTo>
                        <a:pt x="293" y="147"/>
                        <a:pt x="293" y="147"/>
                        <a:pt x="293" y="147"/>
                      </a:cubicBezTo>
                      <a:cubicBezTo>
                        <a:pt x="293" y="228"/>
                        <a:pt x="228" y="293"/>
                        <a:pt x="147" y="293"/>
                      </a:cubicBezTo>
                      <a:cubicBezTo>
                        <a:pt x="66" y="293"/>
                        <a:pt x="0" y="228"/>
                        <a:pt x="0" y="147"/>
                      </a:cubicBezTo>
                    </a:path>
                  </a:pathLst>
                </a:custGeom>
                <a:noFill/>
                <a:ln w="3175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942" name="Rectangle 42"/>
                <p:cNvSpPr>
                  <a:spLocks noChangeArrowheads="1"/>
                </p:cNvSpPr>
                <p:nvPr/>
              </p:nvSpPr>
              <p:spPr bwMode="auto">
                <a:xfrm>
                  <a:off x="2995" y="1488"/>
                  <a:ext cx="112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/>
                <a:p>
                  <a:r>
                    <a:rPr lang="en-US" sz="2800" i="1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a</a:t>
                  </a:r>
                  <a:endParaRPr lang="en-US" sz="2800" i="1" baseline="-25000">
                    <a:solidFill>
                      <a:srgbClr val="000080"/>
                    </a:solidFill>
                    <a:latin typeface="Times New Roman" charset="0"/>
                    <a:cs typeface="Arial" charset="0"/>
                  </a:endParaRPr>
                </a:p>
              </p:txBody>
            </p:sp>
          </p:grpSp>
          <p:sp>
            <p:nvSpPr>
              <p:cNvPr id="78938" name="Freeform 43"/>
              <p:cNvSpPr>
                <a:spLocks/>
              </p:cNvSpPr>
              <p:nvPr/>
            </p:nvSpPr>
            <p:spPr bwMode="auto">
              <a:xfrm>
                <a:off x="4416" y="1613"/>
                <a:ext cx="160" cy="208"/>
              </a:xfrm>
              <a:custGeom>
                <a:avLst/>
                <a:gdLst>
                  <a:gd name="T0" fmla="*/ 0 w 160"/>
                  <a:gd name="T1" fmla="*/ 0 h 208"/>
                  <a:gd name="T2" fmla="*/ 160 w 160"/>
                  <a:gd name="T3" fmla="*/ 208 h 208"/>
                  <a:gd name="T4" fmla="*/ 0 60000 65536"/>
                  <a:gd name="T5" fmla="*/ 0 60000 65536"/>
                  <a:gd name="T6" fmla="*/ 0 w 160"/>
                  <a:gd name="T7" fmla="*/ 0 h 208"/>
                  <a:gd name="T8" fmla="*/ 160 w 160"/>
                  <a:gd name="T9" fmla="*/ 208 h 20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0" h="208">
                    <a:moveTo>
                      <a:pt x="0" y="0"/>
                    </a:moveTo>
                    <a:lnTo>
                      <a:pt x="160" y="208"/>
                    </a:lnTo>
                  </a:path>
                </a:pathLst>
              </a:custGeom>
              <a:noFill/>
              <a:ln w="50800">
                <a:solidFill>
                  <a:schemeClr val="accent2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8939" name="Freeform 44"/>
              <p:cNvSpPr>
                <a:spLocks/>
              </p:cNvSpPr>
              <p:nvPr/>
            </p:nvSpPr>
            <p:spPr bwMode="auto">
              <a:xfrm flipH="1">
                <a:off x="4064" y="1613"/>
                <a:ext cx="160" cy="208"/>
              </a:xfrm>
              <a:custGeom>
                <a:avLst/>
                <a:gdLst>
                  <a:gd name="T0" fmla="*/ 0 w 160"/>
                  <a:gd name="T1" fmla="*/ 0 h 208"/>
                  <a:gd name="T2" fmla="*/ 160 w 160"/>
                  <a:gd name="T3" fmla="*/ 208 h 208"/>
                  <a:gd name="T4" fmla="*/ 0 60000 65536"/>
                  <a:gd name="T5" fmla="*/ 0 60000 65536"/>
                  <a:gd name="T6" fmla="*/ 0 w 160"/>
                  <a:gd name="T7" fmla="*/ 0 h 208"/>
                  <a:gd name="T8" fmla="*/ 160 w 160"/>
                  <a:gd name="T9" fmla="*/ 208 h 20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0" h="208">
                    <a:moveTo>
                      <a:pt x="0" y="0"/>
                    </a:moveTo>
                    <a:lnTo>
                      <a:pt x="160" y="208"/>
                    </a:lnTo>
                  </a:path>
                </a:pathLst>
              </a:custGeom>
              <a:noFill/>
              <a:ln w="50800">
                <a:solidFill>
                  <a:srgbClr val="333399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78930" name="Freeform 45"/>
            <p:cNvSpPr>
              <a:spLocks/>
            </p:cNvSpPr>
            <p:nvPr/>
          </p:nvSpPr>
          <p:spPr bwMode="auto">
            <a:xfrm flipH="1">
              <a:off x="4752" y="1448"/>
              <a:ext cx="64" cy="208"/>
            </a:xfrm>
            <a:custGeom>
              <a:avLst/>
              <a:gdLst>
                <a:gd name="T0" fmla="*/ 0 w 160"/>
                <a:gd name="T1" fmla="*/ 0 h 208"/>
                <a:gd name="T2" fmla="*/ 64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66FF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78931" name="Group 46"/>
            <p:cNvGrpSpPr>
              <a:grpSpLocks/>
            </p:cNvGrpSpPr>
            <p:nvPr/>
          </p:nvGrpSpPr>
          <p:grpSpPr bwMode="auto">
            <a:xfrm>
              <a:off x="4627" y="2644"/>
              <a:ext cx="293" cy="305"/>
              <a:chOff x="2895" y="1488"/>
              <a:chExt cx="293" cy="305"/>
            </a:xfrm>
          </p:grpSpPr>
          <p:sp>
            <p:nvSpPr>
              <p:cNvPr id="78934" name="Freeform 47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935" name="Freeform 48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936" name="Rectangle 49"/>
              <p:cNvSpPr>
                <a:spLocks noChangeArrowheads="1"/>
              </p:cNvSpPr>
              <p:nvPr/>
            </p:nvSpPr>
            <p:spPr bwMode="auto">
              <a:xfrm>
                <a:off x="2995" y="1488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b</a:t>
                </a:r>
                <a:endParaRPr lang="en-US" sz="2800" i="1" baseline="-25000">
                  <a:solidFill>
                    <a:srgbClr val="000080"/>
                  </a:solidFill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78932" name="Freeform 50"/>
            <p:cNvSpPr>
              <a:spLocks/>
            </p:cNvSpPr>
            <p:nvPr/>
          </p:nvSpPr>
          <p:spPr bwMode="auto">
            <a:xfrm>
              <a:off x="4872" y="2913"/>
              <a:ext cx="160" cy="208"/>
            </a:xfrm>
            <a:custGeom>
              <a:avLst/>
              <a:gdLst>
                <a:gd name="T0" fmla="*/ 0 w 160"/>
                <a:gd name="T1" fmla="*/ 0 h 208"/>
                <a:gd name="T2" fmla="*/ 160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78933" name="Freeform 51"/>
            <p:cNvSpPr>
              <a:spLocks/>
            </p:cNvSpPr>
            <p:nvPr/>
          </p:nvSpPr>
          <p:spPr bwMode="auto">
            <a:xfrm flipH="1">
              <a:off x="4520" y="2913"/>
              <a:ext cx="160" cy="208"/>
            </a:xfrm>
            <a:custGeom>
              <a:avLst/>
              <a:gdLst>
                <a:gd name="T0" fmla="*/ 0 w 160"/>
                <a:gd name="T1" fmla="*/ 0 h 208"/>
                <a:gd name="T2" fmla="*/ 160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grpSp>
        <p:nvGrpSpPr>
          <p:cNvPr id="78854" name="Group 52"/>
          <p:cNvGrpSpPr>
            <a:grpSpLocks/>
          </p:cNvGrpSpPr>
          <p:nvPr/>
        </p:nvGrpSpPr>
        <p:grpSpPr bwMode="auto">
          <a:xfrm>
            <a:off x="1295400" y="2212975"/>
            <a:ext cx="3506788" cy="3717925"/>
            <a:chOff x="1321" y="1439"/>
            <a:chExt cx="2209" cy="2342"/>
          </a:xfrm>
        </p:grpSpPr>
        <p:grpSp>
          <p:nvGrpSpPr>
            <p:cNvPr id="78856" name="Group 53"/>
            <p:cNvGrpSpPr>
              <a:grpSpLocks/>
            </p:cNvGrpSpPr>
            <p:nvPr/>
          </p:nvGrpSpPr>
          <p:grpSpPr bwMode="auto">
            <a:xfrm>
              <a:off x="2041" y="3579"/>
              <a:ext cx="167" cy="202"/>
              <a:chOff x="3087" y="2784"/>
              <a:chExt cx="167" cy="202"/>
            </a:xfrm>
          </p:grpSpPr>
          <p:sp>
            <p:nvSpPr>
              <p:cNvPr id="78917" name="Rectangle 54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918" name="Rectangle 55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919" name="Rectangle 56"/>
              <p:cNvSpPr>
                <a:spLocks noChangeArrowheads="1"/>
              </p:cNvSpPr>
              <p:nvPr/>
            </p:nvSpPr>
            <p:spPr bwMode="auto">
              <a:xfrm>
                <a:off x="3120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0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grpSp>
          <p:nvGrpSpPr>
            <p:cNvPr id="78857" name="Group 57"/>
            <p:cNvGrpSpPr>
              <a:grpSpLocks/>
            </p:cNvGrpSpPr>
            <p:nvPr/>
          </p:nvGrpSpPr>
          <p:grpSpPr bwMode="auto">
            <a:xfrm>
              <a:off x="2592" y="3579"/>
              <a:ext cx="167" cy="202"/>
              <a:chOff x="3087" y="2784"/>
              <a:chExt cx="167" cy="202"/>
            </a:xfrm>
          </p:grpSpPr>
          <p:sp>
            <p:nvSpPr>
              <p:cNvPr id="78914" name="Rectangle 58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915" name="Rectangle 59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916" name="Rectangle 60"/>
              <p:cNvSpPr>
                <a:spLocks noChangeArrowheads="1"/>
              </p:cNvSpPr>
              <p:nvPr/>
            </p:nvSpPr>
            <p:spPr bwMode="auto">
              <a:xfrm>
                <a:off x="3120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1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grpSp>
          <p:nvGrpSpPr>
            <p:cNvPr id="78858" name="Group 61"/>
            <p:cNvGrpSpPr>
              <a:grpSpLocks/>
            </p:cNvGrpSpPr>
            <p:nvPr/>
          </p:nvGrpSpPr>
          <p:grpSpPr bwMode="auto">
            <a:xfrm>
              <a:off x="1963" y="3051"/>
              <a:ext cx="293" cy="305"/>
              <a:chOff x="2895" y="1488"/>
              <a:chExt cx="293" cy="305"/>
            </a:xfrm>
          </p:grpSpPr>
          <p:sp>
            <p:nvSpPr>
              <p:cNvPr id="78911" name="Freeform 62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912" name="Freeform 63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913" name="Rectangle 64"/>
              <p:cNvSpPr>
                <a:spLocks noChangeArrowheads="1"/>
              </p:cNvSpPr>
              <p:nvPr/>
            </p:nvSpPr>
            <p:spPr bwMode="auto">
              <a:xfrm>
                <a:off x="2995" y="1488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d</a:t>
                </a:r>
                <a:endParaRPr lang="en-US" sz="2800" i="1" baseline="-25000">
                  <a:solidFill>
                    <a:srgbClr val="000080"/>
                  </a:solidFill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78859" name="Freeform 65"/>
            <p:cNvSpPr>
              <a:spLocks/>
            </p:cNvSpPr>
            <p:nvPr/>
          </p:nvSpPr>
          <p:spPr bwMode="auto">
            <a:xfrm>
              <a:off x="2208" y="3320"/>
              <a:ext cx="456" cy="283"/>
            </a:xfrm>
            <a:custGeom>
              <a:avLst/>
              <a:gdLst>
                <a:gd name="T0" fmla="*/ 0 w 456"/>
                <a:gd name="T1" fmla="*/ 0 h 283"/>
                <a:gd name="T2" fmla="*/ 456 w 456"/>
                <a:gd name="T3" fmla="*/ 283 h 283"/>
                <a:gd name="T4" fmla="*/ 0 60000 65536"/>
                <a:gd name="T5" fmla="*/ 0 60000 65536"/>
                <a:gd name="T6" fmla="*/ 0 w 456"/>
                <a:gd name="T7" fmla="*/ 0 h 283"/>
                <a:gd name="T8" fmla="*/ 456 w 456"/>
                <a:gd name="T9" fmla="*/ 283 h 28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56" h="283">
                  <a:moveTo>
                    <a:pt x="0" y="0"/>
                  </a:moveTo>
                  <a:lnTo>
                    <a:pt x="456" y="283"/>
                  </a:ln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78860" name="Freeform 66"/>
            <p:cNvSpPr>
              <a:spLocks/>
            </p:cNvSpPr>
            <p:nvPr/>
          </p:nvSpPr>
          <p:spPr bwMode="auto">
            <a:xfrm>
              <a:off x="2016" y="3320"/>
              <a:ext cx="90" cy="283"/>
            </a:xfrm>
            <a:custGeom>
              <a:avLst/>
              <a:gdLst>
                <a:gd name="T0" fmla="*/ 0 w 90"/>
                <a:gd name="T1" fmla="*/ 0 h 283"/>
                <a:gd name="T2" fmla="*/ 90 w 90"/>
                <a:gd name="T3" fmla="*/ 283 h 283"/>
                <a:gd name="T4" fmla="*/ 0 60000 65536"/>
                <a:gd name="T5" fmla="*/ 0 60000 65536"/>
                <a:gd name="T6" fmla="*/ 0 w 90"/>
                <a:gd name="T7" fmla="*/ 0 h 283"/>
                <a:gd name="T8" fmla="*/ 90 w 90"/>
                <a:gd name="T9" fmla="*/ 283 h 28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90" h="283">
                  <a:moveTo>
                    <a:pt x="0" y="0"/>
                  </a:moveTo>
                  <a:lnTo>
                    <a:pt x="90" y="283"/>
                  </a:ln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78861" name="Group 67"/>
            <p:cNvGrpSpPr>
              <a:grpSpLocks/>
            </p:cNvGrpSpPr>
            <p:nvPr/>
          </p:nvGrpSpPr>
          <p:grpSpPr bwMode="auto">
            <a:xfrm>
              <a:off x="2491" y="3051"/>
              <a:ext cx="293" cy="305"/>
              <a:chOff x="2895" y="1488"/>
              <a:chExt cx="293" cy="305"/>
            </a:xfrm>
          </p:grpSpPr>
          <p:sp>
            <p:nvSpPr>
              <p:cNvPr id="78908" name="Freeform 68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909" name="Freeform 69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910" name="Rectangle 70"/>
              <p:cNvSpPr>
                <a:spLocks noChangeArrowheads="1"/>
              </p:cNvSpPr>
              <p:nvPr/>
            </p:nvSpPr>
            <p:spPr bwMode="auto">
              <a:xfrm>
                <a:off x="2995" y="1488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d</a:t>
                </a:r>
                <a:endParaRPr lang="en-US" sz="2800" i="1" baseline="-25000">
                  <a:solidFill>
                    <a:srgbClr val="000080"/>
                  </a:solidFill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78862" name="Freeform 71"/>
            <p:cNvSpPr>
              <a:spLocks/>
            </p:cNvSpPr>
            <p:nvPr/>
          </p:nvSpPr>
          <p:spPr bwMode="auto">
            <a:xfrm>
              <a:off x="2670" y="3320"/>
              <a:ext cx="66" cy="289"/>
            </a:xfrm>
            <a:custGeom>
              <a:avLst/>
              <a:gdLst>
                <a:gd name="T0" fmla="*/ 66 w 66"/>
                <a:gd name="T1" fmla="*/ 0 h 289"/>
                <a:gd name="T2" fmla="*/ 0 w 66"/>
                <a:gd name="T3" fmla="*/ 289 h 289"/>
                <a:gd name="T4" fmla="*/ 0 60000 65536"/>
                <a:gd name="T5" fmla="*/ 0 60000 65536"/>
                <a:gd name="T6" fmla="*/ 0 w 66"/>
                <a:gd name="T7" fmla="*/ 0 h 289"/>
                <a:gd name="T8" fmla="*/ 66 w 66"/>
                <a:gd name="T9" fmla="*/ 289 h 28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6" h="289">
                  <a:moveTo>
                    <a:pt x="66" y="0"/>
                  </a:moveTo>
                  <a:lnTo>
                    <a:pt x="0" y="289"/>
                  </a:ln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78863" name="Freeform 72"/>
            <p:cNvSpPr>
              <a:spLocks/>
            </p:cNvSpPr>
            <p:nvPr/>
          </p:nvSpPr>
          <p:spPr bwMode="auto">
            <a:xfrm>
              <a:off x="2112" y="3320"/>
              <a:ext cx="432" cy="277"/>
            </a:xfrm>
            <a:custGeom>
              <a:avLst/>
              <a:gdLst>
                <a:gd name="T0" fmla="*/ 432 w 432"/>
                <a:gd name="T1" fmla="*/ 0 h 277"/>
                <a:gd name="T2" fmla="*/ 0 w 432"/>
                <a:gd name="T3" fmla="*/ 277 h 277"/>
                <a:gd name="T4" fmla="*/ 0 60000 65536"/>
                <a:gd name="T5" fmla="*/ 0 60000 65536"/>
                <a:gd name="T6" fmla="*/ 0 w 432"/>
                <a:gd name="T7" fmla="*/ 0 h 277"/>
                <a:gd name="T8" fmla="*/ 432 w 432"/>
                <a:gd name="T9" fmla="*/ 277 h 27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32" h="277">
                  <a:moveTo>
                    <a:pt x="432" y="0"/>
                  </a:moveTo>
                  <a:lnTo>
                    <a:pt x="0" y="277"/>
                  </a:ln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78864" name="Group 73"/>
            <p:cNvGrpSpPr>
              <a:grpSpLocks/>
            </p:cNvGrpSpPr>
            <p:nvPr/>
          </p:nvGrpSpPr>
          <p:grpSpPr bwMode="auto">
            <a:xfrm>
              <a:off x="1776" y="1439"/>
              <a:ext cx="1152" cy="685"/>
              <a:chOff x="1776" y="1448"/>
              <a:chExt cx="1152" cy="685"/>
            </a:xfrm>
          </p:grpSpPr>
          <p:grpSp>
            <p:nvGrpSpPr>
              <p:cNvPr id="78901" name="Group 74"/>
              <p:cNvGrpSpPr>
                <a:grpSpLocks/>
              </p:cNvGrpSpPr>
              <p:nvPr/>
            </p:nvGrpSpPr>
            <p:grpSpPr bwMode="auto">
              <a:xfrm>
                <a:off x="2235" y="1656"/>
                <a:ext cx="293" cy="305"/>
                <a:chOff x="2895" y="1488"/>
                <a:chExt cx="293" cy="305"/>
              </a:xfrm>
            </p:grpSpPr>
            <p:sp>
              <p:nvSpPr>
                <p:cNvPr id="78905" name="Freeform 75"/>
                <p:cNvSpPr>
                  <a:spLocks/>
                </p:cNvSpPr>
                <p:nvPr/>
              </p:nvSpPr>
              <p:spPr bwMode="auto">
                <a:xfrm>
                  <a:off x="2895" y="1500"/>
                  <a:ext cx="293" cy="293"/>
                </a:xfrm>
                <a:custGeom>
                  <a:avLst/>
                  <a:gdLst>
                    <a:gd name="T0" fmla="*/ 0 w 778"/>
                    <a:gd name="T1" fmla="*/ 147 h 778"/>
                    <a:gd name="T2" fmla="*/ 147 w 778"/>
                    <a:gd name="T3" fmla="*/ 0 h 778"/>
                    <a:gd name="T4" fmla="*/ 293 w 778"/>
                    <a:gd name="T5" fmla="*/ 147 h 778"/>
                    <a:gd name="T6" fmla="*/ 293 w 778"/>
                    <a:gd name="T7" fmla="*/ 147 h 778"/>
                    <a:gd name="T8" fmla="*/ 147 w 778"/>
                    <a:gd name="T9" fmla="*/ 293 h 778"/>
                    <a:gd name="T10" fmla="*/ 0 w 778"/>
                    <a:gd name="T11" fmla="*/ 147 h 77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778"/>
                    <a:gd name="T19" fmla="*/ 0 h 778"/>
                    <a:gd name="T20" fmla="*/ 778 w 778"/>
                    <a:gd name="T21" fmla="*/ 778 h 77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778" h="778">
                      <a:moveTo>
                        <a:pt x="0" y="389"/>
                      </a:moveTo>
                      <a:cubicBezTo>
                        <a:pt x="0" y="174"/>
                        <a:pt x="174" y="0"/>
                        <a:pt x="389" y="0"/>
                      </a:cubicBezTo>
                      <a:cubicBezTo>
                        <a:pt x="604" y="0"/>
                        <a:pt x="778" y="174"/>
                        <a:pt x="778" y="389"/>
                      </a:cubicBezTo>
                      <a:cubicBezTo>
                        <a:pt x="778" y="389"/>
                        <a:pt x="778" y="389"/>
                        <a:pt x="778" y="389"/>
                      </a:cubicBezTo>
                      <a:cubicBezTo>
                        <a:pt x="778" y="604"/>
                        <a:pt x="604" y="778"/>
                        <a:pt x="389" y="778"/>
                      </a:cubicBezTo>
                      <a:cubicBezTo>
                        <a:pt x="174" y="778"/>
                        <a:pt x="0" y="604"/>
                        <a:pt x="0" y="389"/>
                      </a:cubicBezTo>
                    </a:path>
                  </a:pathLst>
                </a:custGeom>
                <a:solidFill>
                  <a:srgbClr val="66FF99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906" name="Freeform 76"/>
                <p:cNvSpPr>
                  <a:spLocks/>
                </p:cNvSpPr>
                <p:nvPr/>
              </p:nvSpPr>
              <p:spPr bwMode="auto">
                <a:xfrm>
                  <a:off x="2895" y="1500"/>
                  <a:ext cx="293" cy="293"/>
                </a:xfrm>
                <a:custGeom>
                  <a:avLst/>
                  <a:gdLst>
                    <a:gd name="T0" fmla="*/ 0 w 293"/>
                    <a:gd name="T1" fmla="*/ 147 h 293"/>
                    <a:gd name="T2" fmla="*/ 147 w 293"/>
                    <a:gd name="T3" fmla="*/ 0 h 293"/>
                    <a:gd name="T4" fmla="*/ 293 w 293"/>
                    <a:gd name="T5" fmla="*/ 147 h 293"/>
                    <a:gd name="T6" fmla="*/ 293 w 293"/>
                    <a:gd name="T7" fmla="*/ 147 h 293"/>
                    <a:gd name="T8" fmla="*/ 147 w 293"/>
                    <a:gd name="T9" fmla="*/ 293 h 293"/>
                    <a:gd name="T10" fmla="*/ 0 w 293"/>
                    <a:gd name="T11" fmla="*/ 147 h 29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93"/>
                    <a:gd name="T19" fmla="*/ 0 h 293"/>
                    <a:gd name="T20" fmla="*/ 293 w 293"/>
                    <a:gd name="T21" fmla="*/ 293 h 29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93" h="293">
                      <a:moveTo>
                        <a:pt x="0" y="147"/>
                      </a:moveTo>
                      <a:cubicBezTo>
                        <a:pt x="0" y="66"/>
                        <a:pt x="66" y="0"/>
                        <a:pt x="147" y="0"/>
                      </a:cubicBezTo>
                      <a:cubicBezTo>
                        <a:pt x="228" y="0"/>
                        <a:pt x="293" y="66"/>
                        <a:pt x="293" y="147"/>
                      </a:cubicBezTo>
                      <a:cubicBezTo>
                        <a:pt x="293" y="147"/>
                        <a:pt x="293" y="147"/>
                        <a:pt x="293" y="147"/>
                      </a:cubicBezTo>
                      <a:cubicBezTo>
                        <a:pt x="293" y="228"/>
                        <a:pt x="228" y="293"/>
                        <a:pt x="147" y="293"/>
                      </a:cubicBezTo>
                      <a:cubicBezTo>
                        <a:pt x="66" y="293"/>
                        <a:pt x="0" y="228"/>
                        <a:pt x="0" y="147"/>
                      </a:cubicBezTo>
                    </a:path>
                  </a:pathLst>
                </a:custGeom>
                <a:noFill/>
                <a:ln w="3175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907" name="Rectangle 77"/>
                <p:cNvSpPr>
                  <a:spLocks noChangeArrowheads="1"/>
                </p:cNvSpPr>
                <p:nvPr/>
              </p:nvSpPr>
              <p:spPr bwMode="auto">
                <a:xfrm>
                  <a:off x="2995" y="1488"/>
                  <a:ext cx="112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/>
                <a:p>
                  <a:r>
                    <a:rPr lang="en-US" sz="2800" i="1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a</a:t>
                  </a:r>
                  <a:endParaRPr lang="en-US" sz="2800" i="1" baseline="-25000">
                    <a:solidFill>
                      <a:srgbClr val="000080"/>
                    </a:solidFill>
                    <a:latin typeface="Times New Roman" charset="0"/>
                    <a:cs typeface="Arial" charset="0"/>
                  </a:endParaRPr>
                </a:p>
              </p:txBody>
            </p:sp>
          </p:grpSp>
          <p:sp>
            <p:nvSpPr>
              <p:cNvPr id="78902" name="Freeform 78"/>
              <p:cNvSpPr>
                <a:spLocks/>
              </p:cNvSpPr>
              <p:nvPr/>
            </p:nvSpPr>
            <p:spPr bwMode="auto">
              <a:xfrm>
                <a:off x="2480" y="1925"/>
                <a:ext cx="448" cy="208"/>
              </a:xfrm>
              <a:custGeom>
                <a:avLst/>
                <a:gdLst>
                  <a:gd name="T0" fmla="*/ 0 w 160"/>
                  <a:gd name="T1" fmla="*/ 0 h 208"/>
                  <a:gd name="T2" fmla="*/ 448 w 160"/>
                  <a:gd name="T3" fmla="*/ 208 h 208"/>
                  <a:gd name="T4" fmla="*/ 0 60000 65536"/>
                  <a:gd name="T5" fmla="*/ 0 60000 65536"/>
                  <a:gd name="T6" fmla="*/ 0 w 160"/>
                  <a:gd name="T7" fmla="*/ 0 h 208"/>
                  <a:gd name="T8" fmla="*/ 160 w 160"/>
                  <a:gd name="T9" fmla="*/ 208 h 20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0" h="208">
                    <a:moveTo>
                      <a:pt x="0" y="0"/>
                    </a:moveTo>
                    <a:lnTo>
                      <a:pt x="160" y="208"/>
                    </a:lnTo>
                  </a:path>
                </a:pathLst>
              </a:custGeom>
              <a:noFill/>
              <a:ln w="50800">
                <a:solidFill>
                  <a:schemeClr val="accent2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8903" name="Freeform 79"/>
              <p:cNvSpPr>
                <a:spLocks/>
              </p:cNvSpPr>
              <p:nvPr/>
            </p:nvSpPr>
            <p:spPr bwMode="auto">
              <a:xfrm flipH="1">
                <a:off x="1776" y="1925"/>
                <a:ext cx="512" cy="208"/>
              </a:xfrm>
              <a:custGeom>
                <a:avLst/>
                <a:gdLst>
                  <a:gd name="T0" fmla="*/ 0 w 160"/>
                  <a:gd name="T1" fmla="*/ 0 h 208"/>
                  <a:gd name="T2" fmla="*/ 512 w 160"/>
                  <a:gd name="T3" fmla="*/ 208 h 208"/>
                  <a:gd name="T4" fmla="*/ 0 60000 65536"/>
                  <a:gd name="T5" fmla="*/ 0 60000 65536"/>
                  <a:gd name="T6" fmla="*/ 0 w 160"/>
                  <a:gd name="T7" fmla="*/ 0 h 208"/>
                  <a:gd name="T8" fmla="*/ 160 w 160"/>
                  <a:gd name="T9" fmla="*/ 208 h 20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0" h="208">
                    <a:moveTo>
                      <a:pt x="0" y="0"/>
                    </a:moveTo>
                    <a:lnTo>
                      <a:pt x="160" y="208"/>
                    </a:lnTo>
                  </a:path>
                </a:pathLst>
              </a:custGeom>
              <a:noFill/>
              <a:ln w="50800">
                <a:solidFill>
                  <a:srgbClr val="333399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8904" name="Freeform 80"/>
              <p:cNvSpPr>
                <a:spLocks/>
              </p:cNvSpPr>
              <p:nvPr/>
            </p:nvSpPr>
            <p:spPr bwMode="auto">
              <a:xfrm flipH="1">
                <a:off x="2382" y="1448"/>
                <a:ext cx="64" cy="208"/>
              </a:xfrm>
              <a:custGeom>
                <a:avLst/>
                <a:gdLst>
                  <a:gd name="T0" fmla="*/ 0 w 160"/>
                  <a:gd name="T1" fmla="*/ 0 h 208"/>
                  <a:gd name="T2" fmla="*/ 64 w 160"/>
                  <a:gd name="T3" fmla="*/ 208 h 208"/>
                  <a:gd name="T4" fmla="*/ 0 60000 65536"/>
                  <a:gd name="T5" fmla="*/ 0 60000 65536"/>
                  <a:gd name="T6" fmla="*/ 0 w 160"/>
                  <a:gd name="T7" fmla="*/ 0 h 208"/>
                  <a:gd name="T8" fmla="*/ 160 w 160"/>
                  <a:gd name="T9" fmla="*/ 208 h 20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0" h="208">
                    <a:moveTo>
                      <a:pt x="0" y="0"/>
                    </a:moveTo>
                    <a:lnTo>
                      <a:pt x="160" y="208"/>
                    </a:lnTo>
                  </a:path>
                </a:pathLst>
              </a:custGeom>
              <a:noFill/>
              <a:ln w="50800">
                <a:solidFill>
                  <a:srgbClr val="66FF99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78865" name="Group 81"/>
            <p:cNvGrpSpPr>
              <a:grpSpLocks/>
            </p:cNvGrpSpPr>
            <p:nvPr/>
          </p:nvGrpSpPr>
          <p:grpSpPr bwMode="auto">
            <a:xfrm>
              <a:off x="1931" y="2579"/>
              <a:ext cx="293" cy="305"/>
              <a:chOff x="2895" y="1488"/>
              <a:chExt cx="293" cy="305"/>
            </a:xfrm>
          </p:grpSpPr>
          <p:sp>
            <p:nvSpPr>
              <p:cNvPr id="78898" name="Freeform 82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899" name="Freeform 83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900" name="Rectangle 84"/>
              <p:cNvSpPr>
                <a:spLocks noChangeArrowheads="1"/>
              </p:cNvSpPr>
              <p:nvPr/>
            </p:nvSpPr>
            <p:spPr bwMode="auto">
              <a:xfrm>
                <a:off x="3001" y="1488"/>
                <a:ext cx="99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c</a:t>
                </a:r>
                <a:endParaRPr lang="en-US" sz="2800" i="1" baseline="-25000">
                  <a:solidFill>
                    <a:srgbClr val="000080"/>
                  </a:solidFill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78866" name="Freeform 85"/>
            <p:cNvSpPr>
              <a:spLocks/>
            </p:cNvSpPr>
            <p:nvPr/>
          </p:nvSpPr>
          <p:spPr bwMode="auto">
            <a:xfrm>
              <a:off x="2118" y="2848"/>
              <a:ext cx="280" cy="734"/>
            </a:xfrm>
            <a:custGeom>
              <a:avLst/>
              <a:gdLst>
                <a:gd name="T0" fmla="*/ 58 w 280"/>
                <a:gd name="T1" fmla="*/ 0 h 734"/>
                <a:gd name="T2" fmla="*/ 270 w 280"/>
                <a:gd name="T3" fmla="*/ 290 h 734"/>
                <a:gd name="T4" fmla="*/ 0 w 280"/>
                <a:gd name="T5" fmla="*/ 734 h 734"/>
                <a:gd name="T6" fmla="*/ 0 60000 65536"/>
                <a:gd name="T7" fmla="*/ 0 60000 65536"/>
                <a:gd name="T8" fmla="*/ 0 60000 65536"/>
                <a:gd name="T9" fmla="*/ 0 w 280"/>
                <a:gd name="T10" fmla="*/ 0 h 734"/>
                <a:gd name="T11" fmla="*/ 280 w 280"/>
                <a:gd name="T12" fmla="*/ 734 h 7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0" h="734">
                  <a:moveTo>
                    <a:pt x="58" y="0"/>
                  </a:moveTo>
                  <a:cubicBezTo>
                    <a:pt x="93" y="48"/>
                    <a:pt x="280" y="168"/>
                    <a:pt x="270" y="290"/>
                  </a:cubicBezTo>
                  <a:cubicBezTo>
                    <a:pt x="260" y="412"/>
                    <a:pt x="56" y="642"/>
                    <a:pt x="0" y="734"/>
                  </a:cubicBez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78867" name="Freeform 86"/>
            <p:cNvSpPr>
              <a:spLocks/>
            </p:cNvSpPr>
            <p:nvPr/>
          </p:nvSpPr>
          <p:spPr bwMode="auto">
            <a:xfrm>
              <a:off x="1984" y="2848"/>
              <a:ext cx="74" cy="212"/>
            </a:xfrm>
            <a:custGeom>
              <a:avLst/>
              <a:gdLst>
                <a:gd name="T0" fmla="*/ 0 w 74"/>
                <a:gd name="T1" fmla="*/ 0 h 212"/>
                <a:gd name="T2" fmla="*/ 74 w 74"/>
                <a:gd name="T3" fmla="*/ 212 h 212"/>
                <a:gd name="T4" fmla="*/ 0 60000 65536"/>
                <a:gd name="T5" fmla="*/ 0 60000 65536"/>
                <a:gd name="T6" fmla="*/ 0 w 74"/>
                <a:gd name="T7" fmla="*/ 0 h 212"/>
                <a:gd name="T8" fmla="*/ 74 w 74"/>
                <a:gd name="T9" fmla="*/ 212 h 21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4" h="212">
                  <a:moveTo>
                    <a:pt x="0" y="0"/>
                  </a:moveTo>
                  <a:cubicBezTo>
                    <a:pt x="12" y="35"/>
                    <a:pt x="59" y="168"/>
                    <a:pt x="74" y="212"/>
                  </a:cubicBez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78868" name="Group 87"/>
            <p:cNvGrpSpPr>
              <a:grpSpLocks/>
            </p:cNvGrpSpPr>
            <p:nvPr/>
          </p:nvGrpSpPr>
          <p:grpSpPr bwMode="auto">
            <a:xfrm>
              <a:off x="2763" y="2115"/>
              <a:ext cx="293" cy="305"/>
              <a:chOff x="2895" y="1488"/>
              <a:chExt cx="293" cy="305"/>
            </a:xfrm>
          </p:grpSpPr>
          <p:sp>
            <p:nvSpPr>
              <p:cNvPr id="78895" name="Freeform 88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896" name="Freeform 89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897" name="Rectangle 90"/>
              <p:cNvSpPr>
                <a:spLocks noChangeArrowheads="1"/>
              </p:cNvSpPr>
              <p:nvPr/>
            </p:nvSpPr>
            <p:spPr bwMode="auto">
              <a:xfrm>
                <a:off x="2995" y="1488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b</a:t>
                </a:r>
                <a:endParaRPr lang="en-US" sz="2800" i="1" baseline="-25000">
                  <a:solidFill>
                    <a:srgbClr val="000080"/>
                  </a:solidFill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78869" name="Freeform 91"/>
            <p:cNvSpPr>
              <a:spLocks/>
            </p:cNvSpPr>
            <p:nvPr/>
          </p:nvSpPr>
          <p:spPr bwMode="auto">
            <a:xfrm>
              <a:off x="3008" y="2384"/>
              <a:ext cx="160" cy="208"/>
            </a:xfrm>
            <a:custGeom>
              <a:avLst/>
              <a:gdLst>
                <a:gd name="T0" fmla="*/ 0 w 160"/>
                <a:gd name="T1" fmla="*/ 0 h 208"/>
                <a:gd name="T2" fmla="*/ 160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78870" name="Freeform 92"/>
            <p:cNvSpPr>
              <a:spLocks/>
            </p:cNvSpPr>
            <p:nvPr/>
          </p:nvSpPr>
          <p:spPr bwMode="auto">
            <a:xfrm flipH="1">
              <a:off x="2656" y="2384"/>
              <a:ext cx="160" cy="208"/>
            </a:xfrm>
            <a:custGeom>
              <a:avLst/>
              <a:gdLst>
                <a:gd name="T0" fmla="*/ 0 w 160"/>
                <a:gd name="T1" fmla="*/ 0 h 208"/>
                <a:gd name="T2" fmla="*/ 160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78871" name="Group 93"/>
            <p:cNvGrpSpPr>
              <a:grpSpLocks/>
            </p:cNvGrpSpPr>
            <p:nvPr/>
          </p:nvGrpSpPr>
          <p:grpSpPr bwMode="auto">
            <a:xfrm>
              <a:off x="1643" y="2115"/>
              <a:ext cx="293" cy="305"/>
              <a:chOff x="2895" y="1488"/>
              <a:chExt cx="293" cy="305"/>
            </a:xfrm>
          </p:grpSpPr>
          <p:sp>
            <p:nvSpPr>
              <p:cNvPr id="78892" name="Freeform 94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893" name="Freeform 95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894" name="Rectangle 96"/>
              <p:cNvSpPr>
                <a:spLocks noChangeArrowheads="1"/>
              </p:cNvSpPr>
              <p:nvPr/>
            </p:nvSpPr>
            <p:spPr bwMode="auto">
              <a:xfrm>
                <a:off x="2995" y="1488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b</a:t>
                </a:r>
                <a:endParaRPr lang="en-US" sz="2800" i="1" baseline="-25000">
                  <a:solidFill>
                    <a:srgbClr val="000080"/>
                  </a:solidFill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78872" name="Freeform 97"/>
            <p:cNvSpPr>
              <a:spLocks/>
            </p:cNvSpPr>
            <p:nvPr/>
          </p:nvSpPr>
          <p:spPr bwMode="auto">
            <a:xfrm>
              <a:off x="1888" y="2384"/>
              <a:ext cx="160" cy="208"/>
            </a:xfrm>
            <a:custGeom>
              <a:avLst/>
              <a:gdLst>
                <a:gd name="T0" fmla="*/ 0 w 160"/>
                <a:gd name="T1" fmla="*/ 0 h 208"/>
                <a:gd name="T2" fmla="*/ 160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78873" name="Freeform 98"/>
            <p:cNvSpPr>
              <a:spLocks/>
            </p:cNvSpPr>
            <p:nvPr/>
          </p:nvSpPr>
          <p:spPr bwMode="auto">
            <a:xfrm flipH="1">
              <a:off x="1536" y="2384"/>
              <a:ext cx="160" cy="208"/>
            </a:xfrm>
            <a:custGeom>
              <a:avLst/>
              <a:gdLst>
                <a:gd name="T0" fmla="*/ 0 w 160"/>
                <a:gd name="T1" fmla="*/ 0 h 208"/>
                <a:gd name="T2" fmla="*/ 160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78874" name="Group 99"/>
            <p:cNvGrpSpPr>
              <a:grpSpLocks/>
            </p:cNvGrpSpPr>
            <p:nvPr/>
          </p:nvGrpSpPr>
          <p:grpSpPr bwMode="auto">
            <a:xfrm>
              <a:off x="2475" y="2579"/>
              <a:ext cx="293" cy="305"/>
              <a:chOff x="2895" y="1488"/>
              <a:chExt cx="293" cy="305"/>
            </a:xfrm>
          </p:grpSpPr>
          <p:sp>
            <p:nvSpPr>
              <p:cNvPr id="78889" name="Freeform 100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890" name="Freeform 101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891" name="Rectangle 102"/>
              <p:cNvSpPr>
                <a:spLocks noChangeArrowheads="1"/>
              </p:cNvSpPr>
              <p:nvPr/>
            </p:nvSpPr>
            <p:spPr bwMode="auto">
              <a:xfrm>
                <a:off x="3001" y="1488"/>
                <a:ext cx="99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c</a:t>
                </a:r>
                <a:endParaRPr lang="en-US" sz="2800" i="1" baseline="-25000">
                  <a:solidFill>
                    <a:srgbClr val="000080"/>
                  </a:solidFill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78875" name="Freeform 103"/>
            <p:cNvSpPr>
              <a:spLocks/>
            </p:cNvSpPr>
            <p:nvPr/>
          </p:nvSpPr>
          <p:spPr bwMode="auto">
            <a:xfrm flipH="1">
              <a:off x="2640" y="2848"/>
              <a:ext cx="48" cy="224"/>
            </a:xfrm>
            <a:custGeom>
              <a:avLst/>
              <a:gdLst>
                <a:gd name="T0" fmla="*/ 0 w 160"/>
                <a:gd name="T1" fmla="*/ 0 h 208"/>
                <a:gd name="T2" fmla="*/ 48 w 160"/>
                <a:gd name="T3" fmla="*/ 224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78876" name="Freeform 104"/>
            <p:cNvSpPr>
              <a:spLocks/>
            </p:cNvSpPr>
            <p:nvPr/>
          </p:nvSpPr>
          <p:spPr bwMode="auto">
            <a:xfrm>
              <a:off x="2124" y="2848"/>
              <a:ext cx="404" cy="734"/>
            </a:xfrm>
            <a:custGeom>
              <a:avLst/>
              <a:gdLst>
                <a:gd name="T0" fmla="*/ 404 w 404"/>
                <a:gd name="T1" fmla="*/ 0 h 734"/>
                <a:gd name="T2" fmla="*/ 318 w 404"/>
                <a:gd name="T3" fmla="*/ 392 h 734"/>
                <a:gd name="T4" fmla="*/ 0 w 404"/>
                <a:gd name="T5" fmla="*/ 734 h 734"/>
                <a:gd name="T6" fmla="*/ 0 60000 65536"/>
                <a:gd name="T7" fmla="*/ 0 60000 65536"/>
                <a:gd name="T8" fmla="*/ 0 60000 65536"/>
                <a:gd name="T9" fmla="*/ 0 w 404"/>
                <a:gd name="T10" fmla="*/ 0 h 734"/>
                <a:gd name="T11" fmla="*/ 404 w 404"/>
                <a:gd name="T12" fmla="*/ 734 h 7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4" h="734">
                  <a:moveTo>
                    <a:pt x="404" y="0"/>
                  </a:moveTo>
                  <a:cubicBezTo>
                    <a:pt x="390" y="65"/>
                    <a:pt x="385" y="270"/>
                    <a:pt x="318" y="392"/>
                  </a:cubicBezTo>
                  <a:cubicBezTo>
                    <a:pt x="251" y="514"/>
                    <a:pt x="66" y="663"/>
                    <a:pt x="0" y="734"/>
                  </a:cubicBez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78877" name="Group 105"/>
            <p:cNvGrpSpPr>
              <a:grpSpLocks/>
            </p:cNvGrpSpPr>
            <p:nvPr/>
          </p:nvGrpSpPr>
          <p:grpSpPr bwMode="auto">
            <a:xfrm>
              <a:off x="1355" y="2579"/>
              <a:ext cx="293" cy="305"/>
              <a:chOff x="2895" y="1488"/>
              <a:chExt cx="293" cy="305"/>
            </a:xfrm>
          </p:grpSpPr>
          <p:sp>
            <p:nvSpPr>
              <p:cNvPr id="78886" name="Freeform 106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887" name="Freeform 107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888" name="Rectangle 108"/>
              <p:cNvSpPr>
                <a:spLocks noChangeArrowheads="1"/>
              </p:cNvSpPr>
              <p:nvPr/>
            </p:nvSpPr>
            <p:spPr bwMode="auto">
              <a:xfrm>
                <a:off x="3001" y="1488"/>
                <a:ext cx="99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c</a:t>
                </a:r>
                <a:endParaRPr lang="en-US" sz="2800" i="1" baseline="-25000">
                  <a:solidFill>
                    <a:srgbClr val="000080"/>
                  </a:solidFill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78878" name="Freeform 109"/>
            <p:cNvSpPr>
              <a:spLocks/>
            </p:cNvSpPr>
            <p:nvPr/>
          </p:nvSpPr>
          <p:spPr bwMode="auto">
            <a:xfrm>
              <a:off x="1600" y="2848"/>
              <a:ext cx="452" cy="212"/>
            </a:xfrm>
            <a:custGeom>
              <a:avLst/>
              <a:gdLst>
                <a:gd name="T0" fmla="*/ 0 w 452"/>
                <a:gd name="T1" fmla="*/ 0 h 212"/>
                <a:gd name="T2" fmla="*/ 452 w 452"/>
                <a:gd name="T3" fmla="*/ 212 h 212"/>
                <a:gd name="T4" fmla="*/ 0 60000 65536"/>
                <a:gd name="T5" fmla="*/ 0 60000 65536"/>
                <a:gd name="T6" fmla="*/ 0 w 452"/>
                <a:gd name="T7" fmla="*/ 0 h 212"/>
                <a:gd name="T8" fmla="*/ 452 w 452"/>
                <a:gd name="T9" fmla="*/ 212 h 21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52" h="212">
                  <a:moveTo>
                    <a:pt x="0" y="0"/>
                  </a:moveTo>
                  <a:lnTo>
                    <a:pt x="452" y="212"/>
                  </a:ln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78879" name="Freeform 110"/>
            <p:cNvSpPr>
              <a:spLocks/>
            </p:cNvSpPr>
            <p:nvPr/>
          </p:nvSpPr>
          <p:spPr bwMode="auto">
            <a:xfrm>
              <a:off x="1321" y="2848"/>
              <a:ext cx="767" cy="752"/>
            </a:xfrm>
            <a:custGeom>
              <a:avLst/>
              <a:gdLst>
                <a:gd name="T0" fmla="*/ 87 w 767"/>
                <a:gd name="T1" fmla="*/ 0 h 752"/>
                <a:gd name="T2" fmla="*/ 113 w 767"/>
                <a:gd name="T3" fmla="*/ 482 h 752"/>
                <a:gd name="T4" fmla="*/ 767 w 767"/>
                <a:gd name="T5" fmla="*/ 752 h 752"/>
                <a:gd name="T6" fmla="*/ 0 60000 65536"/>
                <a:gd name="T7" fmla="*/ 0 60000 65536"/>
                <a:gd name="T8" fmla="*/ 0 60000 65536"/>
                <a:gd name="T9" fmla="*/ 0 w 767"/>
                <a:gd name="T10" fmla="*/ 0 h 752"/>
                <a:gd name="T11" fmla="*/ 767 w 767"/>
                <a:gd name="T12" fmla="*/ 752 h 7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7" h="752">
                  <a:moveTo>
                    <a:pt x="87" y="0"/>
                  </a:moveTo>
                  <a:cubicBezTo>
                    <a:pt x="91" y="80"/>
                    <a:pt x="0" y="357"/>
                    <a:pt x="113" y="482"/>
                  </a:cubicBezTo>
                  <a:cubicBezTo>
                    <a:pt x="226" y="607"/>
                    <a:pt x="631" y="696"/>
                    <a:pt x="767" y="752"/>
                  </a:cubicBez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78880" name="Group 111"/>
            <p:cNvGrpSpPr>
              <a:grpSpLocks/>
            </p:cNvGrpSpPr>
            <p:nvPr/>
          </p:nvGrpSpPr>
          <p:grpSpPr bwMode="auto">
            <a:xfrm>
              <a:off x="3051" y="2579"/>
              <a:ext cx="293" cy="305"/>
              <a:chOff x="2895" y="1488"/>
              <a:chExt cx="293" cy="305"/>
            </a:xfrm>
          </p:grpSpPr>
          <p:sp>
            <p:nvSpPr>
              <p:cNvPr id="78883" name="Freeform 112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884" name="Freeform 113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885" name="Rectangle 114"/>
              <p:cNvSpPr>
                <a:spLocks noChangeArrowheads="1"/>
              </p:cNvSpPr>
              <p:nvPr/>
            </p:nvSpPr>
            <p:spPr bwMode="auto">
              <a:xfrm>
                <a:off x="3001" y="1488"/>
                <a:ext cx="99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c</a:t>
                </a:r>
                <a:endParaRPr lang="en-US" sz="2800" i="1" baseline="-25000">
                  <a:solidFill>
                    <a:srgbClr val="000080"/>
                  </a:solidFill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78881" name="Freeform 115"/>
            <p:cNvSpPr>
              <a:spLocks/>
            </p:cNvSpPr>
            <p:nvPr/>
          </p:nvSpPr>
          <p:spPr bwMode="auto">
            <a:xfrm>
              <a:off x="2130" y="2848"/>
              <a:ext cx="1400" cy="734"/>
            </a:xfrm>
            <a:custGeom>
              <a:avLst/>
              <a:gdLst>
                <a:gd name="T0" fmla="*/ 1166 w 1400"/>
                <a:gd name="T1" fmla="*/ 0 h 734"/>
                <a:gd name="T2" fmla="*/ 1206 w 1400"/>
                <a:gd name="T3" fmla="*/ 386 h 734"/>
                <a:gd name="T4" fmla="*/ 0 w 1400"/>
                <a:gd name="T5" fmla="*/ 734 h 734"/>
                <a:gd name="T6" fmla="*/ 0 60000 65536"/>
                <a:gd name="T7" fmla="*/ 0 60000 65536"/>
                <a:gd name="T8" fmla="*/ 0 60000 65536"/>
                <a:gd name="T9" fmla="*/ 0 w 1400"/>
                <a:gd name="T10" fmla="*/ 0 h 734"/>
                <a:gd name="T11" fmla="*/ 1400 w 1400"/>
                <a:gd name="T12" fmla="*/ 734 h 7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00" h="734">
                  <a:moveTo>
                    <a:pt x="1166" y="0"/>
                  </a:moveTo>
                  <a:cubicBezTo>
                    <a:pt x="1173" y="64"/>
                    <a:pt x="1400" y="264"/>
                    <a:pt x="1206" y="386"/>
                  </a:cubicBezTo>
                  <a:cubicBezTo>
                    <a:pt x="1012" y="508"/>
                    <a:pt x="251" y="662"/>
                    <a:pt x="0" y="734"/>
                  </a:cubicBez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78882" name="Freeform 116"/>
            <p:cNvSpPr>
              <a:spLocks/>
            </p:cNvSpPr>
            <p:nvPr/>
          </p:nvSpPr>
          <p:spPr bwMode="auto">
            <a:xfrm flipH="1">
              <a:off x="2688" y="2848"/>
              <a:ext cx="416" cy="224"/>
            </a:xfrm>
            <a:custGeom>
              <a:avLst/>
              <a:gdLst>
                <a:gd name="T0" fmla="*/ 0 w 160"/>
                <a:gd name="T1" fmla="*/ 0 h 208"/>
                <a:gd name="T2" fmla="*/ 416 w 160"/>
                <a:gd name="T3" fmla="*/ 224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graphicFrame>
        <p:nvGraphicFramePr>
          <p:cNvPr id="78855" name="Object 117"/>
          <p:cNvGraphicFramePr>
            <a:graphicFrameLocks noChangeAspect="1"/>
          </p:cNvGraphicFramePr>
          <p:nvPr/>
        </p:nvGraphicFramePr>
        <p:xfrm>
          <a:off x="1447800" y="1816100"/>
          <a:ext cx="2667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4" imgW="2667000" imgH="393700" progId="Equation.3">
                  <p:embed/>
                </p:oleObj>
              </mc:Choice>
              <mc:Fallback>
                <p:oleObj name="Equation" r:id="rId4" imgW="2667000" imgH="393700" progId="Equation.3">
                  <p:embed/>
                  <p:pic>
                    <p:nvPicPr>
                      <p:cNvPr id="0" name="Picture 1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816100"/>
                        <a:ext cx="2667000" cy="3937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r>
              <a:rPr lang="en-US" sz="1400" b="0"/>
              <a:t>(c)  Giovanni De Micheli</a:t>
            </a:r>
          </a:p>
        </p:txBody>
      </p:sp>
      <p:sp>
        <p:nvSpPr>
          <p:cNvPr id="8089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85148F46-95D0-2443-937E-463E5982CE12}" type="slidenum">
              <a:rPr lang="en-US" sz="1400" b="0"/>
              <a:pPr/>
              <a:t>37</a:t>
            </a:fld>
            <a:endParaRPr lang="en-US" sz="1400" b="0"/>
          </a:p>
        </p:txBody>
      </p:sp>
      <p:sp>
        <p:nvSpPr>
          <p:cNvPr id="808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Narrow" charset="0"/>
              </a:rPr>
              <a:t>Ordering results</a:t>
            </a:r>
          </a:p>
        </p:txBody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6738" y="1828800"/>
            <a:ext cx="8001000" cy="4267200"/>
          </a:xfrm>
          <a:noFill/>
        </p:spPr>
        <p:txBody>
          <a:bodyPr/>
          <a:lstStyle/>
          <a:p>
            <a:pPr marL="908050" lvl="1" indent="-436563">
              <a:lnSpc>
                <a:spcPct val="90000"/>
              </a:lnSpc>
            </a:pPr>
            <a:endParaRPr lang="en-US">
              <a:latin typeface="Arial Narrow" charset="0"/>
            </a:endParaRPr>
          </a:p>
          <a:p>
            <a:pPr marL="908050" lvl="1" indent="-436563">
              <a:lnSpc>
                <a:spcPct val="90000"/>
              </a:lnSpc>
            </a:pPr>
            <a:endParaRPr lang="en-US">
              <a:latin typeface="Arial Narrow" charset="0"/>
            </a:endParaRPr>
          </a:p>
          <a:p>
            <a:pPr marL="908050" lvl="1" indent="-436563">
              <a:lnSpc>
                <a:spcPct val="90000"/>
              </a:lnSpc>
            </a:pPr>
            <a:endParaRPr lang="en-US">
              <a:latin typeface="Arial Narrow" charset="0"/>
            </a:endParaRPr>
          </a:p>
          <a:p>
            <a:pPr marL="908050" lvl="1" indent="-436563">
              <a:lnSpc>
                <a:spcPct val="90000"/>
              </a:lnSpc>
            </a:pPr>
            <a:endParaRPr lang="en-US">
              <a:latin typeface="Arial Narrow" charset="0"/>
            </a:endParaRPr>
          </a:p>
          <a:p>
            <a:pPr marL="908050" lvl="1" indent="-436563">
              <a:lnSpc>
                <a:spcPct val="90000"/>
              </a:lnSpc>
            </a:pPr>
            <a:endParaRPr lang="en-US">
              <a:latin typeface="Arial Narrow" charset="0"/>
            </a:endParaRPr>
          </a:p>
          <a:p>
            <a:pPr marL="908050" lvl="1" indent="-436563">
              <a:lnSpc>
                <a:spcPct val="90000"/>
              </a:lnSpc>
            </a:pPr>
            <a:endParaRPr lang="en-US">
              <a:latin typeface="Arial Narrow" charset="0"/>
            </a:endParaRPr>
          </a:p>
          <a:p>
            <a:pPr marL="908050" lvl="1" indent="-436563">
              <a:lnSpc>
                <a:spcPct val="90000"/>
              </a:lnSpc>
            </a:pPr>
            <a:r>
              <a:rPr lang="en-US">
                <a:latin typeface="Arial Narrow" charset="0"/>
              </a:rPr>
              <a:t>In practice:</a:t>
            </a:r>
          </a:p>
          <a:p>
            <a:pPr marL="1304925" lvl="2" indent="-395288"/>
            <a:r>
              <a:rPr lang="en-US">
                <a:latin typeface="Arial Narrow" charset="0"/>
              </a:rPr>
              <a:t>Many common functions have reasonable size</a:t>
            </a:r>
          </a:p>
          <a:p>
            <a:pPr marL="1304925" lvl="2" indent="-395288"/>
            <a:r>
              <a:rPr lang="en-US">
                <a:latin typeface="Arial Narrow" charset="0"/>
              </a:rPr>
              <a:t>Can build ROBDDs with millions of nodes</a:t>
            </a:r>
          </a:p>
          <a:p>
            <a:pPr marL="1304925" lvl="2" indent="-395288"/>
            <a:r>
              <a:rPr lang="en-US">
                <a:latin typeface="Arial Narrow" charset="0"/>
              </a:rPr>
              <a:t>Algorithms to find good variables ordering </a:t>
            </a:r>
          </a:p>
        </p:txBody>
      </p:sp>
      <p:graphicFrame>
        <p:nvGraphicFramePr>
          <p:cNvPr id="1387546" name="Group 26"/>
          <p:cNvGraphicFramePr>
            <a:graphicFrameLocks noGrp="1"/>
          </p:cNvGraphicFramePr>
          <p:nvPr/>
        </p:nvGraphicFramePr>
        <p:xfrm>
          <a:off x="1524000" y="1905000"/>
          <a:ext cx="6096000" cy="2209801"/>
        </p:xfrm>
        <a:graphic>
          <a:graphicData uri="http://schemas.openxmlformats.org/drawingml/2006/table">
            <a:tbl>
              <a:tblPr/>
              <a:tblGrid>
                <a:gridCol w="208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5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2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Function type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2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Best order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2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Worst order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addition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linear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exponential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6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symmetric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linear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quadratic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6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multiplication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exponential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660066"/>
                        </a:buClr>
                        <a:buSzPct val="85000"/>
                        <a:buFont typeface="Monotype Sorts" pitchFamily="1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1" charset="0"/>
                        </a:rPr>
                        <a:t>exponential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r>
              <a:rPr lang="en-US" sz="1400" b="0"/>
              <a:t>(c)  Giovanni De Micheli</a:t>
            </a:r>
          </a:p>
        </p:txBody>
      </p:sp>
      <p:sp>
        <p:nvSpPr>
          <p:cNvPr id="8294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C7FC4B89-D540-874C-B20F-C5A3FA6459C9}" type="slidenum">
              <a:rPr lang="en-US" sz="1400" b="0"/>
              <a:pPr/>
              <a:t>38</a:t>
            </a:fld>
            <a:endParaRPr lang="en-US" sz="1400" b="0"/>
          </a:p>
        </p:txBody>
      </p:sp>
      <p:sp>
        <p:nvSpPr>
          <p:cNvPr id="829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Narrow" charset="0"/>
              </a:rPr>
              <a:t>Variable ordering algorithms</a:t>
            </a:r>
          </a:p>
        </p:txBody>
      </p:sp>
      <p:sp>
        <p:nvSpPr>
          <p:cNvPr id="138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5938" y="1524000"/>
            <a:ext cx="8001000" cy="4267200"/>
          </a:xfrm>
          <a:noFill/>
        </p:spPr>
        <p:txBody>
          <a:bodyPr/>
          <a:lstStyle/>
          <a:p>
            <a:r>
              <a:rPr lang="en-US" i="1">
                <a:latin typeface="Arial Narrow" charset="0"/>
              </a:rPr>
              <a:t>Problem</a:t>
            </a:r>
            <a:r>
              <a:rPr lang="en-US">
                <a:latin typeface="Arial Narrow" charset="0"/>
              </a:rPr>
              <a:t>: given a function </a:t>
            </a:r>
            <a:r>
              <a:rPr lang="en-US">
                <a:solidFill>
                  <a:schemeClr val="tx2"/>
                </a:solidFill>
                <a:latin typeface="Arial Narrow" charset="0"/>
              </a:rPr>
              <a:t>F</a:t>
            </a:r>
            <a:r>
              <a:rPr lang="en-US">
                <a:latin typeface="Arial Narrow" charset="0"/>
              </a:rPr>
              <a:t>, find the variable order that minimizes the size of its ROBBDs</a:t>
            </a:r>
          </a:p>
          <a:p>
            <a:r>
              <a:rPr lang="en-US" i="1">
                <a:latin typeface="Arial Narrow" charset="0"/>
              </a:rPr>
              <a:t>Answer</a:t>
            </a:r>
            <a:r>
              <a:rPr lang="en-US">
                <a:latin typeface="Arial Narrow" charset="0"/>
              </a:rPr>
              <a:t>: problem is intractable</a:t>
            </a:r>
          </a:p>
          <a:p>
            <a:r>
              <a:rPr lang="en-US">
                <a:latin typeface="Arial Narrow" charset="0"/>
              </a:rPr>
              <a:t>Two heuristics</a:t>
            </a:r>
          </a:p>
          <a:p>
            <a:pPr lvl="1"/>
            <a:r>
              <a:rPr lang="en-US">
                <a:latin typeface="Arial Narrow" charset="0"/>
              </a:rPr>
              <a:t>Static variable ordering (1988)</a:t>
            </a:r>
          </a:p>
          <a:p>
            <a:pPr lvl="1"/>
            <a:r>
              <a:rPr lang="en-US">
                <a:latin typeface="Arial Narrow" charset="0"/>
              </a:rPr>
              <a:t>Dynamic variable ordering (1993)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r>
              <a:rPr lang="en-US" sz="1400" b="0"/>
              <a:t>(c)  Giovanni De Micheli</a:t>
            </a:r>
          </a:p>
        </p:txBody>
      </p:sp>
      <p:sp>
        <p:nvSpPr>
          <p:cNvPr id="8499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0C888CAF-9ABB-D542-B21F-2399FCF86FD3}" type="slidenum">
              <a:rPr lang="en-US" sz="1400" b="0"/>
              <a:pPr/>
              <a:t>39</a:t>
            </a:fld>
            <a:endParaRPr lang="en-US" sz="1400" b="0"/>
          </a:p>
        </p:txBody>
      </p:sp>
      <p:sp>
        <p:nvSpPr>
          <p:cNvPr id="849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Narrow" charset="0"/>
              </a:rPr>
              <a:t>Static variable ordering</a:t>
            </a:r>
          </a:p>
        </p:txBody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69900" indent="-469900">
              <a:lnSpc>
                <a:spcPct val="90000"/>
              </a:lnSpc>
            </a:pPr>
            <a:r>
              <a:rPr lang="en-US" dirty="0">
                <a:latin typeface="Arial Narrow" charset="0"/>
              </a:rPr>
              <a:t>Variables are ordered based on the network topology</a:t>
            </a:r>
          </a:p>
          <a:p>
            <a:pPr marL="908050" lvl="1" indent="-436563">
              <a:lnSpc>
                <a:spcPct val="90000"/>
              </a:lnSpc>
            </a:pPr>
            <a:r>
              <a:rPr lang="en-US" i="1" dirty="0">
                <a:latin typeface="Arial Narrow" charset="0"/>
              </a:rPr>
              <a:t>How</a:t>
            </a:r>
            <a:r>
              <a:rPr lang="en-US" dirty="0">
                <a:latin typeface="Arial Narrow" charset="0"/>
              </a:rPr>
              <a:t>: put at the bottom the variables that are closer to circuit</a:t>
            </a:r>
            <a:r>
              <a:rPr lang="ja-JP" altLang="en-US" dirty="0">
                <a:latin typeface="Arial Narrow" charset="0"/>
              </a:rPr>
              <a:t>’</a:t>
            </a:r>
            <a:r>
              <a:rPr lang="en-US" altLang="ja-JP" dirty="0">
                <a:latin typeface="Arial Narrow" charset="0"/>
              </a:rPr>
              <a:t>s outputs</a:t>
            </a:r>
          </a:p>
          <a:p>
            <a:pPr marL="908050" lvl="1" indent="-436563">
              <a:lnSpc>
                <a:spcPct val="90000"/>
              </a:lnSpc>
            </a:pPr>
            <a:r>
              <a:rPr lang="en-US" i="1" dirty="0">
                <a:latin typeface="Arial Narrow" charset="0"/>
              </a:rPr>
              <a:t>Why</a:t>
            </a:r>
            <a:r>
              <a:rPr lang="en-US" dirty="0">
                <a:latin typeface="Arial Narrow" charset="0"/>
              </a:rPr>
              <a:t>: because those variables only affect a small part of the circuit</a:t>
            </a:r>
          </a:p>
          <a:p>
            <a:pPr marL="908050" lvl="1" indent="-436563">
              <a:lnSpc>
                <a:spcPct val="90000"/>
              </a:lnSpc>
            </a:pPr>
            <a:endParaRPr lang="en-US" dirty="0">
              <a:latin typeface="Arial Narrow" charset="0"/>
            </a:endParaRPr>
          </a:p>
          <a:p>
            <a:pPr marL="469900" indent="-469900">
              <a:lnSpc>
                <a:spcPct val="90000"/>
              </a:lnSpc>
            </a:pPr>
            <a:endParaRPr lang="en-US" dirty="0">
              <a:latin typeface="Arial Narrow" charset="0"/>
            </a:endParaRPr>
          </a:p>
          <a:p>
            <a:pPr marL="908050" lvl="1" indent="-436563">
              <a:lnSpc>
                <a:spcPct val="90000"/>
              </a:lnSpc>
            </a:pPr>
            <a:endParaRPr lang="en-US" dirty="0">
              <a:latin typeface="Arial Narrow" charset="0"/>
            </a:endParaRPr>
          </a:p>
          <a:p>
            <a:pPr marL="908050" lvl="1" indent="-436563">
              <a:lnSpc>
                <a:spcPct val="90000"/>
              </a:lnSpc>
            </a:pPr>
            <a:endParaRPr lang="en-US" i="1" dirty="0">
              <a:latin typeface="Arial Narrow" charset="0"/>
            </a:endParaRPr>
          </a:p>
          <a:p>
            <a:pPr marL="908050" lvl="1" indent="-436563">
              <a:lnSpc>
                <a:spcPct val="90000"/>
              </a:lnSpc>
            </a:pPr>
            <a:r>
              <a:rPr lang="en-US" i="1" dirty="0">
                <a:latin typeface="Arial Narrow" charset="0"/>
              </a:rPr>
              <a:t>Disclaimer</a:t>
            </a:r>
            <a:r>
              <a:rPr lang="en-US" dirty="0">
                <a:latin typeface="Arial Narrow" charset="0"/>
              </a:rPr>
              <a:t>: it </a:t>
            </a:r>
            <a:r>
              <a:rPr lang="en-US" altLang="ja-JP" dirty="0">
                <a:latin typeface="Arial Narrow" charset="0"/>
              </a:rPr>
              <a:t>is a heuristic, results are not guaranteed</a:t>
            </a:r>
            <a:endParaRPr lang="en-US" dirty="0">
              <a:latin typeface="Arial Narrow" charset="0"/>
            </a:endParaRPr>
          </a:p>
        </p:txBody>
      </p:sp>
      <p:grpSp>
        <p:nvGrpSpPr>
          <p:cNvPr id="84997" name="Group 4"/>
          <p:cNvGrpSpPr>
            <a:grpSpLocks/>
          </p:cNvGrpSpPr>
          <p:nvPr/>
        </p:nvGrpSpPr>
        <p:grpSpPr bwMode="auto">
          <a:xfrm>
            <a:off x="2030413" y="3976688"/>
            <a:ext cx="1651000" cy="976312"/>
            <a:chOff x="2256" y="3120"/>
            <a:chExt cx="1040" cy="615"/>
          </a:xfrm>
        </p:grpSpPr>
        <p:grpSp>
          <p:nvGrpSpPr>
            <p:cNvPr id="84999" name="Group 5"/>
            <p:cNvGrpSpPr>
              <a:grpSpLocks noChangeAspect="1"/>
            </p:cNvGrpSpPr>
            <p:nvPr/>
          </p:nvGrpSpPr>
          <p:grpSpPr bwMode="auto">
            <a:xfrm>
              <a:off x="2496" y="3264"/>
              <a:ext cx="398" cy="199"/>
              <a:chOff x="1872" y="3024"/>
              <a:chExt cx="332" cy="166"/>
            </a:xfrm>
          </p:grpSpPr>
          <p:sp>
            <p:nvSpPr>
              <p:cNvPr id="85009" name="Freeform 6"/>
              <p:cNvSpPr>
                <a:spLocks noChangeAspect="1"/>
              </p:cNvSpPr>
              <p:nvPr/>
            </p:nvSpPr>
            <p:spPr bwMode="auto">
              <a:xfrm>
                <a:off x="1920" y="3024"/>
                <a:ext cx="216" cy="166"/>
              </a:xfrm>
              <a:custGeom>
                <a:avLst/>
                <a:gdLst>
                  <a:gd name="T0" fmla="*/ 216 w 578"/>
                  <a:gd name="T1" fmla="*/ 83 h 444"/>
                  <a:gd name="T2" fmla="*/ 65 w 578"/>
                  <a:gd name="T3" fmla="*/ 166 h 444"/>
                  <a:gd name="T4" fmla="*/ 65 w 578"/>
                  <a:gd name="T5" fmla="*/ 166 h 444"/>
                  <a:gd name="T6" fmla="*/ 0 w 578"/>
                  <a:gd name="T7" fmla="*/ 166 h 444"/>
                  <a:gd name="T8" fmla="*/ 0 w 578"/>
                  <a:gd name="T9" fmla="*/ 0 h 444"/>
                  <a:gd name="T10" fmla="*/ 0 w 578"/>
                  <a:gd name="T11" fmla="*/ 0 h 444"/>
                  <a:gd name="T12" fmla="*/ 65 w 578"/>
                  <a:gd name="T13" fmla="*/ 0 h 444"/>
                  <a:gd name="T14" fmla="*/ 216 w 578"/>
                  <a:gd name="T15" fmla="*/ 83 h 44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78"/>
                  <a:gd name="T25" fmla="*/ 0 h 444"/>
                  <a:gd name="T26" fmla="*/ 578 w 578"/>
                  <a:gd name="T27" fmla="*/ 444 h 44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78" h="444">
                    <a:moveTo>
                      <a:pt x="578" y="222"/>
                    </a:moveTo>
                    <a:cubicBezTo>
                      <a:pt x="509" y="332"/>
                      <a:pt x="359" y="414"/>
                      <a:pt x="174" y="444"/>
                    </a:cubicBezTo>
                    <a:lnTo>
                      <a:pt x="0" y="444"/>
                    </a:lnTo>
                    <a:cubicBezTo>
                      <a:pt x="108" y="304"/>
                      <a:pt x="108" y="141"/>
                      <a:pt x="0" y="0"/>
                    </a:cubicBezTo>
                    <a:lnTo>
                      <a:pt x="174" y="0"/>
                    </a:lnTo>
                    <a:cubicBezTo>
                      <a:pt x="360" y="29"/>
                      <a:pt x="510" y="112"/>
                      <a:pt x="578" y="222"/>
                    </a:cubicBezTo>
                    <a:close/>
                  </a:path>
                </a:pathLst>
              </a:custGeom>
              <a:solidFill>
                <a:srgbClr val="000080"/>
              </a:solidFill>
              <a:ln w="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010" name="Freeform 7"/>
              <p:cNvSpPr>
                <a:spLocks noChangeAspect="1"/>
              </p:cNvSpPr>
              <p:nvPr/>
            </p:nvSpPr>
            <p:spPr bwMode="auto">
              <a:xfrm>
                <a:off x="1920" y="3024"/>
                <a:ext cx="216" cy="166"/>
              </a:xfrm>
              <a:custGeom>
                <a:avLst/>
                <a:gdLst>
                  <a:gd name="T0" fmla="*/ 216 w 578"/>
                  <a:gd name="T1" fmla="*/ 83 h 444"/>
                  <a:gd name="T2" fmla="*/ 65 w 578"/>
                  <a:gd name="T3" fmla="*/ 166 h 444"/>
                  <a:gd name="T4" fmla="*/ 65 w 578"/>
                  <a:gd name="T5" fmla="*/ 166 h 444"/>
                  <a:gd name="T6" fmla="*/ 0 w 578"/>
                  <a:gd name="T7" fmla="*/ 166 h 444"/>
                  <a:gd name="T8" fmla="*/ 0 w 578"/>
                  <a:gd name="T9" fmla="*/ 0 h 444"/>
                  <a:gd name="T10" fmla="*/ 0 w 578"/>
                  <a:gd name="T11" fmla="*/ 0 h 444"/>
                  <a:gd name="T12" fmla="*/ 65 w 578"/>
                  <a:gd name="T13" fmla="*/ 0 h 444"/>
                  <a:gd name="T14" fmla="*/ 216 w 578"/>
                  <a:gd name="T15" fmla="*/ 83 h 44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78"/>
                  <a:gd name="T25" fmla="*/ 0 h 444"/>
                  <a:gd name="T26" fmla="*/ 578 w 578"/>
                  <a:gd name="T27" fmla="*/ 444 h 44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78" h="444">
                    <a:moveTo>
                      <a:pt x="578" y="222"/>
                    </a:moveTo>
                    <a:cubicBezTo>
                      <a:pt x="509" y="332"/>
                      <a:pt x="359" y="414"/>
                      <a:pt x="174" y="444"/>
                    </a:cubicBezTo>
                    <a:lnTo>
                      <a:pt x="0" y="444"/>
                    </a:lnTo>
                    <a:cubicBezTo>
                      <a:pt x="108" y="304"/>
                      <a:pt x="108" y="141"/>
                      <a:pt x="0" y="0"/>
                    </a:cubicBezTo>
                    <a:lnTo>
                      <a:pt x="174" y="0"/>
                    </a:lnTo>
                    <a:cubicBezTo>
                      <a:pt x="360" y="29"/>
                      <a:pt x="510" y="112"/>
                      <a:pt x="578" y="222"/>
                    </a:cubicBezTo>
                    <a:close/>
                  </a:path>
                </a:pathLst>
              </a:custGeom>
              <a:solidFill>
                <a:srgbClr val="000080"/>
              </a:solidFill>
              <a:ln w="31750" cap="rnd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011" name="Freeform 8"/>
              <p:cNvSpPr>
                <a:spLocks noChangeAspect="1" noEditPoints="1"/>
              </p:cNvSpPr>
              <p:nvPr/>
            </p:nvSpPr>
            <p:spPr bwMode="auto">
              <a:xfrm>
                <a:off x="1872" y="3069"/>
                <a:ext cx="332" cy="84"/>
              </a:xfrm>
              <a:custGeom>
                <a:avLst/>
                <a:gdLst>
                  <a:gd name="T0" fmla="*/ 0 w 332"/>
                  <a:gd name="T1" fmla="*/ 0 h 84"/>
                  <a:gd name="T2" fmla="*/ 165 w 332"/>
                  <a:gd name="T3" fmla="*/ 0 h 84"/>
                  <a:gd name="T4" fmla="*/ 0 w 332"/>
                  <a:gd name="T5" fmla="*/ 84 h 84"/>
                  <a:gd name="T6" fmla="*/ 165 w 332"/>
                  <a:gd name="T7" fmla="*/ 84 h 84"/>
                  <a:gd name="T8" fmla="*/ 332 w 332"/>
                  <a:gd name="T9" fmla="*/ 42 h 84"/>
                  <a:gd name="T10" fmla="*/ 165 w 332"/>
                  <a:gd name="T11" fmla="*/ 42 h 8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32"/>
                  <a:gd name="T19" fmla="*/ 0 h 84"/>
                  <a:gd name="T20" fmla="*/ 332 w 332"/>
                  <a:gd name="T21" fmla="*/ 84 h 8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32" h="84">
                    <a:moveTo>
                      <a:pt x="0" y="0"/>
                    </a:moveTo>
                    <a:lnTo>
                      <a:pt x="165" y="0"/>
                    </a:lnTo>
                    <a:moveTo>
                      <a:pt x="0" y="84"/>
                    </a:moveTo>
                    <a:lnTo>
                      <a:pt x="165" y="84"/>
                    </a:lnTo>
                    <a:moveTo>
                      <a:pt x="332" y="42"/>
                    </a:moveTo>
                    <a:lnTo>
                      <a:pt x="165" y="42"/>
                    </a:lnTo>
                  </a:path>
                </a:pathLst>
              </a:custGeom>
              <a:solidFill>
                <a:srgbClr val="000080"/>
              </a:solidFill>
              <a:ln w="31750" cap="rnd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5000" name="Freeform 9"/>
            <p:cNvSpPr>
              <a:spLocks noChangeAspect="1"/>
            </p:cNvSpPr>
            <p:nvPr/>
          </p:nvSpPr>
          <p:spPr bwMode="auto">
            <a:xfrm>
              <a:off x="2982" y="3320"/>
              <a:ext cx="259" cy="199"/>
            </a:xfrm>
            <a:custGeom>
              <a:avLst/>
              <a:gdLst>
                <a:gd name="T0" fmla="*/ 259 w 578"/>
                <a:gd name="T1" fmla="*/ 100 h 444"/>
                <a:gd name="T2" fmla="*/ 78 w 578"/>
                <a:gd name="T3" fmla="*/ 199 h 444"/>
                <a:gd name="T4" fmla="*/ 78 w 578"/>
                <a:gd name="T5" fmla="*/ 199 h 444"/>
                <a:gd name="T6" fmla="*/ 0 w 578"/>
                <a:gd name="T7" fmla="*/ 199 h 444"/>
                <a:gd name="T8" fmla="*/ 0 w 578"/>
                <a:gd name="T9" fmla="*/ 0 h 444"/>
                <a:gd name="T10" fmla="*/ 0 w 578"/>
                <a:gd name="T11" fmla="*/ 0 h 444"/>
                <a:gd name="T12" fmla="*/ 78 w 578"/>
                <a:gd name="T13" fmla="*/ 0 h 444"/>
                <a:gd name="T14" fmla="*/ 259 w 578"/>
                <a:gd name="T15" fmla="*/ 100 h 4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78"/>
                <a:gd name="T25" fmla="*/ 0 h 444"/>
                <a:gd name="T26" fmla="*/ 578 w 578"/>
                <a:gd name="T27" fmla="*/ 444 h 44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78" h="444">
                  <a:moveTo>
                    <a:pt x="578" y="222"/>
                  </a:moveTo>
                  <a:cubicBezTo>
                    <a:pt x="509" y="332"/>
                    <a:pt x="359" y="414"/>
                    <a:pt x="174" y="444"/>
                  </a:cubicBezTo>
                  <a:lnTo>
                    <a:pt x="0" y="444"/>
                  </a:lnTo>
                  <a:cubicBezTo>
                    <a:pt x="108" y="304"/>
                    <a:pt x="108" y="141"/>
                    <a:pt x="0" y="0"/>
                  </a:cubicBezTo>
                  <a:lnTo>
                    <a:pt x="174" y="0"/>
                  </a:lnTo>
                  <a:cubicBezTo>
                    <a:pt x="360" y="29"/>
                    <a:pt x="510" y="112"/>
                    <a:pt x="578" y="222"/>
                  </a:cubicBezTo>
                  <a:close/>
                </a:path>
              </a:pathLst>
            </a:custGeom>
            <a:solidFill>
              <a:srgbClr val="000080"/>
            </a:solidFill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001" name="Freeform 10"/>
            <p:cNvSpPr>
              <a:spLocks noChangeAspect="1"/>
            </p:cNvSpPr>
            <p:nvPr/>
          </p:nvSpPr>
          <p:spPr bwMode="auto">
            <a:xfrm>
              <a:off x="2982" y="3320"/>
              <a:ext cx="259" cy="199"/>
            </a:xfrm>
            <a:custGeom>
              <a:avLst/>
              <a:gdLst>
                <a:gd name="T0" fmla="*/ 259 w 578"/>
                <a:gd name="T1" fmla="*/ 100 h 444"/>
                <a:gd name="T2" fmla="*/ 78 w 578"/>
                <a:gd name="T3" fmla="*/ 199 h 444"/>
                <a:gd name="T4" fmla="*/ 78 w 578"/>
                <a:gd name="T5" fmla="*/ 199 h 444"/>
                <a:gd name="T6" fmla="*/ 0 w 578"/>
                <a:gd name="T7" fmla="*/ 199 h 444"/>
                <a:gd name="T8" fmla="*/ 0 w 578"/>
                <a:gd name="T9" fmla="*/ 0 h 444"/>
                <a:gd name="T10" fmla="*/ 0 w 578"/>
                <a:gd name="T11" fmla="*/ 0 h 444"/>
                <a:gd name="T12" fmla="*/ 78 w 578"/>
                <a:gd name="T13" fmla="*/ 0 h 444"/>
                <a:gd name="T14" fmla="*/ 259 w 578"/>
                <a:gd name="T15" fmla="*/ 100 h 4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78"/>
                <a:gd name="T25" fmla="*/ 0 h 444"/>
                <a:gd name="T26" fmla="*/ 578 w 578"/>
                <a:gd name="T27" fmla="*/ 444 h 44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78" h="444">
                  <a:moveTo>
                    <a:pt x="578" y="222"/>
                  </a:moveTo>
                  <a:cubicBezTo>
                    <a:pt x="509" y="332"/>
                    <a:pt x="359" y="414"/>
                    <a:pt x="174" y="444"/>
                  </a:cubicBezTo>
                  <a:lnTo>
                    <a:pt x="0" y="444"/>
                  </a:lnTo>
                  <a:cubicBezTo>
                    <a:pt x="108" y="304"/>
                    <a:pt x="108" y="141"/>
                    <a:pt x="0" y="0"/>
                  </a:cubicBezTo>
                  <a:lnTo>
                    <a:pt x="174" y="0"/>
                  </a:lnTo>
                  <a:cubicBezTo>
                    <a:pt x="360" y="29"/>
                    <a:pt x="510" y="112"/>
                    <a:pt x="578" y="222"/>
                  </a:cubicBezTo>
                  <a:close/>
                </a:path>
              </a:pathLst>
            </a:custGeom>
            <a:solidFill>
              <a:srgbClr val="000080"/>
            </a:solidFill>
            <a:ln w="31750" cap="rnd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002" name="Freeform 11"/>
            <p:cNvSpPr>
              <a:spLocks noChangeAspect="1"/>
            </p:cNvSpPr>
            <p:nvPr/>
          </p:nvSpPr>
          <p:spPr bwMode="auto">
            <a:xfrm>
              <a:off x="2982" y="3320"/>
              <a:ext cx="259" cy="199"/>
            </a:xfrm>
            <a:custGeom>
              <a:avLst/>
              <a:gdLst>
                <a:gd name="T0" fmla="*/ 160 w 578"/>
                <a:gd name="T1" fmla="*/ 199 h 444"/>
                <a:gd name="T2" fmla="*/ 0 w 578"/>
                <a:gd name="T3" fmla="*/ 199 h 444"/>
                <a:gd name="T4" fmla="*/ 0 w 578"/>
                <a:gd name="T5" fmla="*/ 0 h 444"/>
                <a:gd name="T6" fmla="*/ 160 w 578"/>
                <a:gd name="T7" fmla="*/ 0 h 444"/>
                <a:gd name="T8" fmla="*/ 259 w 578"/>
                <a:gd name="T9" fmla="*/ 100 h 444"/>
                <a:gd name="T10" fmla="*/ 160 w 578"/>
                <a:gd name="T11" fmla="*/ 199 h 444"/>
                <a:gd name="T12" fmla="*/ 160 w 578"/>
                <a:gd name="T13" fmla="*/ 199 h 4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78"/>
                <a:gd name="T22" fmla="*/ 0 h 444"/>
                <a:gd name="T23" fmla="*/ 578 w 578"/>
                <a:gd name="T24" fmla="*/ 444 h 44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78" h="444">
                  <a:moveTo>
                    <a:pt x="356" y="444"/>
                  </a:moveTo>
                  <a:lnTo>
                    <a:pt x="0" y="444"/>
                  </a:lnTo>
                  <a:lnTo>
                    <a:pt x="0" y="0"/>
                  </a:lnTo>
                  <a:lnTo>
                    <a:pt x="356" y="0"/>
                  </a:lnTo>
                  <a:cubicBezTo>
                    <a:pt x="479" y="0"/>
                    <a:pt x="578" y="99"/>
                    <a:pt x="578" y="222"/>
                  </a:cubicBezTo>
                  <a:cubicBezTo>
                    <a:pt x="578" y="345"/>
                    <a:pt x="479" y="444"/>
                    <a:pt x="356" y="444"/>
                  </a:cubicBezTo>
                  <a:cubicBezTo>
                    <a:pt x="356" y="444"/>
                    <a:pt x="356" y="444"/>
                    <a:pt x="356" y="444"/>
                  </a:cubicBezTo>
                  <a:close/>
                </a:path>
              </a:pathLst>
            </a:custGeom>
            <a:solidFill>
              <a:srgbClr val="000080"/>
            </a:solidFill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003" name="Freeform 12"/>
            <p:cNvSpPr>
              <a:spLocks noChangeAspect="1"/>
            </p:cNvSpPr>
            <p:nvPr/>
          </p:nvSpPr>
          <p:spPr bwMode="auto">
            <a:xfrm>
              <a:off x="2982" y="3320"/>
              <a:ext cx="259" cy="199"/>
            </a:xfrm>
            <a:custGeom>
              <a:avLst/>
              <a:gdLst>
                <a:gd name="T0" fmla="*/ 160 w 578"/>
                <a:gd name="T1" fmla="*/ 199 h 444"/>
                <a:gd name="T2" fmla="*/ 0 w 578"/>
                <a:gd name="T3" fmla="*/ 199 h 444"/>
                <a:gd name="T4" fmla="*/ 0 w 578"/>
                <a:gd name="T5" fmla="*/ 0 h 444"/>
                <a:gd name="T6" fmla="*/ 160 w 578"/>
                <a:gd name="T7" fmla="*/ 0 h 444"/>
                <a:gd name="T8" fmla="*/ 259 w 578"/>
                <a:gd name="T9" fmla="*/ 100 h 444"/>
                <a:gd name="T10" fmla="*/ 160 w 578"/>
                <a:gd name="T11" fmla="*/ 199 h 444"/>
                <a:gd name="T12" fmla="*/ 160 w 578"/>
                <a:gd name="T13" fmla="*/ 199 h 4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78"/>
                <a:gd name="T22" fmla="*/ 0 h 444"/>
                <a:gd name="T23" fmla="*/ 578 w 578"/>
                <a:gd name="T24" fmla="*/ 444 h 44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78" h="444">
                  <a:moveTo>
                    <a:pt x="356" y="444"/>
                  </a:moveTo>
                  <a:lnTo>
                    <a:pt x="0" y="444"/>
                  </a:lnTo>
                  <a:lnTo>
                    <a:pt x="0" y="0"/>
                  </a:lnTo>
                  <a:lnTo>
                    <a:pt x="356" y="0"/>
                  </a:lnTo>
                  <a:cubicBezTo>
                    <a:pt x="479" y="0"/>
                    <a:pt x="578" y="99"/>
                    <a:pt x="578" y="222"/>
                  </a:cubicBezTo>
                  <a:cubicBezTo>
                    <a:pt x="578" y="345"/>
                    <a:pt x="479" y="444"/>
                    <a:pt x="356" y="444"/>
                  </a:cubicBezTo>
                  <a:cubicBezTo>
                    <a:pt x="356" y="444"/>
                    <a:pt x="356" y="444"/>
                    <a:pt x="356" y="444"/>
                  </a:cubicBezTo>
                  <a:close/>
                </a:path>
              </a:pathLst>
            </a:custGeom>
            <a:solidFill>
              <a:srgbClr val="000080"/>
            </a:solidFill>
            <a:ln w="31750" cap="rnd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004" name="Freeform 13"/>
            <p:cNvSpPr>
              <a:spLocks noChangeAspect="1" noEditPoints="1"/>
            </p:cNvSpPr>
            <p:nvPr/>
          </p:nvSpPr>
          <p:spPr bwMode="auto">
            <a:xfrm>
              <a:off x="2898" y="3369"/>
              <a:ext cx="398" cy="101"/>
            </a:xfrm>
            <a:custGeom>
              <a:avLst/>
              <a:gdLst>
                <a:gd name="T0" fmla="*/ 0 w 332"/>
                <a:gd name="T1" fmla="*/ 0 h 84"/>
                <a:gd name="T2" fmla="*/ 198 w 332"/>
                <a:gd name="T3" fmla="*/ 0 h 84"/>
                <a:gd name="T4" fmla="*/ 0 w 332"/>
                <a:gd name="T5" fmla="*/ 101 h 84"/>
                <a:gd name="T6" fmla="*/ 198 w 332"/>
                <a:gd name="T7" fmla="*/ 101 h 84"/>
                <a:gd name="T8" fmla="*/ 398 w 332"/>
                <a:gd name="T9" fmla="*/ 51 h 84"/>
                <a:gd name="T10" fmla="*/ 198 w 332"/>
                <a:gd name="T11" fmla="*/ 51 h 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32"/>
                <a:gd name="T19" fmla="*/ 0 h 84"/>
                <a:gd name="T20" fmla="*/ 332 w 332"/>
                <a:gd name="T21" fmla="*/ 84 h 8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32" h="84">
                  <a:moveTo>
                    <a:pt x="0" y="0"/>
                  </a:moveTo>
                  <a:lnTo>
                    <a:pt x="165" y="0"/>
                  </a:lnTo>
                  <a:moveTo>
                    <a:pt x="0" y="84"/>
                  </a:moveTo>
                  <a:lnTo>
                    <a:pt x="165" y="84"/>
                  </a:lnTo>
                  <a:moveTo>
                    <a:pt x="332" y="42"/>
                  </a:moveTo>
                  <a:lnTo>
                    <a:pt x="165" y="42"/>
                  </a:lnTo>
                </a:path>
              </a:pathLst>
            </a:custGeom>
            <a:solidFill>
              <a:srgbClr val="000080"/>
            </a:solidFill>
            <a:ln w="31750" cap="rnd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005" name="Freeform 14"/>
            <p:cNvSpPr>
              <a:spLocks noChangeAspect="1"/>
            </p:cNvSpPr>
            <p:nvPr/>
          </p:nvSpPr>
          <p:spPr bwMode="auto">
            <a:xfrm>
              <a:off x="2600" y="3472"/>
              <a:ext cx="292" cy="144"/>
            </a:xfrm>
            <a:custGeom>
              <a:avLst/>
              <a:gdLst>
                <a:gd name="T0" fmla="*/ 292 w 244"/>
                <a:gd name="T1" fmla="*/ 0 h 120"/>
                <a:gd name="T2" fmla="*/ 196 w 244"/>
                <a:gd name="T3" fmla="*/ 0 h 120"/>
                <a:gd name="T4" fmla="*/ 196 w 244"/>
                <a:gd name="T5" fmla="*/ 144 h 120"/>
                <a:gd name="T6" fmla="*/ 0 w 244"/>
                <a:gd name="T7" fmla="*/ 144 h 12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4"/>
                <a:gd name="T13" fmla="*/ 0 h 120"/>
                <a:gd name="T14" fmla="*/ 244 w 244"/>
                <a:gd name="T15" fmla="*/ 120 h 12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4" h="120">
                  <a:moveTo>
                    <a:pt x="244" y="0"/>
                  </a:moveTo>
                  <a:lnTo>
                    <a:pt x="164" y="0"/>
                  </a:lnTo>
                  <a:lnTo>
                    <a:pt x="164" y="120"/>
                  </a:lnTo>
                  <a:lnTo>
                    <a:pt x="0" y="120"/>
                  </a:lnTo>
                </a:path>
              </a:pathLst>
            </a:custGeom>
            <a:noFill/>
            <a:ln w="3175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85006" name="Rectangle 15"/>
            <p:cNvSpPr>
              <a:spLocks noChangeArrowheads="1"/>
            </p:cNvSpPr>
            <p:nvPr/>
          </p:nvSpPr>
          <p:spPr bwMode="auto">
            <a:xfrm>
              <a:off x="2256" y="3120"/>
              <a:ext cx="20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sz="1800" b="0">
                  <a:latin typeface="Verdana" charset="0"/>
                  <a:cs typeface="Arial" charset="0"/>
                </a:rPr>
                <a:t>a</a:t>
              </a:r>
            </a:p>
          </p:txBody>
        </p:sp>
        <p:sp>
          <p:nvSpPr>
            <p:cNvPr id="85007" name="Rectangle 16"/>
            <p:cNvSpPr>
              <a:spLocks noChangeArrowheads="1"/>
            </p:cNvSpPr>
            <p:nvPr/>
          </p:nvSpPr>
          <p:spPr bwMode="auto">
            <a:xfrm>
              <a:off x="2256" y="3321"/>
              <a:ext cx="20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sz="1800" b="0">
                  <a:latin typeface="Verdana" charset="0"/>
                  <a:cs typeface="Arial" charset="0"/>
                </a:rPr>
                <a:t>b</a:t>
              </a:r>
            </a:p>
          </p:txBody>
        </p:sp>
        <p:sp>
          <p:nvSpPr>
            <p:cNvPr id="85008" name="Rectangle 17"/>
            <p:cNvSpPr>
              <a:spLocks noChangeArrowheads="1"/>
            </p:cNvSpPr>
            <p:nvPr/>
          </p:nvSpPr>
          <p:spPr bwMode="auto">
            <a:xfrm>
              <a:off x="2400" y="3504"/>
              <a:ext cx="19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sz="1800" b="0">
                  <a:latin typeface="Verdana" charset="0"/>
                  <a:cs typeface="Arial" charset="0"/>
                </a:rPr>
                <a:t>c</a:t>
              </a:r>
            </a:p>
          </p:txBody>
        </p:sp>
      </p:grpSp>
      <p:sp>
        <p:nvSpPr>
          <p:cNvPr id="84998" name="Text Box 18"/>
          <p:cNvSpPr txBox="1">
            <a:spLocks noChangeArrowheads="1"/>
          </p:cNvSpPr>
          <p:nvPr/>
        </p:nvSpPr>
        <p:spPr bwMode="auto">
          <a:xfrm>
            <a:off x="4443413" y="4205288"/>
            <a:ext cx="2717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800" b="0">
                <a:latin typeface="Verdana" charset="0"/>
                <a:cs typeface="Arial" charset="0"/>
              </a:rPr>
              <a:t>good order: a &lt; b &lt; c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r>
              <a:rPr lang="en-US" sz="1400" b="0"/>
              <a:t>(c)  Giovanni De Micheli</a:t>
            </a:r>
          </a:p>
        </p:txBody>
      </p:sp>
      <p:sp>
        <p:nvSpPr>
          <p:cNvPr id="8704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2042B06B-5D34-184D-A5F0-DC62FFC55A40}" type="slidenum">
              <a:rPr lang="en-US" sz="1400" b="0"/>
              <a:pPr/>
              <a:t>40</a:t>
            </a:fld>
            <a:endParaRPr lang="en-US" sz="1400" b="0"/>
          </a:p>
        </p:txBody>
      </p:sp>
      <p:sp>
        <p:nvSpPr>
          <p:cNvPr id="870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Narrow" charset="0"/>
              </a:rPr>
              <a:t>Dynamic variable ordering</a:t>
            </a:r>
            <a:endParaRPr lang="en-US" sz="2000">
              <a:latin typeface="Arial Narrow" charset="0"/>
            </a:endParaRPr>
          </a:p>
        </p:txBody>
      </p:sp>
      <p:sp>
        <p:nvSpPr>
          <p:cNvPr id="139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0538" y="1381125"/>
            <a:ext cx="8001000" cy="4267200"/>
          </a:xfrm>
          <a:noFill/>
        </p:spPr>
        <p:txBody>
          <a:bodyPr/>
          <a:lstStyle/>
          <a:p>
            <a:pPr>
              <a:lnSpc>
                <a:spcPct val="115000"/>
              </a:lnSpc>
            </a:pPr>
            <a:r>
              <a:rPr lang="en-US">
                <a:latin typeface="Arial Narrow" charset="0"/>
              </a:rPr>
              <a:t>Changes the variable order on the fly whenever ROBDDs become too big</a:t>
            </a:r>
          </a:p>
          <a:p>
            <a:pPr>
              <a:lnSpc>
                <a:spcPct val="115000"/>
              </a:lnSpc>
            </a:pPr>
            <a:r>
              <a:rPr lang="en-US" i="1">
                <a:latin typeface="Arial Narrow" charset="0"/>
              </a:rPr>
              <a:t>How</a:t>
            </a:r>
            <a:r>
              <a:rPr lang="en-US">
                <a:latin typeface="Arial Narrow" charset="0"/>
              </a:rPr>
              <a:t>: trial and error – </a:t>
            </a:r>
            <a:r>
              <a:rPr lang="en-US">
                <a:solidFill>
                  <a:schemeClr val="tx2"/>
                </a:solidFill>
                <a:latin typeface="Arial Narrow" charset="0"/>
              </a:rPr>
              <a:t>sifting </a:t>
            </a:r>
            <a:r>
              <a:rPr lang="en-US">
                <a:latin typeface="Arial Narrow" charset="0"/>
              </a:rPr>
              <a:t>algorithm</a:t>
            </a:r>
          </a:p>
          <a:p>
            <a:pPr lvl="2">
              <a:lnSpc>
                <a:spcPct val="80000"/>
              </a:lnSpc>
              <a:buFontTx/>
              <a:buAutoNum type="arabicPeriod"/>
            </a:pPr>
            <a:r>
              <a:rPr lang="en-US">
                <a:latin typeface="Arial Narrow" charset="0"/>
              </a:rPr>
              <a:t>Choose a variable</a:t>
            </a:r>
          </a:p>
          <a:p>
            <a:pPr lvl="2">
              <a:lnSpc>
                <a:spcPct val="80000"/>
              </a:lnSpc>
              <a:buFontTx/>
              <a:buAutoNum type="arabicPeriod"/>
            </a:pPr>
            <a:r>
              <a:rPr lang="en-US">
                <a:latin typeface="Arial Narrow" charset="0"/>
              </a:rPr>
              <a:t>Move it in all possible positions of the variable order</a:t>
            </a:r>
          </a:p>
          <a:p>
            <a:pPr lvl="2">
              <a:lnSpc>
                <a:spcPct val="80000"/>
              </a:lnSpc>
              <a:buFontTx/>
              <a:buAutoNum type="arabicPeriod"/>
            </a:pPr>
            <a:r>
              <a:rPr lang="en-US">
                <a:latin typeface="Arial Narrow" charset="0"/>
              </a:rPr>
              <a:t>Pick the position that leaves you with the smallest ROBDDs</a:t>
            </a:r>
          </a:p>
          <a:p>
            <a:pPr lvl="2">
              <a:lnSpc>
                <a:spcPct val="80000"/>
              </a:lnSpc>
              <a:buFontTx/>
              <a:buAutoNum type="arabicPeriod"/>
            </a:pPr>
            <a:r>
              <a:rPr lang="en-US">
                <a:latin typeface="Arial Narrow" charset="0"/>
              </a:rPr>
              <a:t>Choose another variable …</a:t>
            </a:r>
          </a:p>
          <a:p>
            <a:pPr lvl="1">
              <a:lnSpc>
                <a:spcPct val="100000"/>
              </a:lnSpc>
            </a:pPr>
            <a:endParaRPr lang="en-US">
              <a:latin typeface="Arial Narrow" charset="0"/>
            </a:endParaRPr>
          </a:p>
          <a:p>
            <a:pPr lvl="1">
              <a:lnSpc>
                <a:spcPct val="100000"/>
              </a:lnSpc>
            </a:pPr>
            <a:endParaRPr lang="en-US">
              <a:latin typeface="Arial Narrow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r>
              <a:rPr lang="en-US" sz="1400" b="0"/>
              <a:t>(c)  Giovanni De Micheli</a:t>
            </a:r>
          </a:p>
        </p:txBody>
      </p:sp>
      <p:sp>
        <p:nvSpPr>
          <p:cNvPr id="8909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7887CAC0-5F1F-8D44-A588-B5C824363088}" type="slidenum">
              <a:rPr lang="en-US" sz="1400" b="0"/>
              <a:pPr/>
              <a:t>41</a:t>
            </a:fld>
            <a:endParaRPr lang="en-US" sz="1400" b="0"/>
          </a:p>
        </p:txBody>
      </p:sp>
      <p:sp>
        <p:nvSpPr>
          <p:cNvPr id="890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Narrow" charset="0"/>
              </a:rPr>
              <a:t>Dynamic variable ordering</a:t>
            </a:r>
            <a:endParaRPr lang="en-US" sz="2000">
              <a:latin typeface="Arial Narrow" charset="0"/>
            </a:endParaRPr>
          </a:p>
        </p:txBody>
      </p:sp>
      <p:grpSp>
        <p:nvGrpSpPr>
          <p:cNvPr id="89092" name="Group 3"/>
          <p:cNvGrpSpPr>
            <a:grpSpLocks noChangeAspect="1"/>
          </p:cNvGrpSpPr>
          <p:nvPr/>
        </p:nvGrpSpPr>
        <p:grpSpPr bwMode="auto">
          <a:xfrm>
            <a:off x="1066800" y="2743200"/>
            <a:ext cx="1233488" cy="2244725"/>
            <a:chOff x="4504" y="1392"/>
            <a:chExt cx="973" cy="1770"/>
          </a:xfrm>
        </p:grpSpPr>
        <p:sp>
          <p:nvSpPr>
            <p:cNvPr id="89176" name="Rectangle 4"/>
            <p:cNvSpPr>
              <a:spLocks noChangeAspect="1" noChangeArrowheads="1"/>
            </p:cNvSpPr>
            <p:nvPr/>
          </p:nvSpPr>
          <p:spPr bwMode="auto">
            <a:xfrm>
              <a:off x="4846" y="1725"/>
              <a:ext cx="78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89177" name="Rectangle 5"/>
            <p:cNvSpPr>
              <a:spLocks noChangeAspect="1" noChangeArrowheads="1"/>
            </p:cNvSpPr>
            <p:nvPr/>
          </p:nvSpPr>
          <p:spPr bwMode="auto">
            <a:xfrm>
              <a:off x="5263" y="1725"/>
              <a:ext cx="78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89178" name="Line 6"/>
            <p:cNvSpPr>
              <a:spLocks noChangeAspect="1" noChangeShapeType="1"/>
            </p:cNvSpPr>
            <p:nvPr/>
          </p:nvSpPr>
          <p:spPr bwMode="auto">
            <a:xfrm flipH="1">
              <a:off x="4752" y="1840"/>
              <a:ext cx="245" cy="224"/>
            </a:xfrm>
            <a:prstGeom prst="line">
              <a:avLst/>
            </a:pr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89179" name="Freeform 7"/>
            <p:cNvSpPr>
              <a:spLocks noChangeAspect="1"/>
            </p:cNvSpPr>
            <p:nvPr/>
          </p:nvSpPr>
          <p:spPr bwMode="auto">
            <a:xfrm>
              <a:off x="5154" y="1840"/>
              <a:ext cx="35" cy="650"/>
            </a:xfrm>
            <a:custGeom>
              <a:avLst/>
              <a:gdLst>
                <a:gd name="T0" fmla="*/ 35 w 35"/>
                <a:gd name="T1" fmla="*/ 0 h 650"/>
                <a:gd name="T2" fmla="*/ 0 w 35"/>
                <a:gd name="T3" fmla="*/ 650 h 650"/>
                <a:gd name="T4" fmla="*/ 0 60000 65536"/>
                <a:gd name="T5" fmla="*/ 0 60000 65536"/>
                <a:gd name="T6" fmla="*/ 0 w 35"/>
                <a:gd name="T7" fmla="*/ 0 h 650"/>
                <a:gd name="T8" fmla="*/ 35 w 35"/>
                <a:gd name="T9" fmla="*/ 650 h 65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5" h="650">
                  <a:moveTo>
                    <a:pt x="35" y="0"/>
                  </a:moveTo>
                  <a:cubicBezTo>
                    <a:pt x="29" y="108"/>
                    <a:pt x="7" y="515"/>
                    <a:pt x="0" y="650"/>
                  </a:cubicBez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89180" name="Group 8"/>
            <p:cNvGrpSpPr>
              <a:grpSpLocks noChangeAspect="1"/>
            </p:cNvGrpSpPr>
            <p:nvPr/>
          </p:nvGrpSpPr>
          <p:grpSpPr bwMode="auto">
            <a:xfrm>
              <a:off x="4964" y="1548"/>
              <a:ext cx="293" cy="340"/>
              <a:chOff x="2895" y="1453"/>
              <a:chExt cx="293" cy="340"/>
            </a:xfrm>
          </p:grpSpPr>
          <p:sp>
            <p:nvSpPr>
              <p:cNvPr id="89207" name="Freeform 9"/>
              <p:cNvSpPr>
                <a:spLocks noChangeAspect="1"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208" name="Freeform 10"/>
              <p:cNvSpPr>
                <a:spLocks noChangeAspect="1"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209" name="Rectangle 11"/>
              <p:cNvSpPr>
                <a:spLocks noChangeAspect="1" noChangeArrowheads="1"/>
              </p:cNvSpPr>
              <p:nvPr/>
            </p:nvSpPr>
            <p:spPr bwMode="auto">
              <a:xfrm>
                <a:off x="2981" y="1453"/>
                <a:ext cx="140" cy="3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a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89181" name="Rectangle 12"/>
            <p:cNvSpPr>
              <a:spLocks noChangeAspect="1" noChangeArrowheads="1"/>
            </p:cNvSpPr>
            <p:nvPr/>
          </p:nvSpPr>
          <p:spPr bwMode="auto">
            <a:xfrm>
              <a:off x="4504" y="2224"/>
              <a:ext cx="78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89182" name="Rectangle 13"/>
            <p:cNvSpPr>
              <a:spLocks noChangeAspect="1" noChangeArrowheads="1"/>
            </p:cNvSpPr>
            <p:nvPr/>
          </p:nvSpPr>
          <p:spPr bwMode="auto">
            <a:xfrm>
              <a:off x="4970" y="2208"/>
              <a:ext cx="78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89183" name="Line 14"/>
            <p:cNvSpPr>
              <a:spLocks noChangeAspect="1" noChangeShapeType="1"/>
            </p:cNvSpPr>
            <p:nvPr/>
          </p:nvSpPr>
          <p:spPr bwMode="auto">
            <a:xfrm>
              <a:off x="4848" y="2304"/>
              <a:ext cx="197" cy="24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89184" name="Freeform 15"/>
            <p:cNvSpPr>
              <a:spLocks noChangeAspect="1"/>
            </p:cNvSpPr>
            <p:nvPr/>
          </p:nvSpPr>
          <p:spPr bwMode="auto">
            <a:xfrm flipH="1">
              <a:off x="5141" y="1392"/>
              <a:ext cx="64" cy="208"/>
            </a:xfrm>
            <a:custGeom>
              <a:avLst/>
              <a:gdLst>
                <a:gd name="T0" fmla="*/ 0 w 160"/>
                <a:gd name="T1" fmla="*/ 0 h 208"/>
                <a:gd name="T2" fmla="*/ 64 w 160"/>
                <a:gd name="T3" fmla="*/ 208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66FF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89185" name="Group 16"/>
            <p:cNvGrpSpPr>
              <a:grpSpLocks noChangeAspect="1"/>
            </p:cNvGrpSpPr>
            <p:nvPr/>
          </p:nvGrpSpPr>
          <p:grpSpPr bwMode="auto">
            <a:xfrm>
              <a:off x="4608" y="1998"/>
              <a:ext cx="293" cy="339"/>
              <a:chOff x="2895" y="1454"/>
              <a:chExt cx="293" cy="339"/>
            </a:xfrm>
          </p:grpSpPr>
          <p:sp>
            <p:nvSpPr>
              <p:cNvPr id="89204" name="Freeform 17"/>
              <p:cNvSpPr>
                <a:spLocks noChangeAspect="1"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205" name="Freeform 18"/>
              <p:cNvSpPr>
                <a:spLocks noChangeAspect="1"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206" name="Rectangle 19"/>
              <p:cNvSpPr>
                <a:spLocks noChangeAspect="1" noChangeArrowheads="1"/>
              </p:cNvSpPr>
              <p:nvPr/>
            </p:nvSpPr>
            <p:spPr bwMode="auto">
              <a:xfrm>
                <a:off x="2981" y="1454"/>
                <a:ext cx="141" cy="3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b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89186" name="Freeform 20"/>
            <p:cNvSpPr>
              <a:spLocks noChangeAspect="1"/>
            </p:cNvSpPr>
            <p:nvPr/>
          </p:nvSpPr>
          <p:spPr bwMode="auto">
            <a:xfrm>
              <a:off x="4539" y="2316"/>
              <a:ext cx="359" cy="642"/>
            </a:xfrm>
            <a:custGeom>
              <a:avLst/>
              <a:gdLst>
                <a:gd name="T0" fmla="*/ 123 w 359"/>
                <a:gd name="T1" fmla="*/ 0 h 642"/>
                <a:gd name="T2" fmla="*/ 39 w 359"/>
                <a:gd name="T3" fmla="*/ 438 h 642"/>
                <a:gd name="T4" fmla="*/ 359 w 359"/>
                <a:gd name="T5" fmla="*/ 642 h 642"/>
                <a:gd name="T6" fmla="*/ 0 60000 65536"/>
                <a:gd name="T7" fmla="*/ 0 60000 65536"/>
                <a:gd name="T8" fmla="*/ 0 60000 65536"/>
                <a:gd name="T9" fmla="*/ 0 w 359"/>
                <a:gd name="T10" fmla="*/ 0 h 642"/>
                <a:gd name="T11" fmla="*/ 359 w 359"/>
                <a:gd name="T12" fmla="*/ 642 h 6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9" h="642">
                  <a:moveTo>
                    <a:pt x="123" y="0"/>
                  </a:moveTo>
                  <a:cubicBezTo>
                    <a:pt x="109" y="73"/>
                    <a:pt x="0" y="331"/>
                    <a:pt x="39" y="438"/>
                  </a:cubicBezTo>
                  <a:cubicBezTo>
                    <a:pt x="121" y="511"/>
                    <a:pt x="292" y="600"/>
                    <a:pt x="359" y="642"/>
                  </a:cubicBez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89187" name="Group 21"/>
            <p:cNvGrpSpPr>
              <a:grpSpLocks noChangeAspect="1"/>
            </p:cNvGrpSpPr>
            <p:nvPr/>
          </p:nvGrpSpPr>
          <p:grpSpPr bwMode="auto">
            <a:xfrm>
              <a:off x="4805" y="2448"/>
              <a:ext cx="672" cy="714"/>
              <a:chOff x="3504" y="2496"/>
              <a:chExt cx="672" cy="714"/>
            </a:xfrm>
          </p:grpSpPr>
          <p:grpSp>
            <p:nvGrpSpPr>
              <p:cNvPr id="89188" name="Group 22"/>
              <p:cNvGrpSpPr>
                <a:grpSpLocks noChangeAspect="1"/>
              </p:cNvGrpSpPr>
              <p:nvPr/>
            </p:nvGrpSpPr>
            <p:grpSpPr bwMode="auto">
              <a:xfrm>
                <a:off x="3691" y="2496"/>
                <a:ext cx="293" cy="340"/>
                <a:chOff x="2895" y="1453"/>
                <a:chExt cx="293" cy="340"/>
              </a:xfrm>
            </p:grpSpPr>
            <p:sp>
              <p:nvSpPr>
                <p:cNvPr id="89201" name="Freeform 23"/>
                <p:cNvSpPr>
                  <a:spLocks noChangeAspect="1"/>
                </p:cNvSpPr>
                <p:nvPr/>
              </p:nvSpPr>
              <p:spPr bwMode="auto">
                <a:xfrm>
                  <a:off x="2895" y="1500"/>
                  <a:ext cx="293" cy="293"/>
                </a:xfrm>
                <a:custGeom>
                  <a:avLst/>
                  <a:gdLst>
                    <a:gd name="T0" fmla="*/ 0 w 778"/>
                    <a:gd name="T1" fmla="*/ 147 h 778"/>
                    <a:gd name="T2" fmla="*/ 147 w 778"/>
                    <a:gd name="T3" fmla="*/ 0 h 778"/>
                    <a:gd name="T4" fmla="*/ 293 w 778"/>
                    <a:gd name="T5" fmla="*/ 147 h 778"/>
                    <a:gd name="T6" fmla="*/ 293 w 778"/>
                    <a:gd name="T7" fmla="*/ 147 h 778"/>
                    <a:gd name="T8" fmla="*/ 147 w 778"/>
                    <a:gd name="T9" fmla="*/ 293 h 778"/>
                    <a:gd name="T10" fmla="*/ 0 w 778"/>
                    <a:gd name="T11" fmla="*/ 147 h 77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778"/>
                    <a:gd name="T19" fmla="*/ 0 h 778"/>
                    <a:gd name="T20" fmla="*/ 778 w 778"/>
                    <a:gd name="T21" fmla="*/ 778 h 77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778" h="778">
                      <a:moveTo>
                        <a:pt x="0" y="389"/>
                      </a:moveTo>
                      <a:cubicBezTo>
                        <a:pt x="0" y="174"/>
                        <a:pt x="174" y="0"/>
                        <a:pt x="389" y="0"/>
                      </a:cubicBezTo>
                      <a:cubicBezTo>
                        <a:pt x="604" y="0"/>
                        <a:pt x="778" y="174"/>
                        <a:pt x="778" y="389"/>
                      </a:cubicBezTo>
                      <a:cubicBezTo>
                        <a:pt x="778" y="389"/>
                        <a:pt x="778" y="389"/>
                        <a:pt x="778" y="389"/>
                      </a:cubicBezTo>
                      <a:cubicBezTo>
                        <a:pt x="778" y="604"/>
                        <a:pt x="604" y="778"/>
                        <a:pt x="389" y="778"/>
                      </a:cubicBezTo>
                      <a:cubicBezTo>
                        <a:pt x="174" y="778"/>
                        <a:pt x="0" y="604"/>
                        <a:pt x="0" y="389"/>
                      </a:cubicBezTo>
                    </a:path>
                  </a:pathLst>
                </a:custGeom>
                <a:solidFill>
                  <a:srgbClr val="66FF99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9202" name="Freeform 24"/>
                <p:cNvSpPr>
                  <a:spLocks noChangeAspect="1"/>
                </p:cNvSpPr>
                <p:nvPr/>
              </p:nvSpPr>
              <p:spPr bwMode="auto">
                <a:xfrm>
                  <a:off x="2895" y="1500"/>
                  <a:ext cx="293" cy="293"/>
                </a:xfrm>
                <a:custGeom>
                  <a:avLst/>
                  <a:gdLst>
                    <a:gd name="T0" fmla="*/ 0 w 293"/>
                    <a:gd name="T1" fmla="*/ 147 h 293"/>
                    <a:gd name="T2" fmla="*/ 147 w 293"/>
                    <a:gd name="T3" fmla="*/ 0 h 293"/>
                    <a:gd name="T4" fmla="*/ 293 w 293"/>
                    <a:gd name="T5" fmla="*/ 147 h 293"/>
                    <a:gd name="T6" fmla="*/ 293 w 293"/>
                    <a:gd name="T7" fmla="*/ 147 h 293"/>
                    <a:gd name="T8" fmla="*/ 147 w 293"/>
                    <a:gd name="T9" fmla="*/ 293 h 293"/>
                    <a:gd name="T10" fmla="*/ 0 w 293"/>
                    <a:gd name="T11" fmla="*/ 147 h 29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93"/>
                    <a:gd name="T19" fmla="*/ 0 h 293"/>
                    <a:gd name="T20" fmla="*/ 293 w 293"/>
                    <a:gd name="T21" fmla="*/ 293 h 29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93" h="293">
                      <a:moveTo>
                        <a:pt x="0" y="147"/>
                      </a:moveTo>
                      <a:cubicBezTo>
                        <a:pt x="0" y="66"/>
                        <a:pt x="66" y="0"/>
                        <a:pt x="147" y="0"/>
                      </a:cubicBezTo>
                      <a:cubicBezTo>
                        <a:pt x="228" y="0"/>
                        <a:pt x="293" y="66"/>
                        <a:pt x="293" y="147"/>
                      </a:cubicBezTo>
                      <a:cubicBezTo>
                        <a:pt x="293" y="147"/>
                        <a:pt x="293" y="147"/>
                        <a:pt x="293" y="147"/>
                      </a:cubicBezTo>
                      <a:cubicBezTo>
                        <a:pt x="293" y="228"/>
                        <a:pt x="228" y="293"/>
                        <a:pt x="147" y="293"/>
                      </a:cubicBezTo>
                      <a:cubicBezTo>
                        <a:pt x="66" y="293"/>
                        <a:pt x="0" y="228"/>
                        <a:pt x="0" y="147"/>
                      </a:cubicBezTo>
                    </a:path>
                  </a:pathLst>
                </a:custGeom>
                <a:noFill/>
                <a:ln w="3175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9203" name="Rectangle 25"/>
                <p:cNvSpPr>
                  <a:spLocks noChangeAspect="1" noChangeArrowheads="1"/>
                </p:cNvSpPr>
                <p:nvPr/>
              </p:nvSpPr>
              <p:spPr bwMode="auto">
                <a:xfrm>
                  <a:off x="2988" y="1453"/>
                  <a:ext cx="124" cy="3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/>
                <a:p>
                  <a:r>
                    <a:rPr lang="en-US" sz="2800" i="1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c</a:t>
                  </a:r>
                  <a:endParaRPr lang="en-US">
                    <a:latin typeface="Times New Roman" charset="0"/>
                    <a:cs typeface="Arial" charset="0"/>
                  </a:endParaRPr>
                </a:p>
              </p:txBody>
            </p:sp>
          </p:grpSp>
          <p:grpSp>
            <p:nvGrpSpPr>
              <p:cNvPr id="89189" name="Group 26"/>
              <p:cNvGrpSpPr>
                <a:grpSpLocks noChangeAspect="1"/>
              </p:cNvGrpSpPr>
              <p:nvPr/>
            </p:nvGrpSpPr>
            <p:grpSpPr bwMode="auto">
              <a:xfrm>
                <a:off x="4009" y="2957"/>
                <a:ext cx="167" cy="253"/>
                <a:chOff x="3087" y="2759"/>
                <a:chExt cx="167" cy="253"/>
              </a:xfrm>
            </p:grpSpPr>
            <p:sp>
              <p:nvSpPr>
                <p:cNvPr id="89198" name="Rectangle 27"/>
                <p:cNvSpPr>
                  <a:spLocks noChangeAspect="1" noChangeArrowheads="1"/>
                </p:cNvSpPr>
                <p:nvPr/>
              </p:nvSpPr>
              <p:spPr bwMode="auto">
                <a:xfrm>
                  <a:off x="3087" y="2809"/>
                  <a:ext cx="167" cy="168"/>
                </a:xfrm>
                <a:prstGeom prst="rect">
                  <a:avLst/>
                </a:prstGeom>
                <a:solidFill>
                  <a:srgbClr val="339966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9199" name="Rectangle 28"/>
                <p:cNvSpPr>
                  <a:spLocks noChangeAspect="1" noChangeArrowheads="1"/>
                </p:cNvSpPr>
                <p:nvPr/>
              </p:nvSpPr>
              <p:spPr bwMode="auto">
                <a:xfrm>
                  <a:off x="3087" y="2809"/>
                  <a:ext cx="167" cy="168"/>
                </a:xfrm>
                <a:prstGeom prst="rect">
                  <a:avLst/>
                </a:prstGeom>
                <a:noFill/>
                <a:ln w="3175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9200" name="Rectangle 29"/>
                <p:cNvSpPr>
                  <a:spLocks noChangeAspect="1" noChangeArrowheads="1"/>
                </p:cNvSpPr>
                <p:nvPr/>
              </p:nvSpPr>
              <p:spPr bwMode="auto">
                <a:xfrm>
                  <a:off x="3110" y="2759"/>
                  <a:ext cx="105" cy="25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/>
                <a:p>
                  <a:r>
                    <a:rPr lang="en-US" sz="2100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1</a:t>
                  </a:r>
                  <a:endParaRPr lang="en-US">
                    <a:latin typeface="Times New Roman" charset="0"/>
                    <a:cs typeface="Arial" charset="0"/>
                  </a:endParaRPr>
                </a:p>
              </p:txBody>
            </p:sp>
          </p:grpSp>
          <p:sp>
            <p:nvSpPr>
              <p:cNvPr id="89190" name="Freeform 30"/>
              <p:cNvSpPr>
                <a:spLocks noChangeAspect="1"/>
              </p:cNvSpPr>
              <p:nvPr/>
            </p:nvSpPr>
            <p:spPr bwMode="auto">
              <a:xfrm>
                <a:off x="3936" y="2800"/>
                <a:ext cx="160" cy="208"/>
              </a:xfrm>
              <a:custGeom>
                <a:avLst/>
                <a:gdLst>
                  <a:gd name="T0" fmla="*/ 0 w 160"/>
                  <a:gd name="T1" fmla="*/ 0 h 208"/>
                  <a:gd name="T2" fmla="*/ 160 w 160"/>
                  <a:gd name="T3" fmla="*/ 208 h 208"/>
                  <a:gd name="T4" fmla="*/ 0 60000 65536"/>
                  <a:gd name="T5" fmla="*/ 0 60000 65536"/>
                  <a:gd name="T6" fmla="*/ 0 w 160"/>
                  <a:gd name="T7" fmla="*/ 0 h 208"/>
                  <a:gd name="T8" fmla="*/ 160 w 160"/>
                  <a:gd name="T9" fmla="*/ 208 h 20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0" h="208">
                    <a:moveTo>
                      <a:pt x="0" y="0"/>
                    </a:moveTo>
                    <a:lnTo>
                      <a:pt x="160" y="208"/>
                    </a:lnTo>
                  </a:path>
                </a:pathLst>
              </a:custGeom>
              <a:noFill/>
              <a:ln w="50800">
                <a:solidFill>
                  <a:schemeClr val="accent2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grpSp>
            <p:nvGrpSpPr>
              <p:cNvPr id="89191" name="Group 31"/>
              <p:cNvGrpSpPr>
                <a:grpSpLocks noChangeAspect="1"/>
              </p:cNvGrpSpPr>
              <p:nvPr/>
            </p:nvGrpSpPr>
            <p:grpSpPr bwMode="auto">
              <a:xfrm>
                <a:off x="3504" y="2957"/>
                <a:ext cx="167" cy="253"/>
                <a:chOff x="3087" y="2759"/>
                <a:chExt cx="167" cy="253"/>
              </a:xfrm>
            </p:grpSpPr>
            <p:sp>
              <p:nvSpPr>
                <p:cNvPr id="89195" name="Rectangle 32"/>
                <p:cNvSpPr>
                  <a:spLocks noChangeAspect="1" noChangeArrowheads="1"/>
                </p:cNvSpPr>
                <p:nvPr/>
              </p:nvSpPr>
              <p:spPr bwMode="auto">
                <a:xfrm>
                  <a:off x="3087" y="2809"/>
                  <a:ext cx="167" cy="168"/>
                </a:xfrm>
                <a:prstGeom prst="rect">
                  <a:avLst/>
                </a:prstGeom>
                <a:solidFill>
                  <a:srgbClr val="339966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9196" name="Rectangle 33"/>
                <p:cNvSpPr>
                  <a:spLocks noChangeAspect="1" noChangeArrowheads="1"/>
                </p:cNvSpPr>
                <p:nvPr/>
              </p:nvSpPr>
              <p:spPr bwMode="auto">
                <a:xfrm>
                  <a:off x="3087" y="2809"/>
                  <a:ext cx="167" cy="168"/>
                </a:xfrm>
                <a:prstGeom prst="rect">
                  <a:avLst/>
                </a:prstGeom>
                <a:noFill/>
                <a:ln w="3175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9197" name="Rectangle 34"/>
                <p:cNvSpPr>
                  <a:spLocks noChangeAspect="1" noChangeArrowheads="1"/>
                </p:cNvSpPr>
                <p:nvPr/>
              </p:nvSpPr>
              <p:spPr bwMode="auto">
                <a:xfrm>
                  <a:off x="3110" y="2759"/>
                  <a:ext cx="105" cy="25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/>
                <a:p>
                  <a:r>
                    <a:rPr lang="en-US" sz="2100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0</a:t>
                  </a:r>
                  <a:endParaRPr lang="en-US">
                    <a:latin typeface="Times New Roman" charset="0"/>
                    <a:cs typeface="Arial" charset="0"/>
                  </a:endParaRPr>
                </a:p>
              </p:txBody>
            </p:sp>
          </p:grpSp>
          <p:sp>
            <p:nvSpPr>
              <p:cNvPr id="89192" name="Freeform 35"/>
              <p:cNvSpPr>
                <a:spLocks noChangeAspect="1"/>
              </p:cNvSpPr>
              <p:nvPr/>
            </p:nvSpPr>
            <p:spPr bwMode="auto">
              <a:xfrm flipH="1">
                <a:off x="3584" y="2800"/>
                <a:ext cx="160" cy="208"/>
              </a:xfrm>
              <a:custGeom>
                <a:avLst/>
                <a:gdLst>
                  <a:gd name="T0" fmla="*/ 0 w 160"/>
                  <a:gd name="T1" fmla="*/ 0 h 208"/>
                  <a:gd name="T2" fmla="*/ 160 w 160"/>
                  <a:gd name="T3" fmla="*/ 208 h 208"/>
                  <a:gd name="T4" fmla="*/ 0 60000 65536"/>
                  <a:gd name="T5" fmla="*/ 0 60000 65536"/>
                  <a:gd name="T6" fmla="*/ 0 w 160"/>
                  <a:gd name="T7" fmla="*/ 0 h 208"/>
                  <a:gd name="T8" fmla="*/ 160 w 160"/>
                  <a:gd name="T9" fmla="*/ 208 h 20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0" h="208">
                    <a:moveTo>
                      <a:pt x="0" y="0"/>
                    </a:moveTo>
                    <a:lnTo>
                      <a:pt x="160" y="208"/>
                    </a:lnTo>
                  </a:path>
                </a:pathLst>
              </a:custGeom>
              <a:noFill/>
              <a:ln w="50800">
                <a:solidFill>
                  <a:srgbClr val="333399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89193" name="Rectangle 36"/>
              <p:cNvSpPr>
                <a:spLocks noChangeAspect="1" noChangeArrowheads="1"/>
              </p:cNvSpPr>
              <p:nvPr/>
            </p:nvSpPr>
            <p:spPr bwMode="auto">
              <a:xfrm>
                <a:off x="3593" y="2704"/>
                <a:ext cx="77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cs typeface="Arial" charset="0"/>
                  </a:rPr>
                  <a:t>0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  <p:sp>
            <p:nvSpPr>
              <p:cNvPr id="89194" name="Rectangle 37"/>
              <p:cNvSpPr>
                <a:spLocks noChangeAspect="1" noChangeArrowheads="1"/>
              </p:cNvSpPr>
              <p:nvPr/>
            </p:nvSpPr>
            <p:spPr bwMode="auto">
              <a:xfrm>
                <a:off x="3977" y="2704"/>
                <a:ext cx="78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cs typeface="Arial" charset="0"/>
                  </a:rPr>
                  <a:t>1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</p:grpSp>
      <p:grpSp>
        <p:nvGrpSpPr>
          <p:cNvPr id="89093" name="Group 38"/>
          <p:cNvGrpSpPr>
            <a:grpSpLocks/>
          </p:cNvGrpSpPr>
          <p:nvPr/>
        </p:nvGrpSpPr>
        <p:grpSpPr bwMode="auto">
          <a:xfrm>
            <a:off x="4953000" y="2743200"/>
            <a:ext cx="1317625" cy="2244725"/>
            <a:chOff x="2016" y="2186"/>
            <a:chExt cx="830" cy="1414"/>
          </a:xfrm>
        </p:grpSpPr>
        <p:sp>
          <p:nvSpPr>
            <p:cNvPr id="89142" name="Rectangle 39"/>
            <p:cNvSpPr>
              <a:spLocks noChangeAspect="1" noChangeArrowheads="1"/>
            </p:cNvSpPr>
            <p:nvPr/>
          </p:nvSpPr>
          <p:spPr bwMode="auto">
            <a:xfrm>
              <a:off x="2016" y="2525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89143" name="Rectangle 40"/>
            <p:cNvSpPr>
              <a:spLocks noChangeAspect="1" noChangeArrowheads="1"/>
            </p:cNvSpPr>
            <p:nvPr/>
          </p:nvSpPr>
          <p:spPr bwMode="auto">
            <a:xfrm>
              <a:off x="2349" y="2429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89144" name="Freeform 41"/>
            <p:cNvSpPr>
              <a:spLocks noChangeAspect="1"/>
            </p:cNvSpPr>
            <p:nvPr/>
          </p:nvSpPr>
          <p:spPr bwMode="auto">
            <a:xfrm>
              <a:off x="2164" y="2576"/>
              <a:ext cx="148" cy="848"/>
            </a:xfrm>
            <a:custGeom>
              <a:avLst/>
              <a:gdLst>
                <a:gd name="T0" fmla="*/ 0 w 148"/>
                <a:gd name="T1" fmla="*/ 0 h 848"/>
                <a:gd name="T2" fmla="*/ 148 w 148"/>
                <a:gd name="T3" fmla="*/ 848 h 848"/>
                <a:gd name="T4" fmla="*/ 0 60000 65536"/>
                <a:gd name="T5" fmla="*/ 0 60000 65536"/>
                <a:gd name="T6" fmla="*/ 0 w 148"/>
                <a:gd name="T7" fmla="*/ 0 h 848"/>
                <a:gd name="T8" fmla="*/ 148 w 148"/>
                <a:gd name="T9" fmla="*/ 848 h 84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48" h="848">
                  <a:moveTo>
                    <a:pt x="0" y="0"/>
                  </a:moveTo>
                  <a:lnTo>
                    <a:pt x="148" y="848"/>
                  </a:ln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89145" name="Freeform 42"/>
            <p:cNvSpPr>
              <a:spLocks noChangeAspect="1"/>
            </p:cNvSpPr>
            <p:nvPr/>
          </p:nvSpPr>
          <p:spPr bwMode="auto">
            <a:xfrm>
              <a:off x="2268" y="2540"/>
              <a:ext cx="336" cy="176"/>
            </a:xfrm>
            <a:custGeom>
              <a:avLst/>
              <a:gdLst>
                <a:gd name="T0" fmla="*/ 0 w 336"/>
                <a:gd name="T1" fmla="*/ 0 h 176"/>
                <a:gd name="T2" fmla="*/ 336 w 336"/>
                <a:gd name="T3" fmla="*/ 176 h 176"/>
                <a:gd name="T4" fmla="*/ 0 60000 65536"/>
                <a:gd name="T5" fmla="*/ 0 60000 65536"/>
                <a:gd name="T6" fmla="*/ 0 w 336"/>
                <a:gd name="T7" fmla="*/ 0 h 176"/>
                <a:gd name="T8" fmla="*/ 336 w 336"/>
                <a:gd name="T9" fmla="*/ 176 h 17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36" h="176">
                  <a:moveTo>
                    <a:pt x="0" y="0"/>
                  </a:moveTo>
                  <a:cubicBezTo>
                    <a:pt x="56" y="29"/>
                    <a:pt x="266" y="139"/>
                    <a:pt x="336" y="176"/>
                  </a:cubicBez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89146" name="Group 43"/>
            <p:cNvGrpSpPr>
              <a:grpSpLocks noChangeAspect="1"/>
            </p:cNvGrpSpPr>
            <p:nvPr/>
          </p:nvGrpSpPr>
          <p:grpSpPr bwMode="auto">
            <a:xfrm>
              <a:off x="2062" y="2311"/>
              <a:ext cx="234" cy="271"/>
              <a:chOff x="2895" y="1454"/>
              <a:chExt cx="293" cy="339"/>
            </a:xfrm>
          </p:grpSpPr>
          <p:sp>
            <p:nvSpPr>
              <p:cNvPr id="89173" name="Freeform 44"/>
              <p:cNvSpPr>
                <a:spLocks noChangeAspect="1"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74" name="Freeform 45"/>
              <p:cNvSpPr>
                <a:spLocks noChangeAspect="1"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75" name="Rectangle 46"/>
              <p:cNvSpPr>
                <a:spLocks noChangeAspect="1" noChangeArrowheads="1"/>
              </p:cNvSpPr>
              <p:nvPr/>
            </p:nvSpPr>
            <p:spPr bwMode="auto">
              <a:xfrm>
                <a:off x="2989" y="1454"/>
                <a:ext cx="124" cy="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c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89147" name="Rectangle 47"/>
            <p:cNvSpPr>
              <a:spLocks noChangeAspect="1" noChangeArrowheads="1"/>
            </p:cNvSpPr>
            <p:nvPr/>
          </p:nvSpPr>
          <p:spPr bwMode="auto">
            <a:xfrm>
              <a:off x="2446" y="2832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89148" name="Rectangle 48"/>
            <p:cNvSpPr>
              <a:spLocks noChangeAspect="1" noChangeArrowheads="1"/>
            </p:cNvSpPr>
            <p:nvPr/>
          </p:nvSpPr>
          <p:spPr bwMode="auto">
            <a:xfrm>
              <a:off x="2784" y="2838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89149" name="Freeform 49"/>
            <p:cNvSpPr>
              <a:spLocks noChangeAspect="1"/>
            </p:cNvSpPr>
            <p:nvPr/>
          </p:nvSpPr>
          <p:spPr bwMode="auto">
            <a:xfrm>
              <a:off x="2708" y="2920"/>
              <a:ext cx="20" cy="508"/>
            </a:xfrm>
            <a:custGeom>
              <a:avLst/>
              <a:gdLst>
                <a:gd name="T0" fmla="*/ 0 w 20"/>
                <a:gd name="T1" fmla="*/ 0 h 508"/>
                <a:gd name="T2" fmla="*/ 20 w 20"/>
                <a:gd name="T3" fmla="*/ 508 h 508"/>
                <a:gd name="T4" fmla="*/ 0 60000 65536"/>
                <a:gd name="T5" fmla="*/ 0 60000 65536"/>
                <a:gd name="T6" fmla="*/ 0 w 20"/>
                <a:gd name="T7" fmla="*/ 0 h 508"/>
                <a:gd name="T8" fmla="*/ 20 w 20"/>
                <a:gd name="T9" fmla="*/ 508 h 5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" h="508">
                  <a:moveTo>
                    <a:pt x="0" y="0"/>
                  </a:moveTo>
                  <a:lnTo>
                    <a:pt x="20" y="508"/>
                  </a:ln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89150" name="Freeform 50"/>
            <p:cNvSpPr>
              <a:spLocks noChangeAspect="1"/>
            </p:cNvSpPr>
            <p:nvPr/>
          </p:nvSpPr>
          <p:spPr bwMode="auto">
            <a:xfrm flipH="1">
              <a:off x="2208" y="2186"/>
              <a:ext cx="51" cy="166"/>
            </a:xfrm>
            <a:custGeom>
              <a:avLst/>
              <a:gdLst>
                <a:gd name="T0" fmla="*/ 0 w 160"/>
                <a:gd name="T1" fmla="*/ 0 h 208"/>
                <a:gd name="T2" fmla="*/ 51 w 160"/>
                <a:gd name="T3" fmla="*/ 166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66FF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89151" name="Group 51"/>
            <p:cNvGrpSpPr>
              <a:grpSpLocks noChangeAspect="1"/>
            </p:cNvGrpSpPr>
            <p:nvPr/>
          </p:nvGrpSpPr>
          <p:grpSpPr bwMode="auto">
            <a:xfrm>
              <a:off x="2529" y="2670"/>
              <a:ext cx="234" cy="271"/>
              <a:chOff x="2895" y="1454"/>
              <a:chExt cx="293" cy="339"/>
            </a:xfrm>
          </p:grpSpPr>
          <p:sp>
            <p:nvSpPr>
              <p:cNvPr id="89170" name="Freeform 52"/>
              <p:cNvSpPr>
                <a:spLocks noChangeAspect="1"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71" name="Freeform 53"/>
              <p:cNvSpPr>
                <a:spLocks noChangeAspect="1"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72" name="Rectangle 54"/>
              <p:cNvSpPr>
                <a:spLocks noChangeAspect="1" noChangeArrowheads="1"/>
              </p:cNvSpPr>
              <p:nvPr/>
            </p:nvSpPr>
            <p:spPr bwMode="auto">
              <a:xfrm>
                <a:off x="2981" y="1454"/>
                <a:ext cx="141" cy="3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a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89152" name="Freeform 55"/>
            <p:cNvSpPr>
              <a:spLocks noChangeAspect="1"/>
            </p:cNvSpPr>
            <p:nvPr/>
          </p:nvSpPr>
          <p:spPr bwMode="auto">
            <a:xfrm>
              <a:off x="2524" y="2900"/>
              <a:ext cx="44" cy="168"/>
            </a:xfrm>
            <a:custGeom>
              <a:avLst/>
              <a:gdLst>
                <a:gd name="T0" fmla="*/ 44 w 44"/>
                <a:gd name="T1" fmla="*/ 0 h 168"/>
                <a:gd name="T2" fmla="*/ 0 w 44"/>
                <a:gd name="T3" fmla="*/ 168 h 168"/>
                <a:gd name="T4" fmla="*/ 0 60000 65536"/>
                <a:gd name="T5" fmla="*/ 0 60000 65536"/>
                <a:gd name="T6" fmla="*/ 0 w 44"/>
                <a:gd name="T7" fmla="*/ 0 h 168"/>
                <a:gd name="T8" fmla="*/ 44 w 44"/>
                <a:gd name="T9" fmla="*/ 168 h 16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4" h="168">
                  <a:moveTo>
                    <a:pt x="44" y="0"/>
                  </a:moveTo>
                  <a:cubicBezTo>
                    <a:pt x="37" y="29"/>
                    <a:pt x="9" y="133"/>
                    <a:pt x="0" y="168"/>
                  </a:cubicBez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89153" name="Group 56"/>
            <p:cNvGrpSpPr>
              <a:grpSpLocks noChangeAspect="1"/>
            </p:cNvGrpSpPr>
            <p:nvPr/>
          </p:nvGrpSpPr>
          <p:grpSpPr bwMode="auto">
            <a:xfrm>
              <a:off x="2247" y="3030"/>
              <a:ext cx="537" cy="570"/>
              <a:chOff x="3504" y="2497"/>
              <a:chExt cx="672" cy="713"/>
            </a:xfrm>
          </p:grpSpPr>
          <p:grpSp>
            <p:nvGrpSpPr>
              <p:cNvPr id="89154" name="Group 57"/>
              <p:cNvGrpSpPr>
                <a:grpSpLocks noChangeAspect="1"/>
              </p:cNvGrpSpPr>
              <p:nvPr/>
            </p:nvGrpSpPr>
            <p:grpSpPr bwMode="auto">
              <a:xfrm>
                <a:off x="3691" y="2497"/>
                <a:ext cx="293" cy="339"/>
                <a:chOff x="2895" y="1454"/>
                <a:chExt cx="293" cy="339"/>
              </a:xfrm>
            </p:grpSpPr>
            <p:sp>
              <p:nvSpPr>
                <p:cNvPr id="89167" name="Freeform 58"/>
                <p:cNvSpPr>
                  <a:spLocks noChangeAspect="1"/>
                </p:cNvSpPr>
                <p:nvPr/>
              </p:nvSpPr>
              <p:spPr bwMode="auto">
                <a:xfrm>
                  <a:off x="2895" y="1500"/>
                  <a:ext cx="293" cy="293"/>
                </a:xfrm>
                <a:custGeom>
                  <a:avLst/>
                  <a:gdLst>
                    <a:gd name="T0" fmla="*/ 0 w 778"/>
                    <a:gd name="T1" fmla="*/ 147 h 778"/>
                    <a:gd name="T2" fmla="*/ 147 w 778"/>
                    <a:gd name="T3" fmla="*/ 0 h 778"/>
                    <a:gd name="T4" fmla="*/ 293 w 778"/>
                    <a:gd name="T5" fmla="*/ 147 h 778"/>
                    <a:gd name="T6" fmla="*/ 293 w 778"/>
                    <a:gd name="T7" fmla="*/ 147 h 778"/>
                    <a:gd name="T8" fmla="*/ 147 w 778"/>
                    <a:gd name="T9" fmla="*/ 293 h 778"/>
                    <a:gd name="T10" fmla="*/ 0 w 778"/>
                    <a:gd name="T11" fmla="*/ 147 h 77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778"/>
                    <a:gd name="T19" fmla="*/ 0 h 778"/>
                    <a:gd name="T20" fmla="*/ 778 w 778"/>
                    <a:gd name="T21" fmla="*/ 778 h 77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778" h="778">
                      <a:moveTo>
                        <a:pt x="0" y="389"/>
                      </a:moveTo>
                      <a:cubicBezTo>
                        <a:pt x="0" y="174"/>
                        <a:pt x="174" y="0"/>
                        <a:pt x="389" y="0"/>
                      </a:cubicBezTo>
                      <a:cubicBezTo>
                        <a:pt x="604" y="0"/>
                        <a:pt x="778" y="174"/>
                        <a:pt x="778" y="389"/>
                      </a:cubicBezTo>
                      <a:cubicBezTo>
                        <a:pt x="778" y="389"/>
                        <a:pt x="778" y="389"/>
                        <a:pt x="778" y="389"/>
                      </a:cubicBezTo>
                      <a:cubicBezTo>
                        <a:pt x="778" y="604"/>
                        <a:pt x="604" y="778"/>
                        <a:pt x="389" y="778"/>
                      </a:cubicBezTo>
                      <a:cubicBezTo>
                        <a:pt x="174" y="778"/>
                        <a:pt x="0" y="604"/>
                        <a:pt x="0" y="389"/>
                      </a:cubicBezTo>
                    </a:path>
                  </a:pathLst>
                </a:custGeom>
                <a:solidFill>
                  <a:srgbClr val="66FF99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9168" name="Freeform 59"/>
                <p:cNvSpPr>
                  <a:spLocks noChangeAspect="1"/>
                </p:cNvSpPr>
                <p:nvPr/>
              </p:nvSpPr>
              <p:spPr bwMode="auto">
                <a:xfrm>
                  <a:off x="2895" y="1500"/>
                  <a:ext cx="293" cy="293"/>
                </a:xfrm>
                <a:custGeom>
                  <a:avLst/>
                  <a:gdLst>
                    <a:gd name="T0" fmla="*/ 0 w 293"/>
                    <a:gd name="T1" fmla="*/ 147 h 293"/>
                    <a:gd name="T2" fmla="*/ 147 w 293"/>
                    <a:gd name="T3" fmla="*/ 0 h 293"/>
                    <a:gd name="T4" fmla="*/ 293 w 293"/>
                    <a:gd name="T5" fmla="*/ 147 h 293"/>
                    <a:gd name="T6" fmla="*/ 293 w 293"/>
                    <a:gd name="T7" fmla="*/ 147 h 293"/>
                    <a:gd name="T8" fmla="*/ 147 w 293"/>
                    <a:gd name="T9" fmla="*/ 293 h 293"/>
                    <a:gd name="T10" fmla="*/ 0 w 293"/>
                    <a:gd name="T11" fmla="*/ 147 h 29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93"/>
                    <a:gd name="T19" fmla="*/ 0 h 293"/>
                    <a:gd name="T20" fmla="*/ 293 w 293"/>
                    <a:gd name="T21" fmla="*/ 293 h 29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93" h="293">
                      <a:moveTo>
                        <a:pt x="0" y="147"/>
                      </a:moveTo>
                      <a:cubicBezTo>
                        <a:pt x="0" y="66"/>
                        <a:pt x="66" y="0"/>
                        <a:pt x="147" y="0"/>
                      </a:cubicBezTo>
                      <a:cubicBezTo>
                        <a:pt x="228" y="0"/>
                        <a:pt x="293" y="66"/>
                        <a:pt x="293" y="147"/>
                      </a:cubicBezTo>
                      <a:cubicBezTo>
                        <a:pt x="293" y="147"/>
                        <a:pt x="293" y="147"/>
                        <a:pt x="293" y="147"/>
                      </a:cubicBezTo>
                      <a:cubicBezTo>
                        <a:pt x="293" y="228"/>
                        <a:pt x="228" y="293"/>
                        <a:pt x="147" y="293"/>
                      </a:cubicBezTo>
                      <a:cubicBezTo>
                        <a:pt x="66" y="293"/>
                        <a:pt x="0" y="228"/>
                        <a:pt x="0" y="147"/>
                      </a:cubicBezTo>
                    </a:path>
                  </a:pathLst>
                </a:custGeom>
                <a:noFill/>
                <a:ln w="3175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9169" name="Rectangle 60"/>
                <p:cNvSpPr>
                  <a:spLocks noChangeAspect="1" noChangeArrowheads="1"/>
                </p:cNvSpPr>
                <p:nvPr/>
              </p:nvSpPr>
              <p:spPr bwMode="auto">
                <a:xfrm>
                  <a:off x="2981" y="1454"/>
                  <a:ext cx="140" cy="3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/>
                <a:p>
                  <a:r>
                    <a:rPr lang="en-US" sz="2800" i="1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b</a:t>
                  </a:r>
                  <a:endParaRPr lang="en-US">
                    <a:latin typeface="Times New Roman" charset="0"/>
                    <a:cs typeface="Arial" charset="0"/>
                  </a:endParaRPr>
                </a:p>
              </p:txBody>
            </p:sp>
          </p:grpSp>
          <p:grpSp>
            <p:nvGrpSpPr>
              <p:cNvPr id="89155" name="Group 61"/>
              <p:cNvGrpSpPr>
                <a:grpSpLocks noChangeAspect="1"/>
              </p:cNvGrpSpPr>
              <p:nvPr/>
            </p:nvGrpSpPr>
            <p:grpSpPr bwMode="auto">
              <a:xfrm>
                <a:off x="4009" y="2957"/>
                <a:ext cx="167" cy="253"/>
                <a:chOff x="3087" y="2759"/>
                <a:chExt cx="167" cy="253"/>
              </a:xfrm>
            </p:grpSpPr>
            <p:sp>
              <p:nvSpPr>
                <p:cNvPr id="89164" name="Rectangle 62"/>
                <p:cNvSpPr>
                  <a:spLocks noChangeAspect="1" noChangeArrowheads="1"/>
                </p:cNvSpPr>
                <p:nvPr/>
              </p:nvSpPr>
              <p:spPr bwMode="auto">
                <a:xfrm>
                  <a:off x="3087" y="2809"/>
                  <a:ext cx="167" cy="168"/>
                </a:xfrm>
                <a:prstGeom prst="rect">
                  <a:avLst/>
                </a:prstGeom>
                <a:solidFill>
                  <a:srgbClr val="339966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9165" name="Rectangle 63"/>
                <p:cNvSpPr>
                  <a:spLocks noChangeAspect="1" noChangeArrowheads="1"/>
                </p:cNvSpPr>
                <p:nvPr/>
              </p:nvSpPr>
              <p:spPr bwMode="auto">
                <a:xfrm>
                  <a:off x="3087" y="2809"/>
                  <a:ext cx="167" cy="168"/>
                </a:xfrm>
                <a:prstGeom prst="rect">
                  <a:avLst/>
                </a:prstGeom>
                <a:noFill/>
                <a:ln w="3175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9166" name="Rectangle 64"/>
                <p:cNvSpPr>
                  <a:spLocks noChangeAspect="1" noChangeArrowheads="1"/>
                </p:cNvSpPr>
                <p:nvPr/>
              </p:nvSpPr>
              <p:spPr bwMode="auto">
                <a:xfrm>
                  <a:off x="3110" y="2759"/>
                  <a:ext cx="105" cy="25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/>
                <a:p>
                  <a:r>
                    <a:rPr lang="en-US" sz="2100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1</a:t>
                  </a:r>
                  <a:endParaRPr lang="en-US">
                    <a:latin typeface="Times New Roman" charset="0"/>
                    <a:cs typeface="Arial" charset="0"/>
                  </a:endParaRPr>
                </a:p>
              </p:txBody>
            </p:sp>
          </p:grpSp>
          <p:sp>
            <p:nvSpPr>
              <p:cNvPr id="89156" name="Freeform 65"/>
              <p:cNvSpPr>
                <a:spLocks noChangeAspect="1"/>
              </p:cNvSpPr>
              <p:nvPr/>
            </p:nvSpPr>
            <p:spPr bwMode="auto">
              <a:xfrm>
                <a:off x="3936" y="2800"/>
                <a:ext cx="160" cy="208"/>
              </a:xfrm>
              <a:custGeom>
                <a:avLst/>
                <a:gdLst>
                  <a:gd name="T0" fmla="*/ 0 w 160"/>
                  <a:gd name="T1" fmla="*/ 0 h 208"/>
                  <a:gd name="T2" fmla="*/ 160 w 160"/>
                  <a:gd name="T3" fmla="*/ 208 h 208"/>
                  <a:gd name="T4" fmla="*/ 0 60000 65536"/>
                  <a:gd name="T5" fmla="*/ 0 60000 65536"/>
                  <a:gd name="T6" fmla="*/ 0 w 160"/>
                  <a:gd name="T7" fmla="*/ 0 h 208"/>
                  <a:gd name="T8" fmla="*/ 160 w 160"/>
                  <a:gd name="T9" fmla="*/ 208 h 20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0" h="208">
                    <a:moveTo>
                      <a:pt x="0" y="0"/>
                    </a:moveTo>
                    <a:lnTo>
                      <a:pt x="160" y="208"/>
                    </a:lnTo>
                  </a:path>
                </a:pathLst>
              </a:custGeom>
              <a:noFill/>
              <a:ln w="50800">
                <a:solidFill>
                  <a:schemeClr val="accent2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grpSp>
            <p:nvGrpSpPr>
              <p:cNvPr id="89157" name="Group 66"/>
              <p:cNvGrpSpPr>
                <a:grpSpLocks noChangeAspect="1"/>
              </p:cNvGrpSpPr>
              <p:nvPr/>
            </p:nvGrpSpPr>
            <p:grpSpPr bwMode="auto">
              <a:xfrm>
                <a:off x="3504" y="2957"/>
                <a:ext cx="167" cy="253"/>
                <a:chOff x="3087" y="2759"/>
                <a:chExt cx="167" cy="253"/>
              </a:xfrm>
            </p:grpSpPr>
            <p:sp>
              <p:nvSpPr>
                <p:cNvPr id="89161" name="Rectangle 67"/>
                <p:cNvSpPr>
                  <a:spLocks noChangeAspect="1" noChangeArrowheads="1"/>
                </p:cNvSpPr>
                <p:nvPr/>
              </p:nvSpPr>
              <p:spPr bwMode="auto">
                <a:xfrm>
                  <a:off x="3087" y="2809"/>
                  <a:ext cx="167" cy="168"/>
                </a:xfrm>
                <a:prstGeom prst="rect">
                  <a:avLst/>
                </a:prstGeom>
                <a:solidFill>
                  <a:srgbClr val="339966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9162" name="Rectangle 68"/>
                <p:cNvSpPr>
                  <a:spLocks noChangeAspect="1" noChangeArrowheads="1"/>
                </p:cNvSpPr>
                <p:nvPr/>
              </p:nvSpPr>
              <p:spPr bwMode="auto">
                <a:xfrm>
                  <a:off x="3087" y="2809"/>
                  <a:ext cx="167" cy="168"/>
                </a:xfrm>
                <a:prstGeom prst="rect">
                  <a:avLst/>
                </a:prstGeom>
                <a:noFill/>
                <a:ln w="3175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9163" name="Rectangle 69"/>
                <p:cNvSpPr>
                  <a:spLocks noChangeAspect="1" noChangeArrowheads="1"/>
                </p:cNvSpPr>
                <p:nvPr/>
              </p:nvSpPr>
              <p:spPr bwMode="auto">
                <a:xfrm>
                  <a:off x="3110" y="2759"/>
                  <a:ext cx="105" cy="25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/>
                <a:p>
                  <a:r>
                    <a:rPr lang="en-US" sz="2100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0</a:t>
                  </a:r>
                  <a:endParaRPr lang="en-US">
                    <a:latin typeface="Times New Roman" charset="0"/>
                    <a:cs typeface="Arial" charset="0"/>
                  </a:endParaRPr>
                </a:p>
              </p:txBody>
            </p:sp>
          </p:grpSp>
          <p:sp>
            <p:nvSpPr>
              <p:cNvPr id="89158" name="Freeform 70"/>
              <p:cNvSpPr>
                <a:spLocks noChangeAspect="1"/>
              </p:cNvSpPr>
              <p:nvPr/>
            </p:nvSpPr>
            <p:spPr bwMode="auto">
              <a:xfrm flipH="1">
                <a:off x="3584" y="2800"/>
                <a:ext cx="160" cy="208"/>
              </a:xfrm>
              <a:custGeom>
                <a:avLst/>
                <a:gdLst>
                  <a:gd name="T0" fmla="*/ 0 w 160"/>
                  <a:gd name="T1" fmla="*/ 0 h 208"/>
                  <a:gd name="T2" fmla="*/ 160 w 160"/>
                  <a:gd name="T3" fmla="*/ 208 h 208"/>
                  <a:gd name="T4" fmla="*/ 0 60000 65536"/>
                  <a:gd name="T5" fmla="*/ 0 60000 65536"/>
                  <a:gd name="T6" fmla="*/ 0 w 160"/>
                  <a:gd name="T7" fmla="*/ 0 h 208"/>
                  <a:gd name="T8" fmla="*/ 160 w 160"/>
                  <a:gd name="T9" fmla="*/ 208 h 20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0" h="208">
                    <a:moveTo>
                      <a:pt x="0" y="0"/>
                    </a:moveTo>
                    <a:lnTo>
                      <a:pt x="160" y="208"/>
                    </a:lnTo>
                  </a:path>
                </a:pathLst>
              </a:custGeom>
              <a:noFill/>
              <a:ln w="50800">
                <a:solidFill>
                  <a:srgbClr val="333399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89159" name="Rectangle 71"/>
              <p:cNvSpPr>
                <a:spLocks noChangeAspect="1" noChangeArrowheads="1"/>
              </p:cNvSpPr>
              <p:nvPr/>
            </p:nvSpPr>
            <p:spPr bwMode="auto">
              <a:xfrm>
                <a:off x="3593" y="2703"/>
                <a:ext cx="77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cs typeface="Arial" charset="0"/>
                  </a:rPr>
                  <a:t>0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  <p:sp>
            <p:nvSpPr>
              <p:cNvPr id="89160" name="Rectangle 72"/>
              <p:cNvSpPr>
                <a:spLocks noChangeAspect="1" noChangeArrowheads="1"/>
              </p:cNvSpPr>
              <p:nvPr/>
            </p:nvSpPr>
            <p:spPr bwMode="auto">
              <a:xfrm>
                <a:off x="3977" y="2703"/>
                <a:ext cx="78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cs typeface="Arial" charset="0"/>
                  </a:rPr>
                  <a:t>1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</p:grpSp>
      <p:grpSp>
        <p:nvGrpSpPr>
          <p:cNvPr id="89094" name="Group 73"/>
          <p:cNvGrpSpPr>
            <a:grpSpLocks/>
          </p:cNvGrpSpPr>
          <p:nvPr/>
        </p:nvGrpSpPr>
        <p:grpSpPr bwMode="auto">
          <a:xfrm>
            <a:off x="2895600" y="2743200"/>
            <a:ext cx="1522413" cy="2244725"/>
            <a:chOff x="3216" y="2186"/>
            <a:chExt cx="959" cy="1414"/>
          </a:xfrm>
        </p:grpSpPr>
        <p:sp>
          <p:nvSpPr>
            <p:cNvPr id="89100" name="Rectangle 74"/>
            <p:cNvSpPr>
              <a:spLocks noChangeAspect="1" noChangeArrowheads="1"/>
            </p:cNvSpPr>
            <p:nvPr/>
          </p:nvSpPr>
          <p:spPr bwMode="auto">
            <a:xfrm>
              <a:off x="3216" y="2851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89101" name="Rectangle 75"/>
            <p:cNvSpPr>
              <a:spLocks noChangeAspect="1" noChangeArrowheads="1"/>
            </p:cNvSpPr>
            <p:nvPr/>
          </p:nvSpPr>
          <p:spPr bwMode="auto">
            <a:xfrm>
              <a:off x="3552" y="2832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89102" name="Line 76"/>
            <p:cNvSpPr>
              <a:spLocks noChangeAspect="1" noChangeShapeType="1"/>
            </p:cNvSpPr>
            <p:nvPr/>
          </p:nvSpPr>
          <p:spPr bwMode="auto">
            <a:xfrm>
              <a:off x="3491" y="2915"/>
              <a:ext cx="157" cy="191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89103" name="Freeform 77"/>
            <p:cNvSpPr>
              <a:spLocks noChangeAspect="1"/>
            </p:cNvSpPr>
            <p:nvPr/>
          </p:nvSpPr>
          <p:spPr bwMode="auto">
            <a:xfrm flipH="1">
              <a:off x="3725" y="2186"/>
              <a:ext cx="51" cy="166"/>
            </a:xfrm>
            <a:custGeom>
              <a:avLst/>
              <a:gdLst>
                <a:gd name="T0" fmla="*/ 0 w 160"/>
                <a:gd name="T1" fmla="*/ 0 h 208"/>
                <a:gd name="T2" fmla="*/ 51 w 160"/>
                <a:gd name="T3" fmla="*/ 166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66FF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89104" name="Group 78"/>
            <p:cNvGrpSpPr>
              <a:grpSpLocks noChangeAspect="1"/>
            </p:cNvGrpSpPr>
            <p:nvPr/>
          </p:nvGrpSpPr>
          <p:grpSpPr bwMode="auto">
            <a:xfrm>
              <a:off x="3299" y="2670"/>
              <a:ext cx="234" cy="271"/>
              <a:chOff x="2895" y="1454"/>
              <a:chExt cx="293" cy="339"/>
            </a:xfrm>
          </p:grpSpPr>
          <p:sp>
            <p:nvSpPr>
              <p:cNvPr id="89139" name="Freeform 79"/>
              <p:cNvSpPr>
                <a:spLocks noChangeAspect="1"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40" name="Freeform 80"/>
              <p:cNvSpPr>
                <a:spLocks noChangeAspect="1"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41" name="Rectangle 81"/>
              <p:cNvSpPr>
                <a:spLocks noChangeAspect="1" noChangeArrowheads="1"/>
              </p:cNvSpPr>
              <p:nvPr/>
            </p:nvSpPr>
            <p:spPr bwMode="auto">
              <a:xfrm>
                <a:off x="2989" y="1454"/>
                <a:ext cx="124" cy="3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c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89105" name="Freeform 82"/>
            <p:cNvSpPr>
              <a:spLocks noChangeAspect="1"/>
            </p:cNvSpPr>
            <p:nvPr/>
          </p:nvSpPr>
          <p:spPr bwMode="auto">
            <a:xfrm>
              <a:off x="3337" y="2924"/>
              <a:ext cx="194" cy="513"/>
            </a:xfrm>
            <a:custGeom>
              <a:avLst/>
              <a:gdLst>
                <a:gd name="T0" fmla="*/ 5 w 194"/>
                <a:gd name="T1" fmla="*/ 0 h 513"/>
                <a:gd name="T2" fmla="*/ 31 w 194"/>
                <a:gd name="T3" fmla="*/ 248 h 513"/>
                <a:gd name="T4" fmla="*/ 194 w 194"/>
                <a:gd name="T5" fmla="*/ 513 h 513"/>
                <a:gd name="T6" fmla="*/ 0 60000 65536"/>
                <a:gd name="T7" fmla="*/ 0 60000 65536"/>
                <a:gd name="T8" fmla="*/ 0 60000 65536"/>
                <a:gd name="T9" fmla="*/ 0 w 194"/>
                <a:gd name="T10" fmla="*/ 0 h 513"/>
                <a:gd name="T11" fmla="*/ 194 w 194"/>
                <a:gd name="T12" fmla="*/ 513 h 51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4" h="513">
                  <a:moveTo>
                    <a:pt x="5" y="0"/>
                  </a:moveTo>
                  <a:cubicBezTo>
                    <a:pt x="9" y="41"/>
                    <a:pt x="0" y="163"/>
                    <a:pt x="31" y="248"/>
                  </a:cubicBezTo>
                  <a:cubicBezTo>
                    <a:pt x="62" y="333"/>
                    <a:pt x="160" y="458"/>
                    <a:pt x="194" y="513"/>
                  </a:cubicBez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89106" name="Group 83"/>
            <p:cNvGrpSpPr>
              <a:grpSpLocks noChangeAspect="1"/>
            </p:cNvGrpSpPr>
            <p:nvPr/>
          </p:nvGrpSpPr>
          <p:grpSpPr bwMode="auto">
            <a:xfrm>
              <a:off x="3456" y="3030"/>
              <a:ext cx="537" cy="570"/>
              <a:chOff x="3504" y="2497"/>
              <a:chExt cx="672" cy="713"/>
            </a:xfrm>
          </p:grpSpPr>
          <p:grpSp>
            <p:nvGrpSpPr>
              <p:cNvPr id="89123" name="Group 84"/>
              <p:cNvGrpSpPr>
                <a:grpSpLocks noChangeAspect="1"/>
              </p:cNvGrpSpPr>
              <p:nvPr/>
            </p:nvGrpSpPr>
            <p:grpSpPr bwMode="auto">
              <a:xfrm>
                <a:off x="3691" y="2497"/>
                <a:ext cx="293" cy="339"/>
                <a:chOff x="2895" y="1454"/>
                <a:chExt cx="293" cy="339"/>
              </a:xfrm>
            </p:grpSpPr>
            <p:sp>
              <p:nvSpPr>
                <p:cNvPr id="89136" name="Freeform 85"/>
                <p:cNvSpPr>
                  <a:spLocks noChangeAspect="1"/>
                </p:cNvSpPr>
                <p:nvPr/>
              </p:nvSpPr>
              <p:spPr bwMode="auto">
                <a:xfrm>
                  <a:off x="2895" y="1500"/>
                  <a:ext cx="293" cy="293"/>
                </a:xfrm>
                <a:custGeom>
                  <a:avLst/>
                  <a:gdLst>
                    <a:gd name="T0" fmla="*/ 0 w 778"/>
                    <a:gd name="T1" fmla="*/ 147 h 778"/>
                    <a:gd name="T2" fmla="*/ 147 w 778"/>
                    <a:gd name="T3" fmla="*/ 0 h 778"/>
                    <a:gd name="T4" fmla="*/ 293 w 778"/>
                    <a:gd name="T5" fmla="*/ 147 h 778"/>
                    <a:gd name="T6" fmla="*/ 293 w 778"/>
                    <a:gd name="T7" fmla="*/ 147 h 778"/>
                    <a:gd name="T8" fmla="*/ 147 w 778"/>
                    <a:gd name="T9" fmla="*/ 293 h 778"/>
                    <a:gd name="T10" fmla="*/ 0 w 778"/>
                    <a:gd name="T11" fmla="*/ 147 h 77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778"/>
                    <a:gd name="T19" fmla="*/ 0 h 778"/>
                    <a:gd name="T20" fmla="*/ 778 w 778"/>
                    <a:gd name="T21" fmla="*/ 778 h 77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778" h="778">
                      <a:moveTo>
                        <a:pt x="0" y="389"/>
                      </a:moveTo>
                      <a:cubicBezTo>
                        <a:pt x="0" y="174"/>
                        <a:pt x="174" y="0"/>
                        <a:pt x="389" y="0"/>
                      </a:cubicBezTo>
                      <a:cubicBezTo>
                        <a:pt x="604" y="0"/>
                        <a:pt x="778" y="174"/>
                        <a:pt x="778" y="389"/>
                      </a:cubicBezTo>
                      <a:cubicBezTo>
                        <a:pt x="778" y="389"/>
                        <a:pt x="778" y="389"/>
                        <a:pt x="778" y="389"/>
                      </a:cubicBezTo>
                      <a:cubicBezTo>
                        <a:pt x="778" y="604"/>
                        <a:pt x="604" y="778"/>
                        <a:pt x="389" y="778"/>
                      </a:cubicBezTo>
                      <a:cubicBezTo>
                        <a:pt x="174" y="778"/>
                        <a:pt x="0" y="604"/>
                        <a:pt x="0" y="389"/>
                      </a:cubicBezTo>
                    </a:path>
                  </a:pathLst>
                </a:custGeom>
                <a:solidFill>
                  <a:srgbClr val="66FF99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9137" name="Freeform 86"/>
                <p:cNvSpPr>
                  <a:spLocks noChangeAspect="1"/>
                </p:cNvSpPr>
                <p:nvPr/>
              </p:nvSpPr>
              <p:spPr bwMode="auto">
                <a:xfrm>
                  <a:off x="2895" y="1500"/>
                  <a:ext cx="293" cy="293"/>
                </a:xfrm>
                <a:custGeom>
                  <a:avLst/>
                  <a:gdLst>
                    <a:gd name="T0" fmla="*/ 0 w 293"/>
                    <a:gd name="T1" fmla="*/ 147 h 293"/>
                    <a:gd name="T2" fmla="*/ 147 w 293"/>
                    <a:gd name="T3" fmla="*/ 0 h 293"/>
                    <a:gd name="T4" fmla="*/ 293 w 293"/>
                    <a:gd name="T5" fmla="*/ 147 h 293"/>
                    <a:gd name="T6" fmla="*/ 293 w 293"/>
                    <a:gd name="T7" fmla="*/ 147 h 293"/>
                    <a:gd name="T8" fmla="*/ 147 w 293"/>
                    <a:gd name="T9" fmla="*/ 293 h 293"/>
                    <a:gd name="T10" fmla="*/ 0 w 293"/>
                    <a:gd name="T11" fmla="*/ 147 h 29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93"/>
                    <a:gd name="T19" fmla="*/ 0 h 293"/>
                    <a:gd name="T20" fmla="*/ 293 w 293"/>
                    <a:gd name="T21" fmla="*/ 293 h 29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93" h="293">
                      <a:moveTo>
                        <a:pt x="0" y="147"/>
                      </a:moveTo>
                      <a:cubicBezTo>
                        <a:pt x="0" y="66"/>
                        <a:pt x="66" y="0"/>
                        <a:pt x="147" y="0"/>
                      </a:cubicBezTo>
                      <a:cubicBezTo>
                        <a:pt x="228" y="0"/>
                        <a:pt x="293" y="66"/>
                        <a:pt x="293" y="147"/>
                      </a:cubicBezTo>
                      <a:cubicBezTo>
                        <a:pt x="293" y="147"/>
                        <a:pt x="293" y="147"/>
                        <a:pt x="293" y="147"/>
                      </a:cubicBezTo>
                      <a:cubicBezTo>
                        <a:pt x="293" y="228"/>
                        <a:pt x="228" y="293"/>
                        <a:pt x="147" y="293"/>
                      </a:cubicBezTo>
                      <a:cubicBezTo>
                        <a:pt x="66" y="293"/>
                        <a:pt x="0" y="228"/>
                        <a:pt x="0" y="147"/>
                      </a:cubicBezTo>
                    </a:path>
                  </a:pathLst>
                </a:custGeom>
                <a:noFill/>
                <a:ln w="3175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9138" name="Rectangle 87"/>
                <p:cNvSpPr>
                  <a:spLocks noChangeAspect="1" noChangeArrowheads="1"/>
                </p:cNvSpPr>
                <p:nvPr/>
              </p:nvSpPr>
              <p:spPr bwMode="auto">
                <a:xfrm>
                  <a:off x="2981" y="1454"/>
                  <a:ext cx="140" cy="3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/>
                <a:p>
                  <a:r>
                    <a:rPr lang="en-US" sz="2800" i="1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b</a:t>
                  </a:r>
                  <a:endParaRPr lang="en-US">
                    <a:latin typeface="Times New Roman" charset="0"/>
                    <a:cs typeface="Arial" charset="0"/>
                  </a:endParaRPr>
                </a:p>
              </p:txBody>
            </p:sp>
          </p:grpSp>
          <p:grpSp>
            <p:nvGrpSpPr>
              <p:cNvPr id="89124" name="Group 88"/>
              <p:cNvGrpSpPr>
                <a:grpSpLocks noChangeAspect="1"/>
              </p:cNvGrpSpPr>
              <p:nvPr/>
            </p:nvGrpSpPr>
            <p:grpSpPr bwMode="auto">
              <a:xfrm>
                <a:off x="4009" y="2957"/>
                <a:ext cx="167" cy="253"/>
                <a:chOff x="3087" y="2759"/>
                <a:chExt cx="167" cy="253"/>
              </a:xfrm>
            </p:grpSpPr>
            <p:sp>
              <p:nvSpPr>
                <p:cNvPr id="89133" name="Rectangle 89"/>
                <p:cNvSpPr>
                  <a:spLocks noChangeAspect="1" noChangeArrowheads="1"/>
                </p:cNvSpPr>
                <p:nvPr/>
              </p:nvSpPr>
              <p:spPr bwMode="auto">
                <a:xfrm>
                  <a:off x="3087" y="2809"/>
                  <a:ext cx="167" cy="168"/>
                </a:xfrm>
                <a:prstGeom prst="rect">
                  <a:avLst/>
                </a:prstGeom>
                <a:solidFill>
                  <a:srgbClr val="339966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9134" name="Rectangle 90"/>
                <p:cNvSpPr>
                  <a:spLocks noChangeAspect="1" noChangeArrowheads="1"/>
                </p:cNvSpPr>
                <p:nvPr/>
              </p:nvSpPr>
              <p:spPr bwMode="auto">
                <a:xfrm>
                  <a:off x="3087" y="2809"/>
                  <a:ext cx="167" cy="168"/>
                </a:xfrm>
                <a:prstGeom prst="rect">
                  <a:avLst/>
                </a:prstGeom>
                <a:noFill/>
                <a:ln w="3175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9135" name="Rectangle 91"/>
                <p:cNvSpPr>
                  <a:spLocks noChangeAspect="1" noChangeArrowheads="1"/>
                </p:cNvSpPr>
                <p:nvPr/>
              </p:nvSpPr>
              <p:spPr bwMode="auto">
                <a:xfrm>
                  <a:off x="3110" y="2759"/>
                  <a:ext cx="105" cy="25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/>
                <a:p>
                  <a:r>
                    <a:rPr lang="en-US" sz="2100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1</a:t>
                  </a:r>
                  <a:endParaRPr lang="en-US">
                    <a:latin typeface="Times New Roman" charset="0"/>
                    <a:cs typeface="Arial" charset="0"/>
                  </a:endParaRPr>
                </a:p>
              </p:txBody>
            </p:sp>
          </p:grpSp>
          <p:sp>
            <p:nvSpPr>
              <p:cNvPr id="89125" name="Freeform 92"/>
              <p:cNvSpPr>
                <a:spLocks noChangeAspect="1"/>
              </p:cNvSpPr>
              <p:nvPr/>
            </p:nvSpPr>
            <p:spPr bwMode="auto">
              <a:xfrm>
                <a:off x="3936" y="2800"/>
                <a:ext cx="160" cy="208"/>
              </a:xfrm>
              <a:custGeom>
                <a:avLst/>
                <a:gdLst>
                  <a:gd name="T0" fmla="*/ 0 w 160"/>
                  <a:gd name="T1" fmla="*/ 0 h 208"/>
                  <a:gd name="T2" fmla="*/ 160 w 160"/>
                  <a:gd name="T3" fmla="*/ 208 h 208"/>
                  <a:gd name="T4" fmla="*/ 0 60000 65536"/>
                  <a:gd name="T5" fmla="*/ 0 60000 65536"/>
                  <a:gd name="T6" fmla="*/ 0 w 160"/>
                  <a:gd name="T7" fmla="*/ 0 h 208"/>
                  <a:gd name="T8" fmla="*/ 160 w 160"/>
                  <a:gd name="T9" fmla="*/ 208 h 20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0" h="208">
                    <a:moveTo>
                      <a:pt x="0" y="0"/>
                    </a:moveTo>
                    <a:lnTo>
                      <a:pt x="160" y="208"/>
                    </a:lnTo>
                  </a:path>
                </a:pathLst>
              </a:custGeom>
              <a:noFill/>
              <a:ln w="50800">
                <a:solidFill>
                  <a:schemeClr val="accent2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grpSp>
            <p:nvGrpSpPr>
              <p:cNvPr id="89126" name="Group 93"/>
              <p:cNvGrpSpPr>
                <a:grpSpLocks noChangeAspect="1"/>
              </p:cNvGrpSpPr>
              <p:nvPr/>
            </p:nvGrpSpPr>
            <p:grpSpPr bwMode="auto">
              <a:xfrm>
                <a:off x="3504" y="2957"/>
                <a:ext cx="167" cy="253"/>
                <a:chOff x="3087" y="2759"/>
                <a:chExt cx="167" cy="253"/>
              </a:xfrm>
            </p:grpSpPr>
            <p:sp>
              <p:nvSpPr>
                <p:cNvPr id="89130" name="Rectangle 94"/>
                <p:cNvSpPr>
                  <a:spLocks noChangeAspect="1" noChangeArrowheads="1"/>
                </p:cNvSpPr>
                <p:nvPr/>
              </p:nvSpPr>
              <p:spPr bwMode="auto">
                <a:xfrm>
                  <a:off x="3087" y="2809"/>
                  <a:ext cx="167" cy="168"/>
                </a:xfrm>
                <a:prstGeom prst="rect">
                  <a:avLst/>
                </a:prstGeom>
                <a:solidFill>
                  <a:srgbClr val="339966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9131" name="Rectangle 95"/>
                <p:cNvSpPr>
                  <a:spLocks noChangeAspect="1" noChangeArrowheads="1"/>
                </p:cNvSpPr>
                <p:nvPr/>
              </p:nvSpPr>
              <p:spPr bwMode="auto">
                <a:xfrm>
                  <a:off x="3087" y="2809"/>
                  <a:ext cx="167" cy="168"/>
                </a:xfrm>
                <a:prstGeom prst="rect">
                  <a:avLst/>
                </a:prstGeom>
                <a:noFill/>
                <a:ln w="3175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9132" name="Rectangle 96"/>
                <p:cNvSpPr>
                  <a:spLocks noChangeAspect="1" noChangeArrowheads="1"/>
                </p:cNvSpPr>
                <p:nvPr/>
              </p:nvSpPr>
              <p:spPr bwMode="auto">
                <a:xfrm>
                  <a:off x="3110" y="2759"/>
                  <a:ext cx="105" cy="25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/>
                <a:p>
                  <a:r>
                    <a:rPr lang="en-US" sz="2100">
                      <a:solidFill>
                        <a:srgbClr val="000080"/>
                      </a:solidFill>
                      <a:latin typeface="Times New Roman" charset="0"/>
                      <a:cs typeface="Arial" charset="0"/>
                    </a:rPr>
                    <a:t>0</a:t>
                  </a:r>
                  <a:endParaRPr lang="en-US">
                    <a:latin typeface="Times New Roman" charset="0"/>
                    <a:cs typeface="Arial" charset="0"/>
                  </a:endParaRPr>
                </a:p>
              </p:txBody>
            </p:sp>
          </p:grpSp>
          <p:sp>
            <p:nvSpPr>
              <p:cNvPr id="89127" name="Freeform 97"/>
              <p:cNvSpPr>
                <a:spLocks noChangeAspect="1"/>
              </p:cNvSpPr>
              <p:nvPr/>
            </p:nvSpPr>
            <p:spPr bwMode="auto">
              <a:xfrm flipH="1">
                <a:off x="3584" y="2800"/>
                <a:ext cx="160" cy="208"/>
              </a:xfrm>
              <a:custGeom>
                <a:avLst/>
                <a:gdLst>
                  <a:gd name="T0" fmla="*/ 0 w 160"/>
                  <a:gd name="T1" fmla="*/ 0 h 208"/>
                  <a:gd name="T2" fmla="*/ 160 w 160"/>
                  <a:gd name="T3" fmla="*/ 208 h 208"/>
                  <a:gd name="T4" fmla="*/ 0 60000 65536"/>
                  <a:gd name="T5" fmla="*/ 0 60000 65536"/>
                  <a:gd name="T6" fmla="*/ 0 w 160"/>
                  <a:gd name="T7" fmla="*/ 0 h 208"/>
                  <a:gd name="T8" fmla="*/ 160 w 160"/>
                  <a:gd name="T9" fmla="*/ 208 h 20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0" h="208">
                    <a:moveTo>
                      <a:pt x="0" y="0"/>
                    </a:moveTo>
                    <a:lnTo>
                      <a:pt x="160" y="208"/>
                    </a:lnTo>
                  </a:path>
                </a:pathLst>
              </a:custGeom>
              <a:noFill/>
              <a:ln w="50800">
                <a:solidFill>
                  <a:srgbClr val="333399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89128" name="Rectangle 98"/>
              <p:cNvSpPr>
                <a:spLocks noChangeAspect="1" noChangeArrowheads="1"/>
              </p:cNvSpPr>
              <p:nvPr/>
            </p:nvSpPr>
            <p:spPr bwMode="auto">
              <a:xfrm>
                <a:off x="3593" y="2703"/>
                <a:ext cx="77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cs typeface="Arial" charset="0"/>
                  </a:rPr>
                  <a:t>0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  <p:sp>
            <p:nvSpPr>
              <p:cNvPr id="89129" name="Rectangle 99"/>
              <p:cNvSpPr>
                <a:spLocks noChangeAspect="1" noChangeArrowheads="1"/>
              </p:cNvSpPr>
              <p:nvPr/>
            </p:nvSpPr>
            <p:spPr bwMode="auto">
              <a:xfrm>
                <a:off x="3977" y="2703"/>
                <a:ext cx="78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cs typeface="Arial" charset="0"/>
                  </a:rPr>
                  <a:t>1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grpSp>
          <p:nvGrpSpPr>
            <p:cNvPr id="89107" name="Group 100"/>
            <p:cNvGrpSpPr>
              <a:grpSpLocks noChangeAspect="1"/>
            </p:cNvGrpSpPr>
            <p:nvPr/>
          </p:nvGrpSpPr>
          <p:grpSpPr bwMode="auto">
            <a:xfrm>
              <a:off x="3596" y="2304"/>
              <a:ext cx="235" cy="271"/>
              <a:chOff x="2895" y="1454"/>
              <a:chExt cx="293" cy="339"/>
            </a:xfrm>
          </p:grpSpPr>
          <p:sp>
            <p:nvSpPr>
              <p:cNvPr id="89120" name="Freeform 101"/>
              <p:cNvSpPr>
                <a:spLocks noChangeAspect="1"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21" name="Freeform 102"/>
              <p:cNvSpPr>
                <a:spLocks noChangeAspect="1"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22" name="Rectangle 103"/>
              <p:cNvSpPr>
                <a:spLocks noChangeAspect="1" noChangeArrowheads="1"/>
              </p:cNvSpPr>
              <p:nvPr/>
            </p:nvSpPr>
            <p:spPr bwMode="auto">
              <a:xfrm>
                <a:off x="2981" y="1454"/>
                <a:ext cx="140" cy="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a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89108" name="Freeform 104"/>
            <p:cNvSpPr>
              <a:spLocks noChangeAspect="1"/>
            </p:cNvSpPr>
            <p:nvPr/>
          </p:nvSpPr>
          <p:spPr bwMode="auto">
            <a:xfrm>
              <a:off x="3792" y="2546"/>
              <a:ext cx="128" cy="167"/>
            </a:xfrm>
            <a:custGeom>
              <a:avLst/>
              <a:gdLst>
                <a:gd name="T0" fmla="*/ 0 w 160"/>
                <a:gd name="T1" fmla="*/ 0 h 208"/>
                <a:gd name="T2" fmla="*/ 128 w 160"/>
                <a:gd name="T3" fmla="*/ 167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89109" name="Freeform 105"/>
            <p:cNvSpPr>
              <a:spLocks noChangeAspect="1"/>
            </p:cNvSpPr>
            <p:nvPr/>
          </p:nvSpPr>
          <p:spPr bwMode="auto">
            <a:xfrm>
              <a:off x="3480" y="2546"/>
              <a:ext cx="159" cy="178"/>
            </a:xfrm>
            <a:custGeom>
              <a:avLst/>
              <a:gdLst>
                <a:gd name="T0" fmla="*/ 159 w 159"/>
                <a:gd name="T1" fmla="*/ 0 h 178"/>
                <a:gd name="T2" fmla="*/ 0 w 159"/>
                <a:gd name="T3" fmla="*/ 178 h 178"/>
                <a:gd name="T4" fmla="*/ 0 60000 65536"/>
                <a:gd name="T5" fmla="*/ 0 60000 65536"/>
                <a:gd name="T6" fmla="*/ 0 w 159"/>
                <a:gd name="T7" fmla="*/ 0 h 178"/>
                <a:gd name="T8" fmla="*/ 159 w 159"/>
                <a:gd name="T9" fmla="*/ 178 h 17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59" h="178">
                  <a:moveTo>
                    <a:pt x="159" y="0"/>
                  </a:moveTo>
                  <a:lnTo>
                    <a:pt x="0" y="178"/>
                  </a:ln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89110" name="Rectangle 106"/>
            <p:cNvSpPr>
              <a:spLocks noChangeAspect="1" noChangeArrowheads="1"/>
            </p:cNvSpPr>
            <p:nvPr/>
          </p:nvSpPr>
          <p:spPr bwMode="auto">
            <a:xfrm>
              <a:off x="3518" y="2469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89111" name="Rectangle 107"/>
            <p:cNvSpPr>
              <a:spLocks noChangeAspect="1" noChangeArrowheads="1"/>
            </p:cNvSpPr>
            <p:nvPr/>
          </p:nvSpPr>
          <p:spPr bwMode="auto">
            <a:xfrm>
              <a:off x="3825" y="2469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grpSp>
          <p:nvGrpSpPr>
            <p:cNvPr id="89112" name="Group 108"/>
            <p:cNvGrpSpPr>
              <a:grpSpLocks noChangeAspect="1"/>
            </p:cNvGrpSpPr>
            <p:nvPr/>
          </p:nvGrpSpPr>
          <p:grpSpPr bwMode="auto">
            <a:xfrm>
              <a:off x="3884" y="2646"/>
              <a:ext cx="235" cy="271"/>
              <a:chOff x="2895" y="1454"/>
              <a:chExt cx="293" cy="339"/>
            </a:xfrm>
          </p:grpSpPr>
          <p:sp>
            <p:nvSpPr>
              <p:cNvPr id="89117" name="Freeform 109"/>
              <p:cNvSpPr>
                <a:spLocks noChangeAspect="1"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18" name="Freeform 110"/>
              <p:cNvSpPr>
                <a:spLocks noChangeAspect="1"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19" name="Rectangle 111"/>
              <p:cNvSpPr>
                <a:spLocks noChangeAspect="1" noChangeArrowheads="1"/>
              </p:cNvSpPr>
              <p:nvPr/>
            </p:nvSpPr>
            <p:spPr bwMode="auto">
              <a:xfrm>
                <a:off x="2989" y="1454"/>
                <a:ext cx="123" cy="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c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89113" name="Freeform 112"/>
            <p:cNvSpPr>
              <a:spLocks noChangeAspect="1"/>
            </p:cNvSpPr>
            <p:nvPr/>
          </p:nvSpPr>
          <p:spPr bwMode="auto">
            <a:xfrm>
              <a:off x="3936" y="2888"/>
              <a:ext cx="196" cy="548"/>
            </a:xfrm>
            <a:custGeom>
              <a:avLst/>
              <a:gdLst>
                <a:gd name="T0" fmla="*/ 144 w 196"/>
                <a:gd name="T1" fmla="*/ 0 h 548"/>
                <a:gd name="T2" fmla="*/ 172 w 196"/>
                <a:gd name="T3" fmla="*/ 312 h 548"/>
                <a:gd name="T4" fmla="*/ 0 w 196"/>
                <a:gd name="T5" fmla="*/ 548 h 548"/>
                <a:gd name="T6" fmla="*/ 0 60000 65536"/>
                <a:gd name="T7" fmla="*/ 0 60000 65536"/>
                <a:gd name="T8" fmla="*/ 0 60000 65536"/>
                <a:gd name="T9" fmla="*/ 0 w 196"/>
                <a:gd name="T10" fmla="*/ 0 h 548"/>
                <a:gd name="T11" fmla="*/ 196 w 196"/>
                <a:gd name="T12" fmla="*/ 548 h 5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6" h="548">
                  <a:moveTo>
                    <a:pt x="144" y="0"/>
                  </a:moveTo>
                  <a:cubicBezTo>
                    <a:pt x="149" y="52"/>
                    <a:pt x="196" y="221"/>
                    <a:pt x="172" y="312"/>
                  </a:cubicBezTo>
                  <a:cubicBezTo>
                    <a:pt x="148" y="403"/>
                    <a:pt x="36" y="499"/>
                    <a:pt x="0" y="548"/>
                  </a:cubicBez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89114" name="Freeform 113"/>
            <p:cNvSpPr>
              <a:spLocks noChangeAspect="1"/>
            </p:cNvSpPr>
            <p:nvPr/>
          </p:nvSpPr>
          <p:spPr bwMode="auto">
            <a:xfrm>
              <a:off x="3510" y="2888"/>
              <a:ext cx="417" cy="544"/>
            </a:xfrm>
            <a:custGeom>
              <a:avLst/>
              <a:gdLst>
                <a:gd name="T0" fmla="*/ 417 w 417"/>
                <a:gd name="T1" fmla="*/ 0 h 544"/>
                <a:gd name="T2" fmla="*/ 66 w 417"/>
                <a:gd name="T3" fmla="*/ 168 h 544"/>
                <a:gd name="T4" fmla="*/ 22 w 417"/>
                <a:gd name="T5" fmla="*/ 544 h 544"/>
                <a:gd name="T6" fmla="*/ 0 60000 65536"/>
                <a:gd name="T7" fmla="*/ 0 60000 65536"/>
                <a:gd name="T8" fmla="*/ 0 60000 65536"/>
                <a:gd name="T9" fmla="*/ 0 w 417"/>
                <a:gd name="T10" fmla="*/ 0 h 544"/>
                <a:gd name="T11" fmla="*/ 417 w 417"/>
                <a:gd name="T12" fmla="*/ 544 h 5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7" h="544">
                  <a:moveTo>
                    <a:pt x="417" y="0"/>
                  </a:moveTo>
                  <a:cubicBezTo>
                    <a:pt x="358" y="28"/>
                    <a:pt x="132" y="77"/>
                    <a:pt x="66" y="168"/>
                  </a:cubicBezTo>
                  <a:cubicBezTo>
                    <a:pt x="0" y="259"/>
                    <a:pt x="31" y="466"/>
                    <a:pt x="22" y="544"/>
                  </a:cubicBez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89115" name="Rectangle 114"/>
            <p:cNvSpPr>
              <a:spLocks noChangeAspect="1" noChangeArrowheads="1"/>
            </p:cNvSpPr>
            <p:nvPr/>
          </p:nvSpPr>
          <p:spPr bwMode="auto">
            <a:xfrm>
              <a:off x="3806" y="2764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89116" name="Rectangle 115"/>
            <p:cNvSpPr>
              <a:spLocks noChangeAspect="1" noChangeArrowheads="1"/>
            </p:cNvSpPr>
            <p:nvPr/>
          </p:nvSpPr>
          <p:spPr bwMode="auto">
            <a:xfrm>
              <a:off x="4113" y="2811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</p:grpSp>
      <p:sp>
        <p:nvSpPr>
          <p:cNvPr id="89095" name="Rectangle 116"/>
          <p:cNvSpPr>
            <a:spLocks noGrp="1" noChangeArrowheads="1"/>
          </p:cNvSpPr>
          <p:nvPr>
            <p:ph type="body" idx="1"/>
          </p:nvPr>
        </p:nvSpPr>
        <p:spPr>
          <a:xfrm>
            <a:off x="566738" y="1439863"/>
            <a:ext cx="8001000" cy="4267200"/>
          </a:xfrm>
          <a:noFill/>
        </p:spPr>
        <p:txBody>
          <a:bodyPr/>
          <a:lstStyle/>
          <a:p>
            <a:pPr marL="469900" indent="-469900"/>
            <a:r>
              <a:rPr lang="en-US" dirty="0">
                <a:latin typeface="Arial Narrow" charset="0"/>
              </a:rPr>
              <a:t>Tiny example:   </a:t>
            </a:r>
            <a:r>
              <a:rPr lang="en-US" dirty="0">
                <a:solidFill>
                  <a:schemeClr val="bg2"/>
                </a:solidFill>
                <a:latin typeface="Arial Narrow" charset="0"/>
              </a:rPr>
              <a:t>F=(</a:t>
            </a:r>
            <a:r>
              <a:rPr lang="en-US" dirty="0" err="1">
                <a:solidFill>
                  <a:schemeClr val="bg2"/>
                </a:solidFill>
                <a:latin typeface="Arial Narrow" charset="0"/>
              </a:rPr>
              <a:t>a+b</a:t>
            </a:r>
            <a:r>
              <a:rPr lang="en-US" dirty="0">
                <a:solidFill>
                  <a:schemeClr val="bg2"/>
                </a:solidFill>
                <a:latin typeface="Arial Narrow" charset="0"/>
              </a:rPr>
              <a:t>)c</a:t>
            </a:r>
          </a:p>
          <a:p>
            <a:pPr marL="908050" lvl="1" indent="-436563"/>
            <a:r>
              <a:rPr lang="en-US" sz="2000" dirty="0">
                <a:latin typeface="Arial Narrow" charset="0"/>
              </a:rPr>
              <a:t>We want to find the optimal position for variable </a:t>
            </a:r>
            <a:r>
              <a:rPr lang="en-US" sz="2000" dirty="0">
                <a:solidFill>
                  <a:schemeClr val="bg2"/>
                </a:solidFill>
                <a:latin typeface="Arial Narrow" charset="0"/>
              </a:rPr>
              <a:t>c</a:t>
            </a:r>
          </a:p>
        </p:txBody>
      </p:sp>
      <p:sp>
        <p:nvSpPr>
          <p:cNvPr id="89096" name="Text Box 117"/>
          <p:cNvSpPr txBox="1">
            <a:spLocks noChangeArrowheads="1"/>
          </p:cNvSpPr>
          <p:nvPr/>
        </p:nvSpPr>
        <p:spPr bwMode="auto">
          <a:xfrm>
            <a:off x="1143000" y="5226050"/>
            <a:ext cx="16843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800" b="0">
                <a:latin typeface="Verdana" charset="0"/>
                <a:cs typeface="Arial" charset="0"/>
              </a:rPr>
              <a:t>initial order: </a:t>
            </a:r>
          </a:p>
          <a:p>
            <a:pPr algn="l" eaLnBrk="1" hangingPunct="1"/>
            <a:r>
              <a:rPr lang="en-US" sz="1800" b="0">
                <a:latin typeface="Verdana" charset="0"/>
                <a:cs typeface="Arial" charset="0"/>
              </a:rPr>
              <a:t>a &lt; b &lt; c</a:t>
            </a:r>
          </a:p>
        </p:txBody>
      </p:sp>
      <p:sp>
        <p:nvSpPr>
          <p:cNvPr id="89097" name="Text Box 118"/>
          <p:cNvSpPr txBox="1">
            <a:spLocks noChangeArrowheads="1"/>
          </p:cNvSpPr>
          <p:nvPr/>
        </p:nvSpPr>
        <p:spPr bwMode="auto">
          <a:xfrm>
            <a:off x="2971800" y="5226050"/>
            <a:ext cx="17049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800" b="0">
                <a:latin typeface="Verdana" charset="0"/>
                <a:cs typeface="Arial" charset="0"/>
              </a:rPr>
              <a:t>Swap (b, c): </a:t>
            </a:r>
          </a:p>
          <a:p>
            <a:pPr algn="l" eaLnBrk="1" hangingPunct="1"/>
            <a:r>
              <a:rPr lang="en-US" sz="1800" b="0">
                <a:latin typeface="Verdana" charset="0"/>
                <a:cs typeface="Arial" charset="0"/>
              </a:rPr>
              <a:t>a &lt; c &lt; b</a:t>
            </a:r>
          </a:p>
        </p:txBody>
      </p:sp>
      <p:sp>
        <p:nvSpPr>
          <p:cNvPr id="89098" name="Text Box 119"/>
          <p:cNvSpPr txBox="1">
            <a:spLocks noChangeArrowheads="1"/>
          </p:cNvSpPr>
          <p:nvPr/>
        </p:nvSpPr>
        <p:spPr bwMode="auto">
          <a:xfrm>
            <a:off x="5006975" y="5226050"/>
            <a:ext cx="16986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800" b="0">
                <a:latin typeface="Verdana" charset="0"/>
                <a:cs typeface="Arial" charset="0"/>
              </a:rPr>
              <a:t>Swap (a, c): </a:t>
            </a:r>
          </a:p>
          <a:p>
            <a:pPr algn="l" eaLnBrk="1" hangingPunct="1"/>
            <a:r>
              <a:rPr lang="en-US" sz="1800" b="0">
                <a:latin typeface="Verdana" charset="0"/>
                <a:cs typeface="Arial" charset="0"/>
              </a:rPr>
              <a:t>c &lt; a &lt; b</a:t>
            </a:r>
          </a:p>
        </p:txBody>
      </p:sp>
      <p:sp>
        <p:nvSpPr>
          <p:cNvPr id="89099" name="Text Box 120"/>
          <p:cNvSpPr txBox="1">
            <a:spLocks noChangeArrowheads="1"/>
          </p:cNvSpPr>
          <p:nvPr/>
        </p:nvSpPr>
        <p:spPr bwMode="auto">
          <a:xfrm>
            <a:off x="7010400" y="3352800"/>
            <a:ext cx="15192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800" b="0">
                <a:latin typeface="Verdana" charset="0"/>
                <a:cs typeface="Arial" charset="0"/>
              </a:rPr>
              <a:t>Final order:</a:t>
            </a:r>
          </a:p>
          <a:p>
            <a:pPr algn="l" eaLnBrk="1" hangingPunct="1"/>
            <a:r>
              <a:rPr lang="en-US" sz="1800" b="0">
                <a:latin typeface="Verdana" charset="0"/>
                <a:cs typeface="Arial" charset="0"/>
              </a:rPr>
              <a:t>c&lt;a&lt;b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r>
              <a:rPr lang="en-US" sz="1400" b="0"/>
              <a:t>(c)  Giovanni De Micheli</a:t>
            </a:r>
          </a:p>
        </p:txBody>
      </p:sp>
      <p:sp>
        <p:nvSpPr>
          <p:cNvPr id="9113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EB4CE2B8-023C-E844-BFFE-112604C94D9B}" type="slidenum">
              <a:rPr lang="en-US" sz="1400" b="0"/>
              <a:pPr/>
              <a:t>42</a:t>
            </a:fld>
            <a:endParaRPr lang="en-US" sz="1400" b="0"/>
          </a:p>
        </p:txBody>
      </p:sp>
      <p:sp>
        <p:nvSpPr>
          <p:cNvPr id="911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Narrow" charset="0"/>
              </a:rPr>
              <a:t>Variable swapping</a:t>
            </a:r>
            <a:endParaRPr lang="en-US" sz="2000">
              <a:latin typeface="Arial Narrow" charset="0"/>
            </a:endParaRPr>
          </a:p>
        </p:txBody>
      </p:sp>
      <p:sp>
        <p:nvSpPr>
          <p:cNvPr id="91140" name="Text Box 3"/>
          <p:cNvSpPr txBox="1">
            <a:spLocks noChangeArrowheads="1"/>
          </p:cNvSpPr>
          <p:nvPr/>
        </p:nvSpPr>
        <p:spPr bwMode="auto">
          <a:xfrm>
            <a:off x="2349500" y="3562350"/>
            <a:ext cx="42545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2200" b="0">
                <a:latin typeface="Verdana" charset="0"/>
                <a:cs typeface="Arial" charset="0"/>
              </a:rPr>
              <a:t>F</a:t>
            </a:r>
            <a:r>
              <a:rPr lang="en-US" sz="1800" b="0">
                <a:latin typeface="Verdana" charset="0"/>
                <a:cs typeface="Arial" charset="0"/>
              </a:rPr>
              <a:t> </a:t>
            </a:r>
          </a:p>
        </p:txBody>
      </p:sp>
      <p:sp>
        <p:nvSpPr>
          <p:cNvPr id="91141" name="AutoShape 4"/>
          <p:cNvSpPr>
            <a:spLocks noChangeArrowheads="1"/>
          </p:cNvSpPr>
          <p:nvPr/>
        </p:nvSpPr>
        <p:spPr bwMode="auto">
          <a:xfrm>
            <a:off x="2882900" y="5257800"/>
            <a:ext cx="609600" cy="762000"/>
          </a:xfrm>
          <a:prstGeom prst="triangle">
            <a:avLst>
              <a:gd name="adj" fmla="val 50000"/>
            </a:avLst>
          </a:prstGeom>
          <a:solidFill>
            <a:srgbClr val="00808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1142" name="Freeform 5"/>
          <p:cNvSpPr>
            <a:spLocks noChangeAspect="1"/>
          </p:cNvSpPr>
          <p:nvPr/>
        </p:nvSpPr>
        <p:spPr bwMode="auto">
          <a:xfrm flipH="1">
            <a:off x="2268538" y="3832225"/>
            <a:ext cx="80962" cy="263525"/>
          </a:xfrm>
          <a:custGeom>
            <a:avLst/>
            <a:gdLst>
              <a:gd name="T0" fmla="*/ 0 w 160"/>
              <a:gd name="T1" fmla="*/ 0 h 208"/>
              <a:gd name="T2" fmla="*/ 80962 w 160"/>
              <a:gd name="T3" fmla="*/ 263525 h 208"/>
              <a:gd name="T4" fmla="*/ 0 60000 65536"/>
              <a:gd name="T5" fmla="*/ 0 60000 65536"/>
              <a:gd name="T6" fmla="*/ 0 w 160"/>
              <a:gd name="T7" fmla="*/ 0 h 208"/>
              <a:gd name="T8" fmla="*/ 160 w 160"/>
              <a:gd name="T9" fmla="*/ 208 h 20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60" h="208">
                <a:moveTo>
                  <a:pt x="0" y="0"/>
                </a:moveTo>
                <a:lnTo>
                  <a:pt x="160" y="208"/>
                </a:lnTo>
              </a:path>
            </a:pathLst>
          </a:custGeom>
          <a:noFill/>
          <a:ln w="50800">
            <a:solidFill>
              <a:srgbClr val="66FF99"/>
            </a:solidFill>
            <a:round/>
            <a:headEnd/>
            <a:tailEnd type="stealth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91143" name="Freeform 6"/>
          <p:cNvSpPr>
            <a:spLocks noChangeAspect="1"/>
          </p:cNvSpPr>
          <p:nvPr/>
        </p:nvSpPr>
        <p:spPr bwMode="auto">
          <a:xfrm>
            <a:off x="2338388" y="4403725"/>
            <a:ext cx="506412" cy="292100"/>
          </a:xfrm>
          <a:custGeom>
            <a:avLst/>
            <a:gdLst>
              <a:gd name="T0" fmla="*/ 0 w 319"/>
              <a:gd name="T1" fmla="*/ 0 h 184"/>
              <a:gd name="T2" fmla="*/ 506412 w 319"/>
              <a:gd name="T3" fmla="*/ 292100 h 184"/>
              <a:gd name="T4" fmla="*/ 0 60000 65536"/>
              <a:gd name="T5" fmla="*/ 0 60000 65536"/>
              <a:gd name="T6" fmla="*/ 0 w 319"/>
              <a:gd name="T7" fmla="*/ 0 h 184"/>
              <a:gd name="T8" fmla="*/ 319 w 319"/>
              <a:gd name="T9" fmla="*/ 184 h 18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19" h="184">
                <a:moveTo>
                  <a:pt x="0" y="0"/>
                </a:moveTo>
                <a:lnTo>
                  <a:pt x="319" y="184"/>
                </a:lnTo>
              </a:path>
            </a:pathLst>
          </a:custGeom>
          <a:noFill/>
          <a:ln w="50800">
            <a:solidFill>
              <a:schemeClr val="accent2"/>
            </a:solidFill>
            <a:round/>
            <a:headEnd/>
            <a:tailEnd type="stealth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91144" name="Freeform 7"/>
          <p:cNvSpPr>
            <a:spLocks noChangeAspect="1"/>
          </p:cNvSpPr>
          <p:nvPr/>
        </p:nvSpPr>
        <p:spPr bwMode="auto">
          <a:xfrm>
            <a:off x="1654175" y="4403725"/>
            <a:ext cx="441325" cy="282575"/>
          </a:xfrm>
          <a:custGeom>
            <a:avLst/>
            <a:gdLst>
              <a:gd name="T0" fmla="*/ 441325 w 278"/>
              <a:gd name="T1" fmla="*/ 0 h 178"/>
              <a:gd name="T2" fmla="*/ 0 w 278"/>
              <a:gd name="T3" fmla="*/ 282575 h 178"/>
              <a:gd name="T4" fmla="*/ 0 60000 65536"/>
              <a:gd name="T5" fmla="*/ 0 60000 65536"/>
              <a:gd name="T6" fmla="*/ 0 w 278"/>
              <a:gd name="T7" fmla="*/ 0 h 178"/>
              <a:gd name="T8" fmla="*/ 278 w 278"/>
              <a:gd name="T9" fmla="*/ 178 h 17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78" h="178">
                <a:moveTo>
                  <a:pt x="278" y="0"/>
                </a:moveTo>
                <a:lnTo>
                  <a:pt x="0" y="178"/>
                </a:lnTo>
              </a:path>
            </a:pathLst>
          </a:custGeom>
          <a:noFill/>
          <a:ln w="50800">
            <a:solidFill>
              <a:srgbClr val="333399"/>
            </a:solidFill>
            <a:round/>
            <a:headEnd/>
            <a:tailEnd type="stealth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91145" name="Freeform 8"/>
          <p:cNvSpPr>
            <a:spLocks noChangeAspect="1"/>
          </p:cNvSpPr>
          <p:nvPr/>
        </p:nvSpPr>
        <p:spPr bwMode="auto">
          <a:xfrm>
            <a:off x="1728788" y="5013325"/>
            <a:ext cx="203200" cy="265113"/>
          </a:xfrm>
          <a:custGeom>
            <a:avLst/>
            <a:gdLst>
              <a:gd name="T0" fmla="*/ 0 w 160"/>
              <a:gd name="T1" fmla="*/ 0 h 208"/>
              <a:gd name="T2" fmla="*/ 203200 w 160"/>
              <a:gd name="T3" fmla="*/ 265113 h 208"/>
              <a:gd name="T4" fmla="*/ 0 60000 65536"/>
              <a:gd name="T5" fmla="*/ 0 60000 65536"/>
              <a:gd name="T6" fmla="*/ 0 w 160"/>
              <a:gd name="T7" fmla="*/ 0 h 208"/>
              <a:gd name="T8" fmla="*/ 160 w 160"/>
              <a:gd name="T9" fmla="*/ 208 h 20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60" h="208">
                <a:moveTo>
                  <a:pt x="0" y="0"/>
                </a:moveTo>
                <a:lnTo>
                  <a:pt x="160" y="208"/>
                </a:lnTo>
              </a:path>
            </a:pathLst>
          </a:custGeom>
          <a:noFill/>
          <a:ln w="50800">
            <a:solidFill>
              <a:schemeClr val="accent2"/>
            </a:solidFill>
            <a:round/>
            <a:headEnd/>
            <a:tailEnd type="stealth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91146" name="Freeform 9"/>
          <p:cNvSpPr>
            <a:spLocks noChangeAspect="1"/>
          </p:cNvSpPr>
          <p:nvPr/>
        </p:nvSpPr>
        <p:spPr bwMode="auto">
          <a:xfrm flipH="1">
            <a:off x="1282700" y="5013325"/>
            <a:ext cx="203200" cy="265113"/>
          </a:xfrm>
          <a:custGeom>
            <a:avLst/>
            <a:gdLst>
              <a:gd name="T0" fmla="*/ 0 w 160"/>
              <a:gd name="T1" fmla="*/ 0 h 208"/>
              <a:gd name="T2" fmla="*/ 203200 w 160"/>
              <a:gd name="T3" fmla="*/ 265113 h 208"/>
              <a:gd name="T4" fmla="*/ 0 60000 65536"/>
              <a:gd name="T5" fmla="*/ 0 60000 65536"/>
              <a:gd name="T6" fmla="*/ 0 w 160"/>
              <a:gd name="T7" fmla="*/ 0 h 208"/>
              <a:gd name="T8" fmla="*/ 160 w 160"/>
              <a:gd name="T9" fmla="*/ 208 h 20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60" h="208">
                <a:moveTo>
                  <a:pt x="0" y="0"/>
                </a:moveTo>
                <a:lnTo>
                  <a:pt x="160" y="208"/>
                </a:lnTo>
              </a:path>
            </a:pathLst>
          </a:custGeom>
          <a:noFill/>
          <a:ln w="50800">
            <a:solidFill>
              <a:srgbClr val="333399"/>
            </a:solidFill>
            <a:round/>
            <a:headEnd/>
            <a:tailEnd type="stealth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91147" name="Freeform 10"/>
          <p:cNvSpPr>
            <a:spLocks noChangeAspect="1"/>
          </p:cNvSpPr>
          <p:nvPr/>
        </p:nvSpPr>
        <p:spPr bwMode="auto">
          <a:xfrm>
            <a:off x="2973388" y="5013325"/>
            <a:ext cx="203200" cy="265113"/>
          </a:xfrm>
          <a:custGeom>
            <a:avLst/>
            <a:gdLst>
              <a:gd name="T0" fmla="*/ 0 w 160"/>
              <a:gd name="T1" fmla="*/ 0 h 208"/>
              <a:gd name="T2" fmla="*/ 203200 w 160"/>
              <a:gd name="T3" fmla="*/ 265113 h 208"/>
              <a:gd name="T4" fmla="*/ 0 60000 65536"/>
              <a:gd name="T5" fmla="*/ 0 60000 65536"/>
              <a:gd name="T6" fmla="*/ 0 w 160"/>
              <a:gd name="T7" fmla="*/ 0 h 208"/>
              <a:gd name="T8" fmla="*/ 160 w 160"/>
              <a:gd name="T9" fmla="*/ 208 h 20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60" h="208">
                <a:moveTo>
                  <a:pt x="0" y="0"/>
                </a:moveTo>
                <a:lnTo>
                  <a:pt x="160" y="208"/>
                </a:lnTo>
              </a:path>
            </a:pathLst>
          </a:custGeom>
          <a:noFill/>
          <a:ln w="50800">
            <a:solidFill>
              <a:schemeClr val="accent2"/>
            </a:solidFill>
            <a:round/>
            <a:headEnd/>
            <a:tailEnd type="stealth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91148" name="Freeform 11"/>
          <p:cNvSpPr>
            <a:spLocks noChangeAspect="1"/>
          </p:cNvSpPr>
          <p:nvPr/>
        </p:nvSpPr>
        <p:spPr bwMode="auto">
          <a:xfrm flipH="1">
            <a:off x="2527300" y="5013325"/>
            <a:ext cx="203200" cy="265113"/>
          </a:xfrm>
          <a:custGeom>
            <a:avLst/>
            <a:gdLst>
              <a:gd name="T0" fmla="*/ 0 w 160"/>
              <a:gd name="T1" fmla="*/ 0 h 208"/>
              <a:gd name="T2" fmla="*/ 203200 w 160"/>
              <a:gd name="T3" fmla="*/ 265113 h 208"/>
              <a:gd name="T4" fmla="*/ 0 60000 65536"/>
              <a:gd name="T5" fmla="*/ 0 60000 65536"/>
              <a:gd name="T6" fmla="*/ 0 w 160"/>
              <a:gd name="T7" fmla="*/ 0 h 208"/>
              <a:gd name="T8" fmla="*/ 160 w 160"/>
              <a:gd name="T9" fmla="*/ 208 h 20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60" h="208">
                <a:moveTo>
                  <a:pt x="0" y="0"/>
                </a:moveTo>
                <a:lnTo>
                  <a:pt x="160" y="208"/>
                </a:lnTo>
              </a:path>
            </a:pathLst>
          </a:custGeom>
          <a:noFill/>
          <a:ln w="50800">
            <a:solidFill>
              <a:srgbClr val="333399"/>
            </a:solidFill>
            <a:round/>
            <a:headEnd/>
            <a:tailEnd type="stealth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91149" name="AutoShape 12"/>
          <p:cNvSpPr>
            <a:spLocks noChangeArrowheads="1"/>
          </p:cNvSpPr>
          <p:nvPr/>
        </p:nvSpPr>
        <p:spPr bwMode="auto">
          <a:xfrm>
            <a:off x="2225675" y="5257800"/>
            <a:ext cx="609600" cy="762000"/>
          </a:xfrm>
          <a:prstGeom prst="triangle">
            <a:avLst>
              <a:gd name="adj" fmla="val 50000"/>
            </a:avLst>
          </a:prstGeom>
          <a:solidFill>
            <a:srgbClr val="00808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1150" name="AutoShape 13"/>
          <p:cNvSpPr>
            <a:spLocks noChangeArrowheads="1"/>
          </p:cNvSpPr>
          <p:nvPr/>
        </p:nvSpPr>
        <p:spPr bwMode="auto">
          <a:xfrm>
            <a:off x="1622425" y="5257800"/>
            <a:ext cx="609600" cy="762000"/>
          </a:xfrm>
          <a:prstGeom prst="triangle">
            <a:avLst>
              <a:gd name="adj" fmla="val 50000"/>
            </a:avLst>
          </a:prstGeom>
          <a:solidFill>
            <a:srgbClr val="00808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1151" name="AutoShape 14"/>
          <p:cNvSpPr>
            <a:spLocks noChangeArrowheads="1"/>
          </p:cNvSpPr>
          <p:nvPr/>
        </p:nvSpPr>
        <p:spPr bwMode="auto">
          <a:xfrm>
            <a:off x="977900" y="5257800"/>
            <a:ext cx="609600" cy="762000"/>
          </a:xfrm>
          <a:prstGeom prst="triangle">
            <a:avLst>
              <a:gd name="adj" fmla="val 50000"/>
            </a:avLst>
          </a:prstGeom>
          <a:solidFill>
            <a:srgbClr val="00808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1152" name="Text Box 15"/>
          <p:cNvSpPr txBox="1">
            <a:spLocks noChangeArrowheads="1"/>
          </p:cNvSpPr>
          <p:nvPr/>
        </p:nvSpPr>
        <p:spPr bwMode="auto">
          <a:xfrm>
            <a:off x="3175000" y="4171950"/>
            <a:ext cx="5461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2200" b="0">
                <a:latin typeface="Verdana" charset="0"/>
                <a:cs typeface="Arial" charset="0"/>
              </a:rPr>
              <a:t>F</a:t>
            </a:r>
            <a:r>
              <a:rPr lang="en-US" sz="2200" b="0" baseline="-25000">
                <a:latin typeface="Verdana" charset="0"/>
                <a:cs typeface="Arial" charset="0"/>
              </a:rPr>
              <a:t>1</a:t>
            </a:r>
            <a:r>
              <a:rPr lang="en-US" sz="1800" b="0">
                <a:latin typeface="Verdana" charset="0"/>
                <a:cs typeface="Arial" charset="0"/>
              </a:rPr>
              <a:t> </a:t>
            </a:r>
          </a:p>
        </p:txBody>
      </p:sp>
      <p:sp>
        <p:nvSpPr>
          <p:cNvPr id="91153" name="Freeform 16"/>
          <p:cNvSpPr>
            <a:spLocks noChangeAspect="1"/>
          </p:cNvSpPr>
          <p:nvPr/>
        </p:nvSpPr>
        <p:spPr bwMode="auto">
          <a:xfrm>
            <a:off x="2960688" y="4552950"/>
            <a:ext cx="322262" cy="152400"/>
          </a:xfrm>
          <a:custGeom>
            <a:avLst/>
            <a:gdLst>
              <a:gd name="T0" fmla="*/ 322262 w 203"/>
              <a:gd name="T1" fmla="*/ 0 h 96"/>
              <a:gd name="T2" fmla="*/ 0 w 203"/>
              <a:gd name="T3" fmla="*/ 152400 h 96"/>
              <a:gd name="T4" fmla="*/ 0 60000 65536"/>
              <a:gd name="T5" fmla="*/ 0 60000 65536"/>
              <a:gd name="T6" fmla="*/ 0 w 203"/>
              <a:gd name="T7" fmla="*/ 0 h 96"/>
              <a:gd name="T8" fmla="*/ 203 w 203"/>
              <a:gd name="T9" fmla="*/ 96 h 9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03" h="96">
                <a:moveTo>
                  <a:pt x="203" y="0"/>
                </a:moveTo>
                <a:lnTo>
                  <a:pt x="0" y="96"/>
                </a:lnTo>
              </a:path>
            </a:pathLst>
          </a:custGeom>
          <a:noFill/>
          <a:ln w="50800">
            <a:solidFill>
              <a:srgbClr val="66FF99"/>
            </a:solidFill>
            <a:round/>
            <a:headEnd/>
            <a:tailEnd type="stealth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91154" name="Text Box 17"/>
          <p:cNvSpPr txBox="1">
            <a:spLocks noChangeArrowheads="1"/>
          </p:cNvSpPr>
          <p:nvPr/>
        </p:nvSpPr>
        <p:spPr bwMode="auto">
          <a:xfrm>
            <a:off x="749300" y="4171950"/>
            <a:ext cx="5461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2200" b="0">
                <a:latin typeface="Verdana" charset="0"/>
                <a:cs typeface="Arial" charset="0"/>
              </a:rPr>
              <a:t>F</a:t>
            </a:r>
            <a:r>
              <a:rPr lang="en-US" sz="2200" b="0" baseline="-25000">
                <a:latin typeface="Verdana" charset="0"/>
                <a:cs typeface="Arial" charset="0"/>
              </a:rPr>
              <a:t>0</a:t>
            </a:r>
            <a:r>
              <a:rPr lang="en-US" sz="1800" b="0">
                <a:latin typeface="Verdana" charset="0"/>
                <a:cs typeface="Arial" charset="0"/>
              </a:rPr>
              <a:t> </a:t>
            </a:r>
          </a:p>
        </p:txBody>
      </p:sp>
      <p:sp>
        <p:nvSpPr>
          <p:cNvPr id="91155" name="Freeform 18"/>
          <p:cNvSpPr>
            <a:spLocks noChangeAspect="1"/>
          </p:cNvSpPr>
          <p:nvPr/>
        </p:nvSpPr>
        <p:spPr bwMode="auto">
          <a:xfrm>
            <a:off x="1235075" y="4562475"/>
            <a:ext cx="266700" cy="152400"/>
          </a:xfrm>
          <a:custGeom>
            <a:avLst/>
            <a:gdLst>
              <a:gd name="T0" fmla="*/ 0 w 168"/>
              <a:gd name="T1" fmla="*/ 0 h 96"/>
              <a:gd name="T2" fmla="*/ 266700 w 168"/>
              <a:gd name="T3" fmla="*/ 152400 h 96"/>
              <a:gd name="T4" fmla="*/ 0 60000 65536"/>
              <a:gd name="T5" fmla="*/ 0 60000 65536"/>
              <a:gd name="T6" fmla="*/ 0 w 168"/>
              <a:gd name="T7" fmla="*/ 0 h 96"/>
              <a:gd name="T8" fmla="*/ 168 w 168"/>
              <a:gd name="T9" fmla="*/ 96 h 9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68" h="96">
                <a:moveTo>
                  <a:pt x="0" y="0"/>
                </a:moveTo>
                <a:lnTo>
                  <a:pt x="168" y="96"/>
                </a:lnTo>
              </a:path>
            </a:pathLst>
          </a:custGeom>
          <a:noFill/>
          <a:ln w="50800">
            <a:solidFill>
              <a:srgbClr val="66FF99"/>
            </a:solidFill>
            <a:round/>
            <a:headEnd/>
            <a:tailEnd type="stealth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91156" name="Text Box 19"/>
          <p:cNvSpPr txBox="1">
            <a:spLocks noChangeArrowheads="1"/>
          </p:cNvSpPr>
          <p:nvPr/>
        </p:nvSpPr>
        <p:spPr bwMode="auto">
          <a:xfrm>
            <a:off x="996950" y="5543550"/>
            <a:ext cx="66675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2200" b="0">
                <a:solidFill>
                  <a:schemeClr val="bg1"/>
                </a:solidFill>
                <a:latin typeface="Verdana" charset="0"/>
                <a:cs typeface="Arial" charset="0"/>
              </a:rPr>
              <a:t>F</a:t>
            </a:r>
            <a:r>
              <a:rPr lang="en-US" sz="2200" b="0" baseline="-25000">
                <a:solidFill>
                  <a:schemeClr val="bg1"/>
                </a:solidFill>
                <a:latin typeface="Verdana" charset="0"/>
                <a:cs typeface="Arial" charset="0"/>
              </a:rPr>
              <a:t>00</a:t>
            </a:r>
            <a:r>
              <a:rPr lang="en-US" sz="1800" b="0">
                <a:latin typeface="Verdana" charset="0"/>
                <a:cs typeface="Arial" charset="0"/>
              </a:rPr>
              <a:t> </a:t>
            </a:r>
          </a:p>
        </p:txBody>
      </p:sp>
      <p:sp>
        <p:nvSpPr>
          <p:cNvPr id="91157" name="Text Box 20"/>
          <p:cNvSpPr txBox="1">
            <a:spLocks noChangeArrowheads="1"/>
          </p:cNvSpPr>
          <p:nvPr/>
        </p:nvSpPr>
        <p:spPr bwMode="auto">
          <a:xfrm>
            <a:off x="1663700" y="5543550"/>
            <a:ext cx="66675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2200" b="0">
                <a:solidFill>
                  <a:schemeClr val="bg1"/>
                </a:solidFill>
                <a:latin typeface="Verdana" charset="0"/>
                <a:cs typeface="Arial" charset="0"/>
              </a:rPr>
              <a:t>F</a:t>
            </a:r>
            <a:r>
              <a:rPr lang="en-US" sz="2200" b="0" baseline="-25000">
                <a:solidFill>
                  <a:schemeClr val="bg1"/>
                </a:solidFill>
                <a:latin typeface="Verdana" charset="0"/>
                <a:cs typeface="Arial" charset="0"/>
              </a:rPr>
              <a:t>01</a:t>
            </a:r>
            <a:r>
              <a:rPr lang="en-US" sz="1800" b="0">
                <a:latin typeface="Verdana" charset="0"/>
                <a:cs typeface="Arial" charset="0"/>
              </a:rPr>
              <a:t> </a:t>
            </a:r>
          </a:p>
        </p:txBody>
      </p:sp>
      <p:sp>
        <p:nvSpPr>
          <p:cNvPr id="91158" name="Text Box 21"/>
          <p:cNvSpPr txBox="1">
            <a:spLocks noChangeArrowheads="1"/>
          </p:cNvSpPr>
          <p:nvPr/>
        </p:nvSpPr>
        <p:spPr bwMode="auto">
          <a:xfrm>
            <a:off x="2273300" y="5543550"/>
            <a:ext cx="66675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2200" b="0">
                <a:solidFill>
                  <a:schemeClr val="bg1"/>
                </a:solidFill>
                <a:latin typeface="Verdana" charset="0"/>
                <a:cs typeface="Arial" charset="0"/>
              </a:rPr>
              <a:t>F</a:t>
            </a:r>
            <a:r>
              <a:rPr lang="en-US" sz="2200" b="0" baseline="-25000">
                <a:solidFill>
                  <a:schemeClr val="bg1"/>
                </a:solidFill>
                <a:latin typeface="Verdana" charset="0"/>
                <a:cs typeface="Arial" charset="0"/>
              </a:rPr>
              <a:t>10</a:t>
            </a:r>
            <a:r>
              <a:rPr lang="en-US" sz="1800" b="0">
                <a:latin typeface="Verdana" charset="0"/>
                <a:cs typeface="Arial" charset="0"/>
              </a:rPr>
              <a:t> </a:t>
            </a:r>
          </a:p>
        </p:txBody>
      </p:sp>
      <p:sp>
        <p:nvSpPr>
          <p:cNvPr id="91159" name="Text Box 22"/>
          <p:cNvSpPr txBox="1">
            <a:spLocks noChangeArrowheads="1"/>
          </p:cNvSpPr>
          <p:nvPr/>
        </p:nvSpPr>
        <p:spPr bwMode="auto">
          <a:xfrm>
            <a:off x="2901950" y="5543550"/>
            <a:ext cx="66675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2200" b="0">
                <a:solidFill>
                  <a:schemeClr val="bg1"/>
                </a:solidFill>
                <a:latin typeface="Verdana" charset="0"/>
                <a:cs typeface="Arial" charset="0"/>
              </a:rPr>
              <a:t>F</a:t>
            </a:r>
            <a:r>
              <a:rPr lang="en-US" sz="2200" b="0" baseline="-25000">
                <a:solidFill>
                  <a:schemeClr val="bg1"/>
                </a:solidFill>
                <a:latin typeface="Verdana" charset="0"/>
                <a:cs typeface="Arial" charset="0"/>
              </a:rPr>
              <a:t>11</a:t>
            </a:r>
            <a:r>
              <a:rPr lang="en-US" sz="1800" b="0">
                <a:latin typeface="Verdana" charset="0"/>
                <a:cs typeface="Arial" charset="0"/>
              </a:rPr>
              <a:t> </a:t>
            </a:r>
          </a:p>
        </p:txBody>
      </p:sp>
      <p:grpSp>
        <p:nvGrpSpPr>
          <p:cNvPr id="91160" name="Group 23"/>
          <p:cNvGrpSpPr>
            <a:grpSpLocks noChangeAspect="1"/>
          </p:cNvGrpSpPr>
          <p:nvPr/>
        </p:nvGrpSpPr>
        <p:grpSpPr bwMode="auto">
          <a:xfrm>
            <a:off x="2662238" y="4687888"/>
            <a:ext cx="411162" cy="409575"/>
            <a:chOff x="2895" y="1500"/>
            <a:chExt cx="293" cy="293"/>
          </a:xfrm>
        </p:grpSpPr>
        <p:sp>
          <p:nvSpPr>
            <p:cNvPr id="91215" name="Freeform 24"/>
            <p:cNvSpPr>
              <a:spLocks noChangeAspect="1"/>
            </p:cNvSpPr>
            <p:nvPr/>
          </p:nvSpPr>
          <p:spPr bwMode="auto">
            <a:xfrm>
              <a:off x="2895" y="1500"/>
              <a:ext cx="293" cy="293"/>
            </a:xfrm>
            <a:custGeom>
              <a:avLst/>
              <a:gdLst>
                <a:gd name="T0" fmla="*/ 0 w 778"/>
                <a:gd name="T1" fmla="*/ 147 h 778"/>
                <a:gd name="T2" fmla="*/ 147 w 778"/>
                <a:gd name="T3" fmla="*/ 0 h 778"/>
                <a:gd name="T4" fmla="*/ 293 w 778"/>
                <a:gd name="T5" fmla="*/ 147 h 778"/>
                <a:gd name="T6" fmla="*/ 293 w 778"/>
                <a:gd name="T7" fmla="*/ 147 h 778"/>
                <a:gd name="T8" fmla="*/ 147 w 778"/>
                <a:gd name="T9" fmla="*/ 293 h 778"/>
                <a:gd name="T10" fmla="*/ 0 w 778"/>
                <a:gd name="T11" fmla="*/ 147 h 7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78"/>
                <a:gd name="T19" fmla="*/ 0 h 778"/>
                <a:gd name="T20" fmla="*/ 778 w 778"/>
                <a:gd name="T21" fmla="*/ 778 h 77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78" h="778">
                  <a:moveTo>
                    <a:pt x="0" y="389"/>
                  </a:moveTo>
                  <a:cubicBezTo>
                    <a:pt x="0" y="174"/>
                    <a:pt x="174" y="0"/>
                    <a:pt x="389" y="0"/>
                  </a:cubicBezTo>
                  <a:cubicBezTo>
                    <a:pt x="604" y="0"/>
                    <a:pt x="778" y="174"/>
                    <a:pt x="778" y="389"/>
                  </a:cubicBezTo>
                  <a:cubicBezTo>
                    <a:pt x="778" y="389"/>
                    <a:pt x="778" y="389"/>
                    <a:pt x="778" y="389"/>
                  </a:cubicBezTo>
                  <a:cubicBezTo>
                    <a:pt x="778" y="604"/>
                    <a:pt x="604" y="778"/>
                    <a:pt x="389" y="778"/>
                  </a:cubicBezTo>
                  <a:cubicBezTo>
                    <a:pt x="174" y="778"/>
                    <a:pt x="0" y="604"/>
                    <a:pt x="0" y="389"/>
                  </a:cubicBezTo>
                </a:path>
              </a:pathLst>
            </a:custGeom>
            <a:solidFill>
              <a:srgbClr val="66FF99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216" name="Freeform 25"/>
            <p:cNvSpPr>
              <a:spLocks noChangeAspect="1"/>
            </p:cNvSpPr>
            <p:nvPr/>
          </p:nvSpPr>
          <p:spPr bwMode="auto">
            <a:xfrm>
              <a:off x="2895" y="1500"/>
              <a:ext cx="293" cy="293"/>
            </a:xfrm>
            <a:custGeom>
              <a:avLst/>
              <a:gdLst>
                <a:gd name="T0" fmla="*/ 0 w 293"/>
                <a:gd name="T1" fmla="*/ 147 h 293"/>
                <a:gd name="T2" fmla="*/ 147 w 293"/>
                <a:gd name="T3" fmla="*/ 0 h 293"/>
                <a:gd name="T4" fmla="*/ 293 w 293"/>
                <a:gd name="T5" fmla="*/ 147 h 293"/>
                <a:gd name="T6" fmla="*/ 293 w 293"/>
                <a:gd name="T7" fmla="*/ 147 h 293"/>
                <a:gd name="T8" fmla="*/ 147 w 293"/>
                <a:gd name="T9" fmla="*/ 293 h 293"/>
                <a:gd name="T10" fmla="*/ 0 w 293"/>
                <a:gd name="T11" fmla="*/ 147 h 29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93"/>
                <a:gd name="T19" fmla="*/ 0 h 293"/>
                <a:gd name="T20" fmla="*/ 293 w 293"/>
                <a:gd name="T21" fmla="*/ 293 h 29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93" h="293">
                  <a:moveTo>
                    <a:pt x="0" y="147"/>
                  </a:moveTo>
                  <a:cubicBezTo>
                    <a:pt x="0" y="66"/>
                    <a:pt x="66" y="0"/>
                    <a:pt x="147" y="0"/>
                  </a:cubicBezTo>
                  <a:cubicBezTo>
                    <a:pt x="228" y="0"/>
                    <a:pt x="293" y="66"/>
                    <a:pt x="293" y="147"/>
                  </a:cubicBezTo>
                  <a:cubicBezTo>
                    <a:pt x="293" y="147"/>
                    <a:pt x="293" y="147"/>
                    <a:pt x="293" y="147"/>
                  </a:cubicBezTo>
                  <a:cubicBezTo>
                    <a:pt x="293" y="228"/>
                    <a:pt x="228" y="293"/>
                    <a:pt x="147" y="293"/>
                  </a:cubicBezTo>
                  <a:cubicBezTo>
                    <a:pt x="66" y="293"/>
                    <a:pt x="0" y="228"/>
                    <a:pt x="0" y="147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217" name="Rectangle 26"/>
            <p:cNvSpPr>
              <a:spLocks noChangeAspect="1" noChangeArrowheads="1"/>
            </p:cNvSpPr>
            <p:nvPr/>
          </p:nvSpPr>
          <p:spPr bwMode="auto">
            <a:xfrm>
              <a:off x="2927" y="1514"/>
              <a:ext cx="249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/>
            <a:p>
              <a:r>
                <a:rPr lang="en-US" sz="2000" i="1">
                  <a:solidFill>
                    <a:srgbClr val="000080"/>
                  </a:solidFill>
                  <a:latin typeface="Times New Roman" charset="0"/>
                  <a:cs typeface="Arial" charset="0"/>
                </a:rPr>
                <a:t>x</a:t>
              </a:r>
              <a:r>
                <a:rPr lang="en-US" sz="2000" i="1" baseline="-25000">
                  <a:solidFill>
                    <a:srgbClr val="000080"/>
                  </a:solidFill>
                  <a:latin typeface="Times New Roman" charset="0"/>
                  <a:cs typeface="Arial" charset="0"/>
                </a:rPr>
                <a:t>i+1</a:t>
              </a:r>
            </a:p>
          </p:txBody>
        </p:sp>
      </p:grpSp>
      <p:grpSp>
        <p:nvGrpSpPr>
          <p:cNvPr id="91161" name="Group 27"/>
          <p:cNvGrpSpPr>
            <a:grpSpLocks noChangeAspect="1"/>
          </p:cNvGrpSpPr>
          <p:nvPr/>
        </p:nvGrpSpPr>
        <p:grpSpPr bwMode="auto">
          <a:xfrm>
            <a:off x="1404938" y="4695825"/>
            <a:ext cx="411162" cy="409575"/>
            <a:chOff x="2895" y="1500"/>
            <a:chExt cx="293" cy="293"/>
          </a:xfrm>
        </p:grpSpPr>
        <p:sp>
          <p:nvSpPr>
            <p:cNvPr id="91212" name="Freeform 28"/>
            <p:cNvSpPr>
              <a:spLocks noChangeAspect="1"/>
            </p:cNvSpPr>
            <p:nvPr/>
          </p:nvSpPr>
          <p:spPr bwMode="auto">
            <a:xfrm>
              <a:off x="2895" y="1500"/>
              <a:ext cx="293" cy="293"/>
            </a:xfrm>
            <a:custGeom>
              <a:avLst/>
              <a:gdLst>
                <a:gd name="T0" fmla="*/ 0 w 778"/>
                <a:gd name="T1" fmla="*/ 147 h 778"/>
                <a:gd name="T2" fmla="*/ 147 w 778"/>
                <a:gd name="T3" fmla="*/ 0 h 778"/>
                <a:gd name="T4" fmla="*/ 293 w 778"/>
                <a:gd name="T5" fmla="*/ 147 h 778"/>
                <a:gd name="T6" fmla="*/ 293 w 778"/>
                <a:gd name="T7" fmla="*/ 147 h 778"/>
                <a:gd name="T8" fmla="*/ 147 w 778"/>
                <a:gd name="T9" fmla="*/ 293 h 778"/>
                <a:gd name="T10" fmla="*/ 0 w 778"/>
                <a:gd name="T11" fmla="*/ 147 h 7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78"/>
                <a:gd name="T19" fmla="*/ 0 h 778"/>
                <a:gd name="T20" fmla="*/ 778 w 778"/>
                <a:gd name="T21" fmla="*/ 778 h 77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78" h="778">
                  <a:moveTo>
                    <a:pt x="0" y="389"/>
                  </a:moveTo>
                  <a:cubicBezTo>
                    <a:pt x="0" y="174"/>
                    <a:pt x="174" y="0"/>
                    <a:pt x="389" y="0"/>
                  </a:cubicBezTo>
                  <a:cubicBezTo>
                    <a:pt x="604" y="0"/>
                    <a:pt x="778" y="174"/>
                    <a:pt x="778" y="389"/>
                  </a:cubicBezTo>
                  <a:cubicBezTo>
                    <a:pt x="778" y="389"/>
                    <a:pt x="778" y="389"/>
                    <a:pt x="778" y="389"/>
                  </a:cubicBezTo>
                  <a:cubicBezTo>
                    <a:pt x="778" y="604"/>
                    <a:pt x="604" y="778"/>
                    <a:pt x="389" y="778"/>
                  </a:cubicBezTo>
                  <a:cubicBezTo>
                    <a:pt x="174" y="778"/>
                    <a:pt x="0" y="604"/>
                    <a:pt x="0" y="389"/>
                  </a:cubicBezTo>
                </a:path>
              </a:pathLst>
            </a:custGeom>
            <a:solidFill>
              <a:srgbClr val="66FF99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213" name="Freeform 29"/>
            <p:cNvSpPr>
              <a:spLocks noChangeAspect="1"/>
            </p:cNvSpPr>
            <p:nvPr/>
          </p:nvSpPr>
          <p:spPr bwMode="auto">
            <a:xfrm>
              <a:off x="2895" y="1500"/>
              <a:ext cx="293" cy="293"/>
            </a:xfrm>
            <a:custGeom>
              <a:avLst/>
              <a:gdLst>
                <a:gd name="T0" fmla="*/ 0 w 293"/>
                <a:gd name="T1" fmla="*/ 147 h 293"/>
                <a:gd name="T2" fmla="*/ 147 w 293"/>
                <a:gd name="T3" fmla="*/ 0 h 293"/>
                <a:gd name="T4" fmla="*/ 293 w 293"/>
                <a:gd name="T5" fmla="*/ 147 h 293"/>
                <a:gd name="T6" fmla="*/ 293 w 293"/>
                <a:gd name="T7" fmla="*/ 147 h 293"/>
                <a:gd name="T8" fmla="*/ 147 w 293"/>
                <a:gd name="T9" fmla="*/ 293 h 293"/>
                <a:gd name="T10" fmla="*/ 0 w 293"/>
                <a:gd name="T11" fmla="*/ 147 h 29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93"/>
                <a:gd name="T19" fmla="*/ 0 h 293"/>
                <a:gd name="T20" fmla="*/ 293 w 293"/>
                <a:gd name="T21" fmla="*/ 293 h 29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93" h="293">
                  <a:moveTo>
                    <a:pt x="0" y="147"/>
                  </a:moveTo>
                  <a:cubicBezTo>
                    <a:pt x="0" y="66"/>
                    <a:pt x="66" y="0"/>
                    <a:pt x="147" y="0"/>
                  </a:cubicBezTo>
                  <a:cubicBezTo>
                    <a:pt x="228" y="0"/>
                    <a:pt x="293" y="66"/>
                    <a:pt x="293" y="147"/>
                  </a:cubicBezTo>
                  <a:cubicBezTo>
                    <a:pt x="293" y="147"/>
                    <a:pt x="293" y="147"/>
                    <a:pt x="293" y="147"/>
                  </a:cubicBezTo>
                  <a:cubicBezTo>
                    <a:pt x="293" y="228"/>
                    <a:pt x="228" y="293"/>
                    <a:pt x="147" y="293"/>
                  </a:cubicBezTo>
                  <a:cubicBezTo>
                    <a:pt x="66" y="293"/>
                    <a:pt x="0" y="228"/>
                    <a:pt x="0" y="147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214" name="Rectangle 30"/>
            <p:cNvSpPr>
              <a:spLocks noChangeAspect="1" noChangeArrowheads="1"/>
            </p:cNvSpPr>
            <p:nvPr/>
          </p:nvSpPr>
          <p:spPr bwMode="auto">
            <a:xfrm>
              <a:off x="2927" y="1514"/>
              <a:ext cx="249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/>
            <a:p>
              <a:r>
                <a:rPr lang="en-US" sz="2000" i="1">
                  <a:solidFill>
                    <a:srgbClr val="000080"/>
                  </a:solidFill>
                  <a:latin typeface="Times New Roman" charset="0"/>
                  <a:cs typeface="Arial" charset="0"/>
                </a:rPr>
                <a:t>x</a:t>
              </a:r>
              <a:r>
                <a:rPr lang="en-US" sz="2000" i="1" baseline="-25000">
                  <a:solidFill>
                    <a:srgbClr val="000080"/>
                  </a:solidFill>
                  <a:latin typeface="Times New Roman" charset="0"/>
                  <a:cs typeface="Arial" charset="0"/>
                </a:rPr>
                <a:t>i+1</a:t>
              </a:r>
            </a:p>
          </p:txBody>
        </p:sp>
      </p:grpSp>
      <p:grpSp>
        <p:nvGrpSpPr>
          <p:cNvPr id="91162" name="Group 31"/>
          <p:cNvGrpSpPr>
            <a:grpSpLocks noChangeAspect="1"/>
          </p:cNvGrpSpPr>
          <p:nvPr/>
        </p:nvGrpSpPr>
        <p:grpSpPr bwMode="auto">
          <a:xfrm>
            <a:off x="2027238" y="4078288"/>
            <a:ext cx="411162" cy="409575"/>
            <a:chOff x="2895" y="1500"/>
            <a:chExt cx="293" cy="293"/>
          </a:xfrm>
        </p:grpSpPr>
        <p:sp>
          <p:nvSpPr>
            <p:cNvPr id="91209" name="Freeform 32"/>
            <p:cNvSpPr>
              <a:spLocks noChangeAspect="1"/>
            </p:cNvSpPr>
            <p:nvPr/>
          </p:nvSpPr>
          <p:spPr bwMode="auto">
            <a:xfrm>
              <a:off x="2895" y="1500"/>
              <a:ext cx="293" cy="293"/>
            </a:xfrm>
            <a:custGeom>
              <a:avLst/>
              <a:gdLst>
                <a:gd name="T0" fmla="*/ 0 w 778"/>
                <a:gd name="T1" fmla="*/ 147 h 778"/>
                <a:gd name="T2" fmla="*/ 147 w 778"/>
                <a:gd name="T3" fmla="*/ 0 h 778"/>
                <a:gd name="T4" fmla="*/ 293 w 778"/>
                <a:gd name="T5" fmla="*/ 147 h 778"/>
                <a:gd name="T6" fmla="*/ 293 w 778"/>
                <a:gd name="T7" fmla="*/ 147 h 778"/>
                <a:gd name="T8" fmla="*/ 147 w 778"/>
                <a:gd name="T9" fmla="*/ 293 h 778"/>
                <a:gd name="T10" fmla="*/ 0 w 778"/>
                <a:gd name="T11" fmla="*/ 147 h 7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78"/>
                <a:gd name="T19" fmla="*/ 0 h 778"/>
                <a:gd name="T20" fmla="*/ 778 w 778"/>
                <a:gd name="T21" fmla="*/ 778 h 77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78" h="778">
                  <a:moveTo>
                    <a:pt x="0" y="389"/>
                  </a:moveTo>
                  <a:cubicBezTo>
                    <a:pt x="0" y="174"/>
                    <a:pt x="174" y="0"/>
                    <a:pt x="389" y="0"/>
                  </a:cubicBezTo>
                  <a:cubicBezTo>
                    <a:pt x="604" y="0"/>
                    <a:pt x="778" y="174"/>
                    <a:pt x="778" y="389"/>
                  </a:cubicBezTo>
                  <a:cubicBezTo>
                    <a:pt x="778" y="389"/>
                    <a:pt x="778" y="389"/>
                    <a:pt x="778" y="389"/>
                  </a:cubicBezTo>
                  <a:cubicBezTo>
                    <a:pt x="778" y="604"/>
                    <a:pt x="604" y="778"/>
                    <a:pt x="389" y="778"/>
                  </a:cubicBezTo>
                  <a:cubicBezTo>
                    <a:pt x="174" y="778"/>
                    <a:pt x="0" y="604"/>
                    <a:pt x="0" y="389"/>
                  </a:cubicBezTo>
                </a:path>
              </a:pathLst>
            </a:custGeom>
            <a:solidFill>
              <a:srgbClr val="66FF99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210" name="Freeform 33"/>
            <p:cNvSpPr>
              <a:spLocks noChangeAspect="1"/>
            </p:cNvSpPr>
            <p:nvPr/>
          </p:nvSpPr>
          <p:spPr bwMode="auto">
            <a:xfrm>
              <a:off x="2895" y="1500"/>
              <a:ext cx="293" cy="293"/>
            </a:xfrm>
            <a:custGeom>
              <a:avLst/>
              <a:gdLst>
                <a:gd name="T0" fmla="*/ 0 w 293"/>
                <a:gd name="T1" fmla="*/ 147 h 293"/>
                <a:gd name="T2" fmla="*/ 147 w 293"/>
                <a:gd name="T3" fmla="*/ 0 h 293"/>
                <a:gd name="T4" fmla="*/ 293 w 293"/>
                <a:gd name="T5" fmla="*/ 147 h 293"/>
                <a:gd name="T6" fmla="*/ 293 w 293"/>
                <a:gd name="T7" fmla="*/ 147 h 293"/>
                <a:gd name="T8" fmla="*/ 147 w 293"/>
                <a:gd name="T9" fmla="*/ 293 h 293"/>
                <a:gd name="T10" fmla="*/ 0 w 293"/>
                <a:gd name="T11" fmla="*/ 147 h 29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93"/>
                <a:gd name="T19" fmla="*/ 0 h 293"/>
                <a:gd name="T20" fmla="*/ 293 w 293"/>
                <a:gd name="T21" fmla="*/ 293 h 29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93" h="293">
                  <a:moveTo>
                    <a:pt x="0" y="147"/>
                  </a:moveTo>
                  <a:cubicBezTo>
                    <a:pt x="0" y="66"/>
                    <a:pt x="66" y="0"/>
                    <a:pt x="147" y="0"/>
                  </a:cubicBezTo>
                  <a:cubicBezTo>
                    <a:pt x="228" y="0"/>
                    <a:pt x="293" y="66"/>
                    <a:pt x="293" y="147"/>
                  </a:cubicBezTo>
                  <a:cubicBezTo>
                    <a:pt x="293" y="147"/>
                    <a:pt x="293" y="147"/>
                    <a:pt x="293" y="147"/>
                  </a:cubicBezTo>
                  <a:cubicBezTo>
                    <a:pt x="293" y="228"/>
                    <a:pt x="228" y="293"/>
                    <a:pt x="147" y="293"/>
                  </a:cubicBezTo>
                  <a:cubicBezTo>
                    <a:pt x="66" y="293"/>
                    <a:pt x="0" y="228"/>
                    <a:pt x="0" y="147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211" name="Rectangle 34"/>
            <p:cNvSpPr>
              <a:spLocks noChangeAspect="1" noChangeArrowheads="1"/>
            </p:cNvSpPr>
            <p:nvPr/>
          </p:nvSpPr>
          <p:spPr bwMode="auto">
            <a:xfrm>
              <a:off x="2988" y="1514"/>
              <a:ext cx="123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/>
            <a:p>
              <a:r>
                <a:rPr lang="en-US" sz="2000" i="1">
                  <a:solidFill>
                    <a:srgbClr val="000080"/>
                  </a:solidFill>
                  <a:latin typeface="Times New Roman" charset="0"/>
                  <a:cs typeface="Arial" charset="0"/>
                </a:rPr>
                <a:t>x</a:t>
              </a:r>
              <a:r>
                <a:rPr lang="en-US" sz="2000" i="1" baseline="-25000">
                  <a:solidFill>
                    <a:srgbClr val="000080"/>
                  </a:solidFill>
                  <a:latin typeface="Times New Roman" charset="0"/>
                  <a:cs typeface="Arial" charset="0"/>
                </a:rPr>
                <a:t>i</a:t>
              </a:r>
            </a:p>
          </p:txBody>
        </p:sp>
      </p:grpSp>
      <p:grpSp>
        <p:nvGrpSpPr>
          <p:cNvPr id="91163" name="Group 35"/>
          <p:cNvGrpSpPr>
            <a:grpSpLocks/>
          </p:cNvGrpSpPr>
          <p:nvPr/>
        </p:nvGrpSpPr>
        <p:grpSpPr bwMode="auto">
          <a:xfrm>
            <a:off x="5549900" y="3562350"/>
            <a:ext cx="2984500" cy="2457450"/>
            <a:chOff x="3496" y="2244"/>
            <a:chExt cx="1880" cy="1548"/>
          </a:xfrm>
        </p:grpSpPr>
        <p:sp>
          <p:nvSpPr>
            <p:cNvPr id="91165" name="Freeform 36"/>
            <p:cNvSpPr>
              <a:spLocks noChangeAspect="1"/>
            </p:cNvSpPr>
            <p:nvPr/>
          </p:nvSpPr>
          <p:spPr bwMode="auto">
            <a:xfrm>
              <a:off x="3993" y="2792"/>
              <a:ext cx="232" cy="526"/>
            </a:xfrm>
            <a:custGeom>
              <a:avLst/>
              <a:gdLst>
                <a:gd name="T0" fmla="*/ 0 w 232"/>
                <a:gd name="T1" fmla="*/ 0 h 526"/>
                <a:gd name="T2" fmla="*/ 199 w 232"/>
                <a:gd name="T3" fmla="*/ 166 h 526"/>
                <a:gd name="T4" fmla="*/ 199 w 232"/>
                <a:gd name="T5" fmla="*/ 526 h 526"/>
                <a:gd name="T6" fmla="*/ 0 60000 65536"/>
                <a:gd name="T7" fmla="*/ 0 60000 65536"/>
                <a:gd name="T8" fmla="*/ 0 60000 65536"/>
                <a:gd name="T9" fmla="*/ 0 w 232"/>
                <a:gd name="T10" fmla="*/ 0 h 526"/>
                <a:gd name="T11" fmla="*/ 232 w 232"/>
                <a:gd name="T12" fmla="*/ 526 h 52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2" h="526">
                  <a:moveTo>
                    <a:pt x="0" y="0"/>
                  </a:moveTo>
                  <a:cubicBezTo>
                    <a:pt x="33" y="28"/>
                    <a:pt x="166" y="78"/>
                    <a:pt x="199" y="166"/>
                  </a:cubicBezTo>
                  <a:cubicBezTo>
                    <a:pt x="232" y="254"/>
                    <a:pt x="199" y="451"/>
                    <a:pt x="199" y="526"/>
                  </a:cubicBez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1166" name="Freeform 37"/>
            <p:cNvSpPr>
              <a:spLocks noChangeAspect="1"/>
            </p:cNvSpPr>
            <p:nvPr/>
          </p:nvSpPr>
          <p:spPr bwMode="auto">
            <a:xfrm>
              <a:off x="3790" y="2792"/>
              <a:ext cx="50" cy="526"/>
            </a:xfrm>
            <a:custGeom>
              <a:avLst/>
              <a:gdLst>
                <a:gd name="T0" fmla="*/ 50 w 50"/>
                <a:gd name="T1" fmla="*/ 0 h 526"/>
                <a:gd name="T2" fmla="*/ 0 w 50"/>
                <a:gd name="T3" fmla="*/ 526 h 526"/>
                <a:gd name="T4" fmla="*/ 0 60000 65536"/>
                <a:gd name="T5" fmla="*/ 0 60000 65536"/>
                <a:gd name="T6" fmla="*/ 0 w 50"/>
                <a:gd name="T7" fmla="*/ 0 h 526"/>
                <a:gd name="T8" fmla="*/ 50 w 50"/>
                <a:gd name="T9" fmla="*/ 526 h 52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0" h="526">
                  <a:moveTo>
                    <a:pt x="50" y="0"/>
                  </a:moveTo>
                  <a:lnTo>
                    <a:pt x="0" y="526"/>
                  </a:ln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1167" name="AutoShape 38"/>
            <p:cNvSpPr>
              <a:spLocks noChangeArrowheads="1"/>
            </p:cNvSpPr>
            <p:nvPr/>
          </p:nvSpPr>
          <p:spPr bwMode="auto">
            <a:xfrm>
              <a:off x="4792" y="3312"/>
              <a:ext cx="384" cy="480"/>
            </a:xfrm>
            <a:prstGeom prst="triangle">
              <a:avLst>
                <a:gd name="adj" fmla="val 50000"/>
              </a:avLst>
            </a:prstGeom>
            <a:solidFill>
              <a:srgbClr val="008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91168" name="Text Box 39"/>
            <p:cNvSpPr txBox="1">
              <a:spLocks noChangeArrowheads="1"/>
            </p:cNvSpPr>
            <p:nvPr/>
          </p:nvSpPr>
          <p:spPr bwMode="auto">
            <a:xfrm>
              <a:off x="4456" y="2244"/>
              <a:ext cx="26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lang="en-US" sz="2200" b="0">
                  <a:latin typeface="Verdana" charset="0"/>
                  <a:cs typeface="Arial" charset="0"/>
                </a:rPr>
                <a:t>F</a:t>
              </a:r>
              <a:r>
                <a:rPr lang="en-US" sz="1800" b="0">
                  <a:latin typeface="Verdana" charset="0"/>
                  <a:cs typeface="Arial" charset="0"/>
                </a:rPr>
                <a:t> </a:t>
              </a:r>
            </a:p>
          </p:txBody>
        </p:sp>
        <p:sp>
          <p:nvSpPr>
            <p:cNvPr id="91169" name="Freeform 40"/>
            <p:cNvSpPr>
              <a:spLocks noChangeAspect="1"/>
            </p:cNvSpPr>
            <p:nvPr/>
          </p:nvSpPr>
          <p:spPr bwMode="auto">
            <a:xfrm flipH="1">
              <a:off x="4405" y="2414"/>
              <a:ext cx="51" cy="166"/>
            </a:xfrm>
            <a:custGeom>
              <a:avLst/>
              <a:gdLst>
                <a:gd name="T0" fmla="*/ 0 w 160"/>
                <a:gd name="T1" fmla="*/ 0 h 208"/>
                <a:gd name="T2" fmla="*/ 51 w 160"/>
                <a:gd name="T3" fmla="*/ 166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66FF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1170" name="Freeform 41"/>
            <p:cNvSpPr>
              <a:spLocks noChangeAspect="1"/>
            </p:cNvSpPr>
            <p:nvPr/>
          </p:nvSpPr>
          <p:spPr bwMode="auto">
            <a:xfrm>
              <a:off x="4449" y="2774"/>
              <a:ext cx="319" cy="184"/>
            </a:xfrm>
            <a:custGeom>
              <a:avLst/>
              <a:gdLst>
                <a:gd name="T0" fmla="*/ 0 w 319"/>
                <a:gd name="T1" fmla="*/ 0 h 184"/>
                <a:gd name="T2" fmla="*/ 319 w 319"/>
                <a:gd name="T3" fmla="*/ 184 h 184"/>
                <a:gd name="T4" fmla="*/ 0 60000 65536"/>
                <a:gd name="T5" fmla="*/ 0 60000 65536"/>
                <a:gd name="T6" fmla="*/ 0 w 319"/>
                <a:gd name="T7" fmla="*/ 0 h 184"/>
                <a:gd name="T8" fmla="*/ 319 w 319"/>
                <a:gd name="T9" fmla="*/ 184 h 18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9" h="184">
                  <a:moveTo>
                    <a:pt x="0" y="0"/>
                  </a:moveTo>
                  <a:lnTo>
                    <a:pt x="319" y="184"/>
                  </a:ln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1171" name="Freeform 42"/>
            <p:cNvSpPr>
              <a:spLocks noChangeAspect="1"/>
            </p:cNvSpPr>
            <p:nvPr/>
          </p:nvSpPr>
          <p:spPr bwMode="auto">
            <a:xfrm>
              <a:off x="4018" y="2774"/>
              <a:ext cx="278" cy="178"/>
            </a:xfrm>
            <a:custGeom>
              <a:avLst/>
              <a:gdLst>
                <a:gd name="T0" fmla="*/ 278 w 278"/>
                <a:gd name="T1" fmla="*/ 0 h 178"/>
                <a:gd name="T2" fmla="*/ 0 w 278"/>
                <a:gd name="T3" fmla="*/ 178 h 178"/>
                <a:gd name="T4" fmla="*/ 0 60000 65536"/>
                <a:gd name="T5" fmla="*/ 0 60000 65536"/>
                <a:gd name="T6" fmla="*/ 0 w 278"/>
                <a:gd name="T7" fmla="*/ 0 h 178"/>
                <a:gd name="T8" fmla="*/ 278 w 278"/>
                <a:gd name="T9" fmla="*/ 178 h 17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8" h="178">
                  <a:moveTo>
                    <a:pt x="278" y="0"/>
                  </a:moveTo>
                  <a:lnTo>
                    <a:pt x="0" y="178"/>
                  </a:ln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1172" name="Freeform 43"/>
            <p:cNvSpPr>
              <a:spLocks noChangeAspect="1"/>
            </p:cNvSpPr>
            <p:nvPr/>
          </p:nvSpPr>
          <p:spPr bwMode="auto">
            <a:xfrm>
              <a:off x="4065" y="3158"/>
              <a:ext cx="505" cy="148"/>
            </a:xfrm>
            <a:custGeom>
              <a:avLst/>
              <a:gdLst>
                <a:gd name="T0" fmla="*/ 0 w 505"/>
                <a:gd name="T1" fmla="*/ 0 h 148"/>
                <a:gd name="T2" fmla="*/ 505 w 505"/>
                <a:gd name="T3" fmla="*/ 148 h 148"/>
                <a:gd name="T4" fmla="*/ 0 60000 65536"/>
                <a:gd name="T5" fmla="*/ 0 60000 65536"/>
                <a:gd name="T6" fmla="*/ 0 w 505"/>
                <a:gd name="T7" fmla="*/ 0 h 148"/>
                <a:gd name="T8" fmla="*/ 505 w 505"/>
                <a:gd name="T9" fmla="*/ 148 h 14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05" h="148">
                  <a:moveTo>
                    <a:pt x="0" y="0"/>
                  </a:moveTo>
                  <a:lnTo>
                    <a:pt x="505" y="148"/>
                  </a:ln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1173" name="Freeform 44"/>
            <p:cNvSpPr>
              <a:spLocks noChangeAspect="1"/>
            </p:cNvSpPr>
            <p:nvPr/>
          </p:nvSpPr>
          <p:spPr bwMode="auto">
            <a:xfrm flipH="1">
              <a:off x="3784" y="3158"/>
              <a:ext cx="128" cy="167"/>
            </a:xfrm>
            <a:custGeom>
              <a:avLst/>
              <a:gdLst>
                <a:gd name="T0" fmla="*/ 0 w 160"/>
                <a:gd name="T1" fmla="*/ 0 h 208"/>
                <a:gd name="T2" fmla="*/ 128 w 160"/>
                <a:gd name="T3" fmla="*/ 167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1174" name="Freeform 45"/>
            <p:cNvSpPr>
              <a:spLocks noChangeAspect="1"/>
            </p:cNvSpPr>
            <p:nvPr/>
          </p:nvSpPr>
          <p:spPr bwMode="auto">
            <a:xfrm>
              <a:off x="4849" y="3158"/>
              <a:ext cx="128" cy="167"/>
            </a:xfrm>
            <a:custGeom>
              <a:avLst/>
              <a:gdLst>
                <a:gd name="T0" fmla="*/ 0 w 160"/>
                <a:gd name="T1" fmla="*/ 0 h 208"/>
                <a:gd name="T2" fmla="*/ 128 w 160"/>
                <a:gd name="T3" fmla="*/ 167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1175" name="Freeform 46"/>
            <p:cNvSpPr>
              <a:spLocks noChangeAspect="1"/>
            </p:cNvSpPr>
            <p:nvPr/>
          </p:nvSpPr>
          <p:spPr bwMode="auto">
            <a:xfrm>
              <a:off x="4180" y="3158"/>
              <a:ext cx="516" cy="148"/>
            </a:xfrm>
            <a:custGeom>
              <a:avLst/>
              <a:gdLst>
                <a:gd name="T0" fmla="*/ 516 w 516"/>
                <a:gd name="T1" fmla="*/ 0 h 148"/>
                <a:gd name="T2" fmla="*/ 0 w 516"/>
                <a:gd name="T3" fmla="*/ 148 h 148"/>
                <a:gd name="T4" fmla="*/ 0 60000 65536"/>
                <a:gd name="T5" fmla="*/ 0 60000 65536"/>
                <a:gd name="T6" fmla="*/ 0 w 516"/>
                <a:gd name="T7" fmla="*/ 0 h 148"/>
                <a:gd name="T8" fmla="*/ 516 w 516"/>
                <a:gd name="T9" fmla="*/ 148 h 14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16" h="148">
                  <a:moveTo>
                    <a:pt x="516" y="0"/>
                  </a:moveTo>
                  <a:lnTo>
                    <a:pt x="0" y="148"/>
                  </a:ln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1176" name="AutoShape 47"/>
            <p:cNvSpPr>
              <a:spLocks noChangeArrowheads="1"/>
            </p:cNvSpPr>
            <p:nvPr/>
          </p:nvSpPr>
          <p:spPr bwMode="auto">
            <a:xfrm>
              <a:off x="4378" y="3312"/>
              <a:ext cx="384" cy="480"/>
            </a:xfrm>
            <a:prstGeom prst="triangle">
              <a:avLst>
                <a:gd name="adj" fmla="val 50000"/>
              </a:avLst>
            </a:prstGeom>
            <a:solidFill>
              <a:srgbClr val="008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91177" name="AutoShape 48"/>
            <p:cNvSpPr>
              <a:spLocks noChangeArrowheads="1"/>
            </p:cNvSpPr>
            <p:nvPr/>
          </p:nvSpPr>
          <p:spPr bwMode="auto">
            <a:xfrm>
              <a:off x="3998" y="3312"/>
              <a:ext cx="384" cy="480"/>
            </a:xfrm>
            <a:prstGeom prst="triangle">
              <a:avLst>
                <a:gd name="adj" fmla="val 50000"/>
              </a:avLst>
            </a:prstGeom>
            <a:solidFill>
              <a:srgbClr val="008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91178" name="AutoShape 49"/>
            <p:cNvSpPr>
              <a:spLocks noChangeArrowheads="1"/>
            </p:cNvSpPr>
            <p:nvPr/>
          </p:nvSpPr>
          <p:spPr bwMode="auto">
            <a:xfrm>
              <a:off x="3592" y="3312"/>
              <a:ext cx="384" cy="480"/>
            </a:xfrm>
            <a:prstGeom prst="triangle">
              <a:avLst>
                <a:gd name="adj" fmla="val 50000"/>
              </a:avLst>
            </a:prstGeom>
            <a:solidFill>
              <a:srgbClr val="008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91179" name="Text Box 50"/>
            <p:cNvSpPr txBox="1">
              <a:spLocks noChangeArrowheads="1"/>
            </p:cNvSpPr>
            <p:nvPr/>
          </p:nvSpPr>
          <p:spPr bwMode="auto">
            <a:xfrm>
              <a:off x="5032" y="2275"/>
              <a:ext cx="34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lang="en-US" sz="2200" b="0">
                  <a:latin typeface="Verdana" charset="0"/>
                  <a:cs typeface="Arial" charset="0"/>
                </a:rPr>
                <a:t>F</a:t>
              </a:r>
              <a:r>
                <a:rPr lang="en-US" sz="2200" b="0" baseline="-25000">
                  <a:latin typeface="Verdana" charset="0"/>
                  <a:cs typeface="Arial" charset="0"/>
                </a:rPr>
                <a:t>1</a:t>
              </a:r>
              <a:r>
                <a:rPr lang="en-US" sz="1800" b="0">
                  <a:latin typeface="Verdana" charset="0"/>
                  <a:cs typeface="Arial" charset="0"/>
                </a:rPr>
                <a:t> </a:t>
              </a:r>
            </a:p>
          </p:txBody>
        </p:sp>
        <p:sp>
          <p:nvSpPr>
            <p:cNvPr id="91180" name="Freeform 51"/>
            <p:cNvSpPr>
              <a:spLocks noChangeAspect="1"/>
            </p:cNvSpPr>
            <p:nvPr/>
          </p:nvSpPr>
          <p:spPr bwMode="auto">
            <a:xfrm>
              <a:off x="4936" y="2501"/>
              <a:ext cx="192" cy="91"/>
            </a:xfrm>
            <a:custGeom>
              <a:avLst/>
              <a:gdLst>
                <a:gd name="T0" fmla="*/ 192 w 203"/>
                <a:gd name="T1" fmla="*/ 0 h 96"/>
                <a:gd name="T2" fmla="*/ 0 w 203"/>
                <a:gd name="T3" fmla="*/ 91 h 96"/>
                <a:gd name="T4" fmla="*/ 0 60000 65536"/>
                <a:gd name="T5" fmla="*/ 0 60000 65536"/>
                <a:gd name="T6" fmla="*/ 0 w 203"/>
                <a:gd name="T7" fmla="*/ 0 h 96"/>
                <a:gd name="T8" fmla="*/ 203 w 203"/>
                <a:gd name="T9" fmla="*/ 96 h 9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3" h="96">
                  <a:moveTo>
                    <a:pt x="203" y="0"/>
                  </a:moveTo>
                  <a:lnTo>
                    <a:pt x="0" y="96"/>
                  </a:lnTo>
                </a:path>
              </a:pathLst>
            </a:custGeom>
            <a:noFill/>
            <a:ln w="50800">
              <a:solidFill>
                <a:srgbClr val="66FF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1181" name="Text Box 52"/>
            <p:cNvSpPr txBox="1">
              <a:spLocks noChangeArrowheads="1"/>
            </p:cNvSpPr>
            <p:nvPr/>
          </p:nvSpPr>
          <p:spPr bwMode="auto">
            <a:xfrm>
              <a:off x="3496" y="2256"/>
              <a:ext cx="34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lang="en-US" sz="2200" b="0">
                  <a:latin typeface="Verdana" charset="0"/>
                  <a:cs typeface="Arial" charset="0"/>
                </a:rPr>
                <a:t>F</a:t>
              </a:r>
              <a:r>
                <a:rPr lang="en-US" sz="2200" b="0" baseline="-25000">
                  <a:latin typeface="Verdana" charset="0"/>
                  <a:cs typeface="Arial" charset="0"/>
                </a:rPr>
                <a:t>0</a:t>
              </a:r>
              <a:r>
                <a:rPr lang="en-US" sz="1800" b="0">
                  <a:latin typeface="Verdana" charset="0"/>
                  <a:cs typeface="Arial" charset="0"/>
                </a:rPr>
                <a:t> </a:t>
              </a:r>
            </a:p>
          </p:txBody>
        </p:sp>
        <p:sp>
          <p:nvSpPr>
            <p:cNvPr id="91182" name="Freeform 53"/>
            <p:cNvSpPr>
              <a:spLocks noChangeAspect="1"/>
            </p:cNvSpPr>
            <p:nvPr/>
          </p:nvSpPr>
          <p:spPr bwMode="auto">
            <a:xfrm>
              <a:off x="3610" y="2526"/>
              <a:ext cx="198" cy="66"/>
            </a:xfrm>
            <a:custGeom>
              <a:avLst/>
              <a:gdLst>
                <a:gd name="T0" fmla="*/ 0 w 198"/>
                <a:gd name="T1" fmla="*/ 0 h 66"/>
                <a:gd name="T2" fmla="*/ 198 w 198"/>
                <a:gd name="T3" fmla="*/ 66 h 66"/>
                <a:gd name="T4" fmla="*/ 0 60000 65536"/>
                <a:gd name="T5" fmla="*/ 0 60000 65536"/>
                <a:gd name="T6" fmla="*/ 0 w 198"/>
                <a:gd name="T7" fmla="*/ 0 h 66"/>
                <a:gd name="T8" fmla="*/ 198 w 198"/>
                <a:gd name="T9" fmla="*/ 66 h 6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98" h="66">
                  <a:moveTo>
                    <a:pt x="0" y="0"/>
                  </a:moveTo>
                  <a:lnTo>
                    <a:pt x="198" y="66"/>
                  </a:lnTo>
                </a:path>
              </a:pathLst>
            </a:custGeom>
            <a:noFill/>
            <a:ln w="50800">
              <a:solidFill>
                <a:srgbClr val="66FF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1183" name="Text Box 54"/>
            <p:cNvSpPr txBox="1">
              <a:spLocks noChangeArrowheads="1"/>
            </p:cNvSpPr>
            <p:nvPr/>
          </p:nvSpPr>
          <p:spPr bwMode="auto">
            <a:xfrm>
              <a:off x="3604" y="3492"/>
              <a:ext cx="42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lang="en-US" sz="2200" b="0">
                  <a:solidFill>
                    <a:schemeClr val="bg1"/>
                  </a:solidFill>
                  <a:latin typeface="Verdana" charset="0"/>
                  <a:cs typeface="Arial" charset="0"/>
                </a:rPr>
                <a:t>F</a:t>
              </a:r>
              <a:r>
                <a:rPr lang="en-US" sz="2200" b="0" baseline="-25000">
                  <a:solidFill>
                    <a:schemeClr val="bg1"/>
                  </a:solidFill>
                  <a:latin typeface="Verdana" charset="0"/>
                  <a:cs typeface="Arial" charset="0"/>
                </a:rPr>
                <a:t>00</a:t>
              </a:r>
              <a:r>
                <a:rPr lang="en-US" sz="1800" b="0">
                  <a:latin typeface="Verdana" charset="0"/>
                  <a:cs typeface="Arial" charset="0"/>
                </a:rPr>
                <a:t> </a:t>
              </a:r>
            </a:p>
          </p:txBody>
        </p:sp>
        <p:sp>
          <p:nvSpPr>
            <p:cNvPr id="91184" name="Text Box 55"/>
            <p:cNvSpPr txBox="1">
              <a:spLocks noChangeArrowheads="1"/>
            </p:cNvSpPr>
            <p:nvPr/>
          </p:nvSpPr>
          <p:spPr bwMode="auto">
            <a:xfrm>
              <a:off x="4024" y="3492"/>
              <a:ext cx="42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lang="en-US" sz="2200" b="0">
                  <a:solidFill>
                    <a:schemeClr val="bg1"/>
                  </a:solidFill>
                  <a:latin typeface="Verdana" charset="0"/>
                  <a:cs typeface="Arial" charset="0"/>
                </a:rPr>
                <a:t>F</a:t>
              </a:r>
              <a:r>
                <a:rPr lang="en-US" sz="2200" b="0" baseline="-25000">
                  <a:solidFill>
                    <a:schemeClr val="bg1"/>
                  </a:solidFill>
                  <a:latin typeface="Verdana" charset="0"/>
                  <a:cs typeface="Arial" charset="0"/>
                </a:rPr>
                <a:t>01</a:t>
              </a:r>
              <a:r>
                <a:rPr lang="en-US" sz="1800" b="0">
                  <a:latin typeface="Verdana" charset="0"/>
                  <a:cs typeface="Arial" charset="0"/>
                </a:rPr>
                <a:t> </a:t>
              </a:r>
            </a:p>
          </p:txBody>
        </p:sp>
        <p:sp>
          <p:nvSpPr>
            <p:cNvPr id="91185" name="Text Box 56"/>
            <p:cNvSpPr txBox="1">
              <a:spLocks noChangeArrowheads="1"/>
            </p:cNvSpPr>
            <p:nvPr/>
          </p:nvSpPr>
          <p:spPr bwMode="auto">
            <a:xfrm>
              <a:off x="4408" y="3492"/>
              <a:ext cx="42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lang="en-US" sz="2200" b="0">
                  <a:solidFill>
                    <a:schemeClr val="bg1"/>
                  </a:solidFill>
                  <a:latin typeface="Verdana" charset="0"/>
                  <a:cs typeface="Arial" charset="0"/>
                </a:rPr>
                <a:t>F</a:t>
              </a:r>
              <a:r>
                <a:rPr lang="en-US" sz="2200" b="0" baseline="-25000">
                  <a:solidFill>
                    <a:schemeClr val="bg1"/>
                  </a:solidFill>
                  <a:latin typeface="Verdana" charset="0"/>
                  <a:cs typeface="Arial" charset="0"/>
                </a:rPr>
                <a:t>10</a:t>
              </a:r>
              <a:r>
                <a:rPr lang="en-US" sz="1800" b="0">
                  <a:latin typeface="Verdana" charset="0"/>
                  <a:cs typeface="Arial" charset="0"/>
                </a:rPr>
                <a:t> </a:t>
              </a:r>
            </a:p>
          </p:txBody>
        </p:sp>
        <p:sp>
          <p:nvSpPr>
            <p:cNvPr id="91186" name="Text Box 57"/>
            <p:cNvSpPr txBox="1">
              <a:spLocks noChangeArrowheads="1"/>
            </p:cNvSpPr>
            <p:nvPr/>
          </p:nvSpPr>
          <p:spPr bwMode="auto">
            <a:xfrm>
              <a:off x="4804" y="3492"/>
              <a:ext cx="42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lang="en-US" sz="2200" b="0">
                  <a:solidFill>
                    <a:schemeClr val="bg1"/>
                  </a:solidFill>
                  <a:latin typeface="Verdana" charset="0"/>
                  <a:cs typeface="Arial" charset="0"/>
                </a:rPr>
                <a:t>F</a:t>
              </a:r>
              <a:r>
                <a:rPr lang="en-US" sz="2200" b="0" baseline="-25000">
                  <a:solidFill>
                    <a:schemeClr val="bg1"/>
                  </a:solidFill>
                  <a:latin typeface="Verdana" charset="0"/>
                  <a:cs typeface="Arial" charset="0"/>
                </a:rPr>
                <a:t>11</a:t>
              </a:r>
              <a:r>
                <a:rPr lang="en-US" sz="1800" b="0">
                  <a:latin typeface="Verdana" charset="0"/>
                  <a:cs typeface="Arial" charset="0"/>
                </a:rPr>
                <a:t> </a:t>
              </a:r>
            </a:p>
          </p:txBody>
        </p:sp>
        <p:grpSp>
          <p:nvGrpSpPr>
            <p:cNvPr id="91187" name="Group 58"/>
            <p:cNvGrpSpPr>
              <a:grpSpLocks noChangeAspect="1"/>
            </p:cNvGrpSpPr>
            <p:nvPr/>
          </p:nvGrpSpPr>
          <p:grpSpPr bwMode="auto">
            <a:xfrm>
              <a:off x="4653" y="2953"/>
              <a:ext cx="259" cy="258"/>
              <a:chOff x="2895" y="1500"/>
              <a:chExt cx="293" cy="293"/>
            </a:xfrm>
          </p:grpSpPr>
          <p:sp>
            <p:nvSpPr>
              <p:cNvPr id="91206" name="Freeform 59"/>
              <p:cNvSpPr>
                <a:spLocks noChangeAspect="1"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207" name="Freeform 60"/>
              <p:cNvSpPr>
                <a:spLocks noChangeAspect="1"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208" name="Rectangle 61"/>
              <p:cNvSpPr>
                <a:spLocks noChangeAspect="1" noChangeArrowheads="1"/>
              </p:cNvSpPr>
              <p:nvPr/>
            </p:nvSpPr>
            <p:spPr bwMode="auto">
              <a:xfrm>
                <a:off x="2989" y="1514"/>
                <a:ext cx="123" cy="2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0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x</a:t>
                </a:r>
                <a:r>
                  <a:rPr lang="en-US" sz="2000" i="1" baseline="-250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i</a:t>
                </a:r>
              </a:p>
            </p:txBody>
          </p:sp>
        </p:grpSp>
        <p:grpSp>
          <p:nvGrpSpPr>
            <p:cNvPr id="91188" name="Group 62"/>
            <p:cNvGrpSpPr>
              <a:grpSpLocks noChangeAspect="1"/>
            </p:cNvGrpSpPr>
            <p:nvPr/>
          </p:nvGrpSpPr>
          <p:grpSpPr bwMode="auto">
            <a:xfrm>
              <a:off x="3861" y="2958"/>
              <a:ext cx="259" cy="258"/>
              <a:chOff x="2895" y="1500"/>
              <a:chExt cx="293" cy="293"/>
            </a:xfrm>
          </p:grpSpPr>
          <p:sp>
            <p:nvSpPr>
              <p:cNvPr id="91203" name="Freeform 63"/>
              <p:cNvSpPr>
                <a:spLocks noChangeAspect="1"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204" name="Freeform 64"/>
              <p:cNvSpPr>
                <a:spLocks noChangeAspect="1"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205" name="Rectangle 65"/>
              <p:cNvSpPr>
                <a:spLocks noChangeAspect="1" noChangeArrowheads="1"/>
              </p:cNvSpPr>
              <p:nvPr/>
            </p:nvSpPr>
            <p:spPr bwMode="auto">
              <a:xfrm>
                <a:off x="2989" y="1514"/>
                <a:ext cx="123" cy="2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0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x</a:t>
                </a:r>
                <a:r>
                  <a:rPr lang="en-US" sz="2000" i="1" baseline="-250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i</a:t>
                </a:r>
              </a:p>
            </p:txBody>
          </p:sp>
        </p:grpSp>
        <p:grpSp>
          <p:nvGrpSpPr>
            <p:cNvPr id="91189" name="Group 66"/>
            <p:cNvGrpSpPr>
              <a:grpSpLocks noChangeAspect="1"/>
            </p:cNvGrpSpPr>
            <p:nvPr/>
          </p:nvGrpSpPr>
          <p:grpSpPr bwMode="auto">
            <a:xfrm>
              <a:off x="4253" y="2569"/>
              <a:ext cx="259" cy="258"/>
              <a:chOff x="2895" y="1500"/>
              <a:chExt cx="293" cy="293"/>
            </a:xfrm>
          </p:grpSpPr>
          <p:sp>
            <p:nvSpPr>
              <p:cNvPr id="91200" name="Freeform 67"/>
              <p:cNvSpPr>
                <a:spLocks noChangeAspect="1"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201" name="Freeform 68"/>
              <p:cNvSpPr>
                <a:spLocks noChangeAspect="1"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202" name="Rectangle 69"/>
              <p:cNvSpPr>
                <a:spLocks noChangeAspect="1" noChangeArrowheads="1"/>
              </p:cNvSpPr>
              <p:nvPr/>
            </p:nvSpPr>
            <p:spPr bwMode="auto">
              <a:xfrm>
                <a:off x="2926" y="1514"/>
                <a:ext cx="248" cy="2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0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x</a:t>
                </a:r>
                <a:r>
                  <a:rPr lang="en-US" sz="2000" i="1" baseline="-250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i+1</a:t>
                </a:r>
              </a:p>
            </p:txBody>
          </p:sp>
        </p:grpSp>
        <p:grpSp>
          <p:nvGrpSpPr>
            <p:cNvPr id="91190" name="Group 70"/>
            <p:cNvGrpSpPr>
              <a:grpSpLocks noChangeAspect="1"/>
            </p:cNvGrpSpPr>
            <p:nvPr/>
          </p:nvGrpSpPr>
          <p:grpSpPr bwMode="auto">
            <a:xfrm>
              <a:off x="3765" y="2574"/>
              <a:ext cx="259" cy="258"/>
              <a:chOff x="2895" y="1500"/>
              <a:chExt cx="293" cy="293"/>
            </a:xfrm>
          </p:grpSpPr>
          <p:sp>
            <p:nvSpPr>
              <p:cNvPr id="91197" name="Freeform 71"/>
              <p:cNvSpPr>
                <a:spLocks noChangeAspect="1"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198" name="Freeform 72"/>
              <p:cNvSpPr>
                <a:spLocks noChangeAspect="1"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199" name="Rectangle 73"/>
              <p:cNvSpPr>
                <a:spLocks noChangeAspect="1" noChangeArrowheads="1"/>
              </p:cNvSpPr>
              <p:nvPr/>
            </p:nvSpPr>
            <p:spPr bwMode="auto">
              <a:xfrm>
                <a:off x="2927" y="1514"/>
                <a:ext cx="249" cy="2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0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x</a:t>
                </a:r>
                <a:r>
                  <a:rPr lang="en-US" sz="2000" i="1" baseline="-250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i+1</a:t>
                </a:r>
              </a:p>
            </p:txBody>
          </p:sp>
        </p:grpSp>
        <p:sp>
          <p:nvSpPr>
            <p:cNvPr id="91191" name="Freeform 74"/>
            <p:cNvSpPr>
              <a:spLocks noChangeAspect="1"/>
            </p:cNvSpPr>
            <p:nvPr/>
          </p:nvSpPr>
          <p:spPr bwMode="auto">
            <a:xfrm flipH="1">
              <a:off x="4552" y="2784"/>
              <a:ext cx="232" cy="526"/>
            </a:xfrm>
            <a:custGeom>
              <a:avLst/>
              <a:gdLst>
                <a:gd name="T0" fmla="*/ 0 w 232"/>
                <a:gd name="T1" fmla="*/ 0 h 526"/>
                <a:gd name="T2" fmla="*/ 199 w 232"/>
                <a:gd name="T3" fmla="*/ 166 h 526"/>
                <a:gd name="T4" fmla="*/ 199 w 232"/>
                <a:gd name="T5" fmla="*/ 526 h 526"/>
                <a:gd name="T6" fmla="*/ 0 60000 65536"/>
                <a:gd name="T7" fmla="*/ 0 60000 65536"/>
                <a:gd name="T8" fmla="*/ 0 60000 65536"/>
                <a:gd name="T9" fmla="*/ 0 w 232"/>
                <a:gd name="T10" fmla="*/ 0 h 526"/>
                <a:gd name="T11" fmla="*/ 232 w 232"/>
                <a:gd name="T12" fmla="*/ 526 h 52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2" h="526">
                  <a:moveTo>
                    <a:pt x="0" y="0"/>
                  </a:moveTo>
                  <a:cubicBezTo>
                    <a:pt x="33" y="28"/>
                    <a:pt x="166" y="78"/>
                    <a:pt x="199" y="166"/>
                  </a:cubicBezTo>
                  <a:cubicBezTo>
                    <a:pt x="232" y="254"/>
                    <a:pt x="199" y="451"/>
                    <a:pt x="199" y="526"/>
                  </a:cubicBez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1192" name="Freeform 75"/>
            <p:cNvSpPr>
              <a:spLocks noChangeAspect="1"/>
            </p:cNvSpPr>
            <p:nvPr/>
          </p:nvSpPr>
          <p:spPr bwMode="auto">
            <a:xfrm flipH="1">
              <a:off x="4936" y="2784"/>
              <a:ext cx="50" cy="526"/>
            </a:xfrm>
            <a:custGeom>
              <a:avLst/>
              <a:gdLst>
                <a:gd name="T0" fmla="*/ 50 w 50"/>
                <a:gd name="T1" fmla="*/ 0 h 526"/>
                <a:gd name="T2" fmla="*/ 0 w 50"/>
                <a:gd name="T3" fmla="*/ 526 h 526"/>
                <a:gd name="T4" fmla="*/ 0 60000 65536"/>
                <a:gd name="T5" fmla="*/ 0 60000 65536"/>
                <a:gd name="T6" fmla="*/ 0 w 50"/>
                <a:gd name="T7" fmla="*/ 0 h 526"/>
                <a:gd name="T8" fmla="*/ 50 w 50"/>
                <a:gd name="T9" fmla="*/ 526 h 52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0" h="526">
                  <a:moveTo>
                    <a:pt x="50" y="0"/>
                  </a:moveTo>
                  <a:lnTo>
                    <a:pt x="0" y="526"/>
                  </a:ln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91193" name="Group 76"/>
            <p:cNvGrpSpPr>
              <a:grpSpLocks noChangeAspect="1"/>
            </p:cNvGrpSpPr>
            <p:nvPr/>
          </p:nvGrpSpPr>
          <p:grpSpPr bwMode="auto">
            <a:xfrm>
              <a:off x="4725" y="2574"/>
              <a:ext cx="259" cy="258"/>
              <a:chOff x="2895" y="1500"/>
              <a:chExt cx="293" cy="293"/>
            </a:xfrm>
          </p:grpSpPr>
          <p:sp>
            <p:nvSpPr>
              <p:cNvPr id="91194" name="Freeform 77"/>
              <p:cNvSpPr>
                <a:spLocks noChangeAspect="1"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195" name="Freeform 78"/>
              <p:cNvSpPr>
                <a:spLocks noChangeAspect="1"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196" name="Rectangle 79"/>
              <p:cNvSpPr>
                <a:spLocks noChangeAspect="1" noChangeArrowheads="1"/>
              </p:cNvSpPr>
              <p:nvPr/>
            </p:nvSpPr>
            <p:spPr bwMode="auto">
              <a:xfrm>
                <a:off x="2927" y="1514"/>
                <a:ext cx="249" cy="2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0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x</a:t>
                </a:r>
                <a:r>
                  <a:rPr lang="en-US" sz="2000" i="1" baseline="-250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i+1</a:t>
                </a:r>
              </a:p>
            </p:txBody>
          </p:sp>
        </p:grpSp>
      </p:grpSp>
      <p:graphicFrame>
        <p:nvGraphicFramePr>
          <p:cNvPr id="91164" name="Object 80"/>
          <p:cNvGraphicFramePr>
            <a:graphicFrameLocks noChangeAspect="1"/>
          </p:cNvGraphicFramePr>
          <p:nvPr/>
        </p:nvGraphicFramePr>
        <p:xfrm>
          <a:off x="762000" y="1841500"/>
          <a:ext cx="6172200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4" imgW="6172200" imgH="1511300" progId="Equation.3">
                  <p:embed/>
                </p:oleObj>
              </mc:Choice>
              <mc:Fallback>
                <p:oleObj name="Equation" r:id="rId4" imgW="6172200" imgH="1511300" progId="Equation.3">
                  <p:embed/>
                  <p:pic>
                    <p:nvPicPr>
                      <p:cNvPr id="0" name="Picture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841500"/>
                        <a:ext cx="6172200" cy="15113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r>
              <a:rPr lang="en-US" sz="1400" b="0"/>
              <a:t>(c)  Giovanni De Micheli</a:t>
            </a:r>
          </a:p>
        </p:txBody>
      </p:sp>
      <p:sp>
        <p:nvSpPr>
          <p:cNvPr id="9318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C6A7EE44-950A-DF4A-8AF5-BE7314A51506}" type="slidenum">
              <a:rPr lang="en-US" sz="1400" b="0"/>
              <a:pPr/>
              <a:t>43</a:t>
            </a:fld>
            <a:endParaRPr lang="en-US" sz="1400" b="0"/>
          </a:p>
        </p:txBody>
      </p:sp>
      <p:sp>
        <p:nvSpPr>
          <p:cNvPr id="931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Narrow" charset="0"/>
              </a:rPr>
              <a:t>Dynamic variable ordering</a:t>
            </a:r>
            <a:endParaRPr lang="en-US" sz="2000">
              <a:latin typeface="Arial Narrow" charset="0"/>
            </a:endParaRPr>
          </a:p>
        </p:txBody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5575" y="1582738"/>
            <a:ext cx="8763000" cy="4513262"/>
          </a:xfrm>
          <a:noFill/>
        </p:spPr>
        <p:txBody>
          <a:bodyPr/>
          <a:lstStyle/>
          <a:p>
            <a:r>
              <a:rPr lang="en-US" sz="3000" i="1" dirty="0">
                <a:latin typeface="Arial Narrow" charset="0"/>
              </a:rPr>
              <a:t>Key idea</a:t>
            </a:r>
            <a:r>
              <a:rPr lang="en-US" sz="3000" dirty="0">
                <a:latin typeface="Arial Narrow" charset="0"/>
              </a:rPr>
              <a:t>: swapping two variables can be done locally</a:t>
            </a:r>
            <a:endParaRPr lang="en-US" sz="3000" i="1" dirty="0">
              <a:latin typeface="Arial Narrow" charset="0"/>
            </a:endParaRPr>
          </a:p>
          <a:p>
            <a:pPr lvl="1"/>
            <a:r>
              <a:rPr lang="en-US" sz="2600" i="1" dirty="0">
                <a:latin typeface="Arial Narrow" charset="0"/>
              </a:rPr>
              <a:t>Efficient: </a:t>
            </a:r>
          </a:p>
          <a:p>
            <a:pPr lvl="2"/>
            <a:r>
              <a:rPr lang="en-US" sz="2200" dirty="0">
                <a:latin typeface="Arial Narrow" charset="0"/>
              </a:rPr>
              <a:t>It can be done just by sweeping the unique table</a:t>
            </a:r>
            <a:endParaRPr lang="en-US" sz="2200" i="1" dirty="0">
              <a:latin typeface="Arial Narrow" charset="0"/>
            </a:endParaRPr>
          </a:p>
          <a:p>
            <a:pPr lvl="1"/>
            <a:r>
              <a:rPr lang="en-US" sz="2600" i="1" dirty="0">
                <a:latin typeface="Arial Narrow" charset="0"/>
              </a:rPr>
              <a:t>Robust</a:t>
            </a:r>
            <a:r>
              <a:rPr lang="en-US" sz="2600" dirty="0">
                <a:latin typeface="Arial Narrow" charset="0"/>
              </a:rPr>
              <a:t>:</a:t>
            </a:r>
          </a:p>
          <a:p>
            <a:pPr lvl="2"/>
            <a:r>
              <a:rPr lang="en-US" sz="2200" dirty="0">
                <a:latin typeface="Arial Narrow" charset="0"/>
              </a:rPr>
              <a:t> It works well on many more circuits</a:t>
            </a:r>
          </a:p>
          <a:p>
            <a:pPr lvl="1"/>
            <a:r>
              <a:rPr lang="en-US" sz="2600" i="1" dirty="0">
                <a:latin typeface="Arial Narrow" charset="0"/>
              </a:rPr>
              <a:t>Warning</a:t>
            </a:r>
            <a:r>
              <a:rPr lang="en-US" sz="2600" dirty="0">
                <a:latin typeface="Arial Narrow" charset="0"/>
              </a:rPr>
              <a:t>: </a:t>
            </a:r>
          </a:p>
          <a:p>
            <a:pPr lvl="2"/>
            <a:r>
              <a:rPr lang="en-US" sz="2200" dirty="0">
                <a:latin typeface="Arial Narrow" charset="0"/>
              </a:rPr>
              <a:t>It is still non optimal</a:t>
            </a:r>
          </a:p>
          <a:p>
            <a:pPr lvl="2"/>
            <a:r>
              <a:rPr lang="en-US" sz="2200" dirty="0">
                <a:latin typeface="Arial Narrow" charset="0"/>
              </a:rPr>
              <a:t>At convergence, you most probably have found only a local minimum</a:t>
            </a:r>
          </a:p>
          <a:p>
            <a:pPr lvl="1"/>
            <a:endParaRPr lang="en-US" sz="2600" dirty="0">
              <a:latin typeface="Arial Narrow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r>
              <a:rPr lang="en-US" sz="1400" b="0"/>
              <a:t>(c)  Giovanni De Micheli</a:t>
            </a:r>
          </a:p>
        </p:txBody>
      </p:sp>
      <p:sp>
        <p:nvSpPr>
          <p:cNvPr id="9523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3CDA8E22-4A2F-1B49-86BC-4A9395E245FE}" type="slidenum">
              <a:rPr lang="en-US" sz="1400" b="0"/>
              <a:pPr/>
              <a:t>44</a:t>
            </a:fld>
            <a:endParaRPr lang="en-US" sz="1400" b="0"/>
          </a:p>
        </p:txBody>
      </p:sp>
      <p:sp>
        <p:nvSpPr>
          <p:cNvPr id="952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Narrow" charset="0"/>
              </a:rPr>
              <a:t>Improvements on BDDs</a:t>
            </a:r>
          </a:p>
        </p:txBody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6738" y="1439863"/>
            <a:ext cx="8001000" cy="4267200"/>
          </a:xfrm>
          <a:noFill/>
        </p:spPr>
        <p:txBody>
          <a:bodyPr/>
          <a:lstStyle/>
          <a:p>
            <a:pPr marL="469900" indent="-469900">
              <a:lnSpc>
                <a:spcPct val="90000"/>
              </a:lnSpc>
            </a:pPr>
            <a:r>
              <a:rPr lang="en-US" sz="2400">
                <a:latin typeface="Arial Narrow" charset="0"/>
              </a:rPr>
              <a:t>Complement edges </a:t>
            </a:r>
            <a:r>
              <a:rPr lang="en-US" sz="2000">
                <a:latin typeface="Arial Narrow" charset="0"/>
              </a:rPr>
              <a:t>(1990)</a:t>
            </a:r>
          </a:p>
          <a:p>
            <a:pPr marL="908050" lvl="1" indent="-436563">
              <a:lnSpc>
                <a:spcPct val="90000"/>
              </a:lnSpc>
            </a:pPr>
            <a:r>
              <a:rPr lang="en-US" sz="2000">
                <a:latin typeface="Arial Narrow" charset="0"/>
              </a:rPr>
              <a:t>Creates more opportunities for sharing </a:t>
            </a:r>
          </a:p>
          <a:p>
            <a:pPr marL="1304925" lvl="2" indent="-395288"/>
            <a:r>
              <a:rPr lang="en-US" sz="1800">
                <a:latin typeface="Arial Narrow" charset="0"/>
              </a:rPr>
              <a:t>Fewer nodes</a:t>
            </a:r>
          </a:p>
          <a:p>
            <a:pPr marL="908050" lvl="1" indent="-436563">
              <a:lnSpc>
                <a:spcPct val="90000"/>
              </a:lnSpc>
            </a:pPr>
            <a:endParaRPr lang="en-US" sz="2000">
              <a:latin typeface="Arial Narrow" charset="0"/>
            </a:endParaRPr>
          </a:p>
          <a:p>
            <a:pPr marL="908050" lvl="1" indent="-436563">
              <a:lnSpc>
                <a:spcPct val="90000"/>
              </a:lnSpc>
            </a:pPr>
            <a:r>
              <a:rPr lang="en-US" sz="2000">
                <a:latin typeface="Arial Narrow" charset="0"/>
              </a:rPr>
              <a:t>For every pair (F,F</a:t>
            </a:r>
            <a:r>
              <a:rPr lang="ja-JP" altLang="en-US" sz="2000">
                <a:latin typeface="Arial Narrow" charset="0"/>
              </a:rPr>
              <a:t>’</a:t>
            </a:r>
            <a:r>
              <a:rPr lang="en-US" altLang="ja-JP" sz="2000">
                <a:latin typeface="Arial Narrow" charset="0"/>
              </a:rPr>
              <a:t>), we </a:t>
            </a:r>
          </a:p>
          <a:p>
            <a:pPr marL="1304925" lvl="2" indent="-395288"/>
            <a:r>
              <a:rPr lang="en-US" sz="1800">
                <a:latin typeface="Arial Narrow" charset="0"/>
              </a:rPr>
              <a:t>Only construct the ROBDD for F</a:t>
            </a:r>
          </a:p>
          <a:p>
            <a:pPr marL="1304925" lvl="2" indent="-395288"/>
            <a:r>
              <a:rPr lang="en-US" sz="1800">
                <a:latin typeface="Arial Narrow" charset="0"/>
              </a:rPr>
              <a:t>F</a:t>
            </a:r>
            <a:r>
              <a:rPr lang="ja-JP" altLang="en-US" sz="1800">
                <a:latin typeface="Arial Narrow" charset="0"/>
              </a:rPr>
              <a:t>’</a:t>
            </a:r>
            <a:r>
              <a:rPr lang="en-US" altLang="ja-JP" sz="1800">
                <a:latin typeface="Arial Narrow" charset="0"/>
              </a:rPr>
              <a:t> is given by using a complement edge to F</a:t>
            </a:r>
          </a:p>
          <a:p>
            <a:pPr marL="1304925" lvl="2" indent="-395288"/>
            <a:endParaRPr lang="en-US" sz="1800">
              <a:latin typeface="Arial Narrow" charset="0"/>
            </a:endParaRPr>
          </a:p>
          <a:p>
            <a:pPr marL="908050" lvl="1" indent="-436563">
              <a:lnSpc>
                <a:spcPct val="90000"/>
              </a:lnSpc>
            </a:pPr>
            <a:r>
              <a:rPr lang="en-US" sz="2000">
                <a:latin typeface="Arial Narrow" charset="0"/>
              </a:rPr>
              <a:t>	Which do you pick ?</a:t>
            </a:r>
          </a:p>
          <a:p>
            <a:pPr marL="1304925" lvl="2" indent="-395288"/>
            <a:r>
              <a:rPr lang="en-US" sz="1800">
                <a:latin typeface="Arial Narrow" charset="0"/>
              </a:rPr>
              <a:t>THEN edge can never be complemented</a:t>
            </a:r>
          </a:p>
          <a:p>
            <a:pPr marL="1304925" lvl="2" indent="-395288"/>
            <a:r>
              <a:rPr lang="en-US" sz="1800">
                <a:latin typeface="Arial Narrow" charset="0"/>
              </a:rPr>
              <a:t>Only constant value</a:t>
            </a:r>
          </a:p>
        </p:txBody>
      </p:sp>
      <p:grpSp>
        <p:nvGrpSpPr>
          <p:cNvPr id="95237" name="Group 4"/>
          <p:cNvGrpSpPr>
            <a:grpSpLocks/>
          </p:cNvGrpSpPr>
          <p:nvPr/>
        </p:nvGrpSpPr>
        <p:grpSpPr bwMode="auto">
          <a:xfrm>
            <a:off x="7010400" y="1765300"/>
            <a:ext cx="1619250" cy="1582738"/>
            <a:chOff x="3216" y="1728"/>
            <a:chExt cx="1020" cy="997"/>
          </a:xfrm>
        </p:grpSpPr>
        <p:sp>
          <p:nvSpPr>
            <p:cNvPr id="95242" name="Freeform 5"/>
            <p:cNvSpPr>
              <a:spLocks/>
            </p:cNvSpPr>
            <p:nvPr/>
          </p:nvSpPr>
          <p:spPr bwMode="auto">
            <a:xfrm flipH="1">
              <a:off x="3408" y="1872"/>
              <a:ext cx="528" cy="371"/>
            </a:xfrm>
            <a:custGeom>
              <a:avLst/>
              <a:gdLst>
                <a:gd name="T0" fmla="*/ 0 w 160"/>
                <a:gd name="T1" fmla="*/ 0 h 208"/>
                <a:gd name="T2" fmla="*/ 528 w 160"/>
                <a:gd name="T3" fmla="*/ 371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66FF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5243" name="Freeform 6"/>
            <p:cNvSpPr>
              <a:spLocks/>
            </p:cNvSpPr>
            <p:nvPr/>
          </p:nvSpPr>
          <p:spPr bwMode="auto">
            <a:xfrm flipH="1">
              <a:off x="3408" y="1872"/>
              <a:ext cx="112" cy="371"/>
            </a:xfrm>
            <a:custGeom>
              <a:avLst/>
              <a:gdLst>
                <a:gd name="T0" fmla="*/ 0 w 160"/>
                <a:gd name="T1" fmla="*/ 0 h 208"/>
                <a:gd name="T2" fmla="*/ 112 w 160"/>
                <a:gd name="T3" fmla="*/ 371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66FF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5244" name="Freeform 7"/>
            <p:cNvSpPr>
              <a:spLocks/>
            </p:cNvSpPr>
            <p:nvPr/>
          </p:nvSpPr>
          <p:spPr bwMode="auto">
            <a:xfrm>
              <a:off x="3696" y="1968"/>
              <a:ext cx="84" cy="84"/>
            </a:xfrm>
            <a:custGeom>
              <a:avLst/>
              <a:gdLst>
                <a:gd name="T0" fmla="*/ 0 w 223"/>
                <a:gd name="T1" fmla="*/ 42 h 222"/>
                <a:gd name="T2" fmla="*/ 42 w 223"/>
                <a:gd name="T3" fmla="*/ 0 h 222"/>
                <a:gd name="T4" fmla="*/ 84 w 223"/>
                <a:gd name="T5" fmla="*/ 42 h 222"/>
                <a:gd name="T6" fmla="*/ 84 w 223"/>
                <a:gd name="T7" fmla="*/ 42 h 222"/>
                <a:gd name="T8" fmla="*/ 42 w 223"/>
                <a:gd name="T9" fmla="*/ 84 h 222"/>
                <a:gd name="T10" fmla="*/ 0 w 223"/>
                <a:gd name="T11" fmla="*/ 42 h 2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23"/>
                <a:gd name="T19" fmla="*/ 0 h 222"/>
                <a:gd name="T20" fmla="*/ 223 w 223"/>
                <a:gd name="T21" fmla="*/ 222 h 22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23" h="222">
                  <a:moveTo>
                    <a:pt x="0" y="111"/>
                  </a:moveTo>
                  <a:cubicBezTo>
                    <a:pt x="0" y="49"/>
                    <a:pt x="50" y="0"/>
                    <a:pt x="111" y="0"/>
                  </a:cubicBezTo>
                  <a:cubicBezTo>
                    <a:pt x="173" y="0"/>
                    <a:pt x="223" y="49"/>
                    <a:pt x="223" y="111"/>
                  </a:cubicBezTo>
                  <a:cubicBezTo>
                    <a:pt x="223" y="111"/>
                    <a:pt x="223" y="111"/>
                    <a:pt x="223" y="111"/>
                  </a:cubicBezTo>
                  <a:cubicBezTo>
                    <a:pt x="223" y="172"/>
                    <a:pt x="173" y="222"/>
                    <a:pt x="111" y="222"/>
                  </a:cubicBezTo>
                  <a:cubicBezTo>
                    <a:pt x="50" y="222"/>
                    <a:pt x="0" y="172"/>
                    <a:pt x="0" y="111"/>
                  </a:cubicBezTo>
                </a:path>
              </a:pathLst>
            </a:custGeom>
            <a:solidFill>
              <a:srgbClr val="339966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245" name="AutoShape 8"/>
            <p:cNvSpPr>
              <a:spLocks noChangeArrowheads="1"/>
            </p:cNvSpPr>
            <p:nvPr/>
          </p:nvSpPr>
          <p:spPr bwMode="auto">
            <a:xfrm>
              <a:off x="3216" y="2245"/>
              <a:ext cx="384" cy="480"/>
            </a:xfrm>
            <a:prstGeom prst="triangle">
              <a:avLst>
                <a:gd name="adj" fmla="val 50000"/>
              </a:avLst>
            </a:prstGeom>
            <a:solidFill>
              <a:srgbClr val="008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95246" name="Text Box 9"/>
            <p:cNvSpPr txBox="1">
              <a:spLocks noChangeArrowheads="1"/>
            </p:cNvSpPr>
            <p:nvPr/>
          </p:nvSpPr>
          <p:spPr bwMode="auto">
            <a:xfrm>
              <a:off x="3312" y="1728"/>
              <a:ext cx="26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lang="en-US" sz="2200" b="0">
                  <a:latin typeface="Verdana" charset="0"/>
                  <a:cs typeface="Arial" charset="0"/>
                </a:rPr>
                <a:t>F</a:t>
              </a:r>
              <a:r>
                <a:rPr lang="en-US" sz="1800" b="0">
                  <a:latin typeface="Verdana" charset="0"/>
                  <a:cs typeface="Arial" charset="0"/>
                </a:rPr>
                <a:t> </a:t>
              </a:r>
            </a:p>
          </p:txBody>
        </p:sp>
        <p:sp>
          <p:nvSpPr>
            <p:cNvPr id="95247" name="Text Box 10"/>
            <p:cNvSpPr txBox="1">
              <a:spLocks noChangeArrowheads="1"/>
            </p:cNvSpPr>
            <p:nvPr/>
          </p:nvSpPr>
          <p:spPr bwMode="auto">
            <a:xfrm>
              <a:off x="3921" y="1728"/>
              <a:ext cx="31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 Narrow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lang="en-US" sz="2200" b="0">
                  <a:latin typeface="Verdana" charset="0"/>
                  <a:cs typeface="Arial" charset="0"/>
                </a:rPr>
                <a:t>F</a:t>
              </a:r>
              <a:r>
                <a:rPr lang="ja-JP" altLang="en-US" sz="2200" b="0">
                  <a:latin typeface="Verdana" charset="0"/>
                  <a:cs typeface="Arial" charset="0"/>
                </a:rPr>
                <a:t>’</a:t>
              </a:r>
              <a:r>
                <a:rPr lang="en-US" altLang="ja-JP" sz="1800" b="0">
                  <a:latin typeface="Verdana" charset="0"/>
                  <a:cs typeface="Arial" charset="0"/>
                </a:rPr>
                <a:t> </a:t>
              </a:r>
              <a:endParaRPr lang="en-US" sz="1800" b="0">
                <a:latin typeface="Verdana" charset="0"/>
                <a:cs typeface="Arial" charset="0"/>
              </a:endParaRPr>
            </a:p>
          </p:txBody>
        </p:sp>
      </p:grpSp>
      <p:grpSp>
        <p:nvGrpSpPr>
          <p:cNvPr id="95238" name="Group 11"/>
          <p:cNvGrpSpPr>
            <a:grpSpLocks/>
          </p:cNvGrpSpPr>
          <p:nvPr/>
        </p:nvGrpSpPr>
        <p:grpSpPr bwMode="auto">
          <a:xfrm>
            <a:off x="4056063" y="4983163"/>
            <a:ext cx="265112" cy="320675"/>
            <a:chOff x="3087" y="2784"/>
            <a:chExt cx="167" cy="202"/>
          </a:xfrm>
        </p:grpSpPr>
        <p:sp>
          <p:nvSpPr>
            <p:cNvPr id="95239" name="Rectangle 12"/>
            <p:cNvSpPr>
              <a:spLocks noChangeArrowheads="1"/>
            </p:cNvSpPr>
            <p:nvPr/>
          </p:nvSpPr>
          <p:spPr bwMode="auto">
            <a:xfrm>
              <a:off x="3087" y="2809"/>
              <a:ext cx="167" cy="168"/>
            </a:xfrm>
            <a:prstGeom prst="rect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240" name="Rectangle 13"/>
            <p:cNvSpPr>
              <a:spLocks noChangeArrowheads="1"/>
            </p:cNvSpPr>
            <p:nvPr/>
          </p:nvSpPr>
          <p:spPr bwMode="auto">
            <a:xfrm>
              <a:off x="3087" y="2809"/>
              <a:ext cx="167" cy="168"/>
            </a:xfrm>
            <a:prstGeom prst="rect">
              <a:avLst/>
            </a:pr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241" name="Rectangle 14"/>
            <p:cNvSpPr>
              <a:spLocks noChangeArrowheads="1"/>
            </p:cNvSpPr>
            <p:nvPr/>
          </p:nvSpPr>
          <p:spPr bwMode="auto">
            <a:xfrm>
              <a:off x="3120" y="2784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/>
            <a:p>
              <a:r>
                <a:rPr lang="en-US" sz="2100">
                  <a:solidFill>
                    <a:srgbClr val="000080"/>
                  </a:solidFill>
                  <a:latin typeface="Times New Roman" charset="0"/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r>
              <a:rPr lang="en-US" sz="1400" b="0"/>
              <a:t>(c)  Giovanni De Micheli</a:t>
            </a:r>
          </a:p>
        </p:txBody>
      </p:sp>
      <p:sp>
        <p:nvSpPr>
          <p:cNvPr id="9728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9356F625-49B0-C446-94D0-24C2DF51598B}" type="slidenum">
              <a:rPr lang="en-US" sz="1400" b="0"/>
              <a:pPr/>
              <a:t>45</a:t>
            </a:fld>
            <a:endParaRPr lang="en-US" sz="1400" b="0"/>
          </a:p>
        </p:txBody>
      </p:sp>
      <p:sp>
        <p:nvSpPr>
          <p:cNvPr id="972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Narrow" charset="0"/>
              </a:rPr>
              <a:t>Complement edges</a:t>
            </a:r>
          </a:p>
        </p:txBody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6738" y="1828800"/>
            <a:ext cx="8001000" cy="4267200"/>
          </a:xfrm>
          <a:noFill/>
        </p:spPr>
        <p:txBody>
          <a:bodyPr/>
          <a:lstStyle/>
          <a:p>
            <a:r>
              <a:rPr lang="en-US">
                <a:latin typeface="Arial Narrow" charset="0"/>
              </a:rPr>
              <a:t>F = x</a:t>
            </a:r>
          </a:p>
          <a:p>
            <a:endParaRPr lang="en-US">
              <a:latin typeface="Arial Narrow" charset="0"/>
            </a:endParaRPr>
          </a:p>
          <a:p>
            <a:endParaRPr lang="en-US">
              <a:latin typeface="Arial Narrow" charset="0"/>
            </a:endParaRPr>
          </a:p>
          <a:p>
            <a:endParaRPr lang="en-US">
              <a:latin typeface="Arial Narrow" charset="0"/>
            </a:endParaRPr>
          </a:p>
          <a:p>
            <a:endParaRPr lang="en-US">
              <a:latin typeface="Arial Narrow" charset="0"/>
            </a:endParaRPr>
          </a:p>
          <a:p>
            <a:r>
              <a:rPr lang="en-US">
                <a:latin typeface="Arial Narrow" charset="0"/>
              </a:rPr>
              <a:t>Still canonical</a:t>
            </a:r>
          </a:p>
        </p:txBody>
      </p:sp>
      <p:grpSp>
        <p:nvGrpSpPr>
          <p:cNvPr id="97285" name="Group 4"/>
          <p:cNvGrpSpPr>
            <a:grpSpLocks/>
          </p:cNvGrpSpPr>
          <p:nvPr/>
        </p:nvGrpSpPr>
        <p:grpSpPr bwMode="auto">
          <a:xfrm>
            <a:off x="2201863" y="2468563"/>
            <a:ext cx="465137" cy="484187"/>
            <a:chOff x="2895" y="1488"/>
            <a:chExt cx="293" cy="305"/>
          </a:xfrm>
        </p:grpSpPr>
        <p:sp>
          <p:nvSpPr>
            <p:cNvPr id="97361" name="Freeform 5"/>
            <p:cNvSpPr>
              <a:spLocks/>
            </p:cNvSpPr>
            <p:nvPr/>
          </p:nvSpPr>
          <p:spPr bwMode="auto">
            <a:xfrm>
              <a:off x="2895" y="1500"/>
              <a:ext cx="293" cy="293"/>
            </a:xfrm>
            <a:custGeom>
              <a:avLst/>
              <a:gdLst>
                <a:gd name="T0" fmla="*/ 0 w 778"/>
                <a:gd name="T1" fmla="*/ 147 h 778"/>
                <a:gd name="T2" fmla="*/ 147 w 778"/>
                <a:gd name="T3" fmla="*/ 0 h 778"/>
                <a:gd name="T4" fmla="*/ 293 w 778"/>
                <a:gd name="T5" fmla="*/ 147 h 778"/>
                <a:gd name="T6" fmla="*/ 293 w 778"/>
                <a:gd name="T7" fmla="*/ 147 h 778"/>
                <a:gd name="T8" fmla="*/ 147 w 778"/>
                <a:gd name="T9" fmla="*/ 293 h 778"/>
                <a:gd name="T10" fmla="*/ 0 w 778"/>
                <a:gd name="T11" fmla="*/ 147 h 7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78"/>
                <a:gd name="T19" fmla="*/ 0 h 778"/>
                <a:gd name="T20" fmla="*/ 778 w 778"/>
                <a:gd name="T21" fmla="*/ 778 h 77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78" h="778">
                  <a:moveTo>
                    <a:pt x="0" y="389"/>
                  </a:moveTo>
                  <a:cubicBezTo>
                    <a:pt x="0" y="174"/>
                    <a:pt x="174" y="0"/>
                    <a:pt x="389" y="0"/>
                  </a:cubicBezTo>
                  <a:cubicBezTo>
                    <a:pt x="604" y="0"/>
                    <a:pt x="778" y="174"/>
                    <a:pt x="778" y="389"/>
                  </a:cubicBezTo>
                  <a:cubicBezTo>
                    <a:pt x="778" y="389"/>
                    <a:pt x="778" y="389"/>
                    <a:pt x="778" y="389"/>
                  </a:cubicBezTo>
                  <a:cubicBezTo>
                    <a:pt x="778" y="604"/>
                    <a:pt x="604" y="778"/>
                    <a:pt x="389" y="778"/>
                  </a:cubicBezTo>
                  <a:cubicBezTo>
                    <a:pt x="174" y="778"/>
                    <a:pt x="0" y="604"/>
                    <a:pt x="0" y="389"/>
                  </a:cubicBezTo>
                </a:path>
              </a:pathLst>
            </a:custGeom>
            <a:solidFill>
              <a:srgbClr val="66FF99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362" name="Freeform 6"/>
            <p:cNvSpPr>
              <a:spLocks/>
            </p:cNvSpPr>
            <p:nvPr/>
          </p:nvSpPr>
          <p:spPr bwMode="auto">
            <a:xfrm>
              <a:off x="2895" y="1500"/>
              <a:ext cx="293" cy="293"/>
            </a:xfrm>
            <a:custGeom>
              <a:avLst/>
              <a:gdLst>
                <a:gd name="T0" fmla="*/ 0 w 293"/>
                <a:gd name="T1" fmla="*/ 147 h 293"/>
                <a:gd name="T2" fmla="*/ 147 w 293"/>
                <a:gd name="T3" fmla="*/ 0 h 293"/>
                <a:gd name="T4" fmla="*/ 293 w 293"/>
                <a:gd name="T5" fmla="*/ 147 h 293"/>
                <a:gd name="T6" fmla="*/ 293 w 293"/>
                <a:gd name="T7" fmla="*/ 147 h 293"/>
                <a:gd name="T8" fmla="*/ 147 w 293"/>
                <a:gd name="T9" fmla="*/ 293 h 293"/>
                <a:gd name="T10" fmla="*/ 0 w 293"/>
                <a:gd name="T11" fmla="*/ 147 h 29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93"/>
                <a:gd name="T19" fmla="*/ 0 h 293"/>
                <a:gd name="T20" fmla="*/ 293 w 293"/>
                <a:gd name="T21" fmla="*/ 293 h 29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93" h="293">
                  <a:moveTo>
                    <a:pt x="0" y="147"/>
                  </a:moveTo>
                  <a:cubicBezTo>
                    <a:pt x="0" y="66"/>
                    <a:pt x="66" y="0"/>
                    <a:pt x="147" y="0"/>
                  </a:cubicBezTo>
                  <a:cubicBezTo>
                    <a:pt x="228" y="0"/>
                    <a:pt x="293" y="66"/>
                    <a:pt x="293" y="147"/>
                  </a:cubicBezTo>
                  <a:cubicBezTo>
                    <a:pt x="293" y="147"/>
                    <a:pt x="293" y="147"/>
                    <a:pt x="293" y="147"/>
                  </a:cubicBezTo>
                  <a:cubicBezTo>
                    <a:pt x="293" y="228"/>
                    <a:pt x="228" y="293"/>
                    <a:pt x="147" y="293"/>
                  </a:cubicBezTo>
                  <a:cubicBezTo>
                    <a:pt x="66" y="293"/>
                    <a:pt x="0" y="228"/>
                    <a:pt x="0" y="147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363" name="Rectangle 7"/>
            <p:cNvSpPr>
              <a:spLocks noChangeArrowheads="1"/>
            </p:cNvSpPr>
            <p:nvPr/>
          </p:nvSpPr>
          <p:spPr bwMode="auto">
            <a:xfrm>
              <a:off x="2995" y="1488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/>
            <a:p>
              <a:r>
                <a:rPr lang="en-US" sz="2800" i="1">
                  <a:solidFill>
                    <a:srgbClr val="000080"/>
                  </a:solidFill>
                  <a:latin typeface="Times New Roman" charset="0"/>
                  <a:cs typeface="Arial" charset="0"/>
                </a:rPr>
                <a:t>x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</p:grpSp>
      <p:sp>
        <p:nvSpPr>
          <p:cNvPr id="97286" name="Freeform 8"/>
          <p:cNvSpPr>
            <a:spLocks/>
          </p:cNvSpPr>
          <p:nvPr/>
        </p:nvSpPr>
        <p:spPr bwMode="auto">
          <a:xfrm flipH="1">
            <a:off x="2489200" y="2057400"/>
            <a:ext cx="101600" cy="436563"/>
          </a:xfrm>
          <a:custGeom>
            <a:avLst/>
            <a:gdLst>
              <a:gd name="T0" fmla="*/ 0 w 160"/>
              <a:gd name="T1" fmla="*/ 0 h 208"/>
              <a:gd name="T2" fmla="*/ 101600 w 160"/>
              <a:gd name="T3" fmla="*/ 436563 h 208"/>
              <a:gd name="T4" fmla="*/ 0 60000 65536"/>
              <a:gd name="T5" fmla="*/ 0 60000 65536"/>
              <a:gd name="T6" fmla="*/ 0 w 160"/>
              <a:gd name="T7" fmla="*/ 0 h 208"/>
              <a:gd name="T8" fmla="*/ 160 w 160"/>
              <a:gd name="T9" fmla="*/ 208 h 20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60" h="208">
                <a:moveTo>
                  <a:pt x="0" y="0"/>
                </a:moveTo>
                <a:lnTo>
                  <a:pt x="160" y="208"/>
                </a:lnTo>
              </a:path>
            </a:pathLst>
          </a:custGeom>
          <a:noFill/>
          <a:ln w="50800">
            <a:solidFill>
              <a:srgbClr val="66FF99"/>
            </a:solidFill>
            <a:round/>
            <a:headEnd/>
            <a:tailEnd type="stealth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97287" name="Group 9"/>
          <p:cNvGrpSpPr>
            <a:grpSpLocks/>
          </p:cNvGrpSpPr>
          <p:nvPr/>
        </p:nvGrpSpPr>
        <p:grpSpPr bwMode="auto">
          <a:xfrm>
            <a:off x="2057400" y="2743200"/>
            <a:ext cx="708025" cy="914400"/>
            <a:chOff x="2112" y="1536"/>
            <a:chExt cx="446" cy="576"/>
          </a:xfrm>
        </p:grpSpPr>
        <p:grpSp>
          <p:nvGrpSpPr>
            <p:cNvPr id="97352" name="Group 10"/>
            <p:cNvGrpSpPr>
              <a:grpSpLocks/>
            </p:cNvGrpSpPr>
            <p:nvPr/>
          </p:nvGrpSpPr>
          <p:grpSpPr bwMode="auto">
            <a:xfrm>
              <a:off x="2256" y="1910"/>
              <a:ext cx="167" cy="202"/>
              <a:chOff x="3087" y="2784"/>
              <a:chExt cx="167" cy="202"/>
            </a:xfrm>
          </p:grpSpPr>
          <p:sp>
            <p:nvSpPr>
              <p:cNvPr id="97358" name="Rectangle 11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359" name="Rectangle 12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360" name="Rectangle 13"/>
              <p:cNvSpPr>
                <a:spLocks noChangeArrowheads="1"/>
              </p:cNvSpPr>
              <p:nvPr/>
            </p:nvSpPr>
            <p:spPr bwMode="auto">
              <a:xfrm>
                <a:off x="3120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1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sp>
          <p:nvSpPr>
            <p:cNvPr id="97353" name="Freeform 14"/>
            <p:cNvSpPr>
              <a:spLocks/>
            </p:cNvSpPr>
            <p:nvPr/>
          </p:nvSpPr>
          <p:spPr bwMode="auto">
            <a:xfrm>
              <a:off x="2340" y="1632"/>
              <a:ext cx="204" cy="294"/>
            </a:xfrm>
            <a:custGeom>
              <a:avLst/>
              <a:gdLst>
                <a:gd name="T0" fmla="*/ 108 w 204"/>
                <a:gd name="T1" fmla="*/ 0 h 294"/>
                <a:gd name="T2" fmla="*/ 186 w 204"/>
                <a:gd name="T3" fmla="*/ 168 h 294"/>
                <a:gd name="T4" fmla="*/ 0 w 204"/>
                <a:gd name="T5" fmla="*/ 294 h 294"/>
                <a:gd name="T6" fmla="*/ 0 60000 65536"/>
                <a:gd name="T7" fmla="*/ 0 60000 65536"/>
                <a:gd name="T8" fmla="*/ 0 60000 65536"/>
                <a:gd name="T9" fmla="*/ 0 w 204"/>
                <a:gd name="T10" fmla="*/ 0 h 294"/>
                <a:gd name="T11" fmla="*/ 204 w 204"/>
                <a:gd name="T12" fmla="*/ 294 h 29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" h="294">
                  <a:moveTo>
                    <a:pt x="108" y="0"/>
                  </a:moveTo>
                  <a:cubicBezTo>
                    <a:pt x="121" y="28"/>
                    <a:pt x="204" y="119"/>
                    <a:pt x="186" y="168"/>
                  </a:cubicBezTo>
                  <a:cubicBezTo>
                    <a:pt x="168" y="217"/>
                    <a:pt x="39" y="268"/>
                    <a:pt x="0" y="294"/>
                  </a:cubicBez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7354" name="Rectangle 15"/>
            <p:cNvSpPr>
              <a:spLocks noChangeArrowheads="1"/>
            </p:cNvSpPr>
            <p:nvPr/>
          </p:nvSpPr>
          <p:spPr bwMode="auto">
            <a:xfrm>
              <a:off x="2112" y="1536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97355" name="Rectangle 16"/>
            <p:cNvSpPr>
              <a:spLocks noChangeArrowheads="1"/>
            </p:cNvSpPr>
            <p:nvPr/>
          </p:nvSpPr>
          <p:spPr bwMode="auto">
            <a:xfrm>
              <a:off x="2496" y="1536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97356" name="Freeform 17"/>
            <p:cNvSpPr>
              <a:spLocks/>
            </p:cNvSpPr>
            <p:nvPr/>
          </p:nvSpPr>
          <p:spPr bwMode="auto">
            <a:xfrm flipH="1">
              <a:off x="2148" y="1632"/>
              <a:ext cx="204" cy="294"/>
            </a:xfrm>
            <a:custGeom>
              <a:avLst/>
              <a:gdLst>
                <a:gd name="T0" fmla="*/ 108 w 204"/>
                <a:gd name="T1" fmla="*/ 0 h 294"/>
                <a:gd name="T2" fmla="*/ 186 w 204"/>
                <a:gd name="T3" fmla="*/ 168 h 294"/>
                <a:gd name="T4" fmla="*/ 0 w 204"/>
                <a:gd name="T5" fmla="*/ 294 h 294"/>
                <a:gd name="T6" fmla="*/ 0 60000 65536"/>
                <a:gd name="T7" fmla="*/ 0 60000 65536"/>
                <a:gd name="T8" fmla="*/ 0 60000 65536"/>
                <a:gd name="T9" fmla="*/ 0 w 204"/>
                <a:gd name="T10" fmla="*/ 0 h 294"/>
                <a:gd name="T11" fmla="*/ 204 w 204"/>
                <a:gd name="T12" fmla="*/ 294 h 29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" h="294">
                  <a:moveTo>
                    <a:pt x="108" y="0"/>
                  </a:moveTo>
                  <a:cubicBezTo>
                    <a:pt x="121" y="28"/>
                    <a:pt x="204" y="119"/>
                    <a:pt x="186" y="168"/>
                  </a:cubicBezTo>
                  <a:cubicBezTo>
                    <a:pt x="168" y="217"/>
                    <a:pt x="39" y="268"/>
                    <a:pt x="0" y="294"/>
                  </a:cubicBez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7357" name="Freeform 18"/>
            <p:cNvSpPr>
              <a:spLocks/>
            </p:cNvSpPr>
            <p:nvPr/>
          </p:nvSpPr>
          <p:spPr bwMode="auto">
            <a:xfrm>
              <a:off x="2124" y="1740"/>
              <a:ext cx="84" cy="84"/>
            </a:xfrm>
            <a:custGeom>
              <a:avLst/>
              <a:gdLst>
                <a:gd name="T0" fmla="*/ 0 w 223"/>
                <a:gd name="T1" fmla="*/ 42 h 222"/>
                <a:gd name="T2" fmla="*/ 42 w 223"/>
                <a:gd name="T3" fmla="*/ 0 h 222"/>
                <a:gd name="T4" fmla="*/ 84 w 223"/>
                <a:gd name="T5" fmla="*/ 42 h 222"/>
                <a:gd name="T6" fmla="*/ 84 w 223"/>
                <a:gd name="T7" fmla="*/ 42 h 222"/>
                <a:gd name="T8" fmla="*/ 42 w 223"/>
                <a:gd name="T9" fmla="*/ 84 h 222"/>
                <a:gd name="T10" fmla="*/ 0 w 223"/>
                <a:gd name="T11" fmla="*/ 42 h 2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23"/>
                <a:gd name="T19" fmla="*/ 0 h 222"/>
                <a:gd name="T20" fmla="*/ 223 w 223"/>
                <a:gd name="T21" fmla="*/ 222 h 22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23" h="222">
                  <a:moveTo>
                    <a:pt x="0" y="111"/>
                  </a:moveTo>
                  <a:cubicBezTo>
                    <a:pt x="0" y="49"/>
                    <a:pt x="50" y="0"/>
                    <a:pt x="111" y="0"/>
                  </a:cubicBezTo>
                  <a:cubicBezTo>
                    <a:pt x="173" y="0"/>
                    <a:pt x="223" y="49"/>
                    <a:pt x="223" y="111"/>
                  </a:cubicBezTo>
                  <a:cubicBezTo>
                    <a:pt x="223" y="111"/>
                    <a:pt x="223" y="111"/>
                    <a:pt x="223" y="111"/>
                  </a:cubicBezTo>
                  <a:cubicBezTo>
                    <a:pt x="223" y="172"/>
                    <a:pt x="173" y="222"/>
                    <a:pt x="111" y="222"/>
                  </a:cubicBezTo>
                  <a:cubicBezTo>
                    <a:pt x="50" y="222"/>
                    <a:pt x="0" y="172"/>
                    <a:pt x="0" y="111"/>
                  </a:cubicBezTo>
                </a:path>
              </a:pathLst>
            </a:custGeom>
            <a:solidFill>
              <a:srgbClr val="339966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7288" name="Group 19"/>
          <p:cNvGrpSpPr>
            <a:grpSpLocks/>
          </p:cNvGrpSpPr>
          <p:nvPr/>
        </p:nvGrpSpPr>
        <p:grpSpPr bwMode="auto">
          <a:xfrm>
            <a:off x="3932238" y="2468563"/>
            <a:ext cx="465137" cy="484187"/>
            <a:chOff x="2895" y="1488"/>
            <a:chExt cx="293" cy="305"/>
          </a:xfrm>
        </p:grpSpPr>
        <p:sp>
          <p:nvSpPr>
            <p:cNvPr id="97349" name="Freeform 20"/>
            <p:cNvSpPr>
              <a:spLocks/>
            </p:cNvSpPr>
            <p:nvPr/>
          </p:nvSpPr>
          <p:spPr bwMode="auto">
            <a:xfrm>
              <a:off x="2895" y="1500"/>
              <a:ext cx="293" cy="293"/>
            </a:xfrm>
            <a:custGeom>
              <a:avLst/>
              <a:gdLst>
                <a:gd name="T0" fmla="*/ 0 w 778"/>
                <a:gd name="T1" fmla="*/ 147 h 778"/>
                <a:gd name="T2" fmla="*/ 147 w 778"/>
                <a:gd name="T3" fmla="*/ 0 h 778"/>
                <a:gd name="T4" fmla="*/ 293 w 778"/>
                <a:gd name="T5" fmla="*/ 147 h 778"/>
                <a:gd name="T6" fmla="*/ 293 w 778"/>
                <a:gd name="T7" fmla="*/ 147 h 778"/>
                <a:gd name="T8" fmla="*/ 147 w 778"/>
                <a:gd name="T9" fmla="*/ 293 h 778"/>
                <a:gd name="T10" fmla="*/ 0 w 778"/>
                <a:gd name="T11" fmla="*/ 147 h 7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78"/>
                <a:gd name="T19" fmla="*/ 0 h 778"/>
                <a:gd name="T20" fmla="*/ 778 w 778"/>
                <a:gd name="T21" fmla="*/ 778 h 77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78" h="778">
                  <a:moveTo>
                    <a:pt x="0" y="389"/>
                  </a:moveTo>
                  <a:cubicBezTo>
                    <a:pt x="0" y="174"/>
                    <a:pt x="174" y="0"/>
                    <a:pt x="389" y="0"/>
                  </a:cubicBezTo>
                  <a:cubicBezTo>
                    <a:pt x="604" y="0"/>
                    <a:pt x="778" y="174"/>
                    <a:pt x="778" y="389"/>
                  </a:cubicBezTo>
                  <a:cubicBezTo>
                    <a:pt x="778" y="389"/>
                    <a:pt x="778" y="389"/>
                    <a:pt x="778" y="389"/>
                  </a:cubicBezTo>
                  <a:cubicBezTo>
                    <a:pt x="778" y="604"/>
                    <a:pt x="604" y="778"/>
                    <a:pt x="389" y="778"/>
                  </a:cubicBezTo>
                  <a:cubicBezTo>
                    <a:pt x="174" y="778"/>
                    <a:pt x="0" y="604"/>
                    <a:pt x="0" y="389"/>
                  </a:cubicBezTo>
                </a:path>
              </a:pathLst>
            </a:custGeom>
            <a:solidFill>
              <a:srgbClr val="66FF99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350" name="Freeform 21"/>
            <p:cNvSpPr>
              <a:spLocks/>
            </p:cNvSpPr>
            <p:nvPr/>
          </p:nvSpPr>
          <p:spPr bwMode="auto">
            <a:xfrm>
              <a:off x="2895" y="1500"/>
              <a:ext cx="293" cy="293"/>
            </a:xfrm>
            <a:custGeom>
              <a:avLst/>
              <a:gdLst>
                <a:gd name="T0" fmla="*/ 0 w 293"/>
                <a:gd name="T1" fmla="*/ 147 h 293"/>
                <a:gd name="T2" fmla="*/ 147 w 293"/>
                <a:gd name="T3" fmla="*/ 0 h 293"/>
                <a:gd name="T4" fmla="*/ 293 w 293"/>
                <a:gd name="T5" fmla="*/ 147 h 293"/>
                <a:gd name="T6" fmla="*/ 293 w 293"/>
                <a:gd name="T7" fmla="*/ 147 h 293"/>
                <a:gd name="T8" fmla="*/ 147 w 293"/>
                <a:gd name="T9" fmla="*/ 293 h 293"/>
                <a:gd name="T10" fmla="*/ 0 w 293"/>
                <a:gd name="T11" fmla="*/ 147 h 29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93"/>
                <a:gd name="T19" fmla="*/ 0 h 293"/>
                <a:gd name="T20" fmla="*/ 293 w 293"/>
                <a:gd name="T21" fmla="*/ 293 h 29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93" h="293">
                  <a:moveTo>
                    <a:pt x="0" y="147"/>
                  </a:moveTo>
                  <a:cubicBezTo>
                    <a:pt x="0" y="66"/>
                    <a:pt x="66" y="0"/>
                    <a:pt x="147" y="0"/>
                  </a:cubicBezTo>
                  <a:cubicBezTo>
                    <a:pt x="228" y="0"/>
                    <a:pt x="293" y="66"/>
                    <a:pt x="293" y="147"/>
                  </a:cubicBezTo>
                  <a:cubicBezTo>
                    <a:pt x="293" y="147"/>
                    <a:pt x="293" y="147"/>
                    <a:pt x="293" y="147"/>
                  </a:cubicBezTo>
                  <a:cubicBezTo>
                    <a:pt x="293" y="228"/>
                    <a:pt x="228" y="293"/>
                    <a:pt x="147" y="293"/>
                  </a:cubicBezTo>
                  <a:cubicBezTo>
                    <a:pt x="66" y="293"/>
                    <a:pt x="0" y="228"/>
                    <a:pt x="0" y="147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351" name="Rectangle 22"/>
            <p:cNvSpPr>
              <a:spLocks noChangeArrowheads="1"/>
            </p:cNvSpPr>
            <p:nvPr/>
          </p:nvSpPr>
          <p:spPr bwMode="auto">
            <a:xfrm>
              <a:off x="2995" y="1488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/>
            <a:p>
              <a:r>
                <a:rPr lang="en-US" sz="2800" i="1">
                  <a:solidFill>
                    <a:srgbClr val="000080"/>
                  </a:solidFill>
                  <a:latin typeface="Times New Roman" charset="0"/>
                  <a:cs typeface="Arial" charset="0"/>
                </a:rPr>
                <a:t>x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</p:grpSp>
      <p:grpSp>
        <p:nvGrpSpPr>
          <p:cNvPr id="97289" name="Group 23"/>
          <p:cNvGrpSpPr>
            <a:grpSpLocks/>
          </p:cNvGrpSpPr>
          <p:nvPr/>
        </p:nvGrpSpPr>
        <p:grpSpPr bwMode="auto">
          <a:xfrm>
            <a:off x="4016375" y="3336925"/>
            <a:ext cx="265113" cy="320675"/>
            <a:chOff x="3087" y="2784"/>
            <a:chExt cx="167" cy="202"/>
          </a:xfrm>
        </p:grpSpPr>
        <p:sp>
          <p:nvSpPr>
            <p:cNvPr id="97346" name="Rectangle 24"/>
            <p:cNvSpPr>
              <a:spLocks noChangeArrowheads="1"/>
            </p:cNvSpPr>
            <p:nvPr/>
          </p:nvSpPr>
          <p:spPr bwMode="auto">
            <a:xfrm>
              <a:off x="3087" y="2809"/>
              <a:ext cx="167" cy="168"/>
            </a:xfrm>
            <a:prstGeom prst="rect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347" name="Rectangle 25"/>
            <p:cNvSpPr>
              <a:spLocks noChangeArrowheads="1"/>
            </p:cNvSpPr>
            <p:nvPr/>
          </p:nvSpPr>
          <p:spPr bwMode="auto">
            <a:xfrm>
              <a:off x="3087" y="2809"/>
              <a:ext cx="167" cy="168"/>
            </a:xfrm>
            <a:prstGeom prst="rect">
              <a:avLst/>
            </a:pr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348" name="Rectangle 26"/>
            <p:cNvSpPr>
              <a:spLocks noChangeArrowheads="1"/>
            </p:cNvSpPr>
            <p:nvPr/>
          </p:nvSpPr>
          <p:spPr bwMode="auto">
            <a:xfrm>
              <a:off x="3120" y="2784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/>
            <a:p>
              <a:r>
                <a:rPr lang="en-US" sz="2100">
                  <a:solidFill>
                    <a:srgbClr val="000080"/>
                  </a:solidFill>
                  <a:latin typeface="Times New Roman" charset="0"/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</p:grpSp>
      <p:sp>
        <p:nvSpPr>
          <p:cNvPr id="97290" name="Freeform 27"/>
          <p:cNvSpPr>
            <a:spLocks/>
          </p:cNvSpPr>
          <p:nvPr/>
        </p:nvSpPr>
        <p:spPr bwMode="auto">
          <a:xfrm>
            <a:off x="4149725" y="2895600"/>
            <a:ext cx="323850" cy="466725"/>
          </a:xfrm>
          <a:custGeom>
            <a:avLst/>
            <a:gdLst>
              <a:gd name="T0" fmla="*/ 171450 w 204"/>
              <a:gd name="T1" fmla="*/ 0 h 294"/>
              <a:gd name="T2" fmla="*/ 295275 w 204"/>
              <a:gd name="T3" fmla="*/ 266700 h 294"/>
              <a:gd name="T4" fmla="*/ 0 w 204"/>
              <a:gd name="T5" fmla="*/ 466725 h 294"/>
              <a:gd name="T6" fmla="*/ 0 60000 65536"/>
              <a:gd name="T7" fmla="*/ 0 60000 65536"/>
              <a:gd name="T8" fmla="*/ 0 60000 65536"/>
              <a:gd name="T9" fmla="*/ 0 w 204"/>
              <a:gd name="T10" fmla="*/ 0 h 294"/>
              <a:gd name="T11" fmla="*/ 204 w 204"/>
              <a:gd name="T12" fmla="*/ 294 h 29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4" h="294">
                <a:moveTo>
                  <a:pt x="108" y="0"/>
                </a:moveTo>
                <a:cubicBezTo>
                  <a:pt x="121" y="28"/>
                  <a:pt x="204" y="119"/>
                  <a:pt x="186" y="168"/>
                </a:cubicBezTo>
                <a:cubicBezTo>
                  <a:pt x="168" y="217"/>
                  <a:pt x="39" y="268"/>
                  <a:pt x="0" y="294"/>
                </a:cubicBezTo>
              </a:path>
            </a:pathLst>
          </a:custGeom>
          <a:noFill/>
          <a:ln w="50800">
            <a:solidFill>
              <a:schemeClr val="accent2"/>
            </a:solidFill>
            <a:round/>
            <a:headEnd/>
            <a:tailEnd type="stealth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97291" name="Rectangle 28"/>
          <p:cNvSpPr>
            <a:spLocks noChangeArrowheads="1"/>
          </p:cNvSpPr>
          <p:nvPr/>
        </p:nvSpPr>
        <p:spPr bwMode="auto">
          <a:xfrm>
            <a:off x="3787775" y="2743200"/>
            <a:ext cx="98425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700">
                <a:cs typeface="Arial" charset="0"/>
              </a:rPr>
              <a:t>0</a:t>
            </a:r>
            <a:endParaRPr lang="en-US">
              <a:latin typeface="Times New Roman" charset="0"/>
              <a:cs typeface="Arial" charset="0"/>
            </a:endParaRPr>
          </a:p>
        </p:txBody>
      </p:sp>
      <p:sp>
        <p:nvSpPr>
          <p:cNvPr id="97292" name="Rectangle 29"/>
          <p:cNvSpPr>
            <a:spLocks noChangeArrowheads="1"/>
          </p:cNvSpPr>
          <p:nvPr/>
        </p:nvSpPr>
        <p:spPr bwMode="auto">
          <a:xfrm>
            <a:off x="4397375" y="2743200"/>
            <a:ext cx="98425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700">
                <a:cs typeface="Arial" charset="0"/>
              </a:rPr>
              <a:t>1</a:t>
            </a:r>
            <a:endParaRPr lang="en-US">
              <a:latin typeface="Times New Roman" charset="0"/>
              <a:cs typeface="Arial" charset="0"/>
            </a:endParaRPr>
          </a:p>
        </p:txBody>
      </p:sp>
      <p:sp>
        <p:nvSpPr>
          <p:cNvPr id="97293" name="Freeform 30"/>
          <p:cNvSpPr>
            <a:spLocks/>
          </p:cNvSpPr>
          <p:nvPr/>
        </p:nvSpPr>
        <p:spPr bwMode="auto">
          <a:xfrm flipH="1">
            <a:off x="4219575" y="2057400"/>
            <a:ext cx="123825" cy="436563"/>
          </a:xfrm>
          <a:custGeom>
            <a:avLst/>
            <a:gdLst>
              <a:gd name="T0" fmla="*/ 0 w 160"/>
              <a:gd name="T1" fmla="*/ 0 h 208"/>
              <a:gd name="T2" fmla="*/ 123825 w 160"/>
              <a:gd name="T3" fmla="*/ 436563 h 208"/>
              <a:gd name="T4" fmla="*/ 0 60000 65536"/>
              <a:gd name="T5" fmla="*/ 0 60000 65536"/>
              <a:gd name="T6" fmla="*/ 0 w 160"/>
              <a:gd name="T7" fmla="*/ 0 h 208"/>
              <a:gd name="T8" fmla="*/ 160 w 160"/>
              <a:gd name="T9" fmla="*/ 208 h 20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60" h="208">
                <a:moveTo>
                  <a:pt x="0" y="0"/>
                </a:moveTo>
                <a:lnTo>
                  <a:pt x="160" y="208"/>
                </a:lnTo>
              </a:path>
            </a:pathLst>
          </a:custGeom>
          <a:noFill/>
          <a:ln w="50800">
            <a:solidFill>
              <a:srgbClr val="66FF99"/>
            </a:solidFill>
            <a:round/>
            <a:headEnd/>
            <a:tailEnd type="stealth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97294" name="Freeform 31"/>
          <p:cNvSpPr>
            <a:spLocks/>
          </p:cNvSpPr>
          <p:nvPr/>
        </p:nvSpPr>
        <p:spPr bwMode="auto">
          <a:xfrm flipH="1">
            <a:off x="3844925" y="2895600"/>
            <a:ext cx="323850" cy="466725"/>
          </a:xfrm>
          <a:custGeom>
            <a:avLst/>
            <a:gdLst>
              <a:gd name="T0" fmla="*/ 171450 w 204"/>
              <a:gd name="T1" fmla="*/ 0 h 294"/>
              <a:gd name="T2" fmla="*/ 295275 w 204"/>
              <a:gd name="T3" fmla="*/ 266700 h 294"/>
              <a:gd name="T4" fmla="*/ 0 w 204"/>
              <a:gd name="T5" fmla="*/ 466725 h 294"/>
              <a:gd name="T6" fmla="*/ 0 60000 65536"/>
              <a:gd name="T7" fmla="*/ 0 60000 65536"/>
              <a:gd name="T8" fmla="*/ 0 60000 65536"/>
              <a:gd name="T9" fmla="*/ 0 w 204"/>
              <a:gd name="T10" fmla="*/ 0 h 294"/>
              <a:gd name="T11" fmla="*/ 204 w 204"/>
              <a:gd name="T12" fmla="*/ 294 h 29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4" h="294">
                <a:moveTo>
                  <a:pt x="108" y="0"/>
                </a:moveTo>
                <a:cubicBezTo>
                  <a:pt x="121" y="28"/>
                  <a:pt x="204" y="119"/>
                  <a:pt x="186" y="168"/>
                </a:cubicBezTo>
                <a:cubicBezTo>
                  <a:pt x="168" y="217"/>
                  <a:pt x="39" y="268"/>
                  <a:pt x="0" y="294"/>
                </a:cubicBezTo>
              </a:path>
            </a:pathLst>
          </a:custGeom>
          <a:noFill/>
          <a:ln w="50800">
            <a:solidFill>
              <a:srgbClr val="333399"/>
            </a:solidFill>
            <a:round/>
            <a:headEnd/>
            <a:tailEnd type="stealth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97295" name="Freeform 32"/>
          <p:cNvSpPr>
            <a:spLocks/>
          </p:cNvSpPr>
          <p:nvPr/>
        </p:nvSpPr>
        <p:spPr bwMode="auto">
          <a:xfrm>
            <a:off x="4362450" y="3067050"/>
            <a:ext cx="133350" cy="133350"/>
          </a:xfrm>
          <a:custGeom>
            <a:avLst/>
            <a:gdLst>
              <a:gd name="T0" fmla="*/ 0 w 223"/>
              <a:gd name="T1" fmla="*/ 66675 h 222"/>
              <a:gd name="T2" fmla="*/ 66376 w 223"/>
              <a:gd name="T3" fmla="*/ 0 h 222"/>
              <a:gd name="T4" fmla="*/ 133350 w 223"/>
              <a:gd name="T5" fmla="*/ 66675 h 222"/>
              <a:gd name="T6" fmla="*/ 133350 w 223"/>
              <a:gd name="T7" fmla="*/ 66675 h 222"/>
              <a:gd name="T8" fmla="*/ 66376 w 223"/>
              <a:gd name="T9" fmla="*/ 133350 h 222"/>
              <a:gd name="T10" fmla="*/ 0 w 223"/>
              <a:gd name="T11" fmla="*/ 66675 h 22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23"/>
              <a:gd name="T19" fmla="*/ 0 h 222"/>
              <a:gd name="T20" fmla="*/ 223 w 223"/>
              <a:gd name="T21" fmla="*/ 222 h 22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23" h="222">
                <a:moveTo>
                  <a:pt x="0" y="111"/>
                </a:moveTo>
                <a:cubicBezTo>
                  <a:pt x="0" y="49"/>
                  <a:pt x="50" y="0"/>
                  <a:pt x="111" y="0"/>
                </a:cubicBezTo>
                <a:cubicBezTo>
                  <a:pt x="173" y="0"/>
                  <a:pt x="223" y="49"/>
                  <a:pt x="223" y="111"/>
                </a:cubicBezTo>
                <a:cubicBezTo>
                  <a:pt x="223" y="111"/>
                  <a:pt x="223" y="111"/>
                  <a:pt x="223" y="111"/>
                </a:cubicBezTo>
                <a:cubicBezTo>
                  <a:pt x="223" y="172"/>
                  <a:pt x="173" y="222"/>
                  <a:pt x="111" y="222"/>
                </a:cubicBezTo>
                <a:cubicBezTo>
                  <a:pt x="50" y="222"/>
                  <a:pt x="0" y="172"/>
                  <a:pt x="0" y="111"/>
                </a:cubicBezTo>
              </a:path>
            </a:pathLst>
          </a:custGeom>
          <a:solidFill>
            <a:srgbClr val="339966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7296" name="Freeform 33"/>
          <p:cNvSpPr>
            <a:spLocks/>
          </p:cNvSpPr>
          <p:nvPr/>
        </p:nvSpPr>
        <p:spPr bwMode="auto">
          <a:xfrm>
            <a:off x="4210050" y="2152650"/>
            <a:ext cx="133350" cy="133350"/>
          </a:xfrm>
          <a:custGeom>
            <a:avLst/>
            <a:gdLst>
              <a:gd name="T0" fmla="*/ 0 w 223"/>
              <a:gd name="T1" fmla="*/ 66675 h 222"/>
              <a:gd name="T2" fmla="*/ 66376 w 223"/>
              <a:gd name="T3" fmla="*/ 0 h 222"/>
              <a:gd name="T4" fmla="*/ 133350 w 223"/>
              <a:gd name="T5" fmla="*/ 66675 h 222"/>
              <a:gd name="T6" fmla="*/ 133350 w 223"/>
              <a:gd name="T7" fmla="*/ 66675 h 222"/>
              <a:gd name="T8" fmla="*/ 66376 w 223"/>
              <a:gd name="T9" fmla="*/ 133350 h 222"/>
              <a:gd name="T10" fmla="*/ 0 w 223"/>
              <a:gd name="T11" fmla="*/ 66675 h 22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23"/>
              <a:gd name="T19" fmla="*/ 0 h 222"/>
              <a:gd name="T20" fmla="*/ 223 w 223"/>
              <a:gd name="T21" fmla="*/ 222 h 22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23" h="222">
                <a:moveTo>
                  <a:pt x="0" y="111"/>
                </a:moveTo>
                <a:cubicBezTo>
                  <a:pt x="0" y="49"/>
                  <a:pt x="50" y="0"/>
                  <a:pt x="111" y="0"/>
                </a:cubicBezTo>
                <a:cubicBezTo>
                  <a:pt x="173" y="0"/>
                  <a:pt x="223" y="49"/>
                  <a:pt x="223" y="111"/>
                </a:cubicBezTo>
                <a:cubicBezTo>
                  <a:pt x="223" y="111"/>
                  <a:pt x="223" y="111"/>
                  <a:pt x="223" y="111"/>
                </a:cubicBezTo>
                <a:cubicBezTo>
                  <a:pt x="223" y="172"/>
                  <a:pt x="173" y="222"/>
                  <a:pt x="111" y="222"/>
                </a:cubicBezTo>
                <a:cubicBezTo>
                  <a:pt x="50" y="222"/>
                  <a:pt x="0" y="172"/>
                  <a:pt x="0" y="111"/>
                </a:cubicBezTo>
              </a:path>
            </a:pathLst>
          </a:custGeom>
          <a:solidFill>
            <a:srgbClr val="339966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7297" name="Line 34"/>
          <p:cNvSpPr>
            <a:spLocks noChangeShapeType="1"/>
          </p:cNvSpPr>
          <p:nvPr/>
        </p:nvSpPr>
        <p:spPr bwMode="auto">
          <a:xfrm>
            <a:off x="3581400" y="2362200"/>
            <a:ext cx="1219200" cy="1143000"/>
          </a:xfrm>
          <a:prstGeom prst="line">
            <a:avLst/>
          </a:prstGeom>
          <a:noFill/>
          <a:ln w="3175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97298" name="Line 35"/>
          <p:cNvSpPr>
            <a:spLocks noChangeShapeType="1"/>
          </p:cNvSpPr>
          <p:nvPr/>
        </p:nvSpPr>
        <p:spPr bwMode="auto">
          <a:xfrm rot="-5400000">
            <a:off x="3619500" y="2324100"/>
            <a:ext cx="1143000" cy="1219200"/>
          </a:xfrm>
          <a:prstGeom prst="line">
            <a:avLst/>
          </a:prstGeom>
          <a:noFill/>
          <a:ln w="3175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97299" name="Group 36"/>
          <p:cNvGrpSpPr>
            <a:grpSpLocks/>
          </p:cNvGrpSpPr>
          <p:nvPr/>
        </p:nvGrpSpPr>
        <p:grpSpPr bwMode="auto">
          <a:xfrm>
            <a:off x="7010400" y="5602288"/>
            <a:ext cx="265113" cy="320675"/>
            <a:chOff x="3087" y="2784"/>
            <a:chExt cx="167" cy="202"/>
          </a:xfrm>
        </p:grpSpPr>
        <p:sp>
          <p:nvSpPr>
            <p:cNvPr id="97343" name="Rectangle 37"/>
            <p:cNvSpPr>
              <a:spLocks noChangeArrowheads="1"/>
            </p:cNvSpPr>
            <p:nvPr/>
          </p:nvSpPr>
          <p:spPr bwMode="auto">
            <a:xfrm>
              <a:off x="3087" y="2809"/>
              <a:ext cx="167" cy="168"/>
            </a:xfrm>
            <a:prstGeom prst="rect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344" name="Rectangle 38"/>
            <p:cNvSpPr>
              <a:spLocks noChangeArrowheads="1"/>
            </p:cNvSpPr>
            <p:nvPr/>
          </p:nvSpPr>
          <p:spPr bwMode="auto">
            <a:xfrm>
              <a:off x="3087" y="2809"/>
              <a:ext cx="167" cy="168"/>
            </a:xfrm>
            <a:prstGeom prst="rect">
              <a:avLst/>
            </a:pr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345" name="Rectangle 39"/>
            <p:cNvSpPr>
              <a:spLocks noChangeArrowheads="1"/>
            </p:cNvSpPr>
            <p:nvPr/>
          </p:nvSpPr>
          <p:spPr bwMode="auto">
            <a:xfrm>
              <a:off x="3120" y="2784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/>
            <a:p>
              <a:r>
                <a:rPr lang="en-US" sz="2100">
                  <a:solidFill>
                    <a:srgbClr val="000080"/>
                  </a:solidFill>
                  <a:latin typeface="Times New Roman" charset="0"/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</p:grpSp>
      <p:grpSp>
        <p:nvGrpSpPr>
          <p:cNvPr id="97300" name="Group 40"/>
          <p:cNvGrpSpPr>
            <a:grpSpLocks/>
          </p:cNvGrpSpPr>
          <p:nvPr/>
        </p:nvGrpSpPr>
        <p:grpSpPr bwMode="auto">
          <a:xfrm>
            <a:off x="6781800" y="4759325"/>
            <a:ext cx="708025" cy="868363"/>
            <a:chOff x="3936" y="3203"/>
            <a:chExt cx="446" cy="547"/>
          </a:xfrm>
        </p:grpSpPr>
        <p:grpSp>
          <p:nvGrpSpPr>
            <p:cNvPr id="97334" name="Group 41"/>
            <p:cNvGrpSpPr>
              <a:grpSpLocks/>
            </p:cNvGrpSpPr>
            <p:nvPr/>
          </p:nvGrpSpPr>
          <p:grpSpPr bwMode="auto">
            <a:xfrm>
              <a:off x="4030" y="3203"/>
              <a:ext cx="293" cy="305"/>
              <a:chOff x="2895" y="1488"/>
              <a:chExt cx="293" cy="305"/>
            </a:xfrm>
          </p:grpSpPr>
          <p:sp>
            <p:nvSpPr>
              <p:cNvPr id="97340" name="Freeform 42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341" name="Freeform 43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342" name="Rectangle 44"/>
              <p:cNvSpPr>
                <a:spLocks noChangeArrowheads="1"/>
              </p:cNvSpPr>
              <p:nvPr/>
            </p:nvSpPr>
            <p:spPr bwMode="auto">
              <a:xfrm>
                <a:off x="2957" y="1488"/>
                <a:ext cx="188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x</a:t>
                </a:r>
                <a:r>
                  <a:rPr lang="en-US" sz="2800" i="1" baseline="-250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4</a:t>
                </a:r>
              </a:p>
            </p:txBody>
          </p:sp>
        </p:grpSp>
        <p:sp>
          <p:nvSpPr>
            <p:cNvPr id="97335" name="Freeform 45"/>
            <p:cNvSpPr>
              <a:spLocks/>
            </p:cNvSpPr>
            <p:nvPr/>
          </p:nvSpPr>
          <p:spPr bwMode="auto">
            <a:xfrm>
              <a:off x="4164" y="3456"/>
              <a:ext cx="204" cy="294"/>
            </a:xfrm>
            <a:custGeom>
              <a:avLst/>
              <a:gdLst>
                <a:gd name="T0" fmla="*/ 108 w 204"/>
                <a:gd name="T1" fmla="*/ 0 h 294"/>
                <a:gd name="T2" fmla="*/ 186 w 204"/>
                <a:gd name="T3" fmla="*/ 168 h 294"/>
                <a:gd name="T4" fmla="*/ 0 w 204"/>
                <a:gd name="T5" fmla="*/ 294 h 294"/>
                <a:gd name="T6" fmla="*/ 0 60000 65536"/>
                <a:gd name="T7" fmla="*/ 0 60000 65536"/>
                <a:gd name="T8" fmla="*/ 0 60000 65536"/>
                <a:gd name="T9" fmla="*/ 0 w 204"/>
                <a:gd name="T10" fmla="*/ 0 h 294"/>
                <a:gd name="T11" fmla="*/ 204 w 204"/>
                <a:gd name="T12" fmla="*/ 294 h 29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" h="294">
                  <a:moveTo>
                    <a:pt x="108" y="0"/>
                  </a:moveTo>
                  <a:cubicBezTo>
                    <a:pt x="121" y="28"/>
                    <a:pt x="204" y="119"/>
                    <a:pt x="186" y="168"/>
                  </a:cubicBezTo>
                  <a:cubicBezTo>
                    <a:pt x="168" y="217"/>
                    <a:pt x="39" y="268"/>
                    <a:pt x="0" y="294"/>
                  </a:cubicBez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7336" name="Rectangle 46"/>
            <p:cNvSpPr>
              <a:spLocks noChangeArrowheads="1"/>
            </p:cNvSpPr>
            <p:nvPr/>
          </p:nvSpPr>
          <p:spPr bwMode="auto">
            <a:xfrm>
              <a:off x="3936" y="3360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97337" name="Rectangle 47"/>
            <p:cNvSpPr>
              <a:spLocks noChangeArrowheads="1"/>
            </p:cNvSpPr>
            <p:nvPr/>
          </p:nvSpPr>
          <p:spPr bwMode="auto">
            <a:xfrm>
              <a:off x="4320" y="3360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97338" name="Freeform 48"/>
            <p:cNvSpPr>
              <a:spLocks/>
            </p:cNvSpPr>
            <p:nvPr/>
          </p:nvSpPr>
          <p:spPr bwMode="auto">
            <a:xfrm flipH="1">
              <a:off x="3972" y="3456"/>
              <a:ext cx="204" cy="294"/>
            </a:xfrm>
            <a:custGeom>
              <a:avLst/>
              <a:gdLst>
                <a:gd name="T0" fmla="*/ 108 w 204"/>
                <a:gd name="T1" fmla="*/ 0 h 294"/>
                <a:gd name="T2" fmla="*/ 186 w 204"/>
                <a:gd name="T3" fmla="*/ 168 h 294"/>
                <a:gd name="T4" fmla="*/ 0 w 204"/>
                <a:gd name="T5" fmla="*/ 294 h 294"/>
                <a:gd name="T6" fmla="*/ 0 60000 65536"/>
                <a:gd name="T7" fmla="*/ 0 60000 65536"/>
                <a:gd name="T8" fmla="*/ 0 60000 65536"/>
                <a:gd name="T9" fmla="*/ 0 w 204"/>
                <a:gd name="T10" fmla="*/ 0 h 294"/>
                <a:gd name="T11" fmla="*/ 204 w 204"/>
                <a:gd name="T12" fmla="*/ 294 h 29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" h="294">
                  <a:moveTo>
                    <a:pt x="108" y="0"/>
                  </a:moveTo>
                  <a:cubicBezTo>
                    <a:pt x="121" y="28"/>
                    <a:pt x="204" y="119"/>
                    <a:pt x="186" y="168"/>
                  </a:cubicBezTo>
                  <a:cubicBezTo>
                    <a:pt x="168" y="217"/>
                    <a:pt x="39" y="268"/>
                    <a:pt x="0" y="294"/>
                  </a:cubicBez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7339" name="Freeform 49"/>
            <p:cNvSpPr>
              <a:spLocks/>
            </p:cNvSpPr>
            <p:nvPr/>
          </p:nvSpPr>
          <p:spPr bwMode="auto">
            <a:xfrm>
              <a:off x="3948" y="3564"/>
              <a:ext cx="84" cy="84"/>
            </a:xfrm>
            <a:custGeom>
              <a:avLst/>
              <a:gdLst>
                <a:gd name="T0" fmla="*/ 0 w 223"/>
                <a:gd name="T1" fmla="*/ 42 h 222"/>
                <a:gd name="T2" fmla="*/ 42 w 223"/>
                <a:gd name="T3" fmla="*/ 0 h 222"/>
                <a:gd name="T4" fmla="*/ 84 w 223"/>
                <a:gd name="T5" fmla="*/ 42 h 222"/>
                <a:gd name="T6" fmla="*/ 84 w 223"/>
                <a:gd name="T7" fmla="*/ 42 h 222"/>
                <a:gd name="T8" fmla="*/ 42 w 223"/>
                <a:gd name="T9" fmla="*/ 84 h 222"/>
                <a:gd name="T10" fmla="*/ 0 w 223"/>
                <a:gd name="T11" fmla="*/ 42 h 2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23"/>
                <a:gd name="T19" fmla="*/ 0 h 222"/>
                <a:gd name="T20" fmla="*/ 223 w 223"/>
                <a:gd name="T21" fmla="*/ 222 h 22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23" h="222">
                  <a:moveTo>
                    <a:pt x="0" y="111"/>
                  </a:moveTo>
                  <a:cubicBezTo>
                    <a:pt x="0" y="49"/>
                    <a:pt x="50" y="0"/>
                    <a:pt x="111" y="0"/>
                  </a:cubicBezTo>
                  <a:cubicBezTo>
                    <a:pt x="173" y="0"/>
                    <a:pt x="223" y="49"/>
                    <a:pt x="223" y="111"/>
                  </a:cubicBezTo>
                  <a:cubicBezTo>
                    <a:pt x="223" y="111"/>
                    <a:pt x="223" y="111"/>
                    <a:pt x="223" y="111"/>
                  </a:cubicBezTo>
                  <a:cubicBezTo>
                    <a:pt x="223" y="172"/>
                    <a:pt x="173" y="222"/>
                    <a:pt x="111" y="222"/>
                  </a:cubicBezTo>
                  <a:cubicBezTo>
                    <a:pt x="50" y="222"/>
                    <a:pt x="0" y="172"/>
                    <a:pt x="0" y="111"/>
                  </a:cubicBezTo>
                </a:path>
              </a:pathLst>
            </a:custGeom>
            <a:solidFill>
              <a:srgbClr val="339966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7301" name="Group 50"/>
          <p:cNvGrpSpPr>
            <a:grpSpLocks/>
          </p:cNvGrpSpPr>
          <p:nvPr/>
        </p:nvGrpSpPr>
        <p:grpSpPr bwMode="auto">
          <a:xfrm>
            <a:off x="6781800" y="3911600"/>
            <a:ext cx="708025" cy="868363"/>
            <a:chOff x="3936" y="3203"/>
            <a:chExt cx="446" cy="547"/>
          </a:xfrm>
        </p:grpSpPr>
        <p:grpSp>
          <p:nvGrpSpPr>
            <p:cNvPr id="97325" name="Group 51"/>
            <p:cNvGrpSpPr>
              <a:grpSpLocks/>
            </p:cNvGrpSpPr>
            <p:nvPr/>
          </p:nvGrpSpPr>
          <p:grpSpPr bwMode="auto">
            <a:xfrm>
              <a:off x="4030" y="3203"/>
              <a:ext cx="293" cy="305"/>
              <a:chOff x="2895" y="1488"/>
              <a:chExt cx="293" cy="305"/>
            </a:xfrm>
          </p:grpSpPr>
          <p:sp>
            <p:nvSpPr>
              <p:cNvPr id="97331" name="Freeform 52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332" name="Freeform 53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333" name="Rectangle 54"/>
              <p:cNvSpPr>
                <a:spLocks noChangeArrowheads="1"/>
              </p:cNvSpPr>
              <p:nvPr/>
            </p:nvSpPr>
            <p:spPr bwMode="auto">
              <a:xfrm>
                <a:off x="2957" y="1488"/>
                <a:ext cx="188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x</a:t>
                </a:r>
                <a:r>
                  <a:rPr lang="en-US" sz="2800" i="1" baseline="-250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3</a:t>
                </a:r>
              </a:p>
            </p:txBody>
          </p:sp>
        </p:grpSp>
        <p:sp>
          <p:nvSpPr>
            <p:cNvPr id="97326" name="Freeform 55"/>
            <p:cNvSpPr>
              <a:spLocks/>
            </p:cNvSpPr>
            <p:nvPr/>
          </p:nvSpPr>
          <p:spPr bwMode="auto">
            <a:xfrm>
              <a:off x="4164" y="3456"/>
              <a:ext cx="204" cy="294"/>
            </a:xfrm>
            <a:custGeom>
              <a:avLst/>
              <a:gdLst>
                <a:gd name="T0" fmla="*/ 108 w 204"/>
                <a:gd name="T1" fmla="*/ 0 h 294"/>
                <a:gd name="T2" fmla="*/ 186 w 204"/>
                <a:gd name="T3" fmla="*/ 168 h 294"/>
                <a:gd name="T4" fmla="*/ 0 w 204"/>
                <a:gd name="T5" fmla="*/ 294 h 294"/>
                <a:gd name="T6" fmla="*/ 0 60000 65536"/>
                <a:gd name="T7" fmla="*/ 0 60000 65536"/>
                <a:gd name="T8" fmla="*/ 0 60000 65536"/>
                <a:gd name="T9" fmla="*/ 0 w 204"/>
                <a:gd name="T10" fmla="*/ 0 h 294"/>
                <a:gd name="T11" fmla="*/ 204 w 204"/>
                <a:gd name="T12" fmla="*/ 294 h 29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" h="294">
                  <a:moveTo>
                    <a:pt x="108" y="0"/>
                  </a:moveTo>
                  <a:cubicBezTo>
                    <a:pt x="121" y="28"/>
                    <a:pt x="204" y="119"/>
                    <a:pt x="186" y="168"/>
                  </a:cubicBezTo>
                  <a:cubicBezTo>
                    <a:pt x="168" y="217"/>
                    <a:pt x="39" y="268"/>
                    <a:pt x="0" y="294"/>
                  </a:cubicBez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7327" name="Rectangle 56"/>
            <p:cNvSpPr>
              <a:spLocks noChangeArrowheads="1"/>
            </p:cNvSpPr>
            <p:nvPr/>
          </p:nvSpPr>
          <p:spPr bwMode="auto">
            <a:xfrm>
              <a:off x="3936" y="3360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97328" name="Rectangle 57"/>
            <p:cNvSpPr>
              <a:spLocks noChangeArrowheads="1"/>
            </p:cNvSpPr>
            <p:nvPr/>
          </p:nvSpPr>
          <p:spPr bwMode="auto">
            <a:xfrm>
              <a:off x="4320" y="3360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97329" name="Freeform 58"/>
            <p:cNvSpPr>
              <a:spLocks/>
            </p:cNvSpPr>
            <p:nvPr/>
          </p:nvSpPr>
          <p:spPr bwMode="auto">
            <a:xfrm flipH="1">
              <a:off x="3972" y="3456"/>
              <a:ext cx="204" cy="294"/>
            </a:xfrm>
            <a:custGeom>
              <a:avLst/>
              <a:gdLst>
                <a:gd name="T0" fmla="*/ 108 w 204"/>
                <a:gd name="T1" fmla="*/ 0 h 294"/>
                <a:gd name="T2" fmla="*/ 186 w 204"/>
                <a:gd name="T3" fmla="*/ 168 h 294"/>
                <a:gd name="T4" fmla="*/ 0 w 204"/>
                <a:gd name="T5" fmla="*/ 294 h 294"/>
                <a:gd name="T6" fmla="*/ 0 60000 65536"/>
                <a:gd name="T7" fmla="*/ 0 60000 65536"/>
                <a:gd name="T8" fmla="*/ 0 60000 65536"/>
                <a:gd name="T9" fmla="*/ 0 w 204"/>
                <a:gd name="T10" fmla="*/ 0 h 294"/>
                <a:gd name="T11" fmla="*/ 204 w 204"/>
                <a:gd name="T12" fmla="*/ 294 h 29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" h="294">
                  <a:moveTo>
                    <a:pt x="108" y="0"/>
                  </a:moveTo>
                  <a:cubicBezTo>
                    <a:pt x="121" y="28"/>
                    <a:pt x="204" y="119"/>
                    <a:pt x="186" y="168"/>
                  </a:cubicBezTo>
                  <a:cubicBezTo>
                    <a:pt x="168" y="217"/>
                    <a:pt x="39" y="268"/>
                    <a:pt x="0" y="294"/>
                  </a:cubicBez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7330" name="Freeform 59"/>
            <p:cNvSpPr>
              <a:spLocks/>
            </p:cNvSpPr>
            <p:nvPr/>
          </p:nvSpPr>
          <p:spPr bwMode="auto">
            <a:xfrm>
              <a:off x="3948" y="3564"/>
              <a:ext cx="84" cy="84"/>
            </a:xfrm>
            <a:custGeom>
              <a:avLst/>
              <a:gdLst>
                <a:gd name="T0" fmla="*/ 0 w 223"/>
                <a:gd name="T1" fmla="*/ 42 h 222"/>
                <a:gd name="T2" fmla="*/ 42 w 223"/>
                <a:gd name="T3" fmla="*/ 0 h 222"/>
                <a:gd name="T4" fmla="*/ 84 w 223"/>
                <a:gd name="T5" fmla="*/ 42 h 222"/>
                <a:gd name="T6" fmla="*/ 84 w 223"/>
                <a:gd name="T7" fmla="*/ 42 h 222"/>
                <a:gd name="T8" fmla="*/ 42 w 223"/>
                <a:gd name="T9" fmla="*/ 84 h 222"/>
                <a:gd name="T10" fmla="*/ 0 w 223"/>
                <a:gd name="T11" fmla="*/ 42 h 2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23"/>
                <a:gd name="T19" fmla="*/ 0 h 222"/>
                <a:gd name="T20" fmla="*/ 223 w 223"/>
                <a:gd name="T21" fmla="*/ 222 h 22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23" h="222">
                  <a:moveTo>
                    <a:pt x="0" y="111"/>
                  </a:moveTo>
                  <a:cubicBezTo>
                    <a:pt x="0" y="49"/>
                    <a:pt x="50" y="0"/>
                    <a:pt x="111" y="0"/>
                  </a:cubicBezTo>
                  <a:cubicBezTo>
                    <a:pt x="173" y="0"/>
                    <a:pt x="223" y="49"/>
                    <a:pt x="223" y="111"/>
                  </a:cubicBezTo>
                  <a:cubicBezTo>
                    <a:pt x="223" y="111"/>
                    <a:pt x="223" y="111"/>
                    <a:pt x="223" y="111"/>
                  </a:cubicBezTo>
                  <a:cubicBezTo>
                    <a:pt x="223" y="172"/>
                    <a:pt x="173" y="222"/>
                    <a:pt x="111" y="222"/>
                  </a:cubicBezTo>
                  <a:cubicBezTo>
                    <a:pt x="50" y="222"/>
                    <a:pt x="0" y="172"/>
                    <a:pt x="0" y="111"/>
                  </a:cubicBezTo>
                </a:path>
              </a:pathLst>
            </a:custGeom>
            <a:solidFill>
              <a:srgbClr val="339966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7302" name="Group 60"/>
          <p:cNvGrpSpPr>
            <a:grpSpLocks/>
          </p:cNvGrpSpPr>
          <p:nvPr/>
        </p:nvGrpSpPr>
        <p:grpSpPr bwMode="auto">
          <a:xfrm>
            <a:off x="6781800" y="3073400"/>
            <a:ext cx="708025" cy="868363"/>
            <a:chOff x="3936" y="3203"/>
            <a:chExt cx="446" cy="547"/>
          </a:xfrm>
        </p:grpSpPr>
        <p:grpSp>
          <p:nvGrpSpPr>
            <p:cNvPr id="97316" name="Group 61"/>
            <p:cNvGrpSpPr>
              <a:grpSpLocks/>
            </p:cNvGrpSpPr>
            <p:nvPr/>
          </p:nvGrpSpPr>
          <p:grpSpPr bwMode="auto">
            <a:xfrm>
              <a:off x="4030" y="3203"/>
              <a:ext cx="293" cy="305"/>
              <a:chOff x="2895" y="1488"/>
              <a:chExt cx="293" cy="305"/>
            </a:xfrm>
          </p:grpSpPr>
          <p:sp>
            <p:nvSpPr>
              <p:cNvPr id="97322" name="Freeform 62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323" name="Freeform 63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324" name="Rectangle 64"/>
              <p:cNvSpPr>
                <a:spLocks noChangeArrowheads="1"/>
              </p:cNvSpPr>
              <p:nvPr/>
            </p:nvSpPr>
            <p:spPr bwMode="auto">
              <a:xfrm>
                <a:off x="2957" y="1488"/>
                <a:ext cx="188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x</a:t>
                </a:r>
                <a:r>
                  <a:rPr lang="en-US" sz="2800" i="1" baseline="-250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2</a:t>
                </a:r>
              </a:p>
            </p:txBody>
          </p:sp>
        </p:grpSp>
        <p:sp>
          <p:nvSpPr>
            <p:cNvPr id="97317" name="Freeform 65"/>
            <p:cNvSpPr>
              <a:spLocks/>
            </p:cNvSpPr>
            <p:nvPr/>
          </p:nvSpPr>
          <p:spPr bwMode="auto">
            <a:xfrm>
              <a:off x="4164" y="3456"/>
              <a:ext cx="204" cy="294"/>
            </a:xfrm>
            <a:custGeom>
              <a:avLst/>
              <a:gdLst>
                <a:gd name="T0" fmla="*/ 108 w 204"/>
                <a:gd name="T1" fmla="*/ 0 h 294"/>
                <a:gd name="T2" fmla="*/ 186 w 204"/>
                <a:gd name="T3" fmla="*/ 168 h 294"/>
                <a:gd name="T4" fmla="*/ 0 w 204"/>
                <a:gd name="T5" fmla="*/ 294 h 294"/>
                <a:gd name="T6" fmla="*/ 0 60000 65536"/>
                <a:gd name="T7" fmla="*/ 0 60000 65536"/>
                <a:gd name="T8" fmla="*/ 0 60000 65536"/>
                <a:gd name="T9" fmla="*/ 0 w 204"/>
                <a:gd name="T10" fmla="*/ 0 h 294"/>
                <a:gd name="T11" fmla="*/ 204 w 204"/>
                <a:gd name="T12" fmla="*/ 294 h 29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" h="294">
                  <a:moveTo>
                    <a:pt x="108" y="0"/>
                  </a:moveTo>
                  <a:cubicBezTo>
                    <a:pt x="121" y="28"/>
                    <a:pt x="204" y="119"/>
                    <a:pt x="186" y="168"/>
                  </a:cubicBezTo>
                  <a:cubicBezTo>
                    <a:pt x="168" y="217"/>
                    <a:pt x="39" y="268"/>
                    <a:pt x="0" y="294"/>
                  </a:cubicBez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7318" name="Rectangle 66"/>
            <p:cNvSpPr>
              <a:spLocks noChangeArrowheads="1"/>
            </p:cNvSpPr>
            <p:nvPr/>
          </p:nvSpPr>
          <p:spPr bwMode="auto">
            <a:xfrm>
              <a:off x="3936" y="3360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97319" name="Rectangle 67"/>
            <p:cNvSpPr>
              <a:spLocks noChangeArrowheads="1"/>
            </p:cNvSpPr>
            <p:nvPr/>
          </p:nvSpPr>
          <p:spPr bwMode="auto">
            <a:xfrm>
              <a:off x="4320" y="3360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97320" name="Freeform 68"/>
            <p:cNvSpPr>
              <a:spLocks/>
            </p:cNvSpPr>
            <p:nvPr/>
          </p:nvSpPr>
          <p:spPr bwMode="auto">
            <a:xfrm flipH="1">
              <a:off x="3972" y="3456"/>
              <a:ext cx="204" cy="294"/>
            </a:xfrm>
            <a:custGeom>
              <a:avLst/>
              <a:gdLst>
                <a:gd name="T0" fmla="*/ 108 w 204"/>
                <a:gd name="T1" fmla="*/ 0 h 294"/>
                <a:gd name="T2" fmla="*/ 186 w 204"/>
                <a:gd name="T3" fmla="*/ 168 h 294"/>
                <a:gd name="T4" fmla="*/ 0 w 204"/>
                <a:gd name="T5" fmla="*/ 294 h 294"/>
                <a:gd name="T6" fmla="*/ 0 60000 65536"/>
                <a:gd name="T7" fmla="*/ 0 60000 65536"/>
                <a:gd name="T8" fmla="*/ 0 60000 65536"/>
                <a:gd name="T9" fmla="*/ 0 w 204"/>
                <a:gd name="T10" fmla="*/ 0 h 294"/>
                <a:gd name="T11" fmla="*/ 204 w 204"/>
                <a:gd name="T12" fmla="*/ 294 h 29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" h="294">
                  <a:moveTo>
                    <a:pt x="108" y="0"/>
                  </a:moveTo>
                  <a:cubicBezTo>
                    <a:pt x="121" y="28"/>
                    <a:pt x="204" y="119"/>
                    <a:pt x="186" y="168"/>
                  </a:cubicBezTo>
                  <a:cubicBezTo>
                    <a:pt x="168" y="217"/>
                    <a:pt x="39" y="268"/>
                    <a:pt x="0" y="294"/>
                  </a:cubicBez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7321" name="Freeform 69"/>
            <p:cNvSpPr>
              <a:spLocks/>
            </p:cNvSpPr>
            <p:nvPr/>
          </p:nvSpPr>
          <p:spPr bwMode="auto">
            <a:xfrm>
              <a:off x="3948" y="3564"/>
              <a:ext cx="84" cy="84"/>
            </a:xfrm>
            <a:custGeom>
              <a:avLst/>
              <a:gdLst>
                <a:gd name="T0" fmla="*/ 0 w 223"/>
                <a:gd name="T1" fmla="*/ 42 h 222"/>
                <a:gd name="T2" fmla="*/ 42 w 223"/>
                <a:gd name="T3" fmla="*/ 0 h 222"/>
                <a:gd name="T4" fmla="*/ 84 w 223"/>
                <a:gd name="T5" fmla="*/ 42 h 222"/>
                <a:gd name="T6" fmla="*/ 84 w 223"/>
                <a:gd name="T7" fmla="*/ 42 h 222"/>
                <a:gd name="T8" fmla="*/ 42 w 223"/>
                <a:gd name="T9" fmla="*/ 84 h 222"/>
                <a:gd name="T10" fmla="*/ 0 w 223"/>
                <a:gd name="T11" fmla="*/ 42 h 2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23"/>
                <a:gd name="T19" fmla="*/ 0 h 222"/>
                <a:gd name="T20" fmla="*/ 223 w 223"/>
                <a:gd name="T21" fmla="*/ 222 h 22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23" h="222">
                  <a:moveTo>
                    <a:pt x="0" y="111"/>
                  </a:moveTo>
                  <a:cubicBezTo>
                    <a:pt x="0" y="49"/>
                    <a:pt x="50" y="0"/>
                    <a:pt x="111" y="0"/>
                  </a:cubicBezTo>
                  <a:cubicBezTo>
                    <a:pt x="173" y="0"/>
                    <a:pt x="223" y="49"/>
                    <a:pt x="223" y="111"/>
                  </a:cubicBezTo>
                  <a:cubicBezTo>
                    <a:pt x="223" y="111"/>
                    <a:pt x="223" y="111"/>
                    <a:pt x="223" y="111"/>
                  </a:cubicBezTo>
                  <a:cubicBezTo>
                    <a:pt x="223" y="172"/>
                    <a:pt x="173" y="222"/>
                    <a:pt x="111" y="222"/>
                  </a:cubicBezTo>
                  <a:cubicBezTo>
                    <a:pt x="50" y="222"/>
                    <a:pt x="0" y="172"/>
                    <a:pt x="0" y="111"/>
                  </a:cubicBezTo>
                </a:path>
              </a:pathLst>
            </a:custGeom>
            <a:solidFill>
              <a:srgbClr val="339966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97303" name="Object 70"/>
          <p:cNvGraphicFramePr>
            <a:graphicFrameLocks noChangeAspect="1"/>
          </p:cNvGraphicFramePr>
          <p:nvPr/>
        </p:nvGraphicFramePr>
        <p:xfrm>
          <a:off x="1143000" y="4419600"/>
          <a:ext cx="2946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4" imgW="2946400" imgH="431800" progId="Equation.3">
                  <p:embed/>
                </p:oleObj>
              </mc:Choice>
              <mc:Fallback>
                <p:oleObj name="Equation" r:id="rId4" imgW="2946400" imgH="431800" progId="Equation.3">
                  <p:embed/>
                  <p:pic>
                    <p:nvPicPr>
                      <p:cNvPr id="0" name="Picture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419600"/>
                        <a:ext cx="2946400" cy="4318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7304" name="Group 71"/>
          <p:cNvGrpSpPr>
            <a:grpSpLocks/>
          </p:cNvGrpSpPr>
          <p:nvPr/>
        </p:nvGrpSpPr>
        <p:grpSpPr bwMode="auto">
          <a:xfrm>
            <a:off x="6781800" y="2235200"/>
            <a:ext cx="708025" cy="868363"/>
            <a:chOff x="3936" y="3203"/>
            <a:chExt cx="446" cy="547"/>
          </a:xfrm>
        </p:grpSpPr>
        <p:grpSp>
          <p:nvGrpSpPr>
            <p:cNvPr id="97307" name="Group 72"/>
            <p:cNvGrpSpPr>
              <a:grpSpLocks/>
            </p:cNvGrpSpPr>
            <p:nvPr/>
          </p:nvGrpSpPr>
          <p:grpSpPr bwMode="auto">
            <a:xfrm>
              <a:off x="4030" y="3203"/>
              <a:ext cx="293" cy="305"/>
              <a:chOff x="2895" y="1488"/>
              <a:chExt cx="293" cy="305"/>
            </a:xfrm>
          </p:grpSpPr>
          <p:sp>
            <p:nvSpPr>
              <p:cNvPr id="97313" name="Freeform 73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314" name="Freeform 74"/>
              <p:cNvSpPr>
                <a:spLocks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315" name="Rectangle 75"/>
              <p:cNvSpPr>
                <a:spLocks noChangeArrowheads="1"/>
              </p:cNvSpPr>
              <p:nvPr/>
            </p:nvSpPr>
            <p:spPr bwMode="auto">
              <a:xfrm>
                <a:off x="2957" y="1488"/>
                <a:ext cx="188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8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x</a:t>
                </a:r>
                <a:r>
                  <a:rPr lang="en-US" sz="2800" i="1" baseline="-250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1</a:t>
                </a:r>
              </a:p>
            </p:txBody>
          </p:sp>
        </p:grpSp>
        <p:sp>
          <p:nvSpPr>
            <p:cNvPr id="97308" name="Freeform 76"/>
            <p:cNvSpPr>
              <a:spLocks/>
            </p:cNvSpPr>
            <p:nvPr/>
          </p:nvSpPr>
          <p:spPr bwMode="auto">
            <a:xfrm>
              <a:off x="4164" y="3456"/>
              <a:ext cx="204" cy="294"/>
            </a:xfrm>
            <a:custGeom>
              <a:avLst/>
              <a:gdLst>
                <a:gd name="T0" fmla="*/ 108 w 204"/>
                <a:gd name="T1" fmla="*/ 0 h 294"/>
                <a:gd name="T2" fmla="*/ 186 w 204"/>
                <a:gd name="T3" fmla="*/ 168 h 294"/>
                <a:gd name="T4" fmla="*/ 0 w 204"/>
                <a:gd name="T5" fmla="*/ 294 h 294"/>
                <a:gd name="T6" fmla="*/ 0 60000 65536"/>
                <a:gd name="T7" fmla="*/ 0 60000 65536"/>
                <a:gd name="T8" fmla="*/ 0 60000 65536"/>
                <a:gd name="T9" fmla="*/ 0 w 204"/>
                <a:gd name="T10" fmla="*/ 0 h 294"/>
                <a:gd name="T11" fmla="*/ 204 w 204"/>
                <a:gd name="T12" fmla="*/ 294 h 29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" h="294">
                  <a:moveTo>
                    <a:pt x="108" y="0"/>
                  </a:moveTo>
                  <a:cubicBezTo>
                    <a:pt x="121" y="28"/>
                    <a:pt x="204" y="119"/>
                    <a:pt x="186" y="168"/>
                  </a:cubicBezTo>
                  <a:cubicBezTo>
                    <a:pt x="168" y="217"/>
                    <a:pt x="39" y="268"/>
                    <a:pt x="0" y="294"/>
                  </a:cubicBez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7309" name="Rectangle 77"/>
            <p:cNvSpPr>
              <a:spLocks noChangeArrowheads="1"/>
            </p:cNvSpPr>
            <p:nvPr/>
          </p:nvSpPr>
          <p:spPr bwMode="auto">
            <a:xfrm>
              <a:off x="3936" y="3360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0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97310" name="Rectangle 78"/>
            <p:cNvSpPr>
              <a:spLocks noChangeArrowheads="1"/>
            </p:cNvSpPr>
            <p:nvPr/>
          </p:nvSpPr>
          <p:spPr bwMode="auto">
            <a:xfrm>
              <a:off x="4320" y="3360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cs typeface="Arial" charset="0"/>
                </a:rPr>
                <a:t>1</a:t>
              </a:r>
              <a:endParaRPr lang="en-US">
                <a:latin typeface="Times New Roman" charset="0"/>
                <a:cs typeface="Arial" charset="0"/>
              </a:endParaRPr>
            </a:p>
          </p:txBody>
        </p:sp>
        <p:sp>
          <p:nvSpPr>
            <p:cNvPr id="97311" name="Freeform 79"/>
            <p:cNvSpPr>
              <a:spLocks/>
            </p:cNvSpPr>
            <p:nvPr/>
          </p:nvSpPr>
          <p:spPr bwMode="auto">
            <a:xfrm flipH="1">
              <a:off x="3972" y="3456"/>
              <a:ext cx="204" cy="294"/>
            </a:xfrm>
            <a:custGeom>
              <a:avLst/>
              <a:gdLst>
                <a:gd name="T0" fmla="*/ 108 w 204"/>
                <a:gd name="T1" fmla="*/ 0 h 294"/>
                <a:gd name="T2" fmla="*/ 186 w 204"/>
                <a:gd name="T3" fmla="*/ 168 h 294"/>
                <a:gd name="T4" fmla="*/ 0 w 204"/>
                <a:gd name="T5" fmla="*/ 294 h 294"/>
                <a:gd name="T6" fmla="*/ 0 60000 65536"/>
                <a:gd name="T7" fmla="*/ 0 60000 65536"/>
                <a:gd name="T8" fmla="*/ 0 60000 65536"/>
                <a:gd name="T9" fmla="*/ 0 w 204"/>
                <a:gd name="T10" fmla="*/ 0 h 294"/>
                <a:gd name="T11" fmla="*/ 204 w 204"/>
                <a:gd name="T12" fmla="*/ 294 h 29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" h="294">
                  <a:moveTo>
                    <a:pt x="108" y="0"/>
                  </a:moveTo>
                  <a:cubicBezTo>
                    <a:pt x="121" y="28"/>
                    <a:pt x="204" y="119"/>
                    <a:pt x="186" y="168"/>
                  </a:cubicBezTo>
                  <a:cubicBezTo>
                    <a:pt x="168" y="217"/>
                    <a:pt x="39" y="268"/>
                    <a:pt x="0" y="294"/>
                  </a:cubicBez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7312" name="Freeform 80"/>
            <p:cNvSpPr>
              <a:spLocks/>
            </p:cNvSpPr>
            <p:nvPr/>
          </p:nvSpPr>
          <p:spPr bwMode="auto">
            <a:xfrm>
              <a:off x="3948" y="3564"/>
              <a:ext cx="84" cy="84"/>
            </a:xfrm>
            <a:custGeom>
              <a:avLst/>
              <a:gdLst>
                <a:gd name="T0" fmla="*/ 0 w 223"/>
                <a:gd name="T1" fmla="*/ 42 h 222"/>
                <a:gd name="T2" fmla="*/ 42 w 223"/>
                <a:gd name="T3" fmla="*/ 0 h 222"/>
                <a:gd name="T4" fmla="*/ 84 w 223"/>
                <a:gd name="T5" fmla="*/ 42 h 222"/>
                <a:gd name="T6" fmla="*/ 84 w 223"/>
                <a:gd name="T7" fmla="*/ 42 h 222"/>
                <a:gd name="T8" fmla="*/ 42 w 223"/>
                <a:gd name="T9" fmla="*/ 84 h 222"/>
                <a:gd name="T10" fmla="*/ 0 w 223"/>
                <a:gd name="T11" fmla="*/ 42 h 2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23"/>
                <a:gd name="T19" fmla="*/ 0 h 222"/>
                <a:gd name="T20" fmla="*/ 223 w 223"/>
                <a:gd name="T21" fmla="*/ 222 h 22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23" h="222">
                  <a:moveTo>
                    <a:pt x="0" y="111"/>
                  </a:moveTo>
                  <a:cubicBezTo>
                    <a:pt x="0" y="49"/>
                    <a:pt x="50" y="0"/>
                    <a:pt x="111" y="0"/>
                  </a:cubicBezTo>
                  <a:cubicBezTo>
                    <a:pt x="173" y="0"/>
                    <a:pt x="223" y="49"/>
                    <a:pt x="223" y="111"/>
                  </a:cubicBezTo>
                  <a:cubicBezTo>
                    <a:pt x="223" y="111"/>
                    <a:pt x="223" y="111"/>
                    <a:pt x="223" y="111"/>
                  </a:cubicBezTo>
                  <a:cubicBezTo>
                    <a:pt x="223" y="172"/>
                    <a:pt x="173" y="222"/>
                    <a:pt x="111" y="222"/>
                  </a:cubicBezTo>
                  <a:cubicBezTo>
                    <a:pt x="50" y="222"/>
                    <a:pt x="0" y="172"/>
                    <a:pt x="0" y="111"/>
                  </a:cubicBezTo>
                </a:path>
              </a:pathLst>
            </a:custGeom>
            <a:solidFill>
              <a:srgbClr val="339966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7305" name="Freeform 81"/>
          <p:cNvSpPr>
            <a:spLocks/>
          </p:cNvSpPr>
          <p:nvPr/>
        </p:nvSpPr>
        <p:spPr bwMode="auto">
          <a:xfrm flipH="1">
            <a:off x="7185025" y="1828800"/>
            <a:ext cx="123825" cy="436563"/>
          </a:xfrm>
          <a:custGeom>
            <a:avLst/>
            <a:gdLst>
              <a:gd name="T0" fmla="*/ 0 w 160"/>
              <a:gd name="T1" fmla="*/ 0 h 208"/>
              <a:gd name="T2" fmla="*/ 123825 w 160"/>
              <a:gd name="T3" fmla="*/ 436563 h 208"/>
              <a:gd name="T4" fmla="*/ 0 60000 65536"/>
              <a:gd name="T5" fmla="*/ 0 60000 65536"/>
              <a:gd name="T6" fmla="*/ 0 w 160"/>
              <a:gd name="T7" fmla="*/ 0 h 208"/>
              <a:gd name="T8" fmla="*/ 160 w 160"/>
              <a:gd name="T9" fmla="*/ 208 h 20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60" h="208">
                <a:moveTo>
                  <a:pt x="0" y="0"/>
                </a:moveTo>
                <a:lnTo>
                  <a:pt x="160" y="208"/>
                </a:lnTo>
              </a:path>
            </a:pathLst>
          </a:custGeom>
          <a:noFill/>
          <a:ln w="50800">
            <a:solidFill>
              <a:srgbClr val="66FF99"/>
            </a:solidFill>
            <a:round/>
            <a:headEnd/>
            <a:tailEnd type="stealth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97306" name="Freeform 82"/>
          <p:cNvSpPr>
            <a:spLocks/>
          </p:cNvSpPr>
          <p:nvPr/>
        </p:nvSpPr>
        <p:spPr bwMode="auto">
          <a:xfrm>
            <a:off x="7204075" y="1903413"/>
            <a:ext cx="133350" cy="133350"/>
          </a:xfrm>
          <a:custGeom>
            <a:avLst/>
            <a:gdLst>
              <a:gd name="T0" fmla="*/ 0 w 223"/>
              <a:gd name="T1" fmla="*/ 66675 h 222"/>
              <a:gd name="T2" fmla="*/ 66376 w 223"/>
              <a:gd name="T3" fmla="*/ 0 h 222"/>
              <a:gd name="T4" fmla="*/ 133350 w 223"/>
              <a:gd name="T5" fmla="*/ 66675 h 222"/>
              <a:gd name="T6" fmla="*/ 133350 w 223"/>
              <a:gd name="T7" fmla="*/ 66675 h 222"/>
              <a:gd name="T8" fmla="*/ 66376 w 223"/>
              <a:gd name="T9" fmla="*/ 133350 h 222"/>
              <a:gd name="T10" fmla="*/ 0 w 223"/>
              <a:gd name="T11" fmla="*/ 66675 h 22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23"/>
              <a:gd name="T19" fmla="*/ 0 h 222"/>
              <a:gd name="T20" fmla="*/ 223 w 223"/>
              <a:gd name="T21" fmla="*/ 222 h 22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23" h="222">
                <a:moveTo>
                  <a:pt x="0" y="111"/>
                </a:moveTo>
                <a:cubicBezTo>
                  <a:pt x="0" y="49"/>
                  <a:pt x="50" y="0"/>
                  <a:pt x="111" y="0"/>
                </a:cubicBezTo>
                <a:cubicBezTo>
                  <a:pt x="173" y="0"/>
                  <a:pt x="223" y="49"/>
                  <a:pt x="223" y="111"/>
                </a:cubicBezTo>
                <a:cubicBezTo>
                  <a:pt x="223" y="111"/>
                  <a:pt x="223" y="111"/>
                  <a:pt x="223" y="111"/>
                </a:cubicBezTo>
                <a:cubicBezTo>
                  <a:pt x="223" y="172"/>
                  <a:pt x="173" y="222"/>
                  <a:pt x="111" y="222"/>
                </a:cubicBezTo>
                <a:cubicBezTo>
                  <a:pt x="50" y="222"/>
                  <a:pt x="0" y="172"/>
                  <a:pt x="0" y="111"/>
                </a:cubicBezTo>
              </a:path>
            </a:pathLst>
          </a:custGeom>
          <a:solidFill>
            <a:srgbClr val="339966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r>
              <a:rPr lang="en-US" sz="1400" b="0"/>
              <a:t>(c)  Giovanni De Micheli</a:t>
            </a:r>
          </a:p>
        </p:txBody>
      </p:sp>
      <p:sp>
        <p:nvSpPr>
          <p:cNvPr id="9933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59FA1FC0-E69B-C04A-8167-43C00A2392EE}" type="slidenum">
              <a:rPr lang="en-US" sz="1400" b="0"/>
              <a:pPr/>
              <a:t>46</a:t>
            </a:fld>
            <a:endParaRPr lang="en-US" sz="1400" b="0"/>
          </a:p>
        </p:txBody>
      </p:sp>
      <p:sp>
        <p:nvSpPr>
          <p:cNvPr id="993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>
                <a:latin typeface="Arial Narrow" charset="0"/>
              </a:rPr>
              <a:t>Other types of Decision Diagram</a:t>
            </a:r>
          </a:p>
        </p:txBody>
      </p:sp>
      <p:sp>
        <p:nvSpPr>
          <p:cNvPr id="1396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69900" indent="-469900">
              <a:lnSpc>
                <a:spcPct val="90000"/>
              </a:lnSpc>
            </a:pPr>
            <a:r>
              <a:rPr lang="en-US">
                <a:latin typeface="Arial Narrow" charset="0"/>
              </a:rPr>
              <a:t>Based on different expansion</a:t>
            </a:r>
          </a:p>
          <a:p>
            <a:pPr marL="908050" lvl="1" indent="-436563">
              <a:lnSpc>
                <a:spcPct val="90000"/>
              </a:lnSpc>
            </a:pPr>
            <a:r>
              <a:rPr lang="en-US">
                <a:latin typeface="Arial Narrow" charset="0"/>
              </a:rPr>
              <a:t>OFDD</a:t>
            </a:r>
          </a:p>
          <a:p>
            <a:pPr marL="908050" lvl="1" indent="-436563">
              <a:lnSpc>
                <a:spcPct val="90000"/>
              </a:lnSpc>
            </a:pPr>
            <a:r>
              <a:rPr lang="en-US">
                <a:latin typeface="Arial Narrow" charset="0"/>
              </a:rPr>
              <a:t>Ordered functional decision diagrams</a:t>
            </a:r>
          </a:p>
          <a:p>
            <a:pPr marL="469900" indent="-469900">
              <a:lnSpc>
                <a:spcPct val="90000"/>
              </a:lnSpc>
            </a:pPr>
            <a:endParaRPr lang="en-US">
              <a:latin typeface="Arial Narrow" charset="0"/>
            </a:endParaRPr>
          </a:p>
          <a:p>
            <a:pPr marL="469900" indent="-469900">
              <a:lnSpc>
                <a:spcPct val="90000"/>
              </a:lnSpc>
            </a:pPr>
            <a:r>
              <a:rPr lang="en-US">
                <a:latin typeface="Arial Narrow" charset="0"/>
              </a:rPr>
              <a:t>For discrete functions:</a:t>
            </a:r>
          </a:p>
          <a:p>
            <a:pPr marL="908050" lvl="1" indent="-436563">
              <a:lnSpc>
                <a:spcPct val="90000"/>
              </a:lnSpc>
            </a:pPr>
            <a:r>
              <a:rPr lang="en-US">
                <a:latin typeface="Arial Narrow" charset="0"/>
              </a:rPr>
              <a:t>ADD</a:t>
            </a:r>
          </a:p>
          <a:p>
            <a:pPr marL="908050" lvl="1" indent="-436563">
              <a:lnSpc>
                <a:spcPct val="90000"/>
              </a:lnSpc>
            </a:pPr>
            <a:r>
              <a:rPr lang="en-US">
                <a:latin typeface="Arial Narrow" charset="0"/>
              </a:rPr>
              <a:t>Algebraic decision diagrams</a:t>
            </a:r>
          </a:p>
          <a:p>
            <a:pPr marL="908050" lvl="1" indent="-436563">
              <a:lnSpc>
                <a:spcPct val="90000"/>
              </a:lnSpc>
            </a:pPr>
            <a:endParaRPr lang="en-US">
              <a:latin typeface="Arial Narrow" charset="0"/>
            </a:endParaRPr>
          </a:p>
          <a:p>
            <a:pPr marL="908050" lvl="1" indent="-436563">
              <a:lnSpc>
                <a:spcPct val="90000"/>
              </a:lnSpc>
            </a:pPr>
            <a:endParaRPr lang="en-US">
              <a:latin typeface="Arial Narrow" charset="0"/>
            </a:endParaRPr>
          </a:p>
          <a:p>
            <a:pPr marL="908050" lvl="1" indent="-436563">
              <a:lnSpc>
                <a:spcPct val="90000"/>
              </a:lnSpc>
            </a:pPr>
            <a:endParaRPr lang="en-US">
              <a:latin typeface="Arial Narrow" charset="0"/>
            </a:endParaRPr>
          </a:p>
          <a:p>
            <a:pPr marL="908050" lvl="1" indent="-436563">
              <a:lnSpc>
                <a:spcPct val="90000"/>
              </a:lnSpc>
            </a:pPr>
            <a:endParaRPr lang="en-US">
              <a:latin typeface="Arial Narrow" charset="0"/>
            </a:endParaRPr>
          </a:p>
          <a:p>
            <a:pPr marL="908050" lvl="1" indent="-436563">
              <a:lnSpc>
                <a:spcPct val="90000"/>
              </a:lnSpc>
              <a:buFont typeface="Monotype Sorts" charset="0"/>
              <a:buNone/>
            </a:pPr>
            <a:endParaRPr lang="en-US">
              <a:latin typeface="Arial Narrow" charset="0"/>
            </a:endParaRPr>
          </a:p>
        </p:txBody>
      </p:sp>
      <p:graphicFrame>
        <p:nvGraphicFramePr>
          <p:cNvPr id="99333" name="Object 4"/>
          <p:cNvGraphicFramePr>
            <a:graphicFrameLocks noChangeAspect="1"/>
          </p:cNvGraphicFramePr>
          <p:nvPr/>
        </p:nvGraphicFramePr>
        <p:xfrm>
          <a:off x="2921000" y="2487613"/>
          <a:ext cx="3403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4" imgW="3403600" imgH="431800" progId="Equation.3">
                  <p:embed/>
                </p:oleObj>
              </mc:Choice>
              <mc:Fallback>
                <p:oleObj name="Equation" r:id="rId4" imgW="3403600" imgH="431800" progId="Equation.3">
                  <p:embed/>
                  <p:pic>
                    <p:nvPicPr>
                      <p:cNvPr id="0" name="Picture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1000" y="2487613"/>
                        <a:ext cx="3403600" cy="4318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410200" y="3124200"/>
            <a:ext cx="2133600" cy="1746250"/>
            <a:chOff x="720" y="2414"/>
            <a:chExt cx="1344" cy="1100"/>
          </a:xfrm>
        </p:grpSpPr>
        <p:sp>
          <p:nvSpPr>
            <p:cNvPr id="99335" name="Freeform 6"/>
            <p:cNvSpPr>
              <a:spLocks noChangeAspect="1"/>
            </p:cNvSpPr>
            <p:nvPr/>
          </p:nvSpPr>
          <p:spPr bwMode="auto">
            <a:xfrm flipH="1">
              <a:off x="1429" y="2414"/>
              <a:ext cx="51" cy="166"/>
            </a:xfrm>
            <a:custGeom>
              <a:avLst/>
              <a:gdLst>
                <a:gd name="T0" fmla="*/ 0 w 160"/>
                <a:gd name="T1" fmla="*/ 0 h 208"/>
                <a:gd name="T2" fmla="*/ 51 w 160"/>
                <a:gd name="T3" fmla="*/ 166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66FF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9336" name="Freeform 7"/>
            <p:cNvSpPr>
              <a:spLocks noChangeAspect="1"/>
            </p:cNvSpPr>
            <p:nvPr/>
          </p:nvSpPr>
          <p:spPr bwMode="auto">
            <a:xfrm>
              <a:off x="1473" y="2774"/>
              <a:ext cx="319" cy="184"/>
            </a:xfrm>
            <a:custGeom>
              <a:avLst/>
              <a:gdLst>
                <a:gd name="T0" fmla="*/ 0 w 319"/>
                <a:gd name="T1" fmla="*/ 0 h 184"/>
                <a:gd name="T2" fmla="*/ 319 w 319"/>
                <a:gd name="T3" fmla="*/ 184 h 184"/>
                <a:gd name="T4" fmla="*/ 0 60000 65536"/>
                <a:gd name="T5" fmla="*/ 0 60000 65536"/>
                <a:gd name="T6" fmla="*/ 0 w 319"/>
                <a:gd name="T7" fmla="*/ 0 h 184"/>
                <a:gd name="T8" fmla="*/ 319 w 319"/>
                <a:gd name="T9" fmla="*/ 184 h 18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9" h="184">
                  <a:moveTo>
                    <a:pt x="0" y="0"/>
                  </a:moveTo>
                  <a:lnTo>
                    <a:pt x="319" y="184"/>
                  </a:ln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9337" name="Freeform 8"/>
            <p:cNvSpPr>
              <a:spLocks noChangeAspect="1"/>
            </p:cNvSpPr>
            <p:nvPr/>
          </p:nvSpPr>
          <p:spPr bwMode="auto">
            <a:xfrm>
              <a:off x="1042" y="2774"/>
              <a:ext cx="278" cy="178"/>
            </a:xfrm>
            <a:custGeom>
              <a:avLst/>
              <a:gdLst>
                <a:gd name="T0" fmla="*/ 278 w 278"/>
                <a:gd name="T1" fmla="*/ 0 h 178"/>
                <a:gd name="T2" fmla="*/ 0 w 278"/>
                <a:gd name="T3" fmla="*/ 178 h 178"/>
                <a:gd name="T4" fmla="*/ 0 60000 65536"/>
                <a:gd name="T5" fmla="*/ 0 60000 65536"/>
                <a:gd name="T6" fmla="*/ 0 w 278"/>
                <a:gd name="T7" fmla="*/ 0 h 178"/>
                <a:gd name="T8" fmla="*/ 278 w 278"/>
                <a:gd name="T9" fmla="*/ 178 h 17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8" h="178">
                  <a:moveTo>
                    <a:pt x="278" y="0"/>
                  </a:moveTo>
                  <a:lnTo>
                    <a:pt x="0" y="178"/>
                  </a:ln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9338" name="Freeform 9"/>
            <p:cNvSpPr>
              <a:spLocks noChangeAspect="1"/>
            </p:cNvSpPr>
            <p:nvPr/>
          </p:nvSpPr>
          <p:spPr bwMode="auto">
            <a:xfrm>
              <a:off x="1089" y="3158"/>
              <a:ext cx="128" cy="167"/>
            </a:xfrm>
            <a:custGeom>
              <a:avLst/>
              <a:gdLst>
                <a:gd name="T0" fmla="*/ 0 w 160"/>
                <a:gd name="T1" fmla="*/ 0 h 208"/>
                <a:gd name="T2" fmla="*/ 128 w 160"/>
                <a:gd name="T3" fmla="*/ 167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9339" name="Freeform 10"/>
            <p:cNvSpPr>
              <a:spLocks noChangeAspect="1"/>
            </p:cNvSpPr>
            <p:nvPr/>
          </p:nvSpPr>
          <p:spPr bwMode="auto">
            <a:xfrm flipH="1">
              <a:off x="808" y="3158"/>
              <a:ext cx="128" cy="167"/>
            </a:xfrm>
            <a:custGeom>
              <a:avLst/>
              <a:gdLst>
                <a:gd name="T0" fmla="*/ 0 w 160"/>
                <a:gd name="T1" fmla="*/ 0 h 208"/>
                <a:gd name="T2" fmla="*/ 128 w 160"/>
                <a:gd name="T3" fmla="*/ 167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9340" name="Freeform 11"/>
            <p:cNvSpPr>
              <a:spLocks noChangeAspect="1"/>
            </p:cNvSpPr>
            <p:nvPr/>
          </p:nvSpPr>
          <p:spPr bwMode="auto">
            <a:xfrm>
              <a:off x="1873" y="3158"/>
              <a:ext cx="128" cy="167"/>
            </a:xfrm>
            <a:custGeom>
              <a:avLst/>
              <a:gdLst>
                <a:gd name="T0" fmla="*/ 0 w 160"/>
                <a:gd name="T1" fmla="*/ 0 h 208"/>
                <a:gd name="T2" fmla="*/ 128 w 160"/>
                <a:gd name="T3" fmla="*/ 167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chemeClr val="accent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9341" name="Freeform 12"/>
            <p:cNvSpPr>
              <a:spLocks noChangeAspect="1"/>
            </p:cNvSpPr>
            <p:nvPr/>
          </p:nvSpPr>
          <p:spPr bwMode="auto">
            <a:xfrm flipH="1">
              <a:off x="1592" y="3158"/>
              <a:ext cx="128" cy="167"/>
            </a:xfrm>
            <a:custGeom>
              <a:avLst/>
              <a:gdLst>
                <a:gd name="T0" fmla="*/ 0 w 160"/>
                <a:gd name="T1" fmla="*/ 0 h 208"/>
                <a:gd name="T2" fmla="*/ 128 w 160"/>
                <a:gd name="T3" fmla="*/ 167 h 208"/>
                <a:gd name="T4" fmla="*/ 0 60000 65536"/>
                <a:gd name="T5" fmla="*/ 0 60000 65536"/>
                <a:gd name="T6" fmla="*/ 0 w 160"/>
                <a:gd name="T7" fmla="*/ 0 h 208"/>
                <a:gd name="T8" fmla="*/ 160 w 160"/>
                <a:gd name="T9" fmla="*/ 208 h 2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208">
                  <a:moveTo>
                    <a:pt x="0" y="0"/>
                  </a:moveTo>
                  <a:lnTo>
                    <a:pt x="160" y="208"/>
                  </a:lnTo>
                </a:path>
              </a:pathLst>
            </a:custGeom>
            <a:noFill/>
            <a:ln w="50800">
              <a:solidFill>
                <a:srgbClr val="333399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99342" name="Group 13"/>
            <p:cNvGrpSpPr>
              <a:grpSpLocks noChangeAspect="1"/>
            </p:cNvGrpSpPr>
            <p:nvPr/>
          </p:nvGrpSpPr>
          <p:grpSpPr bwMode="auto">
            <a:xfrm>
              <a:off x="1677" y="2953"/>
              <a:ext cx="259" cy="258"/>
              <a:chOff x="2895" y="1500"/>
              <a:chExt cx="293" cy="293"/>
            </a:xfrm>
          </p:grpSpPr>
          <p:sp>
            <p:nvSpPr>
              <p:cNvPr id="99367" name="Freeform 14"/>
              <p:cNvSpPr>
                <a:spLocks noChangeAspect="1"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68" name="Freeform 15"/>
              <p:cNvSpPr>
                <a:spLocks noChangeAspect="1"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69" name="Rectangle 16"/>
              <p:cNvSpPr>
                <a:spLocks noChangeAspect="1" noChangeArrowheads="1"/>
              </p:cNvSpPr>
              <p:nvPr/>
            </p:nvSpPr>
            <p:spPr bwMode="auto">
              <a:xfrm>
                <a:off x="2976" y="1514"/>
                <a:ext cx="150" cy="2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0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x</a:t>
                </a:r>
                <a:r>
                  <a:rPr lang="en-US" sz="2000" i="1" baseline="-250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1</a:t>
                </a:r>
              </a:p>
            </p:txBody>
          </p:sp>
        </p:grpSp>
        <p:grpSp>
          <p:nvGrpSpPr>
            <p:cNvPr id="99343" name="Group 17"/>
            <p:cNvGrpSpPr>
              <a:grpSpLocks noChangeAspect="1"/>
            </p:cNvGrpSpPr>
            <p:nvPr/>
          </p:nvGrpSpPr>
          <p:grpSpPr bwMode="auto">
            <a:xfrm>
              <a:off x="885" y="2958"/>
              <a:ext cx="259" cy="258"/>
              <a:chOff x="2895" y="1500"/>
              <a:chExt cx="293" cy="293"/>
            </a:xfrm>
          </p:grpSpPr>
          <p:sp>
            <p:nvSpPr>
              <p:cNvPr id="99364" name="Freeform 18"/>
              <p:cNvSpPr>
                <a:spLocks noChangeAspect="1"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65" name="Freeform 19"/>
              <p:cNvSpPr>
                <a:spLocks noChangeAspect="1"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66" name="Rectangle 20"/>
              <p:cNvSpPr>
                <a:spLocks noChangeAspect="1" noChangeArrowheads="1"/>
              </p:cNvSpPr>
              <p:nvPr/>
            </p:nvSpPr>
            <p:spPr bwMode="auto">
              <a:xfrm>
                <a:off x="2976" y="1514"/>
                <a:ext cx="150" cy="2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0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x</a:t>
                </a:r>
                <a:r>
                  <a:rPr lang="en-US" sz="2000" i="1" baseline="-250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1</a:t>
                </a:r>
              </a:p>
            </p:txBody>
          </p:sp>
        </p:grpSp>
        <p:grpSp>
          <p:nvGrpSpPr>
            <p:cNvPr id="99344" name="Group 21"/>
            <p:cNvGrpSpPr>
              <a:grpSpLocks noChangeAspect="1"/>
            </p:cNvGrpSpPr>
            <p:nvPr/>
          </p:nvGrpSpPr>
          <p:grpSpPr bwMode="auto">
            <a:xfrm>
              <a:off x="1277" y="2569"/>
              <a:ext cx="259" cy="258"/>
              <a:chOff x="2895" y="1500"/>
              <a:chExt cx="293" cy="293"/>
            </a:xfrm>
          </p:grpSpPr>
          <p:sp>
            <p:nvSpPr>
              <p:cNvPr id="99361" name="Freeform 22"/>
              <p:cNvSpPr>
                <a:spLocks noChangeAspect="1"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778"/>
                  <a:gd name="T1" fmla="*/ 147 h 778"/>
                  <a:gd name="T2" fmla="*/ 147 w 778"/>
                  <a:gd name="T3" fmla="*/ 0 h 778"/>
                  <a:gd name="T4" fmla="*/ 293 w 778"/>
                  <a:gd name="T5" fmla="*/ 147 h 778"/>
                  <a:gd name="T6" fmla="*/ 293 w 778"/>
                  <a:gd name="T7" fmla="*/ 147 h 778"/>
                  <a:gd name="T8" fmla="*/ 147 w 778"/>
                  <a:gd name="T9" fmla="*/ 293 h 778"/>
                  <a:gd name="T10" fmla="*/ 0 w 778"/>
                  <a:gd name="T11" fmla="*/ 147 h 7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8"/>
                  <a:gd name="T19" fmla="*/ 0 h 778"/>
                  <a:gd name="T20" fmla="*/ 778 w 778"/>
                  <a:gd name="T21" fmla="*/ 778 h 7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8" h="778">
                    <a:moveTo>
                      <a:pt x="0" y="389"/>
                    </a:moveTo>
                    <a:cubicBezTo>
                      <a:pt x="0" y="174"/>
                      <a:pt x="174" y="0"/>
                      <a:pt x="389" y="0"/>
                    </a:cubicBezTo>
                    <a:cubicBezTo>
                      <a:pt x="604" y="0"/>
                      <a:pt x="778" y="174"/>
                      <a:pt x="778" y="389"/>
                    </a:cubicBezTo>
                    <a:cubicBezTo>
                      <a:pt x="778" y="389"/>
                      <a:pt x="778" y="389"/>
                      <a:pt x="778" y="389"/>
                    </a:cubicBezTo>
                    <a:cubicBezTo>
                      <a:pt x="778" y="604"/>
                      <a:pt x="604" y="778"/>
                      <a:pt x="389" y="778"/>
                    </a:cubicBezTo>
                    <a:cubicBezTo>
                      <a:pt x="174" y="778"/>
                      <a:pt x="0" y="604"/>
                      <a:pt x="0" y="389"/>
                    </a:cubicBezTo>
                  </a:path>
                </a:pathLst>
              </a:custGeom>
              <a:solidFill>
                <a:srgbClr val="66FF99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62" name="Freeform 23"/>
              <p:cNvSpPr>
                <a:spLocks noChangeAspect="1"/>
              </p:cNvSpPr>
              <p:nvPr/>
            </p:nvSpPr>
            <p:spPr bwMode="auto">
              <a:xfrm>
                <a:off x="2895" y="1500"/>
                <a:ext cx="293" cy="293"/>
              </a:xfrm>
              <a:custGeom>
                <a:avLst/>
                <a:gdLst>
                  <a:gd name="T0" fmla="*/ 0 w 293"/>
                  <a:gd name="T1" fmla="*/ 147 h 293"/>
                  <a:gd name="T2" fmla="*/ 147 w 293"/>
                  <a:gd name="T3" fmla="*/ 0 h 293"/>
                  <a:gd name="T4" fmla="*/ 293 w 293"/>
                  <a:gd name="T5" fmla="*/ 147 h 293"/>
                  <a:gd name="T6" fmla="*/ 293 w 293"/>
                  <a:gd name="T7" fmla="*/ 147 h 293"/>
                  <a:gd name="T8" fmla="*/ 147 w 293"/>
                  <a:gd name="T9" fmla="*/ 293 h 293"/>
                  <a:gd name="T10" fmla="*/ 0 w 293"/>
                  <a:gd name="T11" fmla="*/ 147 h 2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3"/>
                  <a:gd name="T19" fmla="*/ 0 h 293"/>
                  <a:gd name="T20" fmla="*/ 293 w 293"/>
                  <a:gd name="T21" fmla="*/ 293 h 2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3" h="293">
                    <a:moveTo>
                      <a:pt x="0" y="147"/>
                    </a:moveTo>
                    <a:cubicBezTo>
                      <a:pt x="0" y="66"/>
                      <a:pt x="66" y="0"/>
                      <a:pt x="147" y="0"/>
                    </a:cubicBezTo>
                    <a:cubicBezTo>
                      <a:pt x="228" y="0"/>
                      <a:pt x="293" y="66"/>
                      <a:pt x="293" y="147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93" y="228"/>
                      <a:pt x="228" y="293"/>
                      <a:pt x="147" y="293"/>
                    </a:cubicBezTo>
                    <a:cubicBezTo>
                      <a:pt x="66" y="293"/>
                      <a:pt x="0" y="228"/>
                      <a:pt x="0" y="14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63" name="Rectangle 24"/>
              <p:cNvSpPr>
                <a:spLocks noChangeAspect="1" noChangeArrowheads="1"/>
              </p:cNvSpPr>
              <p:nvPr/>
            </p:nvSpPr>
            <p:spPr bwMode="auto">
              <a:xfrm>
                <a:off x="2975" y="1514"/>
                <a:ext cx="150" cy="2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000" i="1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x</a:t>
                </a:r>
                <a:r>
                  <a:rPr lang="en-US" sz="2000" i="1" baseline="-250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0</a:t>
                </a:r>
              </a:p>
            </p:txBody>
          </p:sp>
        </p:grpSp>
        <p:grpSp>
          <p:nvGrpSpPr>
            <p:cNvPr id="99345" name="Group 25"/>
            <p:cNvGrpSpPr>
              <a:grpSpLocks/>
            </p:cNvGrpSpPr>
            <p:nvPr/>
          </p:nvGrpSpPr>
          <p:grpSpPr bwMode="auto">
            <a:xfrm>
              <a:off x="1129" y="3312"/>
              <a:ext cx="167" cy="202"/>
              <a:chOff x="3087" y="2784"/>
              <a:chExt cx="167" cy="202"/>
            </a:xfrm>
          </p:grpSpPr>
          <p:sp>
            <p:nvSpPr>
              <p:cNvPr id="99358" name="Rectangle 26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59" name="Rectangle 27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60" name="Rectangle 28"/>
              <p:cNvSpPr>
                <a:spLocks noChangeArrowheads="1"/>
              </p:cNvSpPr>
              <p:nvPr/>
            </p:nvSpPr>
            <p:spPr bwMode="auto">
              <a:xfrm>
                <a:off x="3120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1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grpSp>
          <p:nvGrpSpPr>
            <p:cNvPr id="99346" name="Group 29"/>
            <p:cNvGrpSpPr>
              <a:grpSpLocks/>
            </p:cNvGrpSpPr>
            <p:nvPr/>
          </p:nvGrpSpPr>
          <p:grpSpPr bwMode="auto">
            <a:xfrm>
              <a:off x="720" y="3312"/>
              <a:ext cx="167" cy="202"/>
              <a:chOff x="3087" y="2784"/>
              <a:chExt cx="167" cy="202"/>
            </a:xfrm>
          </p:grpSpPr>
          <p:sp>
            <p:nvSpPr>
              <p:cNvPr id="99355" name="Rectangle 30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56" name="Rectangle 31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57" name="Rectangle 32"/>
              <p:cNvSpPr>
                <a:spLocks noChangeArrowheads="1"/>
              </p:cNvSpPr>
              <p:nvPr/>
            </p:nvSpPr>
            <p:spPr bwMode="auto">
              <a:xfrm>
                <a:off x="3120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0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grpSp>
          <p:nvGrpSpPr>
            <p:cNvPr id="99347" name="Group 33"/>
            <p:cNvGrpSpPr>
              <a:grpSpLocks/>
            </p:cNvGrpSpPr>
            <p:nvPr/>
          </p:nvGrpSpPr>
          <p:grpSpPr bwMode="auto">
            <a:xfrm>
              <a:off x="1513" y="3312"/>
              <a:ext cx="167" cy="202"/>
              <a:chOff x="3087" y="2784"/>
              <a:chExt cx="167" cy="202"/>
            </a:xfrm>
          </p:grpSpPr>
          <p:sp>
            <p:nvSpPr>
              <p:cNvPr id="99352" name="Rectangle 34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53" name="Rectangle 35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54" name="Rectangle 36"/>
              <p:cNvSpPr>
                <a:spLocks noChangeArrowheads="1"/>
              </p:cNvSpPr>
              <p:nvPr/>
            </p:nvSpPr>
            <p:spPr bwMode="auto">
              <a:xfrm>
                <a:off x="3120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2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  <p:grpSp>
          <p:nvGrpSpPr>
            <p:cNvPr id="99348" name="Group 37"/>
            <p:cNvGrpSpPr>
              <a:grpSpLocks/>
            </p:cNvGrpSpPr>
            <p:nvPr/>
          </p:nvGrpSpPr>
          <p:grpSpPr bwMode="auto">
            <a:xfrm>
              <a:off x="1897" y="3312"/>
              <a:ext cx="167" cy="202"/>
              <a:chOff x="3087" y="2784"/>
              <a:chExt cx="167" cy="202"/>
            </a:xfrm>
          </p:grpSpPr>
          <p:sp>
            <p:nvSpPr>
              <p:cNvPr id="99349" name="Rectangle 38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50" name="Rectangle 39"/>
              <p:cNvSpPr>
                <a:spLocks noChangeArrowheads="1"/>
              </p:cNvSpPr>
              <p:nvPr/>
            </p:nvSpPr>
            <p:spPr bwMode="auto">
              <a:xfrm>
                <a:off x="3087" y="2809"/>
                <a:ext cx="167" cy="168"/>
              </a:xfrm>
              <a:prstGeom prst="rect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51" name="Rectangle 40"/>
              <p:cNvSpPr>
                <a:spLocks noChangeArrowheads="1"/>
              </p:cNvSpPr>
              <p:nvPr/>
            </p:nvSpPr>
            <p:spPr bwMode="auto">
              <a:xfrm>
                <a:off x="3120" y="278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100">
                    <a:solidFill>
                      <a:srgbClr val="000080"/>
                    </a:solidFill>
                    <a:latin typeface="Times New Roman" charset="0"/>
                    <a:cs typeface="Arial" charset="0"/>
                  </a:rPr>
                  <a:t>3</a:t>
                </a:r>
                <a:endParaRPr lang="en-US">
                  <a:latin typeface="Times New Roman" charset="0"/>
                  <a:cs typeface="Arial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7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r>
              <a:rPr lang="en-US" sz="1400" b="0"/>
              <a:t>(c)  Giovanni De Micheli</a:t>
            </a:r>
          </a:p>
        </p:txBody>
      </p:sp>
      <p:sp>
        <p:nvSpPr>
          <p:cNvPr id="10137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F9C9731F-21D1-5443-8101-DC7B302CDDFF}" type="slidenum">
              <a:rPr lang="en-US" sz="1400" b="0" smtClean="0"/>
              <a:pPr/>
              <a:t>47</a:t>
            </a:fld>
            <a:endParaRPr lang="en-US" sz="1400" b="0" dirty="0"/>
          </a:p>
        </p:txBody>
      </p:sp>
      <p:sp>
        <p:nvSpPr>
          <p:cNvPr id="1013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functions and sets of combinations </a:t>
            </a:r>
            <a:endParaRPr lang="en-US" dirty="0">
              <a:latin typeface="Arial Narrow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772" y="1299303"/>
            <a:ext cx="8446314" cy="454283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852652" y="2020740"/>
            <a:ext cx="30260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800" dirty="0">
                <a:solidFill>
                  <a:srgbClr val="FFFFFF"/>
                </a:solidFill>
              </a:rPr>
              <a:t>Observing customers:</a:t>
            </a:r>
          </a:p>
          <a:p>
            <a:pPr algn="l"/>
            <a:r>
              <a:rPr lang="en-US" sz="1800" b="0" dirty="0">
                <a:solidFill>
                  <a:srgbClr val="FFFFFF"/>
                </a:solidFill>
              </a:rPr>
              <a:t>  Pasta &amp; </a:t>
            </a:r>
            <a:r>
              <a:rPr lang="en-US" sz="1800" b="0" dirty="0" err="1">
                <a:solidFill>
                  <a:srgbClr val="FFFFFF"/>
                </a:solidFill>
              </a:rPr>
              <a:t>tomantoes</a:t>
            </a:r>
            <a:r>
              <a:rPr lang="en-US" sz="1800" b="0" dirty="0">
                <a:solidFill>
                  <a:srgbClr val="FFFFFF"/>
                </a:solidFill>
              </a:rPr>
              <a:t> &amp; (not pesto)</a:t>
            </a:r>
          </a:p>
          <a:p>
            <a:pPr algn="l"/>
            <a:r>
              <a:rPr lang="en-US" sz="1800" b="0" dirty="0">
                <a:solidFill>
                  <a:srgbClr val="FFFFFF"/>
                </a:solidFill>
              </a:rPr>
              <a:t>  Pesto &amp; (not tomatoes)</a:t>
            </a:r>
          </a:p>
          <a:p>
            <a:pPr algn="l"/>
            <a:r>
              <a:rPr lang="en-US" sz="1800" dirty="0">
                <a:solidFill>
                  <a:srgbClr val="FFFFFF"/>
                </a:solidFill>
              </a:rPr>
              <a:t>We care about what they take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r>
              <a:rPr lang="en-US" sz="1400" b="0" dirty="0"/>
              <a:t>(</a:t>
            </a:r>
            <a:r>
              <a:rPr lang="en-US" sz="1400" b="0" dirty="0" err="1"/>
              <a:t>c</a:t>
            </a:r>
            <a:r>
              <a:rPr lang="en-US" sz="1400" b="0" dirty="0"/>
              <a:t>)  Giovanni De </a:t>
            </a:r>
            <a:r>
              <a:rPr lang="en-US" sz="1400" b="0" dirty="0" err="1"/>
              <a:t>Micheli</a:t>
            </a:r>
            <a:endParaRPr lang="en-US" sz="1400" b="0" dirty="0"/>
          </a:p>
        </p:txBody>
      </p:sp>
      <p:sp>
        <p:nvSpPr>
          <p:cNvPr id="10137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F9C9731F-21D1-5443-8101-DC7B302CDDFF}" type="slidenum">
              <a:rPr lang="en-US" sz="1400" b="0"/>
              <a:pPr/>
              <a:t>48</a:t>
            </a:fld>
            <a:endParaRPr lang="en-US" sz="1400" b="0"/>
          </a:p>
        </p:txBody>
      </p:sp>
      <p:sp>
        <p:nvSpPr>
          <p:cNvPr id="1013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Narrow" charset="0"/>
              </a:rPr>
              <a:t>ZDDs  -- Zero-suppressed BDDs</a:t>
            </a:r>
          </a:p>
        </p:txBody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 err="1">
                <a:latin typeface="Arial Narrow" charset="0"/>
              </a:rPr>
              <a:t>BDDs</a:t>
            </a:r>
            <a:r>
              <a:rPr lang="en-US" sz="2400" dirty="0">
                <a:latin typeface="Arial Narrow" charset="0"/>
              </a:rPr>
              <a:t> with different reduction rules</a:t>
            </a:r>
          </a:p>
          <a:p>
            <a:pPr lvl="1"/>
            <a:r>
              <a:rPr lang="en-US" sz="2000" dirty="0">
                <a:latin typeface="Arial Narrow" charset="0"/>
              </a:rPr>
              <a:t>Eliminate all nodes whose 1-edge points to the 0-leaf and redirect incoming edges to the 0-subgraph</a:t>
            </a:r>
          </a:p>
          <a:p>
            <a:pPr lvl="1"/>
            <a:r>
              <a:rPr lang="en-US" sz="2000" dirty="0">
                <a:latin typeface="Arial Narrow" charset="0"/>
              </a:rPr>
              <a:t>Share all equivalent </a:t>
            </a:r>
            <a:r>
              <a:rPr lang="en-US" sz="2000" dirty="0" err="1">
                <a:latin typeface="Arial Narrow" charset="0"/>
              </a:rPr>
              <a:t>subgraphs</a:t>
            </a:r>
            <a:endParaRPr lang="en-US" sz="2000" dirty="0">
              <a:latin typeface="Arial Narrow" charset="0"/>
            </a:endParaRPr>
          </a:p>
          <a:p>
            <a:r>
              <a:rPr lang="en-US" sz="2400" dirty="0">
                <a:latin typeface="Arial Narrow" charset="0"/>
              </a:rPr>
              <a:t>If item </a:t>
            </a:r>
            <a:r>
              <a:rPr lang="en-US" sz="2400" dirty="0" err="1">
                <a:solidFill>
                  <a:srgbClr val="660066"/>
                </a:solidFill>
                <a:latin typeface="Arial Narrow" charset="0"/>
              </a:rPr>
              <a:t>x</a:t>
            </a:r>
            <a:r>
              <a:rPr lang="en-US" sz="2400" dirty="0">
                <a:latin typeface="Arial Narrow" charset="0"/>
              </a:rPr>
              <a:t> does not appear in any </a:t>
            </a:r>
            <a:r>
              <a:rPr lang="en-US" sz="2400" dirty="0" err="1">
                <a:latin typeface="Arial Narrow" charset="0"/>
              </a:rPr>
              <a:t>itemset</a:t>
            </a:r>
            <a:r>
              <a:rPr lang="en-US" sz="2400" dirty="0">
                <a:latin typeface="Arial Narrow" charset="0"/>
              </a:rPr>
              <a:t>, the ZDD node is eliminated</a:t>
            </a:r>
          </a:p>
          <a:p>
            <a:pPr lvl="1"/>
            <a:r>
              <a:rPr lang="en-US" sz="2000" dirty="0">
                <a:latin typeface="Arial Narrow" charset="0"/>
              </a:rPr>
              <a:t>When average occurrence ratio of each item is 1%, than ZDD are more efficient than BDDs (up to 100 times)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788" y="4142678"/>
            <a:ext cx="7394232" cy="22903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80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ZDD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Itemset</a:t>
            </a:r>
            <a:r>
              <a:rPr lang="en-US" dirty="0"/>
              <a:t> {</a:t>
            </a:r>
            <a:r>
              <a:rPr lang="en-US" dirty="0" err="1"/>
              <a:t>a,b</a:t>
            </a:r>
            <a:r>
              <a:rPr lang="en-US" dirty="0"/>
              <a:t>}; characteristic function F = </a:t>
            </a:r>
            <a:r>
              <a:rPr lang="en-US" dirty="0" err="1"/>
              <a:t>ab’c</a:t>
            </a:r>
            <a:r>
              <a:rPr lang="en-US" dirty="0"/>
              <a:t>’ + </a:t>
            </a:r>
            <a:r>
              <a:rPr lang="en-US" dirty="0" err="1"/>
              <a:t>a’bc</a:t>
            </a:r>
            <a:r>
              <a:rPr lang="en-US" dirty="0"/>
              <a:t>’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(c)  Giovanni De </a:t>
            </a:r>
            <a:r>
              <a:rPr lang="en-US" dirty="0" err="1"/>
              <a:t>Micheli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8ED51B5-408C-0347-82E2-D7283C0E7ED0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  <p:sp>
        <p:nvSpPr>
          <p:cNvPr id="7" name="Freeform 6"/>
          <p:cNvSpPr>
            <a:spLocks noChangeAspect="1"/>
          </p:cNvSpPr>
          <p:nvPr/>
        </p:nvSpPr>
        <p:spPr bwMode="auto">
          <a:xfrm flipH="1">
            <a:off x="2126135" y="1940001"/>
            <a:ext cx="80963" cy="263526"/>
          </a:xfrm>
          <a:custGeom>
            <a:avLst/>
            <a:gdLst>
              <a:gd name="T0" fmla="*/ 0 w 160"/>
              <a:gd name="T1" fmla="*/ 0 h 208"/>
              <a:gd name="T2" fmla="*/ 51 w 160"/>
              <a:gd name="T3" fmla="*/ 166 h 208"/>
              <a:gd name="T4" fmla="*/ 0 60000 65536"/>
              <a:gd name="T5" fmla="*/ 0 60000 65536"/>
              <a:gd name="T6" fmla="*/ 0 w 160"/>
              <a:gd name="T7" fmla="*/ 0 h 208"/>
              <a:gd name="T8" fmla="*/ 160 w 160"/>
              <a:gd name="T9" fmla="*/ 208 h 20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60" h="208">
                <a:moveTo>
                  <a:pt x="0" y="0"/>
                </a:moveTo>
                <a:lnTo>
                  <a:pt x="160" y="208"/>
                </a:lnTo>
              </a:path>
            </a:pathLst>
          </a:custGeom>
          <a:noFill/>
          <a:ln w="50800">
            <a:solidFill>
              <a:srgbClr val="66FF99"/>
            </a:solidFill>
            <a:round/>
            <a:headEnd/>
            <a:tailEnd type="stealth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8" name="Freeform 7"/>
          <p:cNvSpPr>
            <a:spLocks noChangeAspect="1"/>
          </p:cNvSpPr>
          <p:nvPr/>
        </p:nvSpPr>
        <p:spPr bwMode="auto">
          <a:xfrm>
            <a:off x="2195985" y="2511503"/>
            <a:ext cx="506413" cy="292101"/>
          </a:xfrm>
          <a:custGeom>
            <a:avLst/>
            <a:gdLst>
              <a:gd name="T0" fmla="*/ 0 w 319"/>
              <a:gd name="T1" fmla="*/ 0 h 184"/>
              <a:gd name="T2" fmla="*/ 319 w 319"/>
              <a:gd name="T3" fmla="*/ 184 h 184"/>
              <a:gd name="T4" fmla="*/ 0 60000 65536"/>
              <a:gd name="T5" fmla="*/ 0 60000 65536"/>
              <a:gd name="T6" fmla="*/ 0 w 319"/>
              <a:gd name="T7" fmla="*/ 0 h 184"/>
              <a:gd name="T8" fmla="*/ 319 w 319"/>
              <a:gd name="T9" fmla="*/ 184 h 18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19" h="184">
                <a:moveTo>
                  <a:pt x="0" y="0"/>
                </a:moveTo>
                <a:lnTo>
                  <a:pt x="319" y="184"/>
                </a:lnTo>
              </a:path>
            </a:pathLst>
          </a:custGeom>
          <a:noFill/>
          <a:ln w="50800">
            <a:solidFill>
              <a:schemeClr val="accent2"/>
            </a:solidFill>
            <a:round/>
            <a:headEnd/>
            <a:tailEnd type="stealth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9" name="Freeform 8"/>
          <p:cNvSpPr>
            <a:spLocks noChangeAspect="1"/>
          </p:cNvSpPr>
          <p:nvPr/>
        </p:nvSpPr>
        <p:spPr bwMode="auto">
          <a:xfrm>
            <a:off x="1511772" y="2511503"/>
            <a:ext cx="441325" cy="282576"/>
          </a:xfrm>
          <a:custGeom>
            <a:avLst/>
            <a:gdLst>
              <a:gd name="T0" fmla="*/ 278 w 278"/>
              <a:gd name="T1" fmla="*/ 0 h 178"/>
              <a:gd name="T2" fmla="*/ 0 w 278"/>
              <a:gd name="T3" fmla="*/ 178 h 178"/>
              <a:gd name="T4" fmla="*/ 0 60000 65536"/>
              <a:gd name="T5" fmla="*/ 0 60000 65536"/>
              <a:gd name="T6" fmla="*/ 0 w 278"/>
              <a:gd name="T7" fmla="*/ 0 h 178"/>
              <a:gd name="T8" fmla="*/ 278 w 278"/>
              <a:gd name="T9" fmla="*/ 178 h 17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78" h="178">
                <a:moveTo>
                  <a:pt x="278" y="0"/>
                </a:moveTo>
                <a:lnTo>
                  <a:pt x="0" y="178"/>
                </a:lnTo>
              </a:path>
            </a:pathLst>
          </a:custGeom>
          <a:noFill/>
          <a:ln w="50800">
            <a:solidFill>
              <a:srgbClr val="333399"/>
            </a:solidFill>
            <a:round/>
            <a:headEnd/>
            <a:tailEnd type="stealth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15" name="Group 17"/>
          <p:cNvGrpSpPr>
            <a:grpSpLocks noChangeAspect="1"/>
          </p:cNvGrpSpPr>
          <p:nvPr/>
        </p:nvGrpSpPr>
        <p:grpSpPr bwMode="auto">
          <a:xfrm>
            <a:off x="1262535" y="2803604"/>
            <a:ext cx="411163" cy="409576"/>
            <a:chOff x="2895" y="1500"/>
            <a:chExt cx="293" cy="293"/>
          </a:xfrm>
        </p:grpSpPr>
        <p:sp>
          <p:nvSpPr>
            <p:cNvPr id="36" name="Freeform 18"/>
            <p:cNvSpPr>
              <a:spLocks noChangeAspect="1"/>
            </p:cNvSpPr>
            <p:nvPr/>
          </p:nvSpPr>
          <p:spPr bwMode="auto">
            <a:xfrm>
              <a:off x="2895" y="1500"/>
              <a:ext cx="293" cy="293"/>
            </a:xfrm>
            <a:custGeom>
              <a:avLst/>
              <a:gdLst>
                <a:gd name="T0" fmla="*/ 0 w 778"/>
                <a:gd name="T1" fmla="*/ 147 h 778"/>
                <a:gd name="T2" fmla="*/ 147 w 778"/>
                <a:gd name="T3" fmla="*/ 0 h 778"/>
                <a:gd name="T4" fmla="*/ 293 w 778"/>
                <a:gd name="T5" fmla="*/ 147 h 778"/>
                <a:gd name="T6" fmla="*/ 293 w 778"/>
                <a:gd name="T7" fmla="*/ 147 h 778"/>
                <a:gd name="T8" fmla="*/ 147 w 778"/>
                <a:gd name="T9" fmla="*/ 293 h 778"/>
                <a:gd name="T10" fmla="*/ 0 w 778"/>
                <a:gd name="T11" fmla="*/ 147 h 7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78"/>
                <a:gd name="T19" fmla="*/ 0 h 778"/>
                <a:gd name="T20" fmla="*/ 778 w 778"/>
                <a:gd name="T21" fmla="*/ 778 h 77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78" h="778">
                  <a:moveTo>
                    <a:pt x="0" y="389"/>
                  </a:moveTo>
                  <a:cubicBezTo>
                    <a:pt x="0" y="174"/>
                    <a:pt x="174" y="0"/>
                    <a:pt x="389" y="0"/>
                  </a:cubicBezTo>
                  <a:cubicBezTo>
                    <a:pt x="604" y="0"/>
                    <a:pt x="778" y="174"/>
                    <a:pt x="778" y="389"/>
                  </a:cubicBezTo>
                  <a:cubicBezTo>
                    <a:pt x="778" y="389"/>
                    <a:pt x="778" y="389"/>
                    <a:pt x="778" y="389"/>
                  </a:cubicBezTo>
                  <a:cubicBezTo>
                    <a:pt x="778" y="604"/>
                    <a:pt x="604" y="778"/>
                    <a:pt x="389" y="778"/>
                  </a:cubicBezTo>
                  <a:cubicBezTo>
                    <a:pt x="174" y="778"/>
                    <a:pt x="0" y="604"/>
                    <a:pt x="0" y="389"/>
                  </a:cubicBezTo>
                </a:path>
              </a:pathLst>
            </a:custGeom>
            <a:solidFill>
              <a:srgbClr val="66FF99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19"/>
            <p:cNvSpPr>
              <a:spLocks noChangeAspect="1"/>
            </p:cNvSpPr>
            <p:nvPr/>
          </p:nvSpPr>
          <p:spPr bwMode="auto">
            <a:xfrm>
              <a:off x="2895" y="1500"/>
              <a:ext cx="293" cy="293"/>
            </a:xfrm>
            <a:custGeom>
              <a:avLst/>
              <a:gdLst>
                <a:gd name="T0" fmla="*/ 0 w 293"/>
                <a:gd name="T1" fmla="*/ 147 h 293"/>
                <a:gd name="T2" fmla="*/ 147 w 293"/>
                <a:gd name="T3" fmla="*/ 0 h 293"/>
                <a:gd name="T4" fmla="*/ 293 w 293"/>
                <a:gd name="T5" fmla="*/ 147 h 293"/>
                <a:gd name="T6" fmla="*/ 293 w 293"/>
                <a:gd name="T7" fmla="*/ 147 h 293"/>
                <a:gd name="T8" fmla="*/ 147 w 293"/>
                <a:gd name="T9" fmla="*/ 293 h 293"/>
                <a:gd name="T10" fmla="*/ 0 w 293"/>
                <a:gd name="T11" fmla="*/ 147 h 29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93"/>
                <a:gd name="T19" fmla="*/ 0 h 293"/>
                <a:gd name="T20" fmla="*/ 293 w 293"/>
                <a:gd name="T21" fmla="*/ 293 h 29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93" h="293">
                  <a:moveTo>
                    <a:pt x="0" y="147"/>
                  </a:moveTo>
                  <a:cubicBezTo>
                    <a:pt x="0" y="66"/>
                    <a:pt x="66" y="0"/>
                    <a:pt x="147" y="0"/>
                  </a:cubicBezTo>
                  <a:cubicBezTo>
                    <a:pt x="228" y="0"/>
                    <a:pt x="293" y="66"/>
                    <a:pt x="293" y="147"/>
                  </a:cubicBezTo>
                  <a:cubicBezTo>
                    <a:pt x="293" y="147"/>
                    <a:pt x="293" y="147"/>
                    <a:pt x="293" y="147"/>
                  </a:cubicBezTo>
                  <a:cubicBezTo>
                    <a:pt x="293" y="228"/>
                    <a:pt x="228" y="293"/>
                    <a:pt x="147" y="293"/>
                  </a:cubicBezTo>
                  <a:cubicBezTo>
                    <a:pt x="66" y="293"/>
                    <a:pt x="0" y="228"/>
                    <a:pt x="0" y="147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Rectangle 20"/>
            <p:cNvSpPr>
              <a:spLocks noChangeAspect="1" noChangeArrowheads="1"/>
            </p:cNvSpPr>
            <p:nvPr/>
          </p:nvSpPr>
          <p:spPr bwMode="auto">
            <a:xfrm>
              <a:off x="3004" y="1513"/>
              <a:ext cx="91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/>
            <a:p>
              <a:r>
                <a:rPr lang="en-US" sz="2000" i="1" dirty="0">
                  <a:solidFill>
                    <a:srgbClr val="000080"/>
                  </a:solidFill>
                  <a:latin typeface="Times New Roman" charset="0"/>
                  <a:cs typeface="Arial" charset="0"/>
                </a:rPr>
                <a:t>b</a:t>
              </a:r>
              <a:endParaRPr lang="en-US" sz="2000" i="1" baseline="-25000" dirty="0">
                <a:solidFill>
                  <a:srgbClr val="000080"/>
                </a:solidFill>
                <a:latin typeface="Times New Roman" charset="0"/>
                <a:cs typeface="Arial" charset="0"/>
              </a:endParaRPr>
            </a:p>
          </p:txBody>
        </p:sp>
      </p:grpSp>
      <p:grpSp>
        <p:nvGrpSpPr>
          <p:cNvPr id="16" name="Group 21"/>
          <p:cNvGrpSpPr>
            <a:grpSpLocks noChangeAspect="1"/>
          </p:cNvGrpSpPr>
          <p:nvPr/>
        </p:nvGrpSpPr>
        <p:grpSpPr bwMode="auto">
          <a:xfrm>
            <a:off x="1884835" y="2186064"/>
            <a:ext cx="411163" cy="409576"/>
            <a:chOff x="2895" y="1500"/>
            <a:chExt cx="293" cy="293"/>
          </a:xfrm>
        </p:grpSpPr>
        <p:sp>
          <p:nvSpPr>
            <p:cNvPr id="33" name="Freeform 22"/>
            <p:cNvSpPr>
              <a:spLocks noChangeAspect="1"/>
            </p:cNvSpPr>
            <p:nvPr/>
          </p:nvSpPr>
          <p:spPr bwMode="auto">
            <a:xfrm>
              <a:off x="2895" y="1500"/>
              <a:ext cx="293" cy="293"/>
            </a:xfrm>
            <a:custGeom>
              <a:avLst/>
              <a:gdLst>
                <a:gd name="T0" fmla="*/ 0 w 778"/>
                <a:gd name="T1" fmla="*/ 147 h 778"/>
                <a:gd name="T2" fmla="*/ 147 w 778"/>
                <a:gd name="T3" fmla="*/ 0 h 778"/>
                <a:gd name="T4" fmla="*/ 293 w 778"/>
                <a:gd name="T5" fmla="*/ 147 h 778"/>
                <a:gd name="T6" fmla="*/ 293 w 778"/>
                <a:gd name="T7" fmla="*/ 147 h 778"/>
                <a:gd name="T8" fmla="*/ 147 w 778"/>
                <a:gd name="T9" fmla="*/ 293 h 778"/>
                <a:gd name="T10" fmla="*/ 0 w 778"/>
                <a:gd name="T11" fmla="*/ 147 h 7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78"/>
                <a:gd name="T19" fmla="*/ 0 h 778"/>
                <a:gd name="T20" fmla="*/ 778 w 778"/>
                <a:gd name="T21" fmla="*/ 778 h 77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78" h="778">
                  <a:moveTo>
                    <a:pt x="0" y="389"/>
                  </a:moveTo>
                  <a:cubicBezTo>
                    <a:pt x="0" y="174"/>
                    <a:pt x="174" y="0"/>
                    <a:pt x="389" y="0"/>
                  </a:cubicBezTo>
                  <a:cubicBezTo>
                    <a:pt x="604" y="0"/>
                    <a:pt x="778" y="174"/>
                    <a:pt x="778" y="389"/>
                  </a:cubicBezTo>
                  <a:cubicBezTo>
                    <a:pt x="778" y="389"/>
                    <a:pt x="778" y="389"/>
                    <a:pt x="778" y="389"/>
                  </a:cubicBezTo>
                  <a:cubicBezTo>
                    <a:pt x="778" y="604"/>
                    <a:pt x="604" y="778"/>
                    <a:pt x="389" y="778"/>
                  </a:cubicBezTo>
                  <a:cubicBezTo>
                    <a:pt x="174" y="778"/>
                    <a:pt x="0" y="604"/>
                    <a:pt x="0" y="389"/>
                  </a:cubicBezTo>
                </a:path>
              </a:pathLst>
            </a:custGeom>
            <a:solidFill>
              <a:srgbClr val="66FF99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3"/>
            <p:cNvSpPr>
              <a:spLocks noChangeAspect="1"/>
            </p:cNvSpPr>
            <p:nvPr/>
          </p:nvSpPr>
          <p:spPr bwMode="auto">
            <a:xfrm>
              <a:off x="2895" y="1500"/>
              <a:ext cx="293" cy="293"/>
            </a:xfrm>
            <a:custGeom>
              <a:avLst/>
              <a:gdLst>
                <a:gd name="T0" fmla="*/ 0 w 293"/>
                <a:gd name="T1" fmla="*/ 147 h 293"/>
                <a:gd name="T2" fmla="*/ 147 w 293"/>
                <a:gd name="T3" fmla="*/ 0 h 293"/>
                <a:gd name="T4" fmla="*/ 293 w 293"/>
                <a:gd name="T5" fmla="*/ 147 h 293"/>
                <a:gd name="T6" fmla="*/ 293 w 293"/>
                <a:gd name="T7" fmla="*/ 147 h 293"/>
                <a:gd name="T8" fmla="*/ 147 w 293"/>
                <a:gd name="T9" fmla="*/ 293 h 293"/>
                <a:gd name="T10" fmla="*/ 0 w 293"/>
                <a:gd name="T11" fmla="*/ 147 h 29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93"/>
                <a:gd name="T19" fmla="*/ 0 h 293"/>
                <a:gd name="T20" fmla="*/ 293 w 293"/>
                <a:gd name="T21" fmla="*/ 293 h 29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93" h="293">
                  <a:moveTo>
                    <a:pt x="0" y="147"/>
                  </a:moveTo>
                  <a:cubicBezTo>
                    <a:pt x="0" y="66"/>
                    <a:pt x="66" y="0"/>
                    <a:pt x="147" y="0"/>
                  </a:cubicBezTo>
                  <a:cubicBezTo>
                    <a:pt x="228" y="0"/>
                    <a:pt x="293" y="66"/>
                    <a:pt x="293" y="147"/>
                  </a:cubicBezTo>
                  <a:cubicBezTo>
                    <a:pt x="293" y="147"/>
                    <a:pt x="293" y="147"/>
                    <a:pt x="293" y="147"/>
                  </a:cubicBezTo>
                  <a:cubicBezTo>
                    <a:pt x="293" y="228"/>
                    <a:pt x="228" y="293"/>
                    <a:pt x="147" y="293"/>
                  </a:cubicBezTo>
                  <a:cubicBezTo>
                    <a:pt x="66" y="293"/>
                    <a:pt x="0" y="228"/>
                    <a:pt x="0" y="147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Rectangle 24"/>
            <p:cNvSpPr>
              <a:spLocks noChangeAspect="1" noChangeArrowheads="1"/>
            </p:cNvSpPr>
            <p:nvPr/>
          </p:nvSpPr>
          <p:spPr bwMode="auto">
            <a:xfrm>
              <a:off x="3003" y="1513"/>
              <a:ext cx="91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/>
            <a:p>
              <a:r>
                <a:rPr lang="en-US" sz="2000" i="1" dirty="0">
                  <a:solidFill>
                    <a:srgbClr val="000080"/>
                  </a:solidFill>
                  <a:latin typeface="Times New Roman" charset="0"/>
                  <a:cs typeface="Arial" charset="0"/>
                </a:rPr>
                <a:t>a</a:t>
              </a:r>
              <a:endParaRPr lang="en-US" sz="2000" i="1" baseline="-25000" dirty="0">
                <a:solidFill>
                  <a:srgbClr val="000080"/>
                </a:solidFill>
                <a:latin typeface="Times New Roman" charset="0"/>
                <a:cs typeface="Arial" charset="0"/>
              </a:endParaRPr>
            </a:p>
          </p:txBody>
        </p:sp>
      </p:grpSp>
      <p:sp>
        <p:nvSpPr>
          <p:cNvPr id="30" name="Rectangle 26"/>
          <p:cNvSpPr>
            <a:spLocks noChangeArrowheads="1"/>
          </p:cNvSpPr>
          <p:nvPr/>
        </p:nvSpPr>
        <p:spPr bwMode="auto">
          <a:xfrm>
            <a:off x="2500420" y="4548658"/>
            <a:ext cx="265113" cy="266701"/>
          </a:xfrm>
          <a:prstGeom prst="rect">
            <a:avLst/>
          </a:prstGeom>
          <a:solidFill>
            <a:srgbClr val="3399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Rectangle 28"/>
          <p:cNvSpPr>
            <a:spLocks noChangeArrowheads="1"/>
          </p:cNvSpPr>
          <p:nvPr/>
        </p:nvSpPr>
        <p:spPr bwMode="auto">
          <a:xfrm>
            <a:off x="2569048" y="4497935"/>
            <a:ext cx="133350" cy="320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r>
              <a:rPr lang="en-US" sz="2100">
                <a:solidFill>
                  <a:srgbClr val="000080"/>
                </a:solidFill>
                <a:latin typeface="Times New Roman" charset="0"/>
                <a:cs typeface="Arial" charset="0"/>
              </a:rPr>
              <a:t>1</a:t>
            </a:r>
            <a:endParaRPr lang="en-US">
              <a:latin typeface="Times New Roman" charset="0"/>
              <a:cs typeface="Arial" charset="0"/>
            </a:endParaRPr>
          </a:p>
        </p:txBody>
      </p:sp>
      <p:sp>
        <p:nvSpPr>
          <p:cNvPr id="23" name="Rectangle 40"/>
          <p:cNvSpPr>
            <a:spLocks noChangeArrowheads="1"/>
          </p:cNvSpPr>
          <p:nvPr/>
        </p:nvSpPr>
        <p:spPr bwMode="auto">
          <a:xfrm>
            <a:off x="2988147" y="3341768"/>
            <a:ext cx="0" cy="369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endParaRPr lang="en-US" dirty="0">
              <a:latin typeface="Times New Roman" charset="0"/>
              <a:cs typeface="Arial" charset="0"/>
            </a:endParaRPr>
          </a:p>
        </p:txBody>
      </p:sp>
      <p:grpSp>
        <p:nvGrpSpPr>
          <p:cNvPr id="52" name="Group 17"/>
          <p:cNvGrpSpPr>
            <a:grpSpLocks noChangeAspect="1"/>
          </p:cNvGrpSpPr>
          <p:nvPr/>
        </p:nvGrpSpPr>
        <p:grpSpPr bwMode="auto">
          <a:xfrm>
            <a:off x="2494225" y="3630557"/>
            <a:ext cx="411163" cy="409576"/>
            <a:chOff x="2895" y="1500"/>
            <a:chExt cx="293" cy="293"/>
          </a:xfrm>
        </p:grpSpPr>
        <p:sp>
          <p:nvSpPr>
            <p:cNvPr id="53" name="Freeform 18"/>
            <p:cNvSpPr>
              <a:spLocks noChangeAspect="1"/>
            </p:cNvSpPr>
            <p:nvPr/>
          </p:nvSpPr>
          <p:spPr bwMode="auto">
            <a:xfrm>
              <a:off x="2895" y="1500"/>
              <a:ext cx="293" cy="293"/>
            </a:xfrm>
            <a:custGeom>
              <a:avLst/>
              <a:gdLst>
                <a:gd name="T0" fmla="*/ 0 w 778"/>
                <a:gd name="T1" fmla="*/ 147 h 778"/>
                <a:gd name="T2" fmla="*/ 147 w 778"/>
                <a:gd name="T3" fmla="*/ 0 h 778"/>
                <a:gd name="T4" fmla="*/ 293 w 778"/>
                <a:gd name="T5" fmla="*/ 147 h 778"/>
                <a:gd name="T6" fmla="*/ 293 w 778"/>
                <a:gd name="T7" fmla="*/ 147 h 778"/>
                <a:gd name="T8" fmla="*/ 147 w 778"/>
                <a:gd name="T9" fmla="*/ 293 h 778"/>
                <a:gd name="T10" fmla="*/ 0 w 778"/>
                <a:gd name="T11" fmla="*/ 147 h 7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78"/>
                <a:gd name="T19" fmla="*/ 0 h 778"/>
                <a:gd name="T20" fmla="*/ 778 w 778"/>
                <a:gd name="T21" fmla="*/ 778 h 77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78" h="778">
                  <a:moveTo>
                    <a:pt x="0" y="389"/>
                  </a:moveTo>
                  <a:cubicBezTo>
                    <a:pt x="0" y="174"/>
                    <a:pt x="174" y="0"/>
                    <a:pt x="389" y="0"/>
                  </a:cubicBezTo>
                  <a:cubicBezTo>
                    <a:pt x="604" y="0"/>
                    <a:pt x="778" y="174"/>
                    <a:pt x="778" y="389"/>
                  </a:cubicBezTo>
                  <a:cubicBezTo>
                    <a:pt x="778" y="389"/>
                    <a:pt x="778" y="389"/>
                    <a:pt x="778" y="389"/>
                  </a:cubicBezTo>
                  <a:cubicBezTo>
                    <a:pt x="778" y="604"/>
                    <a:pt x="604" y="778"/>
                    <a:pt x="389" y="778"/>
                  </a:cubicBezTo>
                  <a:cubicBezTo>
                    <a:pt x="174" y="778"/>
                    <a:pt x="0" y="604"/>
                    <a:pt x="0" y="389"/>
                  </a:cubicBezTo>
                </a:path>
              </a:pathLst>
            </a:custGeom>
            <a:solidFill>
              <a:srgbClr val="66FF99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19"/>
            <p:cNvSpPr>
              <a:spLocks noChangeAspect="1"/>
            </p:cNvSpPr>
            <p:nvPr/>
          </p:nvSpPr>
          <p:spPr bwMode="auto">
            <a:xfrm>
              <a:off x="2895" y="1500"/>
              <a:ext cx="293" cy="293"/>
            </a:xfrm>
            <a:custGeom>
              <a:avLst/>
              <a:gdLst>
                <a:gd name="T0" fmla="*/ 0 w 293"/>
                <a:gd name="T1" fmla="*/ 147 h 293"/>
                <a:gd name="T2" fmla="*/ 147 w 293"/>
                <a:gd name="T3" fmla="*/ 0 h 293"/>
                <a:gd name="T4" fmla="*/ 293 w 293"/>
                <a:gd name="T5" fmla="*/ 147 h 293"/>
                <a:gd name="T6" fmla="*/ 293 w 293"/>
                <a:gd name="T7" fmla="*/ 147 h 293"/>
                <a:gd name="T8" fmla="*/ 147 w 293"/>
                <a:gd name="T9" fmla="*/ 293 h 293"/>
                <a:gd name="T10" fmla="*/ 0 w 293"/>
                <a:gd name="T11" fmla="*/ 147 h 29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93"/>
                <a:gd name="T19" fmla="*/ 0 h 293"/>
                <a:gd name="T20" fmla="*/ 293 w 293"/>
                <a:gd name="T21" fmla="*/ 293 h 29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93" h="293">
                  <a:moveTo>
                    <a:pt x="0" y="147"/>
                  </a:moveTo>
                  <a:cubicBezTo>
                    <a:pt x="0" y="66"/>
                    <a:pt x="66" y="0"/>
                    <a:pt x="147" y="0"/>
                  </a:cubicBezTo>
                  <a:cubicBezTo>
                    <a:pt x="228" y="0"/>
                    <a:pt x="293" y="66"/>
                    <a:pt x="293" y="147"/>
                  </a:cubicBezTo>
                  <a:cubicBezTo>
                    <a:pt x="293" y="147"/>
                    <a:pt x="293" y="147"/>
                    <a:pt x="293" y="147"/>
                  </a:cubicBezTo>
                  <a:cubicBezTo>
                    <a:pt x="293" y="228"/>
                    <a:pt x="228" y="293"/>
                    <a:pt x="147" y="293"/>
                  </a:cubicBezTo>
                  <a:cubicBezTo>
                    <a:pt x="66" y="293"/>
                    <a:pt x="0" y="228"/>
                    <a:pt x="0" y="147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Rectangle 20"/>
            <p:cNvSpPr>
              <a:spLocks noChangeAspect="1" noChangeArrowheads="1"/>
            </p:cNvSpPr>
            <p:nvPr/>
          </p:nvSpPr>
          <p:spPr bwMode="auto">
            <a:xfrm>
              <a:off x="3009" y="1513"/>
              <a:ext cx="81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/>
            <a:p>
              <a:r>
                <a:rPr lang="en-US" sz="2000" i="1" dirty="0">
                  <a:solidFill>
                    <a:srgbClr val="000080"/>
                  </a:solidFill>
                  <a:latin typeface="Times New Roman" charset="0"/>
                  <a:cs typeface="Arial" charset="0"/>
                </a:rPr>
                <a:t>c</a:t>
              </a:r>
              <a:endParaRPr lang="en-US" sz="2000" i="1" baseline="-25000" dirty="0">
                <a:solidFill>
                  <a:srgbClr val="000080"/>
                </a:solidFill>
                <a:latin typeface="Times New Roman" charset="0"/>
                <a:cs typeface="Arial" charset="0"/>
              </a:endParaRPr>
            </a:p>
          </p:txBody>
        </p:sp>
      </p:grpSp>
      <p:cxnSp>
        <p:nvCxnSpPr>
          <p:cNvPr id="62" name="Straight Arrow Connector 61"/>
          <p:cNvCxnSpPr>
            <a:stCxn id="54" idx="4"/>
            <a:endCxn id="30" idx="0"/>
          </p:cNvCxnSpPr>
          <p:nvPr/>
        </p:nvCxnSpPr>
        <p:spPr bwMode="auto">
          <a:xfrm flipH="1">
            <a:off x="2632977" y="4040133"/>
            <a:ext cx="67531" cy="508525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333399"/>
            </a:solidFill>
            <a:prstDash val="solid"/>
            <a:round/>
            <a:headEnd type="none" w="med" len="lg"/>
            <a:tailEnd type="stealth"/>
          </a:ln>
          <a:effectLst/>
        </p:spPr>
      </p:cxnSp>
      <p:cxnSp>
        <p:nvCxnSpPr>
          <p:cNvPr id="75" name="Straight Arrow Connector 74"/>
          <p:cNvCxnSpPr>
            <a:stCxn id="48" idx="4"/>
            <a:endCxn id="55" idx="0"/>
          </p:cNvCxnSpPr>
          <p:nvPr/>
        </p:nvCxnSpPr>
        <p:spPr bwMode="auto">
          <a:xfrm flipH="1">
            <a:off x="2711033" y="3213180"/>
            <a:ext cx="49371" cy="435549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333399"/>
            </a:solidFill>
            <a:prstDash val="solid"/>
            <a:round/>
            <a:headEnd type="none" w="med" len="med"/>
            <a:tailEnd type="stealth"/>
          </a:ln>
          <a:effectLst/>
        </p:spPr>
      </p:cxnSp>
      <p:cxnSp>
        <p:nvCxnSpPr>
          <p:cNvPr id="77" name="Straight Arrow Connector 76"/>
          <p:cNvCxnSpPr>
            <a:endCxn id="27" idx="0"/>
          </p:cNvCxnSpPr>
          <p:nvPr/>
        </p:nvCxnSpPr>
        <p:spPr bwMode="auto">
          <a:xfrm flipH="1">
            <a:off x="1607452" y="3956260"/>
            <a:ext cx="901764" cy="58058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7F0000"/>
            </a:solidFill>
            <a:prstDash val="solid"/>
            <a:round/>
            <a:headEnd type="none" w="med" len="med"/>
            <a:tailEnd type="stealth"/>
          </a:ln>
          <a:effectLst/>
        </p:spPr>
      </p:cxnSp>
      <p:cxnSp>
        <p:nvCxnSpPr>
          <p:cNvPr id="88" name="Straight Arrow Connector 87"/>
          <p:cNvCxnSpPr>
            <a:stCxn id="37" idx="4"/>
            <a:endCxn id="27" idx="0"/>
          </p:cNvCxnSpPr>
          <p:nvPr/>
        </p:nvCxnSpPr>
        <p:spPr bwMode="auto">
          <a:xfrm>
            <a:off x="1468818" y="3213180"/>
            <a:ext cx="138634" cy="132366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333399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0" name="Straight Arrow Connector 89"/>
          <p:cNvCxnSpPr>
            <a:stCxn id="48" idx="0"/>
            <a:endCxn id="31" idx="0"/>
          </p:cNvCxnSpPr>
          <p:nvPr/>
        </p:nvCxnSpPr>
        <p:spPr bwMode="auto">
          <a:xfrm flipH="1">
            <a:off x="1602445" y="3009091"/>
            <a:ext cx="951676" cy="152457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7F0000"/>
            </a:solidFill>
            <a:prstDash val="solid"/>
            <a:round/>
            <a:headEnd type="none" w="med" len="med"/>
            <a:tailEnd type="stealth"/>
          </a:ln>
          <a:effectLst/>
        </p:spPr>
      </p:cxnSp>
      <p:sp>
        <p:nvSpPr>
          <p:cNvPr id="91" name="Rectangle 27"/>
          <p:cNvSpPr>
            <a:spLocks noChangeArrowheads="1"/>
          </p:cNvSpPr>
          <p:nvPr/>
        </p:nvSpPr>
        <p:spPr bwMode="auto">
          <a:xfrm>
            <a:off x="2491716" y="4536167"/>
            <a:ext cx="265113" cy="266701"/>
          </a:xfrm>
          <a:prstGeom prst="rect">
            <a:avLst/>
          </a:prstGeom>
          <a:noFill/>
          <a:ln w="317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Rectangle 30"/>
          <p:cNvSpPr>
            <a:spLocks noChangeArrowheads="1"/>
          </p:cNvSpPr>
          <p:nvPr/>
        </p:nvSpPr>
        <p:spPr bwMode="auto">
          <a:xfrm>
            <a:off x="1474895" y="4536843"/>
            <a:ext cx="265113" cy="266701"/>
          </a:xfrm>
          <a:prstGeom prst="rect">
            <a:avLst/>
          </a:prstGeom>
          <a:solidFill>
            <a:srgbClr val="3399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Rectangle 27"/>
          <p:cNvSpPr>
            <a:spLocks noChangeArrowheads="1"/>
          </p:cNvSpPr>
          <p:nvPr/>
        </p:nvSpPr>
        <p:spPr bwMode="auto">
          <a:xfrm>
            <a:off x="1469888" y="4533668"/>
            <a:ext cx="265113" cy="266701"/>
          </a:xfrm>
          <a:prstGeom prst="rect">
            <a:avLst/>
          </a:prstGeom>
          <a:noFill/>
          <a:ln w="317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" name="Rectangle 28"/>
          <p:cNvSpPr>
            <a:spLocks noChangeArrowheads="1"/>
          </p:cNvSpPr>
          <p:nvPr/>
        </p:nvSpPr>
        <p:spPr bwMode="auto">
          <a:xfrm>
            <a:off x="1551568" y="4499189"/>
            <a:ext cx="134652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r>
              <a:rPr lang="en-US" sz="2100" dirty="0">
                <a:solidFill>
                  <a:srgbClr val="000080"/>
                </a:solidFill>
                <a:latin typeface="Times New Roman" charset="0"/>
                <a:cs typeface="Arial" charset="0"/>
              </a:rPr>
              <a:t>0</a:t>
            </a:r>
            <a:endParaRPr lang="en-US" dirty="0">
              <a:latin typeface="Times New Roman" charset="0"/>
              <a:cs typeface="Arial" charset="0"/>
            </a:endParaRPr>
          </a:p>
        </p:txBody>
      </p:sp>
      <p:grpSp>
        <p:nvGrpSpPr>
          <p:cNvPr id="46" name="Group 17"/>
          <p:cNvGrpSpPr>
            <a:grpSpLocks noChangeAspect="1"/>
          </p:cNvGrpSpPr>
          <p:nvPr/>
        </p:nvGrpSpPr>
        <p:grpSpPr bwMode="auto">
          <a:xfrm>
            <a:off x="2554121" y="2803604"/>
            <a:ext cx="411163" cy="409576"/>
            <a:chOff x="2895" y="1500"/>
            <a:chExt cx="293" cy="293"/>
          </a:xfrm>
        </p:grpSpPr>
        <p:sp>
          <p:nvSpPr>
            <p:cNvPr id="47" name="Freeform 18"/>
            <p:cNvSpPr>
              <a:spLocks noChangeAspect="1"/>
            </p:cNvSpPr>
            <p:nvPr/>
          </p:nvSpPr>
          <p:spPr bwMode="auto">
            <a:xfrm>
              <a:off x="2895" y="1500"/>
              <a:ext cx="293" cy="293"/>
            </a:xfrm>
            <a:custGeom>
              <a:avLst/>
              <a:gdLst>
                <a:gd name="T0" fmla="*/ 0 w 778"/>
                <a:gd name="T1" fmla="*/ 147 h 778"/>
                <a:gd name="T2" fmla="*/ 147 w 778"/>
                <a:gd name="T3" fmla="*/ 0 h 778"/>
                <a:gd name="T4" fmla="*/ 293 w 778"/>
                <a:gd name="T5" fmla="*/ 147 h 778"/>
                <a:gd name="T6" fmla="*/ 293 w 778"/>
                <a:gd name="T7" fmla="*/ 147 h 778"/>
                <a:gd name="T8" fmla="*/ 147 w 778"/>
                <a:gd name="T9" fmla="*/ 293 h 778"/>
                <a:gd name="T10" fmla="*/ 0 w 778"/>
                <a:gd name="T11" fmla="*/ 147 h 7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78"/>
                <a:gd name="T19" fmla="*/ 0 h 778"/>
                <a:gd name="T20" fmla="*/ 778 w 778"/>
                <a:gd name="T21" fmla="*/ 778 h 77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78" h="778">
                  <a:moveTo>
                    <a:pt x="0" y="389"/>
                  </a:moveTo>
                  <a:cubicBezTo>
                    <a:pt x="0" y="174"/>
                    <a:pt x="174" y="0"/>
                    <a:pt x="389" y="0"/>
                  </a:cubicBezTo>
                  <a:cubicBezTo>
                    <a:pt x="604" y="0"/>
                    <a:pt x="778" y="174"/>
                    <a:pt x="778" y="389"/>
                  </a:cubicBezTo>
                  <a:cubicBezTo>
                    <a:pt x="778" y="389"/>
                    <a:pt x="778" y="389"/>
                    <a:pt x="778" y="389"/>
                  </a:cubicBezTo>
                  <a:cubicBezTo>
                    <a:pt x="778" y="604"/>
                    <a:pt x="604" y="778"/>
                    <a:pt x="389" y="778"/>
                  </a:cubicBezTo>
                  <a:cubicBezTo>
                    <a:pt x="174" y="778"/>
                    <a:pt x="0" y="604"/>
                    <a:pt x="0" y="389"/>
                  </a:cubicBezTo>
                </a:path>
              </a:pathLst>
            </a:custGeom>
            <a:solidFill>
              <a:srgbClr val="66FF99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19"/>
            <p:cNvSpPr>
              <a:spLocks noChangeAspect="1"/>
            </p:cNvSpPr>
            <p:nvPr/>
          </p:nvSpPr>
          <p:spPr bwMode="auto">
            <a:xfrm>
              <a:off x="2895" y="1500"/>
              <a:ext cx="293" cy="293"/>
            </a:xfrm>
            <a:custGeom>
              <a:avLst/>
              <a:gdLst>
                <a:gd name="T0" fmla="*/ 0 w 293"/>
                <a:gd name="T1" fmla="*/ 147 h 293"/>
                <a:gd name="T2" fmla="*/ 147 w 293"/>
                <a:gd name="T3" fmla="*/ 0 h 293"/>
                <a:gd name="T4" fmla="*/ 293 w 293"/>
                <a:gd name="T5" fmla="*/ 147 h 293"/>
                <a:gd name="T6" fmla="*/ 293 w 293"/>
                <a:gd name="T7" fmla="*/ 147 h 293"/>
                <a:gd name="T8" fmla="*/ 147 w 293"/>
                <a:gd name="T9" fmla="*/ 293 h 293"/>
                <a:gd name="T10" fmla="*/ 0 w 293"/>
                <a:gd name="T11" fmla="*/ 147 h 29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93"/>
                <a:gd name="T19" fmla="*/ 0 h 293"/>
                <a:gd name="T20" fmla="*/ 293 w 293"/>
                <a:gd name="T21" fmla="*/ 293 h 29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93" h="293">
                  <a:moveTo>
                    <a:pt x="0" y="147"/>
                  </a:moveTo>
                  <a:cubicBezTo>
                    <a:pt x="0" y="66"/>
                    <a:pt x="66" y="0"/>
                    <a:pt x="147" y="0"/>
                  </a:cubicBezTo>
                  <a:cubicBezTo>
                    <a:pt x="228" y="0"/>
                    <a:pt x="293" y="66"/>
                    <a:pt x="293" y="147"/>
                  </a:cubicBezTo>
                  <a:cubicBezTo>
                    <a:pt x="293" y="147"/>
                    <a:pt x="293" y="147"/>
                    <a:pt x="293" y="147"/>
                  </a:cubicBezTo>
                  <a:cubicBezTo>
                    <a:pt x="293" y="228"/>
                    <a:pt x="228" y="293"/>
                    <a:pt x="147" y="293"/>
                  </a:cubicBezTo>
                  <a:cubicBezTo>
                    <a:pt x="66" y="293"/>
                    <a:pt x="0" y="228"/>
                    <a:pt x="0" y="147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Rectangle 20"/>
            <p:cNvSpPr>
              <a:spLocks noChangeAspect="1" noChangeArrowheads="1"/>
            </p:cNvSpPr>
            <p:nvPr/>
          </p:nvSpPr>
          <p:spPr bwMode="auto">
            <a:xfrm>
              <a:off x="3004" y="1513"/>
              <a:ext cx="91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/>
            <a:p>
              <a:r>
                <a:rPr lang="en-US" sz="2000" i="1" dirty="0">
                  <a:solidFill>
                    <a:srgbClr val="000080"/>
                  </a:solidFill>
                  <a:latin typeface="Times New Roman" charset="0"/>
                  <a:cs typeface="Arial" charset="0"/>
                </a:rPr>
                <a:t>b</a:t>
              </a:r>
              <a:endParaRPr lang="en-US" sz="2000" i="1" baseline="-25000" dirty="0">
                <a:solidFill>
                  <a:srgbClr val="000080"/>
                </a:solidFill>
                <a:latin typeface="Times New Roman" charset="0"/>
                <a:cs typeface="Arial" charset="0"/>
              </a:endParaRPr>
            </a:p>
          </p:txBody>
        </p:sp>
      </p:grpSp>
      <p:sp>
        <p:nvSpPr>
          <p:cNvPr id="94" name="Freeform 93"/>
          <p:cNvSpPr>
            <a:spLocks noChangeAspect="1"/>
          </p:cNvSpPr>
          <p:nvPr/>
        </p:nvSpPr>
        <p:spPr bwMode="auto">
          <a:xfrm flipH="1">
            <a:off x="4946783" y="1972479"/>
            <a:ext cx="80963" cy="263526"/>
          </a:xfrm>
          <a:custGeom>
            <a:avLst/>
            <a:gdLst>
              <a:gd name="T0" fmla="*/ 0 w 160"/>
              <a:gd name="T1" fmla="*/ 0 h 208"/>
              <a:gd name="T2" fmla="*/ 51 w 160"/>
              <a:gd name="T3" fmla="*/ 166 h 208"/>
              <a:gd name="T4" fmla="*/ 0 60000 65536"/>
              <a:gd name="T5" fmla="*/ 0 60000 65536"/>
              <a:gd name="T6" fmla="*/ 0 w 160"/>
              <a:gd name="T7" fmla="*/ 0 h 208"/>
              <a:gd name="T8" fmla="*/ 160 w 160"/>
              <a:gd name="T9" fmla="*/ 208 h 20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60" h="208">
                <a:moveTo>
                  <a:pt x="0" y="0"/>
                </a:moveTo>
                <a:lnTo>
                  <a:pt x="160" y="208"/>
                </a:lnTo>
              </a:path>
            </a:pathLst>
          </a:custGeom>
          <a:noFill/>
          <a:ln w="50800">
            <a:solidFill>
              <a:srgbClr val="66FF99"/>
            </a:solidFill>
            <a:round/>
            <a:headEnd/>
            <a:tailEnd type="stealth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95" name="Freeform 94"/>
          <p:cNvSpPr>
            <a:spLocks noChangeAspect="1"/>
          </p:cNvSpPr>
          <p:nvPr/>
        </p:nvSpPr>
        <p:spPr bwMode="auto">
          <a:xfrm>
            <a:off x="5016633" y="2543981"/>
            <a:ext cx="506413" cy="292101"/>
          </a:xfrm>
          <a:custGeom>
            <a:avLst/>
            <a:gdLst>
              <a:gd name="T0" fmla="*/ 0 w 319"/>
              <a:gd name="T1" fmla="*/ 0 h 184"/>
              <a:gd name="T2" fmla="*/ 319 w 319"/>
              <a:gd name="T3" fmla="*/ 184 h 184"/>
              <a:gd name="T4" fmla="*/ 0 60000 65536"/>
              <a:gd name="T5" fmla="*/ 0 60000 65536"/>
              <a:gd name="T6" fmla="*/ 0 w 319"/>
              <a:gd name="T7" fmla="*/ 0 h 184"/>
              <a:gd name="T8" fmla="*/ 319 w 319"/>
              <a:gd name="T9" fmla="*/ 184 h 18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19" h="184">
                <a:moveTo>
                  <a:pt x="0" y="0"/>
                </a:moveTo>
                <a:lnTo>
                  <a:pt x="319" y="184"/>
                </a:lnTo>
              </a:path>
            </a:pathLst>
          </a:custGeom>
          <a:noFill/>
          <a:ln w="50800">
            <a:solidFill>
              <a:schemeClr val="accent2"/>
            </a:solidFill>
            <a:round/>
            <a:headEnd/>
            <a:tailEnd type="stealth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96" name="Freeform 95"/>
          <p:cNvSpPr>
            <a:spLocks noChangeAspect="1"/>
          </p:cNvSpPr>
          <p:nvPr/>
        </p:nvSpPr>
        <p:spPr bwMode="auto">
          <a:xfrm>
            <a:off x="4332420" y="2543981"/>
            <a:ext cx="441325" cy="282576"/>
          </a:xfrm>
          <a:custGeom>
            <a:avLst/>
            <a:gdLst>
              <a:gd name="T0" fmla="*/ 278 w 278"/>
              <a:gd name="T1" fmla="*/ 0 h 178"/>
              <a:gd name="T2" fmla="*/ 0 w 278"/>
              <a:gd name="T3" fmla="*/ 178 h 178"/>
              <a:gd name="T4" fmla="*/ 0 60000 65536"/>
              <a:gd name="T5" fmla="*/ 0 60000 65536"/>
              <a:gd name="T6" fmla="*/ 0 w 278"/>
              <a:gd name="T7" fmla="*/ 0 h 178"/>
              <a:gd name="T8" fmla="*/ 278 w 278"/>
              <a:gd name="T9" fmla="*/ 178 h 17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78" h="178">
                <a:moveTo>
                  <a:pt x="278" y="0"/>
                </a:moveTo>
                <a:lnTo>
                  <a:pt x="0" y="178"/>
                </a:lnTo>
              </a:path>
            </a:pathLst>
          </a:custGeom>
          <a:noFill/>
          <a:ln w="50800">
            <a:solidFill>
              <a:srgbClr val="333399"/>
            </a:solidFill>
            <a:round/>
            <a:headEnd/>
            <a:tailEnd type="stealth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97" name="Group 17"/>
          <p:cNvGrpSpPr>
            <a:grpSpLocks noChangeAspect="1"/>
          </p:cNvGrpSpPr>
          <p:nvPr/>
        </p:nvGrpSpPr>
        <p:grpSpPr bwMode="auto">
          <a:xfrm>
            <a:off x="4083183" y="2836082"/>
            <a:ext cx="411163" cy="409576"/>
            <a:chOff x="2895" y="1500"/>
            <a:chExt cx="293" cy="293"/>
          </a:xfrm>
        </p:grpSpPr>
        <p:sp>
          <p:nvSpPr>
            <p:cNvPr id="98" name="Freeform 18"/>
            <p:cNvSpPr>
              <a:spLocks noChangeAspect="1"/>
            </p:cNvSpPr>
            <p:nvPr/>
          </p:nvSpPr>
          <p:spPr bwMode="auto">
            <a:xfrm>
              <a:off x="2895" y="1500"/>
              <a:ext cx="293" cy="293"/>
            </a:xfrm>
            <a:custGeom>
              <a:avLst/>
              <a:gdLst>
                <a:gd name="T0" fmla="*/ 0 w 778"/>
                <a:gd name="T1" fmla="*/ 147 h 778"/>
                <a:gd name="T2" fmla="*/ 147 w 778"/>
                <a:gd name="T3" fmla="*/ 0 h 778"/>
                <a:gd name="T4" fmla="*/ 293 w 778"/>
                <a:gd name="T5" fmla="*/ 147 h 778"/>
                <a:gd name="T6" fmla="*/ 293 w 778"/>
                <a:gd name="T7" fmla="*/ 147 h 778"/>
                <a:gd name="T8" fmla="*/ 147 w 778"/>
                <a:gd name="T9" fmla="*/ 293 h 778"/>
                <a:gd name="T10" fmla="*/ 0 w 778"/>
                <a:gd name="T11" fmla="*/ 147 h 7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78"/>
                <a:gd name="T19" fmla="*/ 0 h 778"/>
                <a:gd name="T20" fmla="*/ 778 w 778"/>
                <a:gd name="T21" fmla="*/ 778 h 77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78" h="778">
                  <a:moveTo>
                    <a:pt x="0" y="389"/>
                  </a:moveTo>
                  <a:cubicBezTo>
                    <a:pt x="0" y="174"/>
                    <a:pt x="174" y="0"/>
                    <a:pt x="389" y="0"/>
                  </a:cubicBezTo>
                  <a:cubicBezTo>
                    <a:pt x="604" y="0"/>
                    <a:pt x="778" y="174"/>
                    <a:pt x="778" y="389"/>
                  </a:cubicBezTo>
                  <a:cubicBezTo>
                    <a:pt x="778" y="389"/>
                    <a:pt x="778" y="389"/>
                    <a:pt x="778" y="389"/>
                  </a:cubicBezTo>
                  <a:cubicBezTo>
                    <a:pt x="778" y="604"/>
                    <a:pt x="604" y="778"/>
                    <a:pt x="389" y="778"/>
                  </a:cubicBezTo>
                  <a:cubicBezTo>
                    <a:pt x="174" y="778"/>
                    <a:pt x="0" y="604"/>
                    <a:pt x="0" y="389"/>
                  </a:cubicBezTo>
                </a:path>
              </a:pathLst>
            </a:custGeom>
            <a:solidFill>
              <a:srgbClr val="66FF99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19"/>
            <p:cNvSpPr>
              <a:spLocks noChangeAspect="1"/>
            </p:cNvSpPr>
            <p:nvPr/>
          </p:nvSpPr>
          <p:spPr bwMode="auto">
            <a:xfrm>
              <a:off x="2895" y="1500"/>
              <a:ext cx="293" cy="293"/>
            </a:xfrm>
            <a:custGeom>
              <a:avLst/>
              <a:gdLst>
                <a:gd name="T0" fmla="*/ 0 w 293"/>
                <a:gd name="T1" fmla="*/ 147 h 293"/>
                <a:gd name="T2" fmla="*/ 147 w 293"/>
                <a:gd name="T3" fmla="*/ 0 h 293"/>
                <a:gd name="T4" fmla="*/ 293 w 293"/>
                <a:gd name="T5" fmla="*/ 147 h 293"/>
                <a:gd name="T6" fmla="*/ 293 w 293"/>
                <a:gd name="T7" fmla="*/ 147 h 293"/>
                <a:gd name="T8" fmla="*/ 147 w 293"/>
                <a:gd name="T9" fmla="*/ 293 h 293"/>
                <a:gd name="T10" fmla="*/ 0 w 293"/>
                <a:gd name="T11" fmla="*/ 147 h 29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93"/>
                <a:gd name="T19" fmla="*/ 0 h 293"/>
                <a:gd name="T20" fmla="*/ 293 w 293"/>
                <a:gd name="T21" fmla="*/ 293 h 29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93" h="293">
                  <a:moveTo>
                    <a:pt x="0" y="147"/>
                  </a:moveTo>
                  <a:cubicBezTo>
                    <a:pt x="0" y="66"/>
                    <a:pt x="66" y="0"/>
                    <a:pt x="147" y="0"/>
                  </a:cubicBezTo>
                  <a:cubicBezTo>
                    <a:pt x="228" y="0"/>
                    <a:pt x="293" y="66"/>
                    <a:pt x="293" y="147"/>
                  </a:cubicBezTo>
                  <a:cubicBezTo>
                    <a:pt x="293" y="147"/>
                    <a:pt x="293" y="147"/>
                    <a:pt x="293" y="147"/>
                  </a:cubicBezTo>
                  <a:cubicBezTo>
                    <a:pt x="293" y="228"/>
                    <a:pt x="228" y="293"/>
                    <a:pt x="147" y="293"/>
                  </a:cubicBezTo>
                  <a:cubicBezTo>
                    <a:pt x="66" y="293"/>
                    <a:pt x="0" y="228"/>
                    <a:pt x="0" y="147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Rectangle 20"/>
            <p:cNvSpPr>
              <a:spLocks noChangeAspect="1" noChangeArrowheads="1"/>
            </p:cNvSpPr>
            <p:nvPr/>
          </p:nvSpPr>
          <p:spPr bwMode="auto">
            <a:xfrm>
              <a:off x="3004" y="1513"/>
              <a:ext cx="91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/>
            <a:p>
              <a:r>
                <a:rPr lang="en-US" sz="2000" i="1" dirty="0">
                  <a:solidFill>
                    <a:srgbClr val="000080"/>
                  </a:solidFill>
                  <a:latin typeface="Times New Roman" charset="0"/>
                  <a:cs typeface="Arial" charset="0"/>
                </a:rPr>
                <a:t>b</a:t>
              </a:r>
              <a:endParaRPr lang="en-US" sz="2000" i="1" baseline="-25000" dirty="0">
                <a:solidFill>
                  <a:srgbClr val="000080"/>
                </a:solidFill>
                <a:latin typeface="Times New Roman" charset="0"/>
                <a:cs typeface="Arial" charset="0"/>
              </a:endParaRPr>
            </a:p>
          </p:txBody>
        </p:sp>
      </p:grpSp>
      <p:grpSp>
        <p:nvGrpSpPr>
          <p:cNvPr id="101" name="Group 21"/>
          <p:cNvGrpSpPr>
            <a:grpSpLocks noChangeAspect="1"/>
          </p:cNvGrpSpPr>
          <p:nvPr/>
        </p:nvGrpSpPr>
        <p:grpSpPr bwMode="auto">
          <a:xfrm>
            <a:off x="4705483" y="2218542"/>
            <a:ext cx="411163" cy="409576"/>
            <a:chOff x="2895" y="1500"/>
            <a:chExt cx="293" cy="293"/>
          </a:xfrm>
        </p:grpSpPr>
        <p:sp>
          <p:nvSpPr>
            <p:cNvPr id="102" name="Freeform 22"/>
            <p:cNvSpPr>
              <a:spLocks noChangeAspect="1"/>
            </p:cNvSpPr>
            <p:nvPr/>
          </p:nvSpPr>
          <p:spPr bwMode="auto">
            <a:xfrm>
              <a:off x="2895" y="1500"/>
              <a:ext cx="293" cy="293"/>
            </a:xfrm>
            <a:custGeom>
              <a:avLst/>
              <a:gdLst>
                <a:gd name="T0" fmla="*/ 0 w 778"/>
                <a:gd name="T1" fmla="*/ 147 h 778"/>
                <a:gd name="T2" fmla="*/ 147 w 778"/>
                <a:gd name="T3" fmla="*/ 0 h 778"/>
                <a:gd name="T4" fmla="*/ 293 w 778"/>
                <a:gd name="T5" fmla="*/ 147 h 778"/>
                <a:gd name="T6" fmla="*/ 293 w 778"/>
                <a:gd name="T7" fmla="*/ 147 h 778"/>
                <a:gd name="T8" fmla="*/ 147 w 778"/>
                <a:gd name="T9" fmla="*/ 293 h 778"/>
                <a:gd name="T10" fmla="*/ 0 w 778"/>
                <a:gd name="T11" fmla="*/ 147 h 7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78"/>
                <a:gd name="T19" fmla="*/ 0 h 778"/>
                <a:gd name="T20" fmla="*/ 778 w 778"/>
                <a:gd name="T21" fmla="*/ 778 h 77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78" h="778">
                  <a:moveTo>
                    <a:pt x="0" y="389"/>
                  </a:moveTo>
                  <a:cubicBezTo>
                    <a:pt x="0" y="174"/>
                    <a:pt x="174" y="0"/>
                    <a:pt x="389" y="0"/>
                  </a:cubicBezTo>
                  <a:cubicBezTo>
                    <a:pt x="604" y="0"/>
                    <a:pt x="778" y="174"/>
                    <a:pt x="778" y="389"/>
                  </a:cubicBezTo>
                  <a:cubicBezTo>
                    <a:pt x="778" y="389"/>
                    <a:pt x="778" y="389"/>
                    <a:pt x="778" y="389"/>
                  </a:cubicBezTo>
                  <a:cubicBezTo>
                    <a:pt x="778" y="604"/>
                    <a:pt x="604" y="778"/>
                    <a:pt x="389" y="778"/>
                  </a:cubicBezTo>
                  <a:cubicBezTo>
                    <a:pt x="174" y="778"/>
                    <a:pt x="0" y="604"/>
                    <a:pt x="0" y="389"/>
                  </a:cubicBezTo>
                </a:path>
              </a:pathLst>
            </a:custGeom>
            <a:solidFill>
              <a:srgbClr val="66FF99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23"/>
            <p:cNvSpPr>
              <a:spLocks noChangeAspect="1"/>
            </p:cNvSpPr>
            <p:nvPr/>
          </p:nvSpPr>
          <p:spPr bwMode="auto">
            <a:xfrm>
              <a:off x="2895" y="1500"/>
              <a:ext cx="293" cy="293"/>
            </a:xfrm>
            <a:custGeom>
              <a:avLst/>
              <a:gdLst>
                <a:gd name="T0" fmla="*/ 0 w 293"/>
                <a:gd name="T1" fmla="*/ 147 h 293"/>
                <a:gd name="T2" fmla="*/ 147 w 293"/>
                <a:gd name="T3" fmla="*/ 0 h 293"/>
                <a:gd name="T4" fmla="*/ 293 w 293"/>
                <a:gd name="T5" fmla="*/ 147 h 293"/>
                <a:gd name="T6" fmla="*/ 293 w 293"/>
                <a:gd name="T7" fmla="*/ 147 h 293"/>
                <a:gd name="T8" fmla="*/ 147 w 293"/>
                <a:gd name="T9" fmla="*/ 293 h 293"/>
                <a:gd name="T10" fmla="*/ 0 w 293"/>
                <a:gd name="T11" fmla="*/ 147 h 29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93"/>
                <a:gd name="T19" fmla="*/ 0 h 293"/>
                <a:gd name="T20" fmla="*/ 293 w 293"/>
                <a:gd name="T21" fmla="*/ 293 h 29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93" h="293">
                  <a:moveTo>
                    <a:pt x="0" y="147"/>
                  </a:moveTo>
                  <a:cubicBezTo>
                    <a:pt x="0" y="66"/>
                    <a:pt x="66" y="0"/>
                    <a:pt x="147" y="0"/>
                  </a:cubicBezTo>
                  <a:cubicBezTo>
                    <a:pt x="228" y="0"/>
                    <a:pt x="293" y="66"/>
                    <a:pt x="293" y="147"/>
                  </a:cubicBezTo>
                  <a:cubicBezTo>
                    <a:pt x="293" y="147"/>
                    <a:pt x="293" y="147"/>
                    <a:pt x="293" y="147"/>
                  </a:cubicBezTo>
                  <a:cubicBezTo>
                    <a:pt x="293" y="228"/>
                    <a:pt x="228" y="293"/>
                    <a:pt x="147" y="293"/>
                  </a:cubicBezTo>
                  <a:cubicBezTo>
                    <a:pt x="66" y="293"/>
                    <a:pt x="0" y="228"/>
                    <a:pt x="0" y="147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Rectangle 24"/>
            <p:cNvSpPr>
              <a:spLocks noChangeAspect="1" noChangeArrowheads="1"/>
            </p:cNvSpPr>
            <p:nvPr/>
          </p:nvSpPr>
          <p:spPr bwMode="auto">
            <a:xfrm>
              <a:off x="3003" y="1513"/>
              <a:ext cx="91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/>
            <a:p>
              <a:r>
                <a:rPr lang="en-US" sz="2000" i="1" dirty="0">
                  <a:solidFill>
                    <a:srgbClr val="000080"/>
                  </a:solidFill>
                  <a:latin typeface="Times New Roman" charset="0"/>
                  <a:cs typeface="Arial" charset="0"/>
                </a:rPr>
                <a:t>a</a:t>
              </a:r>
              <a:endParaRPr lang="en-US" sz="2000" i="1" baseline="-25000" dirty="0">
                <a:solidFill>
                  <a:srgbClr val="000080"/>
                </a:solidFill>
                <a:latin typeface="Times New Roman" charset="0"/>
                <a:cs typeface="Arial" charset="0"/>
              </a:endParaRPr>
            </a:p>
          </p:txBody>
        </p:sp>
      </p:grpSp>
      <p:sp>
        <p:nvSpPr>
          <p:cNvPr id="105" name="Rectangle 26"/>
          <p:cNvSpPr>
            <a:spLocks noChangeArrowheads="1"/>
          </p:cNvSpPr>
          <p:nvPr/>
        </p:nvSpPr>
        <p:spPr bwMode="auto">
          <a:xfrm>
            <a:off x="5321068" y="4581136"/>
            <a:ext cx="265113" cy="266701"/>
          </a:xfrm>
          <a:prstGeom prst="rect">
            <a:avLst/>
          </a:prstGeom>
          <a:solidFill>
            <a:srgbClr val="3399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" name="Rectangle 28"/>
          <p:cNvSpPr>
            <a:spLocks noChangeArrowheads="1"/>
          </p:cNvSpPr>
          <p:nvPr/>
        </p:nvSpPr>
        <p:spPr bwMode="auto">
          <a:xfrm>
            <a:off x="5389696" y="4530413"/>
            <a:ext cx="133350" cy="320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r>
              <a:rPr lang="en-US" sz="2100">
                <a:solidFill>
                  <a:srgbClr val="000080"/>
                </a:solidFill>
                <a:latin typeface="Times New Roman" charset="0"/>
                <a:cs typeface="Arial" charset="0"/>
              </a:rPr>
              <a:t>1</a:t>
            </a:r>
            <a:endParaRPr lang="en-US">
              <a:latin typeface="Times New Roman" charset="0"/>
              <a:cs typeface="Arial" charset="0"/>
            </a:endParaRPr>
          </a:p>
        </p:txBody>
      </p:sp>
      <p:sp>
        <p:nvSpPr>
          <p:cNvPr id="107" name="Rectangle 40"/>
          <p:cNvSpPr>
            <a:spLocks noChangeArrowheads="1"/>
          </p:cNvSpPr>
          <p:nvPr/>
        </p:nvSpPr>
        <p:spPr bwMode="auto">
          <a:xfrm>
            <a:off x="5808795" y="3374246"/>
            <a:ext cx="0" cy="369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endParaRPr lang="en-US" dirty="0">
              <a:latin typeface="Times New Roman" charset="0"/>
              <a:cs typeface="Arial" charset="0"/>
            </a:endParaRPr>
          </a:p>
        </p:txBody>
      </p:sp>
      <p:cxnSp>
        <p:nvCxnSpPr>
          <p:cNvPr id="113" name="Straight Arrow Connector 112"/>
          <p:cNvCxnSpPr>
            <a:endCxn id="117" idx="0"/>
          </p:cNvCxnSpPr>
          <p:nvPr/>
        </p:nvCxnSpPr>
        <p:spPr bwMode="auto">
          <a:xfrm flipH="1">
            <a:off x="5444921" y="3245658"/>
            <a:ext cx="136132" cy="132298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333399"/>
            </a:solidFill>
            <a:prstDash val="solid"/>
            <a:round/>
            <a:headEnd type="none" w="med" len="med"/>
            <a:tailEnd type="stealth"/>
          </a:ln>
          <a:effectLst/>
        </p:spPr>
      </p:cxnSp>
      <p:cxnSp>
        <p:nvCxnSpPr>
          <p:cNvPr id="115" name="Straight Arrow Connector 114"/>
          <p:cNvCxnSpPr>
            <a:endCxn id="119" idx="0"/>
          </p:cNvCxnSpPr>
          <p:nvPr/>
        </p:nvCxnSpPr>
        <p:spPr bwMode="auto">
          <a:xfrm>
            <a:off x="4289466" y="3245658"/>
            <a:ext cx="138634" cy="132366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333399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6" name="Straight Arrow Connector 115"/>
          <p:cNvCxnSpPr>
            <a:endCxn id="123" idx="0"/>
          </p:cNvCxnSpPr>
          <p:nvPr/>
        </p:nvCxnSpPr>
        <p:spPr bwMode="auto">
          <a:xfrm flipH="1">
            <a:off x="4423093" y="3041569"/>
            <a:ext cx="951676" cy="152457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7F0000"/>
            </a:solidFill>
            <a:prstDash val="solid"/>
            <a:round/>
            <a:headEnd type="none" w="med" len="med"/>
            <a:tailEnd type="stealth"/>
          </a:ln>
          <a:effectLst/>
        </p:spPr>
      </p:cxnSp>
      <p:sp>
        <p:nvSpPr>
          <p:cNvPr id="117" name="Rectangle 27"/>
          <p:cNvSpPr>
            <a:spLocks noChangeArrowheads="1"/>
          </p:cNvSpPr>
          <p:nvPr/>
        </p:nvSpPr>
        <p:spPr bwMode="auto">
          <a:xfrm>
            <a:off x="5312364" y="4568645"/>
            <a:ext cx="265113" cy="266701"/>
          </a:xfrm>
          <a:prstGeom prst="rect">
            <a:avLst/>
          </a:prstGeom>
          <a:noFill/>
          <a:ln w="317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" name="Rectangle 30"/>
          <p:cNvSpPr>
            <a:spLocks noChangeArrowheads="1"/>
          </p:cNvSpPr>
          <p:nvPr/>
        </p:nvSpPr>
        <p:spPr bwMode="auto">
          <a:xfrm>
            <a:off x="4295543" y="4569321"/>
            <a:ext cx="265113" cy="266701"/>
          </a:xfrm>
          <a:prstGeom prst="rect">
            <a:avLst/>
          </a:prstGeom>
          <a:solidFill>
            <a:srgbClr val="3399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" name="Rectangle 27"/>
          <p:cNvSpPr>
            <a:spLocks noChangeArrowheads="1"/>
          </p:cNvSpPr>
          <p:nvPr/>
        </p:nvSpPr>
        <p:spPr bwMode="auto">
          <a:xfrm>
            <a:off x="4290536" y="4566146"/>
            <a:ext cx="265113" cy="266701"/>
          </a:xfrm>
          <a:prstGeom prst="rect">
            <a:avLst/>
          </a:prstGeom>
          <a:noFill/>
          <a:ln w="317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" name="Rectangle 28"/>
          <p:cNvSpPr>
            <a:spLocks noChangeArrowheads="1"/>
          </p:cNvSpPr>
          <p:nvPr/>
        </p:nvSpPr>
        <p:spPr bwMode="auto">
          <a:xfrm>
            <a:off x="4372216" y="4531667"/>
            <a:ext cx="134652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r>
              <a:rPr lang="en-US" sz="2100" dirty="0">
                <a:solidFill>
                  <a:srgbClr val="000080"/>
                </a:solidFill>
                <a:latin typeface="Times New Roman" charset="0"/>
                <a:cs typeface="Arial" charset="0"/>
              </a:rPr>
              <a:t>0</a:t>
            </a:r>
            <a:endParaRPr lang="en-US" dirty="0">
              <a:latin typeface="Times New Roman" charset="0"/>
              <a:cs typeface="Arial" charset="0"/>
            </a:endParaRPr>
          </a:p>
        </p:txBody>
      </p:sp>
      <p:grpSp>
        <p:nvGrpSpPr>
          <p:cNvPr id="121" name="Group 17"/>
          <p:cNvGrpSpPr>
            <a:grpSpLocks noChangeAspect="1"/>
          </p:cNvGrpSpPr>
          <p:nvPr/>
        </p:nvGrpSpPr>
        <p:grpSpPr bwMode="auto">
          <a:xfrm>
            <a:off x="5374769" y="2836082"/>
            <a:ext cx="411163" cy="409576"/>
            <a:chOff x="2895" y="1500"/>
            <a:chExt cx="293" cy="293"/>
          </a:xfrm>
        </p:grpSpPr>
        <p:sp>
          <p:nvSpPr>
            <p:cNvPr id="122" name="Freeform 18"/>
            <p:cNvSpPr>
              <a:spLocks noChangeAspect="1"/>
            </p:cNvSpPr>
            <p:nvPr/>
          </p:nvSpPr>
          <p:spPr bwMode="auto">
            <a:xfrm>
              <a:off x="2895" y="1500"/>
              <a:ext cx="293" cy="293"/>
            </a:xfrm>
            <a:custGeom>
              <a:avLst/>
              <a:gdLst>
                <a:gd name="T0" fmla="*/ 0 w 778"/>
                <a:gd name="T1" fmla="*/ 147 h 778"/>
                <a:gd name="T2" fmla="*/ 147 w 778"/>
                <a:gd name="T3" fmla="*/ 0 h 778"/>
                <a:gd name="T4" fmla="*/ 293 w 778"/>
                <a:gd name="T5" fmla="*/ 147 h 778"/>
                <a:gd name="T6" fmla="*/ 293 w 778"/>
                <a:gd name="T7" fmla="*/ 147 h 778"/>
                <a:gd name="T8" fmla="*/ 147 w 778"/>
                <a:gd name="T9" fmla="*/ 293 h 778"/>
                <a:gd name="T10" fmla="*/ 0 w 778"/>
                <a:gd name="T11" fmla="*/ 147 h 7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78"/>
                <a:gd name="T19" fmla="*/ 0 h 778"/>
                <a:gd name="T20" fmla="*/ 778 w 778"/>
                <a:gd name="T21" fmla="*/ 778 h 77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78" h="778">
                  <a:moveTo>
                    <a:pt x="0" y="389"/>
                  </a:moveTo>
                  <a:cubicBezTo>
                    <a:pt x="0" y="174"/>
                    <a:pt x="174" y="0"/>
                    <a:pt x="389" y="0"/>
                  </a:cubicBezTo>
                  <a:cubicBezTo>
                    <a:pt x="604" y="0"/>
                    <a:pt x="778" y="174"/>
                    <a:pt x="778" y="389"/>
                  </a:cubicBezTo>
                  <a:cubicBezTo>
                    <a:pt x="778" y="389"/>
                    <a:pt x="778" y="389"/>
                    <a:pt x="778" y="389"/>
                  </a:cubicBezTo>
                  <a:cubicBezTo>
                    <a:pt x="778" y="604"/>
                    <a:pt x="604" y="778"/>
                    <a:pt x="389" y="778"/>
                  </a:cubicBezTo>
                  <a:cubicBezTo>
                    <a:pt x="174" y="778"/>
                    <a:pt x="0" y="604"/>
                    <a:pt x="0" y="389"/>
                  </a:cubicBezTo>
                </a:path>
              </a:pathLst>
            </a:custGeom>
            <a:solidFill>
              <a:srgbClr val="66FF99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Freeform 19"/>
            <p:cNvSpPr>
              <a:spLocks noChangeAspect="1"/>
            </p:cNvSpPr>
            <p:nvPr/>
          </p:nvSpPr>
          <p:spPr bwMode="auto">
            <a:xfrm>
              <a:off x="2895" y="1500"/>
              <a:ext cx="293" cy="293"/>
            </a:xfrm>
            <a:custGeom>
              <a:avLst/>
              <a:gdLst>
                <a:gd name="T0" fmla="*/ 0 w 293"/>
                <a:gd name="T1" fmla="*/ 147 h 293"/>
                <a:gd name="T2" fmla="*/ 147 w 293"/>
                <a:gd name="T3" fmla="*/ 0 h 293"/>
                <a:gd name="T4" fmla="*/ 293 w 293"/>
                <a:gd name="T5" fmla="*/ 147 h 293"/>
                <a:gd name="T6" fmla="*/ 293 w 293"/>
                <a:gd name="T7" fmla="*/ 147 h 293"/>
                <a:gd name="T8" fmla="*/ 147 w 293"/>
                <a:gd name="T9" fmla="*/ 293 h 293"/>
                <a:gd name="T10" fmla="*/ 0 w 293"/>
                <a:gd name="T11" fmla="*/ 147 h 29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93"/>
                <a:gd name="T19" fmla="*/ 0 h 293"/>
                <a:gd name="T20" fmla="*/ 293 w 293"/>
                <a:gd name="T21" fmla="*/ 293 h 29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93" h="293">
                  <a:moveTo>
                    <a:pt x="0" y="147"/>
                  </a:moveTo>
                  <a:cubicBezTo>
                    <a:pt x="0" y="66"/>
                    <a:pt x="66" y="0"/>
                    <a:pt x="147" y="0"/>
                  </a:cubicBezTo>
                  <a:cubicBezTo>
                    <a:pt x="228" y="0"/>
                    <a:pt x="293" y="66"/>
                    <a:pt x="293" y="147"/>
                  </a:cubicBezTo>
                  <a:cubicBezTo>
                    <a:pt x="293" y="147"/>
                    <a:pt x="293" y="147"/>
                    <a:pt x="293" y="147"/>
                  </a:cubicBezTo>
                  <a:cubicBezTo>
                    <a:pt x="293" y="228"/>
                    <a:pt x="228" y="293"/>
                    <a:pt x="147" y="293"/>
                  </a:cubicBezTo>
                  <a:cubicBezTo>
                    <a:pt x="66" y="293"/>
                    <a:pt x="0" y="228"/>
                    <a:pt x="0" y="147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Rectangle 20"/>
            <p:cNvSpPr>
              <a:spLocks noChangeAspect="1" noChangeArrowheads="1"/>
            </p:cNvSpPr>
            <p:nvPr/>
          </p:nvSpPr>
          <p:spPr bwMode="auto">
            <a:xfrm>
              <a:off x="3004" y="1513"/>
              <a:ext cx="91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/>
            <a:p>
              <a:r>
                <a:rPr lang="en-US" sz="2000" i="1" dirty="0">
                  <a:solidFill>
                    <a:srgbClr val="000080"/>
                  </a:solidFill>
                  <a:latin typeface="Times New Roman" charset="0"/>
                  <a:cs typeface="Arial" charset="0"/>
                </a:rPr>
                <a:t>b</a:t>
              </a:r>
              <a:endParaRPr lang="en-US" sz="2000" i="1" baseline="-25000" dirty="0">
                <a:solidFill>
                  <a:srgbClr val="000080"/>
                </a:solidFill>
                <a:latin typeface="Times New Roman" charset="0"/>
                <a:cs typeface="Arial" charset="0"/>
              </a:endParaRPr>
            </a:p>
          </p:txBody>
        </p:sp>
      </p:grpSp>
      <p:sp>
        <p:nvSpPr>
          <p:cNvPr id="127" name="Freeform 126"/>
          <p:cNvSpPr>
            <a:spLocks noChangeAspect="1"/>
          </p:cNvSpPr>
          <p:nvPr/>
        </p:nvSpPr>
        <p:spPr bwMode="auto">
          <a:xfrm flipH="1">
            <a:off x="7737447" y="1989967"/>
            <a:ext cx="80963" cy="263526"/>
          </a:xfrm>
          <a:custGeom>
            <a:avLst/>
            <a:gdLst>
              <a:gd name="T0" fmla="*/ 0 w 160"/>
              <a:gd name="T1" fmla="*/ 0 h 208"/>
              <a:gd name="T2" fmla="*/ 51 w 160"/>
              <a:gd name="T3" fmla="*/ 166 h 208"/>
              <a:gd name="T4" fmla="*/ 0 60000 65536"/>
              <a:gd name="T5" fmla="*/ 0 60000 65536"/>
              <a:gd name="T6" fmla="*/ 0 w 160"/>
              <a:gd name="T7" fmla="*/ 0 h 208"/>
              <a:gd name="T8" fmla="*/ 160 w 160"/>
              <a:gd name="T9" fmla="*/ 208 h 20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60" h="208">
                <a:moveTo>
                  <a:pt x="0" y="0"/>
                </a:moveTo>
                <a:lnTo>
                  <a:pt x="160" y="208"/>
                </a:lnTo>
              </a:path>
            </a:pathLst>
          </a:custGeom>
          <a:noFill/>
          <a:ln w="50800">
            <a:solidFill>
              <a:srgbClr val="66FF99"/>
            </a:solidFill>
            <a:round/>
            <a:headEnd/>
            <a:tailEnd type="stealth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29" name="Freeform 128"/>
          <p:cNvSpPr>
            <a:spLocks noChangeAspect="1"/>
          </p:cNvSpPr>
          <p:nvPr/>
        </p:nvSpPr>
        <p:spPr bwMode="auto">
          <a:xfrm>
            <a:off x="7123084" y="2561469"/>
            <a:ext cx="441325" cy="282576"/>
          </a:xfrm>
          <a:custGeom>
            <a:avLst/>
            <a:gdLst>
              <a:gd name="T0" fmla="*/ 278 w 278"/>
              <a:gd name="T1" fmla="*/ 0 h 178"/>
              <a:gd name="T2" fmla="*/ 0 w 278"/>
              <a:gd name="T3" fmla="*/ 178 h 178"/>
              <a:gd name="T4" fmla="*/ 0 60000 65536"/>
              <a:gd name="T5" fmla="*/ 0 60000 65536"/>
              <a:gd name="T6" fmla="*/ 0 w 278"/>
              <a:gd name="T7" fmla="*/ 0 h 178"/>
              <a:gd name="T8" fmla="*/ 278 w 278"/>
              <a:gd name="T9" fmla="*/ 178 h 17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78" h="178">
                <a:moveTo>
                  <a:pt x="278" y="0"/>
                </a:moveTo>
                <a:lnTo>
                  <a:pt x="0" y="178"/>
                </a:lnTo>
              </a:path>
            </a:pathLst>
          </a:custGeom>
          <a:noFill/>
          <a:ln w="50800">
            <a:solidFill>
              <a:srgbClr val="333399"/>
            </a:solidFill>
            <a:round/>
            <a:headEnd/>
            <a:tailEnd type="stealth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130" name="Group 17"/>
          <p:cNvGrpSpPr>
            <a:grpSpLocks noChangeAspect="1"/>
          </p:cNvGrpSpPr>
          <p:nvPr/>
        </p:nvGrpSpPr>
        <p:grpSpPr bwMode="auto">
          <a:xfrm>
            <a:off x="6873847" y="2853570"/>
            <a:ext cx="411163" cy="409576"/>
            <a:chOff x="2895" y="1500"/>
            <a:chExt cx="293" cy="293"/>
          </a:xfrm>
        </p:grpSpPr>
        <p:sp>
          <p:nvSpPr>
            <p:cNvPr id="131" name="Freeform 18"/>
            <p:cNvSpPr>
              <a:spLocks noChangeAspect="1"/>
            </p:cNvSpPr>
            <p:nvPr/>
          </p:nvSpPr>
          <p:spPr bwMode="auto">
            <a:xfrm>
              <a:off x="2895" y="1500"/>
              <a:ext cx="293" cy="293"/>
            </a:xfrm>
            <a:custGeom>
              <a:avLst/>
              <a:gdLst>
                <a:gd name="T0" fmla="*/ 0 w 778"/>
                <a:gd name="T1" fmla="*/ 147 h 778"/>
                <a:gd name="T2" fmla="*/ 147 w 778"/>
                <a:gd name="T3" fmla="*/ 0 h 778"/>
                <a:gd name="T4" fmla="*/ 293 w 778"/>
                <a:gd name="T5" fmla="*/ 147 h 778"/>
                <a:gd name="T6" fmla="*/ 293 w 778"/>
                <a:gd name="T7" fmla="*/ 147 h 778"/>
                <a:gd name="T8" fmla="*/ 147 w 778"/>
                <a:gd name="T9" fmla="*/ 293 h 778"/>
                <a:gd name="T10" fmla="*/ 0 w 778"/>
                <a:gd name="T11" fmla="*/ 147 h 7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78"/>
                <a:gd name="T19" fmla="*/ 0 h 778"/>
                <a:gd name="T20" fmla="*/ 778 w 778"/>
                <a:gd name="T21" fmla="*/ 778 h 77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78" h="778">
                  <a:moveTo>
                    <a:pt x="0" y="389"/>
                  </a:moveTo>
                  <a:cubicBezTo>
                    <a:pt x="0" y="174"/>
                    <a:pt x="174" y="0"/>
                    <a:pt x="389" y="0"/>
                  </a:cubicBezTo>
                  <a:cubicBezTo>
                    <a:pt x="604" y="0"/>
                    <a:pt x="778" y="174"/>
                    <a:pt x="778" y="389"/>
                  </a:cubicBezTo>
                  <a:cubicBezTo>
                    <a:pt x="778" y="389"/>
                    <a:pt x="778" y="389"/>
                    <a:pt x="778" y="389"/>
                  </a:cubicBezTo>
                  <a:cubicBezTo>
                    <a:pt x="778" y="604"/>
                    <a:pt x="604" y="778"/>
                    <a:pt x="389" y="778"/>
                  </a:cubicBezTo>
                  <a:cubicBezTo>
                    <a:pt x="174" y="778"/>
                    <a:pt x="0" y="604"/>
                    <a:pt x="0" y="389"/>
                  </a:cubicBezTo>
                </a:path>
              </a:pathLst>
            </a:custGeom>
            <a:solidFill>
              <a:srgbClr val="66FF99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Freeform 19"/>
            <p:cNvSpPr>
              <a:spLocks noChangeAspect="1"/>
            </p:cNvSpPr>
            <p:nvPr/>
          </p:nvSpPr>
          <p:spPr bwMode="auto">
            <a:xfrm>
              <a:off x="2895" y="1500"/>
              <a:ext cx="293" cy="293"/>
            </a:xfrm>
            <a:custGeom>
              <a:avLst/>
              <a:gdLst>
                <a:gd name="T0" fmla="*/ 0 w 293"/>
                <a:gd name="T1" fmla="*/ 147 h 293"/>
                <a:gd name="T2" fmla="*/ 147 w 293"/>
                <a:gd name="T3" fmla="*/ 0 h 293"/>
                <a:gd name="T4" fmla="*/ 293 w 293"/>
                <a:gd name="T5" fmla="*/ 147 h 293"/>
                <a:gd name="T6" fmla="*/ 293 w 293"/>
                <a:gd name="T7" fmla="*/ 147 h 293"/>
                <a:gd name="T8" fmla="*/ 147 w 293"/>
                <a:gd name="T9" fmla="*/ 293 h 293"/>
                <a:gd name="T10" fmla="*/ 0 w 293"/>
                <a:gd name="T11" fmla="*/ 147 h 29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93"/>
                <a:gd name="T19" fmla="*/ 0 h 293"/>
                <a:gd name="T20" fmla="*/ 293 w 293"/>
                <a:gd name="T21" fmla="*/ 293 h 29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93" h="293">
                  <a:moveTo>
                    <a:pt x="0" y="147"/>
                  </a:moveTo>
                  <a:cubicBezTo>
                    <a:pt x="0" y="66"/>
                    <a:pt x="66" y="0"/>
                    <a:pt x="147" y="0"/>
                  </a:cubicBezTo>
                  <a:cubicBezTo>
                    <a:pt x="228" y="0"/>
                    <a:pt x="293" y="66"/>
                    <a:pt x="293" y="147"/>
                  </a:cubicBezTo>
                  <a:cubicBezTo>
                    <a:pt x="293" y="147"/>
                    <a:pt x="293" y="147"/>
                    <a:pt x="293" y="147"/>
                  </a:cubicBezTo>
                  <a:cubicBezTo>
                    <a:pt x="293" y="228"/>
                    <a:pt x="228" y="293"/>
                    <a:pt x="147" y="293"/>
                  </a:cubicBezTo>
                  <a:cubicBezTo>
                    <a:pt x="66" y="293"/>
                    <a:pt x="0" y="228"/>
                    <a:pt x="0" y="147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Rectangle 20"/>
            <p:cNvSpPr>
              <a:spLocks noChangeAspect="1" noChangeArrowheads="1"/>
            </p:cNvSpPr>
            <p:nvPr/>
          </p:nvSpPr>
          <p:spPr bwMode="auto">
            <a:xfrm>
              <a:off x="3004" y="1513"/>
              <a:ext cx="91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/>
            <a:p>
              <a:r>
                <a:rPr lang="en-US" sz="2000" i="1" dirty="0">
                  <a:solidFill>
                    <a:srgbClr val="000080"/>
                  </a:solidFill>
                  <a:latin typeface="Times New Roman" charset="0"/>
                  <a:cs typeface="Arial" charset="0"/>
                </a:rPr>
                <a:t>b</a:t>
              </a:r>
              <a:endParaRPr lang="en-US" sz="2000" i="1" baseline="-25000" dirty="0">
                <a:solidFill>
                  <a:srgbClr val="000080"/>
                </a:solidFill>
                <a:latin typeface="Times New Roman" charset="0"/>
                <a:cs typeface="Arial" charset="0"/>
              </a:endParaRPr>
            </a:p>
          </p:txBody>
        </p:sp>
      </p:grpSp>
      <p:grpSp>
        <p:nvGrpSpPr>
          <p:cNvPr id="134" name="Group 21"/>
          <p:cNvGrpSpPr>
            <a:grpSpLocks noChangeAspect="1"/>
          </p:cNvGrpSpPr>
          <p:nvPr/>
        </p:nvGrpSpPr>
        <p:grpSpPr bwMode="auto">
          <a:xfrm>
            <a:off x="7496147" y="2236030"/>
            <a:ext cx="411163" cy="409576"/>
            <a:chOff x="2895" y="1500"/>
            <a:chExt cx="293" cy="293"/>
          </a:xfrm>
        </p:grpSpPr>
        <p:sp>
          <p:nvSpPr>
            <p:cNvPr id="135" name="Freeform 22"/>
            <p:cNvSpPr>
              <a:spLocks noChangeAspect="1"/>
            </p:cNvSpPr>
            <p:nvPr/>
          </p:nvSpPr>
          <p:spPr bwMode="auto">
            <a:xfrm>
              <a:off x="2895" y="1500"/>
              <a:ext cx="293" cy="293"/>
            </a:xfrm>
            <a:custGeom>
              <a:avLst/>
              <a:gdLst>
                <a:gd name="T0" fmla="*/ 0 w 778"/>
                <a:gd name="T1" fmla="*/ 147 h 778"/>
                <a:gd name="T2" fmla="*/ 147 w 778"/>
                <a:gd name="T3" fmla="*/ 0 h 778"/>
                <a:gd name="T4" fmla="*/ 293 w 778"/>
                <a:gd name="T5" fmla="*/ 147 h 778"/>
                <a:gd name="T6" fmla="*/ 293 w 778"/>
                <a:gd name="T7" fmla="*/ 147 h 778"/>
                <a:gd name="T8" fmla="*/ 147 w 778"/>
                <a:gd name="T9" fmla="*/ 293 h 778"/>
                <a:gd name="T10" fmla="*/ 0 w 778"/>
                <a:gd name="T11" fmla="*/ 147 h 7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78"/>
                <a:gd name="T19" fmla="*/ 0 h 778"/>
                <a:gd name="T20" fmla="*/ 778 w 778"/>
                <a:gd name="T21" fmla="*/ 778 h 77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78" h="778">
                  <a:moveTo>
                    <a:pt x="0" y="389"/>
                  </a:moveTo>
                  <a:cubicBezTo>
                    <a:pt x="0" y="174"/>
                    <a:pt x="174" y="0"/>
                    <a:pt x="389" y="0"/>
                  </a:cubicBezTo>
                  <a:cubicBezTo>
                    <a:pt x="604" y="0"/>
                    <a:pt x="778" y="174"/>
                    <a:pt x="778" y="389"/>
                  </a:cubicBezTo>
                  <a:cubicBezTo>
                    <a:pt x="778" y="389"/>
                    <a:pt x="778" y="389"/>
                    <a:pt x="778" y="389"/>
                  </a:cubicBezTo>
                  <a:cubicBezTo>
                    <a:pt x="778" y="604"/>
                    <a:pt x="604" y="778"/>
                    <a:pt x="389" y="778"/>
                  </a:cubicBezTo>
                  <a:cubicBezTo>
                    <a:pt x="174" y="778"/>
                    <a:pt x="0" y="604"/>
                    <a:pt x="0" y="389"/>
                  </a:cubicBezTo>
                </a:path>
              </a:pathLst>
            </a:custGeom>
            <a:solidFill>
              <a:srgbClr val="66FF99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Freeform 23"/>
            <p:cNvSpPr>
              <a:spLocks noChangeAspect="1"/>
            </p:cNvSpPr>
            <p:nvPr/>
          </p:nvSpPr>
          <p:spPr bwMode="auto">
            <a:xfrm>
              <a:off x="2895" y="1500"/>
              <a:ext cx="293" cy="293"/>
            </a:xfrm>
            <a:custGeom>
              <a:avLst/>
              <a:gdLst>
                <a:gd name="T0" fmla="*/ 0 w 293"/>
                <a:gd name="T1" fmla="*/ 147 h 293"/>
                <a:gd name="T2" fmla="*/ 147 w 293"/>
                <a:gd name="T3" fmla="*/ 0 h 293"/>
                <a:gd name="T4" fmla="*/ 293 w 293"/>
                <a:gd name="T5" fmla="*/ 147 h 293"/>
                <a:gd name="T6" fmla="*/ 293 w 293"/>
                <a:gd name="T7" fmla="*/ 147 h 293"/>
                <a:gd name="T8" fmla="*/ 147 w 293"/>
                <a:gd name="T9" fmla="*/ 293 h 293"/>
                <a:gd name="T10" fmla="*/ 0 w 293"/>
                <a:gd name="T11" fmla="*/ 147 h 29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93"/>
                <a:gd name="T19" fmla="*/ 0 h 293"/>
                <a:gd name="T20" fmla="*/ 293 w 293"/>
                <a:gd name="T21" fmla="*/ 293 h 29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93" h="293">
                  <a:moveTo>
                    <a:pt x="0" y="147"/>
                  </a:moveTo>
                  <a:cubicBezTo>
                    <a:pt x="0" y="66"/>
                    <a:pt x="66" y="0"/>
                    <a:pt x="147" y="0"/>
                  </a:cubicBezTo>
                  <a:cubicBezTo>
                    <a:pt x="228" y="0"/>
                    <a:pt x="293" y="66"/>
                    <a:pt x="293" y="147"/>
                  </a:cubicBezTo>
                  <a:cubicBezTo>
                    <a:pt x="293" y="147"/>
                    <a:pt x="293" y="147"/>
                    <a:pt x="293" y="147"/>
                  </a:cubicBezTo>
                  <a:cubicBezTo>
                    <a:pt x="293" y="228"/>
                    <a:pt x="228" y="293"/>
                    <a:pt x="147" y="293"/>
                  </a:cubicBezTo>
                  <a:cubicBezTo>
                    <a:pt x="66" y="293"/>
                    <a:pt x="0" y="228"/>
                    <a:pt x="0" y="147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Rectangle 24"/>
            <p:cNvSpPr>
              <a:spLocks noChangeAspect="1" noChangeArrowheads="1"/>
            </p:cNvSpPr>
            <p:nvPr/>
          </p:nvSpPr>
          <p:spPr bwMode="auto">
            <a:xfrm>
              <a:off x="3003" y="1513"/>
              <a:ext cx="91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/>
            <a:p>
              <a:r>
                <a:rPr lang="en-US" sz="2000" i="1" dirty="0">
                  <a:solidFill>
                    <a:srgbClr val="000080"/>
                  </a:solidFill>
                  <a:latin typeface="Times New Roman" charset="0"/>
                  <a:cs typeface="Arial" charset="0"/>
                </a:rPr>
                <a:t>a</a:t>
              </a:r>
              <a:endParaRPr lang="en-US" sz="2000" i="1" baseline="-25000" dirty="0">
                <a:solidFill>
                  <a:srgbClr val="000080"/>
                </a:solidFill>
                <a:latin typeface="Times New Roman" charset="0"/>
                <a:cs typeface="Arial" charset="0"/>
              </a:endParaRPr>
            </a:p>
          </p:txBody>
        </p:sp>
      </p:grpSp>
      <p:sp>
        <p:nvSpPr>
          <p:cNvPr id="138" name="Rectangle 26"/>
          <p:cNvSpPr>
            <a:spLocks noChangeArrowheads="1"/>
          </p:cNvSpPr>
          <p:nvPr/>
        </p:nvSpPr>
        <p:spPr bwMode="auto">
          <a:xfrm>
            <a:off x="8111732" y="4598624"/>
            <a:ext cx="265113" cy="266701"/>
          </a:xfrm>
          <a:prstGeom prst="rect">
            <a:avLst/>
          </a:prstGeom>
          <a:solidFill>
            <a:srgbClr val="3399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9" name="Rectangle 28"/>
          <p:cNvSpPr>
            <a:spLocks noChangeArrowheads="1"/>
          </p:cNvSpPr>
          <p:nvPr/>
        </p:nvSpPr>
        <p:spPr bwMode="auto">
          <a:xfrm>
            <a:off x="8180360" y="4547901"/>
            <a:ext cx="133350" cy="320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r>
              <a:rPr lang="en-US" sz="2100">
                <a:solidFill>
                  <a:srgbClr val="000080"/>
                </a:solidFill>
                <a:latin typeface="Times New Roman" charset="0"/>
                <a:cs typeface="Arial" charset="0"/>
              </a:rPr>
              <a:t>1</a:t>
            </a:r>
            <a:endParaRPr lang="en-US">
              <a:latin typeface="Times New Roman" charset="0"/>
              <a:cs typeface="Arial" charset="0"/>
            </a:endParaRPr>
          </a:p>
        </p:txBody>
      </p:sp>
      <p:sp>
        <p:nvSpPr>
          <p:cNvPr id="140" name="Rectangle 40"/>
          <p:cNvSpPr>
            <a:spLocks noChangeArrowheads="1"/>
          </p:cNvSpPr>
          <p:nvPr/>
        </p:nvSpPr>
        <p:spPr bwMode="auto">
          <a:xfrm>
            <a:off x="8599459" y="3391734"/>
            <a:ext cx="0" cy="369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endParaRPr lang="en-US" dirty="0">
              <a:latin typeface="Times New Roman" charset="0"/>
              <a:cs typeface="Arial" charset="0"/>
            </a:endParaRPr>
          </a:p>
        </p:txBody>
      </p:sp>
      <p:cxnSp>
        <p:nvCxnSpPr>
          <p:cNvPr id="142" name="Straight Arrow Connector 141"/>
          <p:cNvCxnSpPr/>
          <p:nvPr/>
        </p:nvCxnSpPr>
        <p:spPr bwMode="auto">
          <a:xfrm>
            <a:off x="7080130" y="3263146"/>
            <a:ext cx="138634" cy="132366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333399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44" name="Rectangle 27"/>
          <p:cNvSpPr>
            <a:spLocks noChangeArrowheads="1"/>
          </p:cNvSpPr>
          <p:nvPr/>
        </p:nvSpPr>
        <p:spPr bwMode="auto">
          <a:xfrm>
            <a:off x="8103028" y="4586133"/>
            <a:ext cx="265113" cy="266701"/>
          </a:xfrm>
          <a:prstGeom prst="rect">
            <a:avLst/>
          </a:prstGeom>
          <a:noFill/>
          <a:ln w="317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5" name="Rectangle 30"/>
          <p:cNvSpPr>
            <a:spLocks noChangeArrowheads="1"/>
          </p:cNvSpPr>
          <p:nvPr/>
        </p:nvSpPr>
        <p:spPr bwMode="auto">
          <a:xfrm>
            <a:off x="7086207" y="4586809"/>
            <a:ext cx="265113" cy="266701"/>
          </a:xfrm>
          <a:prstGeom prst="rect">
            <a:avLst/>
          </a:prstGeom>
          <a:solidFill>
            <a:srgbClr val="3399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6" name="Rectangle 27"/>
          <p:cNvSpPr>
            <a:spLocks noChangeArrowheads="1"/>
          </p:cNvSpPr>
          <p:nvPr/>
        </p:nvSpPr>
        <p:spPr bwMode="auto">
          <a:xfrm>
            <a:off x="7081200" y="4583634"/>
            <a:ext cx="265113" cy="266701"/>
          </a:xfrm>
          <a:prstGeom prst="rect">
            <a:avLst/>
          </a:prstGeom>
          <a:noFill/>
          <a:ln w="317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7" name="Rectangle 28"/>
          <p:cNvSpPr>
            <a:spLocks noChangeArrowheads="1"/>
          </p:cNvSpPr>
          <p:nvPr/>
        </p:nvSpPr>
        <p:spPr bwMode="auto">
          <a:xfrm>
            <a:off x="7162880" y="4549155"/>
            <a:ext cx="134652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r>
              <a:rPr lang="en-US" sz="2100" dirty="0">
                <a:solidFill>
                  <a:srgbClr val="000080"/>
                </a:solidFill>
                <a:latin typeface="Times New Roman" charset="0"/>
                <a:cs typeface="Arial" charset="0"/>
              </a:rPr>
              <a:t>0</a:t>
            </a:r>
            <a:endParaRPr lang="en-US" dirty="0">
              <a:latin typeface="Times New Roman" charset="0"/>
              <a:cs typeface="Arial" charset="0"/>
            </a:endParaRPr>
          </a:p>
        </p:txBody>
      </p:sp>
      <p:cxnSp>
        <p:nvCxnSpPr>
          <p:cNvPr id="153" name="Straight Arrow Connector 152"/>
          <p:cNvCxnSpPr>
            <a:endCxn id="144" idx="0"/>
          </p:cNvCxnSpPr>
          <p:nvPr/>
        </p:nvCxnSpPr>
        <p:spPr bwMode="auto">
          <a:xfrm>
            <a:off x="7818410" y="2561469"/>
            <a:ext cx="417175" cy="202466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7F0000"/>
            </a:solidFill>
            <a:prstDash val="solid"/>
            <a:round/>
            <a:headEnd type="none" w="med" len="med"/>
            <a:tailEnd type="stealth"/>
          </a:ln>
          <a:effectLst/>
        </p:spPr>
      </p:cxnSp>
      <p:cxnSp>
        <p:nvCxnSpPr>
          <p:cNvPr id="155" name="Straight Arrow Connector 154"/>
          <p:cNvCxnSpPr>
            <a:stCxn id="37" idx="2"/>
            <a:endCxn id="54" idx="0"/>
          </p:cNvCxnSpPr>
          <p:nvPr/>
        </p:nvCxnSpPr>
        <p:spPr bwMode="auto">
          <a:xfrm>
            <a:off x="1673698" y="3009091"/>
            <a:ext cx="820527" cy="82695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7F0000"/>
            </a:solidFill>
            <a:prstDash val="solid"/>
            <a:round/>
            <a:headEnd type="none" w="med" len="med"/>
            <a:tailEnd type="stealth"/>
          </a:ln>
          <a:effectLst/>
        </p:spPr>
      </p:cxnSp>
      <p:cxnSp>
        <p:nvCxnSpPr>
          <p:cNvPr id="157" name="Straight Arrow Connector 156"/>
          <p:cNvCxnSpPr>
            <a:stCxn id="99" idx="2"/>
            <a:endCxn id="117" idx="0"/>
          </p:cNvCxnSpPr>
          <p:nvPr/>
        </p:nvCxnSpPr>
        <p:spPr bwMode="auto">
          <a:xfrm>
            <a:off x="4494346" y="3041569"/>
            <a:ext cx="950575" cy="1527076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7F0000"/>
            </a:solidFill>
            <a:prstDash val="solid"/>
            <a:round/>
            <a:headEnd type="none" w="med" len="med"/>
            <a:tailEnd type="stealth"/>
          </a:ln>
          <a:effectLst/>
        </p:spPr>
      </p:cxnSp>
      <p:cxnSp>
        <p:nvCxnSpPr>
          <p:cNvPr id="159" name="Straight Arrow Connector 158"/>
          <p:cNvCxnSpPr>
            <a:stCxn id="132" idx="2"/>
            <a:endCxn id="144" idx="0"/>
          </p:cNvCxnSpPr>
          <p:nvPr/>
        </p:nvCxnSpPr>
        <p:spPr bwMode="auto">
          <a:xfrm>
            <a:off x="7285010" y="3059057"/>
            <a:ext cx="950575" cy="1527076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7F0000"/>
            </a:solidFill>
            <a:prstDash val="solid"/>
            <a:round/>
            <a:headEnd type="none" w="med" len="med"/>
            <a:tailEnd type="stealth"/>
          </a:ln>
          <a:effectLst/>
        </p:spPr>
      </p:cxnSp>
      <p:sp>
        <p:nvSpPr>
          <p:cNvPr id="161" name="Rectangle 160"/>
          <p:cNvSpPr/>
          <p:nvPr/>
        </p:nvSpPr>
        <p:spPr>
          <a:xfrm>
            <a:off x="614598" y="5188544"/>
            <a:ext cx="776224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sz="2000" dirty="0"/>
              <a:t>Eliminate all nodes whose 1-edge points to the 0-leaf and redirect incoming edges to the 0-subgraph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29126" y="2929745"/>
            <a:ext cx="3016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cs typeface="Arial" charset="0"/>
              </a:rPr>
              <a:t>1</a:t>
            </a:r>
            <a:endParaRPr lang="en-US" sz="2000" dirty="0">
              <a:latin typeface="Times New Roman" charset="0"/>
              <a:cs typeface="Arial" charset="0"/>
            </a:endParaRPr>
          </a:p>
        </p:txBody>
      </p:sp>
      <p:sp>
        <p:nvSpPr>
          <p:cNvPr id="86" name="Rectangle 85"/>
          <p:cNvSpPr/>
          <p:nvPr/>
        </p:nvSpPr>
        <p:spPr>
          <a:xfrm flipH="1">
            <a:off x="1736743" y="2979628"/>
            <a:ext cx="113336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cs typeface="Arial" charset="0"/>
              </a:rPr>
              <a:t>1</a:t>
            </a:r>
            <a:endParaRPr lang="en-US" sz="2000" dirty="0">
              <a:latin typeface="Times New Roman" charset="0"/>
              <a:cs typeface="Arial" charset="0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4994315" y="2994308"/>
            <a:ext cx="3016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cs typeface="Arial" charset="0"/>
              </a:rPr>
              <a:t>1</a:t>
            </a:r>
            <a:endParaRPr lang="en-US" sz="2000" dirty="0">
              <a:latin typeface="Times New Roman" charset="0"/>
              <a:cs typeface="Arial" charset="0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5189491" y="2286993"/>
            <a:ext cx="3016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cs typeface="Arial" charset="0"/>
              </a:rPr>
              <a:t>1</a:t>
            </a:r>
            <a:endParaRPr lang="en-US" sz="2000" dirty="0">
              <a:latin typeface="Times New Roman" charset="0"/>
              <a:cs typeface="Arial" charset="0"/>
            </a:endParaRPr>
          </a:p>
        </p:txBody>
      </p:sp>
      <p:sp>
        <p:nvSpPr>
          <p:cNvPr id="93" name="Rectangle 92"/>
          <p:cNvSpPr/>
          <p:nvPr/>
        </p:nvSpPr>
        <p:spPr>
          <a:xfrm flipH="1">
            <a:off x="2004883" y="2306501"/>
            <a:ext cx="113336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cs typeface="Arial" charset="0"/>
              </a:rPr>
              <a:t>1</a:t>
            </a:r>
            <a:endParaRPr lang="en-US" sz="2000" dirty="0">
              <a:latin typeface="Times New Roman" charset="0"/>
              <a:cs typeface="Arial" charset="0"/>
            </a:endParaRPr>
          </a:p>
        </p:txBody>
      </p:sp>
      <p:sp>
        <p:nvSpPr>
          <p:cNvPr id="108" name="Rectangle 107"/>
          <p:cNvSpPr/>
          <p:nvPr/>
        </p:nvSpPr>
        <p:spPr>
          <a:xfrm flipH="1">
            <a:off x="1458608" y="2983886"/>
            <a:ext cx="113336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cs typeface="Arial" charset="0"/>
              </a:rPr>
              <a:t>1</a:t>
            </a:r>
            <a:endParaRPr lang="en-US" sz="2000" dirty="0">
              <a:latin typeface="Times New Roman" charset="0"/>
              <a:cs typeface="Arial" charset="0"/>
            </a:endParaRPr>
          </a:p>
        </p:txBody>
      </p:sp>
      <p:sp>
        <p:nvSpPr>
          <p:cNvPr id="109" name="Rectangle 108"/>
          <p:cNvSpPr/>
          <p:nvPr/>
        </p:nvSpPr>
        <p:spPr>
          <a:xfrm flipH="1">
            <a:off x="1597407" y="3766266"/>
            <a:ext cx="113336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cs typeface="Arial" charset="0"/>
              </a:rPr>
              <a:t>1</a:t>
            </a:r>
            <a:endParaRPr lang="en-US" sz="2000" dirty="0">
              <a:latin typeface="Times New Roman" charset="0"/>
              <a:cs typeface="Arial" charset="0"/>
            </a:endParaRPr>
          </a:p>
        </p:txBody>
      </p:sp>
      <p:sp>
        <p:nvSpPr>
          <p:cNvPr id="110" name="Rectangle 109"/>
          <p:cNvSpPr/>
          <p:nvPr/>
        </p:nvSpPr>
        <p:spPr>
          <a:xfrm flipH="1">
            <a:off x="7545050" y="2977702"/>
            <a:ext cx="113336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cs typeface="Arial" charset="0"/>
              </a:rPr>
              <a:t>1</a:t>
            </a:r>
            <a:endParaRPr lang="en-US" sz="2000" dirty="0">
              <a:latin typeface="Times New Roman" charset="0"/>
              <a:cs typeface="Arial" charset="0"/>
            </a:endParaRPr>
          </a:p>
        </p:txBody>
      </p:sp>
      <p:sp>
        <p:nvSpPr>
          <p:cNvPr id="111" name="Rectangle 110"/>
          <p:cNvSpPr/>
          <p:nvPr/>
        </p:nvSpPr>
        <p:spPr>
          <a:xfrm flipH="1">
            <a:off x="6991688" y="3058804"/>
            <a:ext cx="113336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cs typeface="Arial" charset="0"/>
              </a:rPr>
              <a:t>1</a:t>
            </a:r>
            <a:endParaRPr lang="en-US" sz="2000" dirty="0">
              <a:latin typeface="Times New Roman" charset="0"/>
              <a:cs typeface="Arial" charset="0"/>
            </a:endParaRPr>
          </a:p>
        </p:txBody>
      </p:sp>
      <p:sp>
        <p:nvSpPr>
          <p:cNvPr id="112" name="Rectangle 45"/>
          <p:cNvSpPr>
            <a:spLocks noChangeArrowheads="1"/>
          </p:cNvSpPr>
          <p:nvPr/>
        </p:nvSpPr>
        <p:spPr bwMode="auto">
          <a:xfrm>
            <a:off x="439419" y="2375952"/>
            <a:ext cx="236434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en-US" sz="2000">
                <a:cs typeface="Arial" charset="0"/>
              </a:rPr>
              <a:t>0</a:t>
            </a:r>
            <a:endParaRPr lang="en-US" sz="2000">
              <a:latin typeface="Times New Roman" charset="0"/>
              <a:cs typeface="Arial" charset="0"/>
            </a:endParaRPr>
          </a:p>
        </p:txBody>
      </p:sp>
      <p:sp>
        <p:nvSpPr>
          <p:cNvPr id="114" name="Rectangle 45"/>
          <p:cNvSpPr>
            <a:spLocks noChangeArrowheads="1"/>
          </p:cNvSpPr>
          <p:nvPr/>
        </p:nvSpPr>
        <p:spPr bwMode="auto">
          <a:xfrm>
            <a:off x="3015323" y="3692552"/>
            <a:ext cx="236434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en-US" sz="2000">
                <a:cs typeface="Arial" charset="0"/>
              </a:rPr>
              <a:t>0</a:t>
            </a:r>
            <a:endParaRPr lang="en-US" sz="2000">
              <a:latin typeface="Times New Roman" charset="0"/>
              <a:cs typeface="Arial" charset="0"/>
            </a:endParaRPr>
          </a:p>
        </p:txBody>
      </p:sp>
      <p:sp>
        <p:nvSpPr>
          <p:cNvPr id="125" name="Rectangle 45"/>
          <p:cNvSpPr>
            <a:spLocks noChangeArrowheads="1"/>
          </p:cNvSpPr>
          <p:nvPr/>
        </p:nvSpPr>
        <p:spPr bwMode="auto">
          <a:xfrm>
            <a:off x="6080348" y="2370324"/>
            <a:ext cx="236434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en-US" sz="2000">
                <a:cs typeface="Arial" charset="0"/>
              </a:rPr>
              <a:t>0</a:t>
            </a:r>
            <a:endParaRPr lang="en-US" sz="2000">
              <a:latin typeface="Times New Roman" charset="0"/>
              <a:cs typeface="Arial" charset="0"/>
            </a:endParaRPr>
          </a:p>
        </p:txBody>
      </p:sp>
      <p:sp>
        <p:nvSpPr>
          <p:cNvPr id="126" name="Rectangle 45"/>
          <p:cNvSpPr>
            <a:spLocks noChangeArrowheads="1"/>
          </p:cNvSpPr>
          <p:nvPr/>
        </p:nvSpPr>
        <p:spPr bwMode="auto">
          <a:xfrm>
            <a:off x="3268154" y="2371033"/>
            <a:ext cx="236434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en-US" sz="2000">
                <a:cs typeface="Arial" charset="0"/>
              </a:rPr>
              <a:t>0</a:t>
            </a:r>
            <a:endParaRPr lang="en-US" sz="2000">
              <a:latin typeface="Times New Roman" charset="0"/>
              <a:cs typeface="Arial" charset="0"/>
            </a:endParaRPr>
          </a:p>
        </p:txBody>
      </p:sp>
      <p:sp>
        <p:nvSpPr>
          <p:cNvPr id="128" name="Rectangle 45"/>
          <p:cNvSpPr>
            <a:spLocks noChangeArrowheads="1"/>
          </p:cNvSpPr>
          <p:nvPr/>
        </p:nvSpPr>
        <p:spPr bwMode="auto">
          <a:xfrm>
            <a:off x="223926" y="3605141"/>
            <a:ext cx="236434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en-US" sz="2000">
                <a:cs typeface="Arial" charset="0"/>
              </a:rPr>
              <a:t>0</a:t>
            </a:r>
            <a:endParaRPr lang="en-US" sz="2000">
              <a:latin typeface="Times New Roman" charset="0"/>
              <a:cs typeface="Arial" charset="0"/>
            </a:endParaRPr>
          </a:p>
        </p:txBody>
      </p:sp>
      <p:sp>
        <p:nvSpPr>
          <p:cNvPr id="141" name="Rectangle 45"/>
          <p:cNvSpPr>
            <a:spLocks noChangeArrowheads="1"/>
          </p:cNvSpPr>
          <p:nvPr/>
        </p:nvSpPr>
        <p:spPr bwMode="auto">
          <a:xfrm>
            <a:off x="5835054" y="3569552"/>
            <a:ext cx="236671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en-US" sz="2000">
                <a:cs typeface="Arial" charset="0"/>
              </a:rPr>
              <a:t>0</a:t>
            </a:r>
            <a:endParaRPr lang="en-US" sz="2000">
              <a:latin typeface="Times New Roman" charset="0"/>
              <a:cs typeface="Arial" charset="0"/>
            </a:endParaRPr>
          </a:p>
        </p:txBody>
      </p:sp>
      <p:sp>
        <p:nvSpPr>
          <p:cNvPr id="148" name="Rectangle 45"/>
          <p:cNvSpPr>
            <a:spLocks noChangeArrowheads="1"/>
          </p:cNvSpPr>
          <p:nvPr/>
        </p:nvSpPr>
        <p:spPr bwMode="auto">
          <a:xfrm>
            <a:off x="4547245" y="3739905"/>
            <a:ext cx="236434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en-US" sz="2000">
                <a:cs typeface="Arial" charset="0"/>
              </a:rPr>
              <a:t>0</a:t>
            </a:r>
            <a:endParaRPr lang="en-US" sz="2000">
              <a:latin typeface="Times New Roman" charset="0"/>
              <a:cs typeface="Arial" charset="0"/>
            </a:endParaRPr>
          </a:p>
        </p:txBody>
      </p:sp>
      <p:sp>
        <p:nvSpPr>
          <p:cNvPr id="149" name="Rectangle 45"/>
          <p:cNvSpPr>
            <a:spLocks noChangeArrowheads="1"/>
          </p:cNvSpPr>
          <p:nvPr/>
        </p:nvSpPr>
        <p:spPr bwMode="auto">
          <a:xfrm>
            <a:off x="1608216" y="4086468"/>
            <a:ext cx="236434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en-US" sz="2000">
                <a:cs typeface="Arial" charset="0"/>
              </a:rPr>
              <a:t>0</a:t>
            </a:r>
            <a:endParaRPr lang="en-US" sz="2000">
              <a:latin typeface="Times New Roman" charset="0"/>
              <a:cs typeface="Arial" charset="0"/>
            </a:endParaRPr>
          </a:p>
        </p:txBody>
      </p:sp>
      <p:sp>
        <p:nvSpPr>
          <p:cNvPr id="150" name="Rectangle 45"/>
          <p:cNvSpPr>
            <a:spLocks noChangeArrowheads="1"/>
          </p:cNvSpPr>
          <p:nvPr/>
        </p:nvSpPr>
        <p:spPr bwMode="auto">
          <a:xfrm>
            <a:off x="1681778" y="3262439"/>
            <a:ext cx="236434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en-US" sz="2000">
                <a:cs typeface="Arial" charset="0"/>
              </a:rPr>
              <a:t>0</a:t>
            </a:r>
            <a:endParaRPr lang="en-US" sz="2000">
              <a:latin typeface="Times New Roman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20875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r>
              <a:rPr lang="en-US" sz="1400" b="0"/>
              <a:t>(c)  Giovanni De Micheli</a:t>
            </a:r>
          </a:p>
        </p:txBody>
      </p:sp>
      <p:sp>
        <p:nvSpPr>
          <p:cNvPr id="6656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B4C58852-5CD3-EA4E-918F-EF295187FBB4}" type="slidenum">
              <a:rPr lang="en-US" sz="1400" b="0"/>
              <a:pPr/>
              <a:t>50</a:t>
            </a:fld>
            <a:endParaRPr lang="en-US" sz="1400" b="0"/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Narrow" charset="0"/>
              </a:rPr>
              <a:t>ZDD - UNION</a:t>
            </a:r>
          </a:p>
        </p:txBody>
      </p:sp>
      <p:sp>
        <p:nvSpPr>
          <p:cNvPr id="66564" name="Text Box 3"/>
          <p:cNvSpPr txBox="1">
            <a:spLocks noChangeArrowheads="1"/>
          </p:cNvSpPr>
          <p:nvPr/>
        </p:nvSpPr>
        <p:spPr bwMode="auto">
          <a:xfrm>
            <a:off x="974725" y="1339850"/>
            <a:ext cx="5840413" cy="4278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600" b="0" dirty="0">
                <a:latin typeface="Verdana" charset="0"/>
                <a:cs typeface="Arial" charset="0"/>
              </a:rPr>
              <a:t>UNION(G,H) {</a:t>
            </a:r>
          </a:p>
          <a:p>
            <a:pPr algn="l" eaLnBrk="1" hangingPunct="1"/>
            <a:r>
              <a:rPr lang="en-US" sz="1600" b="0" dirty="0">
                <a:latin typeface="Verdana" charset="0"/>
                <a:cs typeface="Arial" charset="0"/>
              </a:rPr>
              <a:t>	if (G=={}) return H;</a:t>
            </a:r>
          </a:p>
          <a:p>
            <a:pPr algn="l" eaLnBrk="1" hangingPunct="1"/>
            <a:r>
              <a:rPr lang="en-US" sz="1600" b="0" dirty="0">
                <a:latin typeface="Verdana" charset="0"/>
                <a:cs typeface="Arial" charset="0"/>
              </a:rPr>
              <a:t>	if (H=={}) return G;</a:t>
            </a:r>
          </a:p>
          <a:p>
            <a:pPr algn="l" eaLnBrk="1" hangingPunct="1"/>
            <a:r>
              <a:rPr lang="en-US" sz="1600" b="0" dirty="0">
                <a:latin typeface="Verdana" charset="0"/>
                <a:cs typeface="Arial" charset="0"/>
              </a:rPr>
              <a:t>	if (G==H) return G;</a:t>
            </a:r>
          </a:p>
          <a:p>
            <a:pPr algn="l" eaLnBrk="1" hangingPunct="1"/>
            <a:r>
              <a:rPr lang="en-US" sz="1600" b="0" dirty="0">
                <a:latin typeface="Verdana" charset="0"/>
                <a:cs typeface="Arial" charset="0"/>
              </a:rPr>
              <a:t>	</a:t>
            </a:r>
            <a:r>
              <a:rPr lang="en-US" sz="1600" b="0" dirty="0" err="1">
                <a:latin typeface="Verdana" charset="0"/>
                <a:cs typeface="Arial" charset="0"/>
              </a:rPr>
              <a:t>cmp</a:t>
            </a:r>
            <a:r>
              <a:rPr lang="en-US" sz="1600" b="0" dirty="0">
                <a:latin typeface="Verdana" charset="0"/>
                <a:cs typeface="Arial" charset="0"/>
              </a:rPr>
              <a:t> = </a:t>
            </a:r>
            <a:r>
              <a:rPr lang="en-US" sz="1600" b="0" dirty="0" err="1">
                <a:latin typeface="Verdana" charset="0"/>
                <a:cs typeface="Arial" charset="0"/>
              </a:rPr>
              <a:t>computed_table_lookup</a:t>
            </a:r>
            <a:r>
              <a:rPr lang="en-US" sz="1600" b="0" dirty="0">
                <a:latin typeface="Verdana" charset="0"/>
                <a:cs typeface="Arial" charset="0"/>
              </a:rPr>
              <a:t>(G,H);</a:t>
            </a:r>
          </a:p>
          <a:p>
            <a:pPr algn="l" eaLnBrk="1" hangingPunct="1"/>
            <a:r>
              <a:rPr lang="en-US" sz="1600" b="0" dirty="0">
                <a:latin typeface="Verdana" charset="0"/>
                <a:cs typeface="Arial" charset="0"/>
              </a:rPr>
              <a:t>	if (</a:t>
            </a:r>
            <a:r>
              <a:rPr lang="en-US" sz="1600" b="0" dirty="0" err="1">
                <a:latin typeface="Verdana" charset="0"/>
                <a:cs typeface="Arial" charset="0"/>
              </a:rPr>
              <a:t>cmp</a:t>
            </a:r>
            <a:r>
              <a:rPr lang="en-US" sz="1600" b="0" dirty="0">
                <a:latin typeface="Verdana" charset="0"/>
                <a:cs typeface="Arial" charset="0"/>
              </a:rPr>
              <a:t> != NULL) return </a:t>
            </a:r>
            <a:r>
              <a:rPr lang="en-US" sz="1600" b="0" dirty="0" err="1">
                <a:latin typeface="Verdana" charset="0"/>
                <a:cs typeface="Arial" charset="0"/>
              </a:rPr>
              <a:t>cmp</a:t>
            </a:r>
            <a:r>
              <a:rPr lang="en-US" sz="1600" b="0" dirty="0">
                <a:latin typeface="Verdana" charset="0"/>
                <a:cs typeface="Arial" charset="0"/>
              </a:rPr>
              <a:t>;</a:t>
            </a:r>
          </a:p>
          <a:p>
            <a:pPr algn="l" eaLnBrk="1" hangingPunct="1"/>
            <a:r>
              <a:rPr lang="en-US" sz="1600" b="0" dirty="0">
                <a:latin typeface="Verdana" charset="0"/>
                <a:cs typeface="Arial" charset="0"/>
              </a:rPr>
              <a:t>	</a:t>
            </a:r>
          </a:p>
          <a:p>
            <a:pPr algn="l" eaLnBrk="1" hangingPunct="1"/>
            <a:r>
              <a:rPr lang="en-US" sz="1600" b="0" dirty="0">
                <a:latin typeface="Verdana" charset="0"/>
                <a:cs typeface="Arial" charset="0"/>
              </a:rPr>
              <a:t>	x = </a:t>
            </a:r>
            <a:r>
              <a:rPr lang="en-US" sz="1600" b="0" dirty="0" err="1">
                <a:latin typeface="Verdana" charset="0"/>
                <a:cs typeface="Arial" charset="0"/>
              </a:rPr>
              <a:t>top_variable</a:t>
            </a:r>
            <a:r>
              <a:rPr lang="en-US" sz="1600" b="0" dirty="0">
                <a:latin typeface="Verdana" charset="0"/>
                <a:cs typeface="Arial" charset="0"/>
              </a:rPr>
              <a:t>(G,H);</a:t>
            </a:r>
          </a:p>
          <a:p>
            <a:pPr algn="l" eaLnBrk="1" hangingPunct="1"/>
            <a:r>
              <a:rPr lang="en-US" sz="1600" b="0" dirty="0">
                <a:latin typeface="Verdana" charset="0"/>
                <a:cs typeface="Arial" charset="0"/>
              </a:rPr>
              <a:t>	G1 = G.subset1; H1 = H.subset1;</a:t>
            </a:r>
          </a:p>
          <a:p>
            <a:pPr algn="l" eaLnBrk="1" hangingPunct="1"/>
            <a:r>
              <a:rPr lang="en-US" sz="1600" b="0" dirty="0">
                <a:latin typeface="Verdana" charset="0"/>
                <a:cs typeface="Arial" charset="0"/>
              </a:rPr>
              <a:t>	G0 = G.subset0; H0 = H.subset0;</a:t>
            </a:r>
          </a:p>
          <a:p>
            <a:pPr algn="l" eaLnBrk="1" hangingPunct="1"/>
            <a:r>
              <a:rPr lang="en-US" sz="1600" b="0" dirty="0">
                <a:latin typeface="Verdana" charset="0"/>
                <a:cs typeface="Arial" charset="0"/>
              </a:rPr>
              <a:t>	F0 = UNION(G0,H0);</a:t>
            </a:r>
          </a:p>
          <a:p>
            <a:pPr algn="l" eaLnBrk="1" hangingPunct="1"/>
            <a:r>
              <a:rPr lang="en-US" sz="1600" b="0" dirty="0">
                <a:latin typeface="Verdana" charset="0"/>
                <a:cs typeface="Arial" charset="0"/>
              </a:rPr>
              <a:t>	F1 = UNION(G1,H1);</a:t>
            </a:r>
          </a:p>
          <a:p>
            <a:pPr algn="l" eaLnBrk="1" hangingPunct="1"/>
            <a:r>
              <a:rPr lang="en-US" sz="1600" b="0" dirty="0">
                <a:latin typeface="Verdana" charset="0"/>
                <a:cs typeface="Arial" charset="0"/>
              </a:rPr>
              <a:t>	if (F0 == F1) return F0;</a:t>
            </a:r>
          </a:p>
          <a:p>
            <a:pPr algn="l" eaLnBrk="1" hangingPunct="1"/>
            <a:r>
              <a:rPr lang="en-US" sz="1600" b="0" dirty="0">
                <a:latin typeface="Verdana" charset="0"/>
                <a:cs typeface="Arial" charset="0"/>
              </a:rPr>
              <a:t>	F = </a:t>
            </a:r>
            <a:r>
              <a:rPr lang="en-US" sz="1600" b="0" dirty="0" err="1">
                <a:latin typeface="Verdana" charset="0"/>
                <a:cs typeface="Arial" charset="0"/>
              </a:rPr>
              <a:t>find_or_add_unique_table</a:t>
            </a:r>
            <a:r>
              <a:rPr lang="en-US" sz="1600" b="0" dirty="0">
                <a:latin typeface="Verdana" charset="0"/>
                <a:cs typeface="Arial" charset="0"/>
              </a:rPr>
              <a:t>(x,F0,F1);</a:t>
            </a:r>
          </a:p>
          <a:p>
            <a:pPr algn="l" eaLnBrk="1" hangingPunct="1"/>
            <a:r>
              <a:rPr lang="en-US" sz="1600" b="0" dirty="0">
                <a:latin typeface="Verdana" charset="0"/>
                <a:cs typeface="Arial" charset="0"/>
              </a:rPr>
              <a:t>	</a:t>
            </a:r>
            <a:r>
              <a:rPr lang="en-US" sz="1600" b="0" dirty="0" err="1">
                <a:latin typeface="Verdana" charset="0"/>
                <a:cs typeface="Arial" charset="0"/>
              </a:rPr>
              <a:t>computed_table_insert</a:t>
            </a:r>
            <a:r>
              <a:rPr lang="en-US" sz="1600" b="0" dirty="0">
                <a:latin typeface="Verdana" charset="0"/>
                <a:cs typeface="Arial" charset="0"/>
              </a:rPr>
              <a:t>(G,H,F);</a:t>
            </a:r>
          </a:p>
          <a:p>
            <a:pPr algn="l" eaLnBrk="1" hangingPunct="1"/>
            <a:r>
              <a:rPr lang="en-US" sz="1600" b="0" dirty="0">
                <a:latin typeface="Verdana" charset="0"/>
                <a:cs typeface="Arial" charset="0"/>
              </a:rPr>
              <a:t>	return F;</a:t>
            </a:r>
          </a:p>
          <a:p>
            <a:pPr algn="l" eaLnBrk="1" hangingPunct="1"/>
            <a:r>
              <a:rPr lang="en-US" sz="1600" b="0" dirty="0">
                <a:latin typeface="Verdana" charset="0"/>
                <a:cs typeface="Arial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396602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r>
              <a:rPr lang="en-US" sz="1400" b="0"/>
              <a:t>(c)  Giovanni De Micheli</a:t>
            </a:r>
          </a:p>
        </p:txBody>
      </p:sp>
      <p:sp>
        <p:nvSpPr>
          <p:cNvPr id="10547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fld id="{7FF806E9-CD6F-3E41-B36B-1BC7F94B625F}" type="slidenum">
              <a:rPr lang="en-US" sz="1400" b="0"/>
              <a:pPr/>
              <a:t>51</a:t>
            </a:fld>
            <a:endParaRPr lang="en-US" sz="1400" b="0"/>
          </a:p>
        </p:txBody>
      </p:sp>
      <p:sp>
        <p:nvSpPr>
          <p:cNvPr id="1054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>
                <a:latin typeface="Arial Narrow" charset="0"/>
              </a:rPr>
              <a:t>Summary</a:t>
            </a:r>
          </a:p>
        </p:txBody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69900" indent="-469900">
              <a:lnSpc>
                <a:spcPct val="90000"/>
              </a:lnSpc>
            </a:pPr>
            <a:r>
              <a:rPr lang="en-US">
                <a:latin typeface="Arial Narrow" charset="0"/>
              </a:rPr>
              <a:t>BDDs</a:t>
            </a:r>
          </a:p>
          <a:p>
            <a:pPr marL="908050" lvl="1" indent="-436563">
              <a:lnSpc>
                <a:spcPct val="90000"/>
              </a:lnSpc>
              <a:buFont typeface="Verdana" charset="0"/>
              <a:buChar char="+"/>
            </a:pPr>
            <a:r>
              <a:rPr lang="en-US">
                <a:latin typeface="Arial Narrow" charset="0"/>
              </a:rPr>
              <a:t>Very efficient data structure</a:t>
            </a:r>
          </a:p>
          <a:p>
            <a:pPr marL="908050" lvl="1" indent="-436563">
              <a:lnSpc>
                <a:spcPct val="90000"/>
              </a:lnSpc>
              <a:buFont typeface="Verdana" charset="0"/>
              <a:buChar char="+"/>
            </a:pPr>
            <a:r>
              <a:rPr lang="en-US">
                <a:latin typeface="Arial Narrow" charset="0"/>
              </a:rPr>
              <a:t>Efficient manipulation routines</a:t>
            </a:r>
          </a:p>
          <a:p>
            <a:pPr marL="908050" lvl="1" indent="-436563">
              <a:lnSpc>
                <a:spcPct val="90000"/>
              </a:lnSpc>
              <a:buFont typeface="Verdana" charset="0"/>
              <a:buChar char="–"/>
            </a:pPr>
            <a:endParaRPr lang="en-US">
              <a:latin typeface="Arial Narrow" charset="0"/>
            </a:endParaRPr>
          </a:p>
          <a:p>
            <a:pPr marL="908050" lvl="1" indent="-436563">
              <a:lnSpc>
                <a:spcPct val="90000"/>
              </a:lnSpc>
              <a:buFont typeface="Verdana" charset="0"/>
              <a:buChar char="–"/>
            </a:pPr>
            <a:r>
              <a:rPr lang="en-US">
                <a:latin typeface="Arial Narrow" charset="0"/>
              </a:rPr>
              <a:t>A few important functions don</a:t>
            </a:r>
            <a:r>
              <a:rPr lang="ja-JP" altLang="en-US">
                <a:latin typeface="Arial Narrow" charset="0"/>
              </a:rPr>
              <a:t>’</a:t>
            </a:r>
            <a:r>
              <a:rPr lang="en-US" altLang="ja-JP">
                <a:latin typeface="Arial Narrow" charset="0"/>
              </a:rPr>
              <a:t>t come out well</a:t>
            </a:r>
          </a:p>
          <a:p>
            <a:pPr marL="908050" lvl="1" indent="-436563">
              <a:lnSpc>
                <a:spcPct val="90000"/>
              </a:lnSpc>
              <a:buFont typeface="Verdana" charset="0"/>
              <a:buChar char="–"/>
            </a:pPr>
            <a:r>
              <a:rPr lang="en-US">
                <a:latin typeface="Arial Narrow" charset="0"/>
              </a:rPr>
              <a:t>Variable order can have a high impact on size</a:t>
            </a:r>
          </a:p>
          <a:p>
            <a:pPr marL="469900" indent="-469900">
              <a:lnSpc>
                <a:spcPct val="90000"/>
              </a:lnSpc>
            </a:pPr>
            <a:endParaRPr lang="en-US">
              <a:latin typeface="Arial Narrow" charset="0"/>
            </a:endParaRPr>
          </a:p>
          <a:p>
            <a:pPr marL="469900" indent="-469900">
              <a:lnSpc>
                <a:spcPct val="90000"/>
              </a:lnSpc>
            </a:pPr>
            <a:r>
              <a:rPr lang="en-US">
                <a:latin typeface="Arial Narrow" charset="0"/>
              </a:rPr>
              <a:t>Application in many areas of CAD</a:t>
            </a:r>
          </a:p>
          <a:p>
            <a:pPr marL="908050" lvl="1" indent="-436563">
              <a:lnSpc>
                <a:spcPct val="90000"/>
              </a:lnSpc>
            </a:pPr>
            <a:r>
              <a:rPr lang="en-US">
                <a:latin typeface="Arial Narrow" charset="0"/>
              </a:rPr>
              <a:t>Hardware verification</a:t>
            </a:r>
          </a:p>
          <a:p>
            <a:pPr marL="908050" lvl="1" indent="-436563">
              <a:lnSpc>
                <a:spcPct val="90000"/>
              </a:lnSpc>
            </a:pPr>
            <a:r>
              <a:rPr lang="en-US">
                <a:latin typeface="Arial Narrow" charset="0"/>
              </a:rPr>
              <a:t>Logic synthesis</a:t>
            </a:r>
          </a:p>
          <a:p>
            <a:pPr marL="908050" lvl="1" indent="-436563">
              <a:lnSpc>
                <a:spcPct val="90000"/>
              </a:lnSpc>
            </a:pPr>
            <a:endParaRPr lang="en-US">
              <a:latin typeface="Arial Narrow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srcPresentationTemplate">
  <a:themeElements>
    <a:clrScheme name="">
      <a:dk1>
        <a:srgbClr val="000000"/>
      </a:dk1>
      <a:lt1>
        <a:srgbClr val="FFFFCC"/>
      </a:lt1>
      <a:dk2>
        <a:srgbClr val="660066"/>
      </a:dk2>
      <a:lt2>
        <a:srgbClr val="660066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0099"/>
      </a:hlink>
      <a:folHlink>
        <a:srgbClr val="FF9900"/>
      </a:folHlink>
    </a:clrScheme>
    <a:fontScheme name="gsrcPresentationTemplate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1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1" charset="0"/>
          </a:defRPr>
        </a:defPPr>
      </a:lstStyle>
    </a:lnDef>
  </a:objectDefaults>
  <a:extraClrSchemeLst>
    <a:extraClrScheme>
      <a:clrScheme name="gsrcPresentationTemplate 1">
        <a:dk1>
          <a:srgbClr val="0033CC"/>
        </a:dk1>
        <a:lt1>
          <a:srgbClr val="99FFFF"/>
        </a:lt1>
        <a:dk2>
          <a:srgbClr val="000000"/>
        </a:dk2>
        <a:lt2>
          <a:srgbClr val="000000"/>
        </a:lt2>
        <a:accent1>
          <a:srgbClr val="00B8A5"/>
        </a:accent1>
        <a:accent2>
          <a:srgbClr val="2C005E"/>
        </a:accent2>
        <a:accent3>
          <a:srgbClr val="CAFFFF"/>
        </a:accent3>
        <a:accent4>
          <a:srgbClr val="002AAE"/>
        </a:accent4>
        <a:accent5>
          <a:srgbClr val="AAD8CF"/>
        </a:accent5>
        <a:accent6>
          <a:srgbClr val="270054"/>
        </a:accent6>
        <a:hlink>
          <a:srgbClr val="4C82FF"/>
        </a:hlink>
        <a:folHlink>
          <a:srgbClr val="FFB8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srcPresentation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srcPresentationTemplate 3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srcPresentationTemplate 4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srcPresentationTemplate 5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srcPresentationTemplate 6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srcPresentationTemplate 7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srcPresentationTemplate 8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34592</TotalTime>
  <Words>5298</Words>
  <Application>Microsoft Office PowerPoint</Application>
  <PresentationFormat>On-screen Show (4:3)</PresentationFormat>
  <Paragraphs>1190</Paragraphs>
  <Slides>51</Slides>
  <Notes>47</Notes>
  <HiddenSlides>3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0" baseType="lpstr">
      <vt:lpstr>Arial Narrow</vt:lpstr>
      <vt:lpstr>Times New Roman</vt:lpstr>
      <vt:lpstr>Monotype Sorts</vt:lpstr>
      <vt:lpstr>ＭＳ Ｐゴシック</vt:lpstr>
      <vt:lpstr>Cambria Math</vt:lpstr>
      <vt:lpstr>Verdana</vt:lpstr>
      <vt:lpstr>Arial</vt:lpstr>
      <vt:lpstr>gsrcPresentationTemplate</vt:lpstr>
      <vt:lpstr>Equation</vt:lpstr>
      <vt:lpstr> Binary Decision Diagrams</vt:lpstr>
      <vt:lpstr>Module 1</vt:lpstr>
      <vt:lpstr>2020 US election – while counting one day after</vt:lpstr>
      <vt:lpstr>PowerPoint Presentation</vt:lpstr>
      <vt:lpstr>US 2016 elections</vt:lpstr>
      <vt:lpstr>Motivation</vt:lpstr>
      <vt:lpstr>Canonical forms - review</vt:lpstr>
      <vt:lpstr>Non canonical forms - review</vt:lpstr>
      <vt:lpstr>Terminology</vt:lpstr>
      <vt:lpstr>BDD - Example</vt:lpstr>
      <vt:lpstr>BDD - observations</vt:lpstr>
      <vt:lpstr>1st idea: Ordered BDD (OBDD)</vt:lpstr>
      <vt:lpstr>2nd idea: Reduced OBDD (ROBDD)</vt:lpstr>
      <vt:lpstr>1. Merge equivalent sub-trees</vt:lpstr>
      <vt:lpstr>2. Remove node with identical children</vt:lpstr>
      <vt:lpstr>ROBDDs</vt:lpstr>
      <vt:lpstr>BDD semantics</vt:lpstr>
      <vt:lpstr>A few simple functions</vt:lpstr>
      <vt:lpstr>A network example</vt:lpstr>
      <vt:lpstr>ROBDD- sharing</vt:lpstr>
      <vt:lpstr>ROBDDs- why do we care ?</vt:lpstr>
      <vt:lpstr>Logic operations with ROBDDs</vt:lpstr>
      <vt:lpstr>Logic operations with ROBDDs</vt:lpstr>
      <vt:lpstr>Example</vt:lpstr>
      <vt:lpstr>Boolean operators</vt:lpstr>
      <vt:lpstr>ROBDD construction – terminal cases (AND)</vt:lpstr>
      <vt:lpstr>ROBDD construction – recursive step (AND)</vt:lpstr>
      <vt:lpstr>One last problem</vt:lpstr>
      <vt:lpstr>The unique table</vt:lpstr>
      <vt:lpstr>Putting all together</vt:lpstr>
      <vt:lpstr>Generalizing to Boolean operators</vt:lpstr>
      <vt:lpstr>Logic operations - summary</vt:lpstr>
      <vt:lpstr>Some algorithmic complexities</vt:lpstr>
      <vt:lpstr>Motivation - again</vt:lpstr>
      <vt:lpstr>Module 2</vt:lpstr>
      <vt:lpstr>The importance of variable order</vt:lpstr>
      <vt:lpstr>Ordering results</vt:lpstr>
      <vt:lpstr>Variable ordering algorithms</vt:lpstr>
      <vt:lpstr>Static variable ordering</vt:lpstr>
      <vt:lpstr>Dynamic variable ordering</vt:lpstr>
      <vt:lpstr>Dynamic variable ordering</vt:lpstr>
      <vt:lpstr>Variable swapping</vt:lpstr>
      <vt:lpstr>Dynamic variable ordering</vt:lpstr>
      <vt:lpstr>Improvements on BDDs</vt:lpstr>
      <vt:lpstr>Complement edges</vt:lpstr>
      <vt:lpstr>Other types of Decision Diagram</vt:lpstr>
      <vt:lpstr>Boolean functions and sets of combinations </vt:lpstr>
      <vt:lpstr>ZDDs  -- Zero-suppressed BDDs</vt:lpstr>
      <vt:lpstr>ZDD - example</vt:lpstr>
      <vt:lpstr>ZDD - UNION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Synthesis</dc:title>
  <dc:creator>Giovanni De Micheli (c)</dc:creator>
  <cp:lastModifiedBy>jordi.cortadella</cp:lastModifiedBy>
  <cp:revision>880</cp:revision>
  <cp:lastPrinted>2014-10-26T09:45:24Z</cp:lastPrinted>
  <dcterms:created xsi:type="dcterms:W3CDTF">2013-11-01T14:35:03Z</dcterms:created>
  <dcterms:modified xsi:type="dcterms:W3CDTF">2024-11-18T10:22:24Z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2</vt:i4>
  </property>
  <property fmtid="{D5CDD505-2E9C-101B-9397-08002B2CF9AE}" pid="7" name="MailAddress">
    <vt:lpwstr>keutzer@eecs.berkeley.edu</vt:lpwstr>
  </property>
  <property fmtid="{D5CDD505-2E9C-101B-9397-08002B2CF9AE}" pid="8" name="HomePage">
    <vt:lpwstr>www-cad.eecs.berkeley.edu/~keutzer</vt:lpwstr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2</vt:i4>
  </property>
  <property fmtid="{D5CDD505-2E9C-101B-9397-08002B2CF9AE}" pid="19" name="ShowNotes">
    <vt:bool>false</vt:bool>
  </property>
  <property fmtid="{D5CDD505-2E9C-101B-9397-08002B2CF9AE}" pid="20" name="NavBtnPos">
    <vt:i4>3</vt:i4>
  </property>
  <property fmtid="{D5CDD505-2E9C-101B-9397-08002B2CF9AE}" pid="21" name="OutputDir">
    <vt:lpwstr>U:\My Documents\HTMLDoc\290A</vt:lpwstr>
  </property>
</Properties>
</file>