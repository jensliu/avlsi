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607" r:id="rId2"/>
    <p:sldId id="966" r:id="rId3"/>
    <p:sldId id="259" r:id="rId4"/>
    <p:sldId id="257" r:id="rId5"/>
    <p:sldId id="923" r:id="rId6"/>
    <p:sldId id="961" r:id="rId7"/>
    <p:sldId id="962" r:id="rId8"/>
    <p:sldId id="963" r:id="rId9"/>
    <p:sldId id="964" r:id="rId10"/>
    <p:sldId id="922" r:id="rId11"/>
    <p:sldId id="960" r:id="rId12"/>
    <p:sldId id="942" r:id="rId13"/>
    <p:sldId id="943" r:id="rId14"/>
    <p:sldId id="948" r:id="rId15"/>
    <p:sldId id="944" r:id="rId16"/>
    <p:sldId id="931" r:id="rId17"/>
    <p:sldId id="934" r:id="rId18"/>
    <p:sldId id="935" r:id="rId19"/>
    <p:sldId id="936" r:id="rId20"/>
    <p:sldId id="933" r:id="rId21"/>
    <p:sldId id="939" r:id="rId22"/>
    <p:sldId id="938" r:id="rId23"/>
    <p:sldId id="928" r:id="rId24"/>
    <p:sldId id="940" r:id="rId25"/>
    <p:sldId id="941" r:id="rId26"/>
    <p:sldId id="929" r:id="rId27"/>
    <p:sldId id="945" r:id="rId28"/>
    <p:sldId id="946" r:id="rId29"/>
    <p:sldId id="947" r:id="rId30"/>
    <p:sldId id="949" r:id="rId31"/>
    <p:sldId id="930" r:id="rId32"/>
    <p:sldId id="951" r:id="rId33"/>
    <p:sldId id="952" r:id="rId34"/>
    <p:sldId id="262" r:id="rId35"/>
    <p:sldId id="924" r:id="rId36"/>
    <p:sldId id="925" r:id="rId37"/>
    <p:sldId id="927" r:id="rId38"/>
    <p:sldId id="926" r:id="rId39"/>
    <p:sldId id="959" r:id="rId40"/>
    <p:sldId id="955" r:id="rId41"/>
    <p:sldId id="956" r:id="rId42"/>
    <p:sldId id="958" r:id="rId43"/>
    <p:sldId id="957" r:id="rId44"/>
    <p:sldId id="954" r:id="rId45"/>
    <p:sldId id="965" r:id="rId46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36" userDrawn="1">
          <p15:clr>
            <a:srgbClr val="A4A3A4"/>
          </p15:clr>
        </p15:guide>
        <p15:guide id="2" pos="35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FF00"/>
    <a:srgbClr val="FF0000"/>
    <a:srgbClr val="008000"/>
    <a:srgbClr val="009900"/>
    <a:srgbClr val="C6D9F1"/>
    <a:srgbClr val="99FFCC"/>
    <a:srgbClr val="66FF66"/>
    <a:srgbClr val="FFFF00"/>
    <a:srgbClr val="DBEE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76" autoAdjust="0"/>
  </p:normalViewPr>
  <p:slideViewPr>
    <p:cSldViewPr>
      <p:cViewPr varScale="1">
        <p:scale>
          <a:sx n="127" d="100"/>
          <a:sy n="127" d="100"/>
        </p:scale>
        <p:origin x="1368" y="192"/>
      </p:cViewPr>
      <p:guideLst>
        <p:guide orient="horz" pos="3936"/>
        <p:guide pos="35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70138" cy="4795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427" y="0"/>
            <a:ext cx="3170138" cy="4795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A9C85-7208-4140-9A1B-482E74B6EC70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172"/>
            <a:ext cx="3170138" cy="4795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427" y="9120172"/>
            <a:ext cx="3170138" cy="4795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650C07-3E7E-4F0E-9FCA-027EE472E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8" y="1"/>
            <a:ext cx="3169920" cy="480060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9EAA3D3F-CA47-4B9D-B6BA-678D85410C0A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8888" y="720725"/>
            <a:ext cx="47974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8" y="9119474"/>
            <a:ext cx="3169920" cy="480060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3ADACB01-8BF2-4713-B06A-211A8CE39FE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s-ES"/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D5C9D8F-313B-4C0E-A642-9DB8A7C73743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85800"/>
            <a:ext cx="9144000" cy="0"/>
          </a:xfrm>
          <a:prstGeom prst="line">
            <a:avLst/>
          </a:prstGeom>
          <a:ln w="50800" cmpd="thickThin">
            <a:gradFill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14400"/>
            <a:ext cx="4038600" cy="5211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4038600" cy="5211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85800"/>
            <a:ext cx="9144000" cy="0"/>
          </a:xfrm>
          <a:prstGeom prst="line">
            <a:avLst/>
          </a:prstGeom>
          <a:ln w="50800" cmpd="thickThin">
            <a:gradFill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62000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447800"/>
            <a:ext cx="4040188" cy="46783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62000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7800"/>
            <a:ext cx="4041775" cy="46783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85800"/>
            <a:ext cx="9144000" cy="0"/>
          </a:xfrm>
          <a:prstGeom prst="line">
            <a:avLst/>
          </a:prstGeom>
          <a:ln w="50800" cmpd="thickThin">
            <a:gradFill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685800"/>
            <a:ext cx="9144000" cy="0"/>
          </a:xfrm>
          <a:prstGeom prst="line">
            <a:avLst/>
          </a:prstGeom>
          <a:ln w="50800" cmpd="thickThin">
            <a:gradFill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defTabSz="914400">
              <a:buNone/>
              <a:tabLst>
                <a:tab pos="0" algn="l"/>
              </a:tabLst>
              <a:defRPr sz="2400" b="1" baseline="0">
                <a:latin typeface="Courier New" pitchFamily="49" charset="0"/>
                <a:cs typeface="Courier New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Insert code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85800"/>
            <a:ext cx="9144000" cy="0"/>
          </a:xfrm>
          <a:prstGeom prst="line">
            <a:avLst/>
          </a:prstGeom>
          <a:ln w="50800" cmpd="thickThin">
            <a:gradFill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85800"/>
            <a:ext cx="9144000" cy="0"/>
          </a:xfrm>
          <a:prstGeom prst="line">
            <a:avLst/>
          </a:prstGeom>
          <a:ln w="50800" cmpd="thickThin">
            <a:gradFill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/>
          <p:cNvSpPr>
            <a:spLocks noGrp="1"/>
          </p:cNvSpPr>
          <p:nvPr>
            <p:ph idx="13" hasCustomPrompt="1"/>
          </p:nvPr>
        </p:nvSpPr>
        <p:spPr>
          <a:xfrm>
            <a:off x="457200" y="3276600"/>
            <a:ext cx="8229600" cy="3124200"/>
          </a:xfrm>
        </p:spPr>
        <p:txBody>
          <a:bodyPr>
            <a:normAutofit/>
          </a:bodyPr>
          <a:lstStyle>
            <a:lvl1pPr marL="0" indent="0" defTabSz="914400">
              <a:buNone/>
              <a:tabLst>
                <a:tab pos="0" algn="l"/>
              </a:tabLst>
              <a:defRPr sz="2400" b="1" baseline="0">
                <a:latin typeface="Courier New" pitchFamily="49" charset="0"/>
                <a:cs typeface="Courier New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Insert code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85800"/>
            <a:ext cx="9144000" cy="0"/>
          </a:xfrm>
          <a:prstGeom prst="line">
            <a:avLst/>
          </a:prstGeom>
          <a:ln w="50800" cmpd="thickThin">
            <a:gradFill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838200"/>
            <a:ext cx="8229600" cy="541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AVLSI introduction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 Dept. CS, UPC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18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ordi.cortadella@upc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5.png"/><Relationship Id="rId7" Type="http://schemas.openxmlformats.org/officeDocument/2006/relationships/image" Target="../media/image21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0.png"/><Relationship Id="rId9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0.png"/><Relationship Id="rId5" Type="http://schemas.openxmlformats.org/officeDocument/2006/relationships/image" Target="../media/image280.png"/><Relationship Id="rId4" Type="http://schemas.openxmlformats.org/officeDocument/2006/relationships/image" Target="../media/image27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image" Target="../media/image32.pn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gif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2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Bu52CE55BN0" TargetMode="External"/><Relationship Id="rId3" Type="http://schemas.openxmlformats.org/officeDocument/2006/relationships/hyperlink" Target="https://www.youtube.com/watch?v=tz62t-q_KEc" TargetMode="External"/><Relationship Id="rId7" Type="http://schemas.openxmlformats.org/officeDocument/2006/relationships/hyperlink" Target="https://www.youtube.com/watch?v=fwNkg1fsqBY" TargetMode="External"/><Relationship Id="rId2" Type="http://schemas.openxmlformats.org/officeDocument/2006/relationships/hyperlink" Target="https://www.youtube.com/watch?v=IcrBqCFLHIY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outu.be/g8Qav3vIv9s" TargetMode="External"/><Relationship Id="rId5" Type="http://schemas.openxmlformats.org/officeDocument/2006/relationships/hyperlink" Target="https://youtu.be/FMLpW0_iyjI" TargetMode="External"/><Relationship Id="rId10" Type="http://schemas.openxmlformats.org/officeDocument/2006/relationships/hyperlink" Target="https://www.youtube.com/watch?v=d9SWNLZvA8g" TargetMode="External"/><Relationship Id="rId4" Type="http://schemas.openxmlformats.org/officeDocument/2006/relationships/hyperlink" Target="https://youtu.be/oBKhN4n-EGI" TargetMode="External"/><Relationship Id="rId9" Type="http://schemas.openxmlformats.org/officeDocument/2006/relationships/hyperlink" Target="https://www.youtube.com/watch?v=JDROPMoNZp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566" y="1066800"/>
            <a:ext cx="8382000" cy="2514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i="1" dirty="0">
                <a:solidFill>
                  <a:srgbClr val="0000FF"/>
                </a:solidFill>
              </a:rPr>
              <a:t>Introduction</a:t>
            </a:r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800600"/>
            <a:ext cx="6400800" cy="14478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sz="2000" dirty="0">
                <a:solidFill>
                  <a:schemeClr val="tx1"/>
                </a:solidFill>
              </a:rPr>
              <a:t>Jordi Cortadella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  <a:hlinkClick r:id="rId3"/>
              </a:rPr>
              <a:t>jordi.cortadella@upc.edu</a:t>
            </a:r>
            <a:endParaRPr lang="en-US" sz="2000" dirty="0">
              <a:solidFill>
                <a:schemeClr val="tx1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sz="2000" dirty="0">
                <a:solidFill>
                  <a:schemeClr val="tx1"/>
                </a:solidFill>
              </a:rPr>
              <a:t>Department of Computer Science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Omega building, office 242</a:t>
            </a:r>
          </a:p>
        </p:txBody>
      </p:sp>
      <p:pic>
        <p:nvPicPr>
          <p:cNvPr id="1026" name="Picture 2" descr="Logo UPC.sv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25" y="3429000"/>
            <a:ext cx="1047750" cy="1047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34B2B-C7FD-D79F-F927-CC9BBEC07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ADADE-963F-C82E-72F9-2C561712D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838199"/>
            <a:ext cx="8534400" cy="5654675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Understand</a:t>
            </a:r>
            <a:r>
              <a:rPr lang="en-US" dirty="0"/>
              <a:t> the main stages of IC design flows</a:t>
            </a:r>
          </a:p>
          <a:p>
            <a:endParaRPr lang="en-US" dirty="0"/>
          </a:p>
          <a:p>
            <a:r>
              <a:rPr lang="en-US" b="1" dirty="0"/>
              <a:t>Study</a:t>
            </a:r>
            <a:r>
              <a:rPr lang="en-US" dirty="0"/>
              <a:t> core data structures and algorithms for Electronic Design Automation (EDA)</a:t>
            </a:r>
          </a:p>
          <a:p>
            <a:endParaRPr lang="en-US" dirty="0"/>
          </a:p>
          <a:p>
            <a:r>
              <a:rPr lang="en-US" b="1" dirty="0"/>
              <a:t>Formulate</a:t>
            </a:r>
            <a:r>
              <a:rPr lang="en-US" dirty="0"/>
              <a:t> mathematical models for complex optimization problems</a:t>
            </a:r>
          </a:p>
          <a:p>
            <a:endParaRPr lang="en-US" dirty="0"/>
          </a:p>
          <a:p>
            <a:r>
              <a:rPr lang="en-US" b="1" dirty="0"/>
              <a:t>Evaluate</a:t>
            </a:r>
            <a:r>
              <a:rPr lang="en-US" dirty="0"/>
              <a:t> trade-offs between </a:t>
            </a:r>
            <a:r>
              <a:rPr lang="en-US" dirty="0" err="1"/>
              <a:t>QoR</a:t>
            </a:r>
            <a:r>
              <a:rPr lang="en-US" dirty="0"/>
              <a:t> and computational complexity</a:t>
            </a:r>
          </a:p>
          <a:p>
            <a:pPr marL="0" lvl="0" indent="0">
              <a:buNone/>
            </a:pPr>
            <a:endParaRPr lang="en-US" dirty="0"/>
          </a:p>
          <a:p>
            <a:pPr lvl="0"/>
            <a:r>
              <a:rPr lang="en-US" b="1" dirty="0"/>
              <a:t>Transfer</a:t>
            </a:r>
            <a:r>
              <a:rPr lang="en-US" dirty="0"/>
              <a:t> acquired optimization techniques to other engineering domains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EFE2C-CAD8-7772-67C2-B7A1B1CE4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6001C-6773-0112-8009-50BF82D23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CE041-1E05-B1E2-E88A-15527A8F7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96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Organization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763000" cy="54102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Lectures: Mon, Thu (12:00-14:00)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Evaluation:</a:t>
            </a:r>
          </a:p>
          <a:p>
            <a:pPr lvl="1"/>
            <a:r>
              <a:rPr lang="en-GB" dirty="0"/>
              <a:t>Exercises:</a:t>
            </a:r>
          </a:p>
          <a:p>
            <a:pPr lvl="2"/>
            <a:r>
              <a:rPr lang="en-GB" dirty="0"/>
              <a:t>physical synthesis (15%)</a:t>
            </a:r>
          </a:p>
          <a:p>
            <a:pPr lvl="2"/>
            <a:r>
              <a:rPr lang="en-GB" dirty="0"/>
              <a:t>logic synthesis (15%)</a:t>
            </a:r>
          </a:p>
          <a:p>
            <a:pPr lvl="1"/>
            <a:r>
              <a:rPr lang="en-GB" dirty="0"/>
              <a:t>Course project: EDA tool (35%)</a:t>
            </a:r>
          </a:p>
          <a:p>
            <a:pPr lvl="2"/>
            <a:r>
              <a:rPr lang="en-GB" dirty="0">
                <a:sym typeface="Wingdings" panose="05000000000000000000" pitchFamily="2" charset="2"/>
              </a:rPr>
              <a:t>One or two students per project</a:t>
            </a:r>
          </a:p>
          <a:p>
            <a:pPr lvl="2"/>
            <a:r>
              <a:rPr lang="en-GB" dirty="0">
                <a:sym typeface="Wingdings" panose="05000000000000000000" pitchFamily="2" charset="2"/>
              </a:rPr>
              <a:t>Presentation at the end of the course</a:t>
            </a:r>
            <a:endParaRPr lang="en-GB" dirty="0"/>
          </a:p>
          <a:p>
            <a:pPr lvl="1"/>
            <a:r>
              <a:rPr lang="en-GB" dirty="0"/>
              <a:t>Final exam (35%)</a:t>
            </a:r>
          </a:p>
          <a:p>
            <a:pPr lvl="2"/>
            <a:r>
              <a:rPr lang="en-GB" dirty="0"/>
              <a:t>A reduced set of notes allowed (few pages on paper)</a:t>
            </a:r>
          </a:p>
          <a:p>
            <a:pPr lvl="1"/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58FA5F-8C7E-4FFB-8677-F03DDD453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CDBAC-D55B-4B1E-9E87-97F48E7D7DEB}" type="slidenum">
              <a:rPr lang="en-US" smtClean="0"/>
              <a:t>3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58D0D-205B-DA05-18C5-2E25ED4DC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84A7C7-E4C1-C19A-B5A8-A4ADFC657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</p:spTree>
    <p:extLst>
      <p:ext uri="{BB962C8B-B14F-4D97-AF65-F5344CB8AC3E}">
        <p14:creationId xmlns:p14="http://schemas.microsoft.com/office/powerpoint/2010/main" val="3998178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0327"/>
            <a:ext cx="7886700" cy="672104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Projects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873760"/>
            <a:ext cx="7886700" cy="5669280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Graph drawing</a:t>
            </a:r>
          </a:p>
          <a:p>
            <a:endParaRPr lang="en-GB" dirty="0"/>
          </a:p>
          <a:p>
            <a:r>
              <a:rPr lang="en-GB" dirty="0"/>
              <a:t>Floorplanning</a:t>
            </a:r>
          </a:p>
          <a:p>
            <a:endParaRPr lang="en-GB" dirty="0"/>
          </a:p>
          <a:p>
            <a:r>
              <a:rPr lang="en-GB" dirty="0"/>
              <a:t>Cell placement</a:t>
            </a:r>
          </a:p>
          <a:p>
            <a:pPr lvl="1"/>
            <a:r>
              <a:rPr lang="en-GB" dirty="0"/>
              <a:t>Global placement</a:t>
            </a:r>
          </a:p>
          <a:p>
            <a:pPr lvl="1"/>
            <a:r>
              <a:rPr lang="en-GB" dirty="0"/>
              <a:t>Detailed placement</a:t>
            </a:r>
          </a:p>
          <a:p>
            <a:endParaRPr lang="en-GB" dirty="0"/>
          </a:p>
          <a:p>
            <a:r>
              <a:rPr lang="en-GB" dirty="0"/>
              <a:t>Routing:</a:t>
            </a:r>
          </a:p>
          <a:p>
            <a:pPr lvl="1"/>
            <a:r>
              <a:rPr lang="en-GB" dirty="0"/>
              <a:t>Channel</a:t>
            </a:r>
          </a:p>
          <a:p>
            <a:pPr lvl="1"/>
            <a:r>
              <a:rPr lang="en-GB" dirty="0"/>
              <a:t>Global</a:t>
            </a:r>
          </a:p>
          <a:p>
            <a:pPr lvl="1"/>
            <a:r>
              <a:rPr lang="en-GB" dirty="0"/>
              <a:t>Detailed</a:t>
            </a:r>
          </a:p>
          <a:p>
            <a:endParaRPr lang="en-GB" dirty="0"/>
          </a:p>
          <a:p>
            <a:r>
              <a:rPr lang="en-GB" dirty="0"/>
              <a:t>Boolean minimization (Quine-</a:t>
            </a:r>
            <a:r>
              <a:rPr lang="en-GB" dirty="0" err="1"/>
              <a:t>McCluskey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Algebraic factorization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Any algorithmic challenge proposed by the students (to be discussed)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4E0AF7-8AEB-4812-A249-F6E873737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CDBAC-D55B-4B1E-9E87-97F48E7D7DEB}" type="slidenum">
              <a:rPr lang="en-US" smtClean="0"/>
              <a:t>4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E60F9-59F9-F890-051A-DCAFFD160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3B61A-5674-CF13-886A-3516B20B1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</p:spTree>
    <p:extLst>
      <p:ext uri="{BB962C8B-B14F-4D97-AF65-F5344CB8AC3E}">
        <p14:creationId xmlns:p14="http://schemas.microsoft.com/office/powerpoint/2010/main" val="2325944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32F337-2F21-4383-A56D-DC6A9F517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CDBAC-D55B-4B1E-9E87-97F48E7D7DEB}" type="slidenum">
              <a:rPr lang="en-US" smtClean="0"/>
              <a:t>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00F829-5804-404E-AB9D-18AD56DCC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801"/>
            <a:ext cx="9144000" cy="59330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EAFF02-0766-4476-961B-F72A4ADE2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8607" y="96081"/>
            <a:ext cx="4353533" cy="80021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1E16E-9A50-726C-880A-C0D62D178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5F02BA-25AF-7A41-3AB8-7A0DB44B3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</p:spTree>
    <p:extLst>
      <p:ext uri="{BB962C8B-B14F-4D97-AF65-F5344CB8AC3E}">
        <p14:creationId xmlns:p14="http://schemas.microsoft.com/office/powerpoint/2010/main" val="1631715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3238FD-DCB8-454C-A304-1F1112DDE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CDBAC-D55B-4B1E-9E87-97F48E7D7DEB}" type="slidenum">
              <a:rPr lang="en-US" smtClean="0"/>
              <a:t>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7C7BEE-7302-435E-B228-555137147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4773"/>
            <a:ext cx="9144000" cy="476845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50023-15DF-27C9-EEE8-772D9E59A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D8872-8BA0-EA92-EE6C-29C7A1A24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</p:spTree>
    <p:extLst>
      <p:ext uri="{BB962C8B-B14F-4D97-AF65-F5344CB8AC3E}">
        <p14:creationId xmlns:p14="http://schemas.microsoft.com/office/powerpoint/2010/main" val="1562786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1085F7-5DDC-4FF5-99F5-89CC18894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CDBAC-D55B-4B1E-9E87-97F48E7D7DEB}" type="slidenum">
              <a:rPr lang="en-US" smtClean="0"/>
              <a:t>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6363F3-AC53-4A3E-8E23-625B7425A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5875"/>
            <a:ext cx="9144000" cy="42862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6E640-A6AC-1C66-F6AC-9CEADE164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B55D7-1B9E-8A89-DB9D-9A1CF1206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</p:spTree>
    <p:extLst>
      <p:ext uri="{BB962C8B-B14F-4D97-AF65-F5344CB8AC3E}">
        <p14:creationId xmlns:p14="http://schemas.microsoft.com/office/powerpoint/2010/main" val="3286224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ECAC75-29D2-4B42-8F47-DCFEDAF9E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CDBAC-D55B-4B1E-9E87-97F48E7D7DEB}" type="slidenum">
              <a:rPr lang="en-US" smtClean="0"/>
              <a:t>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9DB819-2E44-40B8-8422-8E3687DF6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6578"/>
            <a:ext cx="9144000" cy="446484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CCEC3-1BD6-25B2-6C1B-9E93860C0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0A5F6-1248-B002-0410-03ED9879C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</p:spTree>
    <p:extLst>
      <p:ext uri="{BB962C8B-B14F-4D97-AF65-F5344CB8AC3E}">
        <p14:creationId xmlns:p14="http://schemas.microsoft.com/office/powerpoint/2010/main" val="24566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5A6E26-AE07-4D68-BAA8-410175EE5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CDBAC-D55B-4B1E-9E87-97F48E7D7DEB}" type="slidenum">
              <a:rPr lang="en-US" smtClean="0"/>
              <a:t>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B0155F-DF96-45F2-A8D2-B4EC59E64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90600"/>
            <a:ext cx="7315200" cy="48768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E766F-1978-3E9A-1675-7D91664F8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18469-B60B-8547-68E6-856774829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</p:spTree>
    <p:extLst>
      <p:ext uri="{BB962C8B-B14F-4D97-AF65-F5344CB8AC3E}">
        <p14:creationId xmlns:p14="http://schemas.microsoft.com/office/powerpoint/2010/main" val="1397539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7EB625-FDD2-4D7B-9DA4-FCE254C96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CDBAC-D55B-4B1E-9E87-97F48E7D7DEB}" type="slidenum">
              <a:rPr lang="en-US" smtClean="0"/>
              <a:t>10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FC28B0-2F05-411C-AAAA-F0C86C780A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75" y="104877"/>
            <a:ext cx="3292679" cy="20007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A8F8BB-1203-479A-A031-D3AF9292FF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39725"/>
            <a:ext cx="9144000" cy="46182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865716-1CDA-4357-A26F-77AB55498F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637" y="41958"/>
            <a:ext cx="3980888" cy="212659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BD4705-C15C-4D66-B59A-522C854FD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915A2-93A9-418D-A2B1-559504E98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</p:spTree>
    <p:extLst>
      <p:ext uri="{BB962C8B-B14F-4D97-AF65-F5344CB8AC3E}">
        <p14:creationId xmlns:p14="http://schemas.microsoft.com/office/powerpoint/2010/main" val="497359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003A5-96EA-43F4-8725-2BD983961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ca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6C61-66EE-440E-9CA1-64D6BBF66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724400"/>
          </a:xfrm>
        </p:spPr>
        <p:txBody>
          <a:bodyPr/>
          <a:lstStyle/>
          <a:p>
            <a:r>
              <a:rPr lang="en-US" dirty="0"/>
              <a:t>How transistors are built and work</a:t>
            </a:r>
          </a:p>
          <a:p>
            <a:endParaRPr lang="en-US" dirty="0"/>
          </a:p>
          <a:p>
            <a:r>
              <a:rPr lang="en-US" dirty="0"/>
              <a:t>How logic circuits are designed</a:t>
            </a:r>
          </a:p>
          <a:p>
            <a:endParaRPr lang="en-US" dirty="0"/>
          </a:p>
          <a:p>
            <a:r>
              <a:rPr lang="en-US" dirty="0"/>
              <a:t>How masks are generated for photolithographic processes</a:t>
            </a:r>
            <a:endParaRPr lang="ca-E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1385A-D92C-40EB-B84B-CE179162D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FB5C5-8881-45C7-B6A7-197AF2C2E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22760-AE91-4284-B6E6-F99B48E3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148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98256-C2DB-4B36-BCFB-8C348C95A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Crystalline silicon</a:t>
            </a:r>
            <a:endParaRPr lang="ca-E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A64526-33B3-467C-BCB0-EE3D0D580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735A17-5D54-40F2-890E-65285F981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6D507-F0F5-4238-A870-7A5916531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2C814B-5F69-4459-93B9-920945A8A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81125"/>
            <a:ext cx="4114800" cy="41052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2B92CE-AC72-4F81-B689-A6A92FAC9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035" y="1371600"/>
            <a:ext cx="4300765" cy="4105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90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75F7F-0EDB-4B46-9FBA-89016F82B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Silicon and Phosphorus: similar size</a:t>
            </a:r>
            <a:endParaRPr lang="ca-E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AE2014-2E5A-4AC7-8A9F-D3554DED8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F6C91C-29EC-4249-B7C1-D3E1C3D76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65CA30-5B86-4DF6-93E0-3367DB937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700B07-0AEA-4F10-83C8-41E1C8259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144000" cy="44805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3161C2-3FF0-49AB-A939-BB09D05EC8F5}"/>
              </a:ext>
            </a:extLst>
          </p:cNvPr>
          <p:cNvSpPr txBox="1"/>
          <p:nvPr/>
        </p:nvSpPr>
        <p:spPr>
          <a:xfrm>
            <a:off x="2057400" y="5438894"/>
            <a:ext cx="1566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 electrons</a:t>
            </a:r>
            <a:endParaRPr lang="ca-E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702535-B5B4-4ADB-A25A-C776FCBA782A}"/>
              </a:ext>
            </a:extLst>
          </p:cNvPr>
          <p:cNvSpPr txBox="1"/>
          <p:nvPr/>
        </p:nvSpPr>
        <p:spPr>
          <a:xfrm>
            <a:off x="5977474" y="5453360"/>
            <a:ext cx="1566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 electrons</a:t>
            </a:r>
            <a:endParaRPr lang="ca-ES" sz="2400" dirty="0"/>
          </a:p>
        </p:txBody>
      </p:sp>
    </p:spTree>
    <p:extLst>
      <p:ext uri="{BB962C8B-B14F-4D97-AF65-F5344CB8AC3E}">
        <p14:creationId xmlns:p14="http://schemas.microsoft.com/office/powerpoint/2010/main" val="2940830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C0B05-8068-44C1-AF0C-0EEA6DE75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Doped silicon: Phosphorus and Boron</a:t>
            </a:r>
            <a:endParaRPr lang="ca-E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89BA52-868D-4249-8E05-A83F236F0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DFCD0-0B71-417F-8A81-85582AA20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5C39A-8919-455B-8F9D-CE37B937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9C0627-74E2-471D-AF4F-A73BD4C00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682" y="1883569"/>
            <a:ext cx="4126718" cy="30908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B32582-91AD-4347-94F9-5212AB9257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883569"/>
            <a:ext cx="4126718" cy="309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841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64ED245-5B75-4443-8B33-3626F8403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Doped silicon</a:t>
            </a:r>
            <a:endParaRPr lang="ca-E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E162A8-10B6-46B7-BEF7-3FE6BBBBF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EFE6E6-5726-426D-B0D3-A0589BB1F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11D70-A447-4AD1-B0BE-C84858F3D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  <p:pic>
        <p:nvPicPr>
          <p:cNvPr id="1026" name="Picture 2" descr="Phosphorus Valence Electrons Atom">
            <a:extLst>
              <a:ext uri="{FF2B5EF4-FFF2-40B4-BE49-F238E27FC236}">
                <a16:creationId xmlns:a16="http://schemas.microsoft.com/office/drawing/2014/main" id="{3E9E5C7C-FABA-4E45-9BDE-43103DDE6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896203"/>
            <a:ext cx="6248400" cy="5532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1899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6" descr="Image result for transistor layout 3d">
            <a:extLst>
              <a:ext uri="{FF2B5EF4-FFF2-40B4-BE49-F238E27FC236}">
                <a16:creationId xmlns:a16="http://schemas.microsoft.com/office/drawing/2014/main" id="{62EF5AE8-6922-4415-9698-D3BEFCA205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732"/>
          <a:stretch/>
        </p:blipFill>
        <p:spPr bwMode="auto">
          <a:xfrm>
            <a:off x="339769" y="990600"/>
            <a:ext cx="8509945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F1E4EC-A85F-4135-9EAB-400E476D7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n-type transistor</a:t>
            </a:r>
            <a:endParaRPr lang="ca-E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B65FCB-328E-41A4-BD1D-3D0E13B92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8DBB7-7A62-4124-B426-8AEACD37B99E}" type="slidenum">
              <a:rPr lang="es-ES" smtClean="0"/>
              <a:pPr/>
              <a:t>16</a:t>
            </a:fld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33BA7-85EF-4F3E-8771-ACBB81229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EB945-B50B-4F31-8030-B0AB616DB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</p:spTree>
    <p:extLst>
      <p:ext uri="{BB962C8B-B14F-4D97-AF65-F5344CB8AC3E}">
        <p14:creationId xmlns:p14="http://schemas.microsoft.com/office/powerpoint/2010/main" val="35719765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6A9171-0D1E-485D-8D49-D0CD8AB8C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CDBAC-D55B-4B1E-9E87-97F48E7D7DEB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49DDF1-80FB-4AD7-A08C-C61A901B97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500187"/>
            <a:ext cx="6858000" cy="385762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6B1DAB-401B-43D0-9910-D28B37151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964324-1D02-4AF8-A7B8-D1AAB68C9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6D0DC1-0215-4F88-A547-2608FD6D5757}"/>
              </a:ext>
            </a:extLst>
          </p:cNvPr>
          <p:cNvSpPr txBox="1"/>
          <p:nvPr/>
        </p:nvSpPr>
        <p:spPr>
          <a:xfrm>
            <a:off x="1066800" y="5556011"/>
            <a:ext cx="4278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be patient and wait for the animation</a:t>
            </a:r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2663486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DD0899-4A54-48EA-B146-EF7AA0A58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CDBAC-D55B-4B1E-9E87-97F48E7D7DEB}" type="slidenum">
              <a:rPr lang="en-US" smtClean="0"/>
              <a:t>18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E48DD8-72AB-430C-A97F-D8D7CB8367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54" y="704675"/>
            <a:ext cx="7907396" cy="543442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523767-6BD4-4410-A0DA-3FC4546FD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34D9D-333E-418E-A413-4CE745A73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</p:spTree>
    <p:extLst>
      <p:ext uri="{BB962C8B-B14F-4D97-AF65-F5344CB8AC3E}">
        <p14:creationId xmlns:p14="http://schemas.microsoft.com/office/powerpoint/2010/main" val="2451045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980FB-799E-41B0-855A-744057B66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Transistor as a switch</a:t>
            </a:r>
            <a:endParaRPr lang="ca-E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53D017-CB35-4EC6-8463-55E48C22D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D0CBDC-294E-4BE2-A888-8B7C6DA0A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8683DED-D987-4B24-B533-651D2FFD3961}"/>
              </a:ext>
            </a:extLst>
          </p:cNvPr>
          <p:cNvGrpSpPr/>
          <p:nvPr/>
        </p:nvGrpSpPr>
        <p:grpSpPr>
          <a:xfrm>
            <a:off x="1828800" y="1752600"/>
            <a:ext cx="1263596" cy="762000"/>
            <a:chOff x="893857" y="2590800"/>
            <a:chExt cx="1263596" cy="762000"/>
          </a:xfrm>
        </p:grpSpPr>
        <p:cxnSp>
          <p:nvCxnSpPr>
            <p:cNvPr id="7" name="Connector: Elbow 6">
              <a:extLst>
                <a:ext uri="{FF2B5EF4-FFF2-40B4-BE49-F238E27FC236}">
                  <a16:creationId xmlns:a16="http://schemas.microsoft.com/office/drawing/2014/main" id="{03B3E17E-F5A7-43AF-AD41-120547444ACE}"/>
                </a:ext>
              </a:extLst>
            </p:cNvPr>
            <p:cNvCxnSpPr/>
            <p:nvPr/>
          </p:nvCxnSpPr>
          <p:spPr>
            <a:xfrm flipV="1">
              <a:off x="893857" y="3048000"/>
              <a:ext cx="685800" cy="30480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30A78557-36C1-4505-A42B-08B3EFAEB6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71653" y="3048000"/>
              <a:ext cx="685800" cy="304800"/>
            </a:xfrm>
            <a:prstGeom prst="bent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88A4369-8968-4EEC-A34A-516606BDE622}"/>
                </a:ext>
              </a:extLst>
            </p:cNvPr>
            <p:cNvCxnSpPr>
              <a:cxnSpLocks/>
            </p:cNvCxnSpPr>
            <p:nvPr/>
          </p:nvCxnSpPr>
          <p:spPr>
            <a:xfrm>
              <a:off x="1219200" y="2971800"/>
              <a:ext cx="6096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FCB1A7F-42E0-4493-8A56-FC8BBAB304EF}"/>
                </a:ext>
              </a:extLst>
            </p:cNvPr>
            <p:cNvCxnSpPr>
              <a:cxnSpLocks/>
            </p:cNvCxnSpPr>
            <p:nvPr/>
          </p:nvCxnSpPr>
          <p:spPr>
            <a:xfrm>
              <a:off x="1524000" y="2590800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5CF113F-6A3E-4348-962B-D93B5AE13F8E}"/>
              </a:ext>
            </a:extLst>
          </p:cNvPr>
          <p:cNvGrpSpPr/>
          <p:nvPr/>
        </p:nvGrpSpPr>
        <p:grpSpPr>
          <a:xfrm>
            <a:off x="6248400" y="1752600"/>
            <a:ext cx="1263596" cy="762000"/>
            <a:chOff x="2927404" y="2590800"/>
            <a:chExt cx="1263596" cy="76200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EE92426-1964-4F25-BFFF-DA300B5ED79B}"/>
                </a:ext>
              </a:extLst>
            </p:cNvPr>
            <p:cNvGrpSpPr/>
            <p:nvPr/>
          </p:nvGrpSpPr>
          <p:grpSpPr>
            <a:xfrm>
              <a:off x="2927404" y="2590800"/>
              <a:ext cx="1263596" cy="762000"/>
              <a:chOff x="893857" y="2590800"/>
              <a:chExt cx="1263596" cy="762000"/>
            </a:xfrm>
          </p:grpSpPr>
          <p:cxnSp>
            <p:nvCxnSpPr>
              <p:cNvPr id="17" name="Connector: Elbow 16">
                <a:extLst>
                  <a:ext uri="{FF2B5EF4-FFF2-40B4-BE49-F238E27FC236}">
                    <a16:creationId xmlns:a16="http://schemas.microsoft.com/office/drawing/2014/main" id="{1B538921-EAB3-4354-AF53-EB72AC9BA364}"/>
                  </a:ext>
                </a:extLst>
              </p:cNvPr>
              <p:cNvCxnSpPr/>
              <p:nvPr/>
            </p:nvCxnSpPr>
            <p:spPr>
              <a:xfrm flipV="1">
                <a:off x="893857" y="3048000"/>
                <a:ext cx="685800" cy="304800"/>
              </a:xfrm>
              <a:prstGeom prst="bentConnector3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ctor: Elbow 17">
                <a:extLst>
                  <a:ext uri="{FF2B5EF4-FFF2-40B4-BE49-F238E27FC236}">
                    <a16:creationId xmlns:a16="http://schemas.microsoft.com/office/drawing/2014/main" id="{B1818018-1C50-414A-9A07-0C6C53D692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471653" y="3048000"/>
                <a:ext cx="685800" cy="304800"/>
              </a:xfrm>
              <a:prstGeom prst="bentConnector3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D1E2421B-5055-4849-8256-75F913B153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9200" y="2971800"/>
                <a:ext cx="6096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8143607E-4601-4E60-9C82-A4CA2E5580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000" y="2590800"/>
                <a:ext cx="0" cy="3810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27AD559-10CA-4EEB-AADF-4B956E1B9D79}"/>
                </a:ext>
              </a:extLst>
            </p:cNvPr>
            <p:cNvSpPr/>
            <p:nvPr/>
          </p:nvSpPr>
          <p:spPr>
            <a:xfrm>
              <a:off x="3481347" y="2819400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4C1F6C6-E105-4E23-9740-62A142E2AFAD}"/>
              </a:ext>
            </a:extLst>
          </p:cNvPr>
          <p:cNvGrpSpPr/>
          <p:nvPr/>
        </p:nvGrpSpPr>
        <p:grpSpPr>
          <a:xfrm>
            <a:off x="609600" y="3545362"/>
            <a:ext cx="3657600" cy="834482"/>
            <a:chOff x="609600" y="3545362"/>
            <a:chExt cx="3657600" cy="834482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D8FA02B-B1A4-4803-8C4C-7098351B29F1}"/>
                </a:ext>
              </a:extLst>
            </p:cNvPr>
            <p:cNvCxnSpPr/>
            <p:nvPr/>
          </p:nvCxnSpPr>
          <p:spPr>
            <a:xfrm>
              <a:off x="609600" y="4343400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01D4016-2BAE-4404-9A8E-BACE88BC4425}"/>
                </a:ext>
              </a:extLst>
            </p:cNvPr>
            <p:cNvCxnSpPr/>
            <p:nvPr/>
          </p:nvCxnSpPr>
          <p:spPr>
            <a:xfrm>
              <a:off x="1676400" y="4343400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9C4C5A9-F8CF-4A1F-BC1A-97A30CB5F37A}"/>
                </a:ext>
              </a:extLst>
            </p:cNvPr>
            <p:cNvSpPr/>
            <p:nvPr/>
          </p:nvSpPr>
          <p:spPr>
            <a:xfrm>
              <a:off x="1620744" y="4303645"/>
              <a:ext cx="76199" cy="7619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7C60E1F-73E5-4A6A-A694-D5FE7BCF92BC}"/>
                </a:ext>
              </a:extLst>
            </p:cNvPr>
            <p:cNvSpPr/>
            <p:nvPr/>
          </p:nvSpPr>
          <p:spPr>
            <a:xfrm>
              <a:off x="1066801" y="4299004"/>
              <a:ext cx="76199" cy="7619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8AE06C2-6735-444E-970B-C721FC1A90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4506" y="4038600"/>
              <a:ext cx="457200" cy="304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0296AE5-BEF3-4E73-95C2-464700B38750}"/>
                </a:ext>
              </a:extLst>
            </p:cNvPr>
            <p:cNvCxnSpPr/>
            <p:nvPr/>
          </p:nvCxnSpPr>
          <p:spPr>
            <a:xfrm>
              <a:off x="2743200" y="4343400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126186A-5A78-472D-87E5-6A7ED11A59FB}"/>
                </a:ext>
              </a:extLst>
            </p:cNvPr>
            <p:cNvCxnSpPr/>
            <p:nvPr/>
          </p:nvCxnSpPr>
          <p:spPr>
            <a:xfrm>
              <a:off x="3810000" y="4343400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2D6B02A9-F543-4E84-9FE8-E41A73A893AD}"/>
                </a:ext>
              </a:extLst>
            </p:cNvPr>
            <p:cNvSpPr/>
            <p:nvPr/>
          </p:nvSpPr>
          <p:spPr>
            <a:xfrm>
              <a:off x="3754344" y="4303645"/>
              <a:ext cx="76199" cy="7619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B18B771-FA6E-49AB-8E63-D1F51B4AE5C1}"/>
                </a:ext>
              </a:extLst>
            </p:cNvPr>
            <p:cNvSpPr/>
            <p:nvPr/>
          </p:nvSpPr>
          <p:spPr>
            <a:xfrm>
              <a:off x="3200401" y="4299004"/>
              <a:ext cx="76199" cy="7619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C0058DB-DDAD-4818-82F5-2E87B9454434}"/>
                </a:ext>
              </a:extLst>
            </p:cNvPr>
            <p:cNvCxnSpPr>
              <a:cxnSpLocks/>
              <a:endCxn id="33" idx="6"/>
            </p:cNvCxnSpPr>
            <p:nvPr/>
          </p:nvCxnSpPr>
          <p:spPr>
            <a:xfrm flipV="1">
              <a:off x="3248106" y="4341745"/>
              <a:ext cx="582437" cy="165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11B334B-D9E5-4D32-B6D3-C757EAEDF8F7}"/>
                </a:ext>
              </a:extLst>
            </p:cNvPr>
            <p:cNvSpPr txBox="1"/>
            <p:nvPr/>
          </p:nvSpPr>
          <p:spPr>
            <a:xfrm>
              <a:off x="1222314" y="35519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  <a:endParaRPr lang="ca-ES" dirty="0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3C34E64-FC03-491C-8783-42D0BFA20A64}"/>
                </a:ext>
              </a:extLst>
            </p:cNvPr>
            <p:cNvCxnSpPr>
              <a:cxnSpLocks/>
            </p:cNvCxnSpPr>
            <p:nvPr/>
          </p:nvCxnSpPr>
          <p:spPr>
            <a:xfrm>
              <a:off x="3539324" y="3854396"/>
              <a:ext cx="0" cy="48900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45313CB-E0D9-48E3-BF9F-32688882B2D4}"/>
                </a:ext>
              </a:extLst>
            </p:cNvPr>
            <p:cNvCxnSpPr>
              <a:cxnSpLocks/>
            </p:cNvCxnSpPr>
            <p:nvPr/>
          </p:nvCxnSpPr>
          <p:spPr>
            <a:xfrm>
              <a:off x="1371600" y="3854396"/>
              <a:ext cx="0" cy="31606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1574ADC-985E-409B-944A-3DF1E44B63BA}"/>
                </a:ext>
              </a:extLst>
            </p:cNvPr>
            <p:cNvSpPr txBox="1"/>
            <p:nvPr/>
          </p:nvSpPr>
          <p:spPr>
            <a:xfrm>
              <a:off x="3392359" y="354536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  <a:endParaRPr lang="ca-ES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2CA65E9-992E-4583-AF32-427AFD5B7576}"/>
              </a:ext>
            </a:extLst>
          </p:cNvPr>
          <p:cNvGrpSpPr/>
          <p:nvPr/>
        </p:nvGrpSpPr>
        <p:grpSpPr>
          <a:xfrm>
            <a:off x="1514162" y="1415534"/>
            <a:ext cx="1892976" cy="1284194"/>
            <a:chOff x="1514162" y="1415534"/>
            <a:chExt cx="1892976" cy="1284194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DF63EF3-6E5B-4CBB-B5D5-A436A0A500E0}"/>
                </a:ext>
              </a:extLst>
            </p:cNvPr>
            <p:cNvSpPr txBox="1"/>
            <p:nvPr/>
          </p:nvSpPr>
          <p:spPr>
            <a:xfrm>
              <a:off x="2293673" y="1415534"/>
              <a:ext cx="3305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</a:t>
              </a:r>
              <a:endParaRPr lang="ca-ES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E8E85A4-BC59-455D-8A09-D71A1276FA99}"/>
                </a:ext>
              </a:extLst>
            </p:cNvPr>
            <p:cNvSpPr txBox="1"/>
            <p:nvPr/>
          </p:nvSpPr>
          <p:spPr>
            <a:xfrm>
              <a:off x="1514162" y="2329106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</a:t>
              </a:r>
              <a:endParaRPr lang="ca-ES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F6027F2-F3DE-41C9-8DDC-05341D5824AD}"/>
                </a:ext>
              </a:extLst>
            </p:cNvPr>
            <p:cNvSpPr txBox="1"/>
            <p:nvPr/>
          </p:nvSpPr>
          <p:spPr>
            <a:xfrm>
              <a:off x="3079804" y="2330396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  <a:endParaRPr lang="ca-ES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F036BAF-1ADE-4FBE-ABC2-1F87EDA79505}"/>
              </a:ext>
            </a:extLst>
          </p:cNvPr>
          <p:cNvGrpSpPr/>
          <p:nvPr/>
        </p:nvGrpSpPr>
        <p:grpSpPr>
          <a:xfrm>
            <a:off x="5959502" y="1419306"/>
            <a:ext cx="1892976" cy="1284194"/>
            <a:chOff x="1514162" y="1415534"/>
            <a:chExt cx="1892976" cy="128419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FC04D3A-69DB-4885-ABA4-8253DBCD5167}"/>
                </a:ext>
              </a:extLst>
            </p:cNvPr>
            <p:cNvSpPr txBox="1"/>
            <p:nvPr/>
          </p:nvSpPr>
          <p:spPr>
            <a:xfrm>
              <a:off x="2293673" y="1415534"/>
              <a:ext cx="3305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</a:t>
              </a:r>
              <a:endParaRPr lang="ca-ES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2C50159-6C0D-434F-B123-81D88EB36A9E}"/>
                </a:ext>
              </a:extLst>
            </p:cNvPr>
            <p:cNvSpPr txBox="1"/>
            <p:nvPr/>
          </p:nvSpPr>
          <p:spPr>
            <a:xfrm>
              <a:off x="1514162" y="2329106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</a:t>
              </a:r>
              <a:endParaRPr lang="ca-ES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FAE43A9-0736-4A12-93F2-16874E0FE1DF}"/>
                </a:ext>
              </a:extLst>
            </p:cNvPr>
            <p:cNvSpPr txBox="1"/>
            <p:nvPr/>
          </p:nvSpPr>
          <p:spPr>
            <a:xfrm>
              <a:off x="3079804" y="2330396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  <a:endParaRPr lang="ca-ES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7870ECF-4A03-45DA-802D-B145220E6CDA}"/>
              </a:ext>
            </a:extLst>
          </p:cNvPr>
          <p:cNvGrpSpPr/>
          <p:nvPr/>
        </p:nvGrpSpPr>
        <p:grpSpPr>
          <a:xfrm>
            <a:off x="5029200" y="3545363"/>
            <a:ext cx="3657600" cy="834482"/>
            <a:chOff x="5029200" y="3545363"/>
            <a:chExt cx="3657600" cy="834482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CC9E303-A488-428F-BA70-62185804BC26}"/>
                </a:ext>
              </a:extLst>
            </p:cNvPr>
            <p:cNvCxnSpPr/>
            <p:nvPr/>
          </p:nvCxnSpPr>
          <p:spPr>
            <a:xfrm>
              <a:off x="5029200" y="4343401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693D046-EA59-40BB-89FB-E74FE1AC744A}"/>
                </a:ext>
              </a:extLst>
            </p:cNvPr>
            <p:cNvCxnSpPr/>
            <p:nvPr/>
          </p:nvCxnSpPr>
          <p:spPr>
            <a:xfrm>
              <a:off x="6096000" y="4343401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DD109645-25E4-4BC2-879E-F58ADAA22DC7}"/>
                </a:ext>
              </a:extLst>
            </p:cNvPr>
            <p:cNvSpPr/>
            <p:nvPr/>
          </p:nvSpPr>
          <p:spPr>
            <a:xfrm>
              <a:off x="6040344" y="4303646"/>
              <a:ext cx="76199" cy="7619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E3FE435-2DFA-47F8-B352-23749D5A3F8B}"/>
                </a:ext>
              </a:extLst>
            </p:cNvPr>
            <p:cNvSpPr/>
            <p:nvPr/>
          </p:nvSpPr>
          <p:spPr>
            <a:xfrm>
              <a:off x="5486401" y="4299005"/>
              <a:ext cx="76199" cy="7619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EAADB9C-D909-4BD1-9088-A532EA643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34106" y="4038601"/>
              <a:ext cx="457200" cy="304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973D8A4-ECB0-420C-A7D2-04339C636624}"/>
                </a:ext>
              </a:extLst>
            </p:cNvPr>
            <p:cNvCxnSpPr/>
            <p:nvPr/>
          </p:nvCxnSpPr>
          <p:spPr>
            <a:xfrm>
              <a:off x="7162800" y="4343401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54AC9BC-81CB-4C30-BFDB-A57AF8669345}"/>
                </a:ext>
              </a:extLst>
            </p:cNvPr>
            <p:cNvCxnSpPr/>
            <p:nvPr/>
          </p:nvCxnSpPr>
          <p:spPr>
            <a:xfrm>
              <a:off x="8229600" y="4343401"/>
              <a:ext cx="4572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B8F1841-D5E8-4E41-B0E8-A0DB7D9940AC}"/>
                </a:ext>
              </a:extLst>
            </p:cNvPr>
            <p:cNvSpPr/>
            <p:nvPr/>
          </p:nvSpPr>
          <p:spPr>
            <a:xfrm>
              <a:off x="8173944" y="4303646"/>
              <a:ext cx="76199" cy="7619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602F5865-1467-4DAD-9043-DF32D6B0EECB}"/>
                </a:ext>
              </a:extLst>
            </p:cNvPr>
            <p:cNvSpPr/>
            <p:nvPr/>
          </p:nvSpPr>
          <p:spPr>
            <a:xfrm>
              <a:off x="7620001" y="4299005"/>
              <a:ext cx="76199" cy="7619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45E63FD-1B80-4CBE-8926-345D45171B0C}"/>
                </a:ext>
              </a:extLst>
            </p:cNvPr>
            <p:cNvCxnSpPr>
              <a:cxnSpLocks/>
              <a:endCxn id="59" idx="6"/>
            </p:cNvCxnSpPr>
            <p:nvPr/>
          </p:nvCxnSpPr>
          <p:spPr>
            <a:xfrm flipV="1">
              <a:off x="7667706" y="4341746"/>
              <a:ext cx="582437" cy="165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12E18D5-052A-4688-AE40-0E72BA894928}"/>
                </a:ext>
              </a:extLst>
            </p:cNvPr>
            <p:cNvSpPr txBox="1"/>
            <p:nvPr/>
          </p:nvSpPr>
          <p:spPr>
            <a:xfrm>
              <a:off x="5641914" y="355198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  <a:endParaRPr lang="ca-E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3483166F-163B-43B9-AA78-49AD4A57931A}"/>
                </a:ext>
              </a:extLst>
            </p:cNvPr>
            <p:cNvCxnSpPr>
              <a:cxnSpLocks/>
            </p:cNvCxnSpPr>
            <p:nvPr/>
          </p:nvCxnSpPr>
          <p:spPr>
            <a:xfrm>
              <a:off x="7958924" y="3854397"/>
              <a:ext cx="0" cy="48900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4882280F-DCEA-4B95-A940-3F3F7812DEE1}"/>
                </a:ext>
              </a:extLst>
            </p:cNvPr>
            <p:cNvCxnSpPr>
              <a:cxnSpLocks/>
            </p:cNvCxnSpPr>
            <p:nvPr/>
          </p:nvCxnSpPr>
          <p:spPr>
            <a:xfrm>
              <a:off x="5791200" y="3854397"/>
              <a:ext cx="0" cy="31606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3A53B9C-3AFC-43BE-9783-B6A0E9C4FA3D}"/>
                </a:ext>
              </a:extLst>
            </p:cNvPr>
            <p:cNvSpPr txBox="1"/>
            <p:nvPr/>
          </p:nvSpPr>
          <p:spPr>
            <a:xfrm>
              <a:off x="7811959" y="35453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  <a:endParaRPr lang="ca-ES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2D76587B-993A-4D01-A52E-47DCAF8D64C5}"/>
                </a:ext>
              </a:extLst>
            </p:cNvPr>
            <p:cNvSpPr/>
            <p:nvPr/>
          </p:nvSpPr>
          <p:spPr>
            <a:xfrm>
              <a:off x="5715000" y="4001492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CD9C8F59-12E2-447E-A602-E671067673A2}"/>
                </a:ext>
              </a:extLst>
            </p:cNvPr>
            <p:cNvSpPr/>
            <p:nvPr/>
          </p:nvSpPr>
          <p:spPr>
            <a:xfrm>
              <a:off x="7880404" y="4181718"/>
              <a:ext cx="152400" cy="152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DBDBD1D7-C407-42BF-B13C-0BBF1D25B14B}"/>
              </a:ext>
            </a:extLst>
          </p:cNvPr>
          <p:cNvSpPr txBox="1"/>
          <p:nvPr/>
        </p:nvSpPr>
        <p:spPr>
          <a:xfrm>
            <a:off x="2061237" y="2966921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n-type</a:t>
            </a:r>
            <a:endParaRPr lang="ca-E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0893C57-61CC-4866-B470-49F0907579D3}"/>
              </a:ext>
            </a:extLst>
          </p:cNvPr>
          <p:cNvSpPr txBox="1"/>
          <p:nvPr/>
        </p:nvSpPr>
        <p:spPr>
          <a:xfrm>
            <a:off x="6519789" y="2975517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p-type</a:t>
            </a:r>
            <a:endParaRPr lang="ca-ES" dirty="0"/>
          </a:p>
        </p:txBody>
      </p:sp>
      <p:sp>
        <p:nvSpPr>
          <p:cNvPr id="72" name="Footer Placeholder 71">
            <a:extLst>
              <a:ext uri="{FF2B5EF4-FFF2-40B4-BE49-F238E27FC236}">
                <a16:creationId xmlns:a16="http://schemas.microsoft.com/office/drawing/2014/main" id="{270C27BA-5AB6-418F-9253-EE086228C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</p:spTree>
    <p:extLst>
      <p:ext uri="{BB962C8B-B14F-4D97-AF65-F5344CB8AC3E}">
        <p14:creationId xmlns:p14="http://schemas.microsoft.com/office/powerpoint/2010/main" val="1452442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B21F54-0551-43E4-B940-D5AD9319C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CDBAC-D55B-4B1E-9E87-97F48E7D7DEB}" type="slidenum">
              <a:rPr lang="en-US" smtClean="0"/>
              <a:t>20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DE5933-7A11-4036-A642-AED2D864B3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375" y="1881187"/>
            <a:ext cx="6191250" cy="309562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71529A-B495-488C-8FEC-F962096B5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0734B-7489-4EB3-A175-FF11CFF46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</p:spTree>
    <p:extLst>
      <p:ext uri="{BB962C8B-B14F-4D97-AF65-F5344CB8AC3E}">
        <p14:creationId xmlns:p14="http://schemas.microsoft.com/office/powerpoint/2010/main" val="27092822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20E8A72-4E98-4F51-A9A5-983228679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inverter (NOT)</a:t>
            </a:r>
            <a:endParaRPr lang="ca-E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2B9C4D-C974-45DC-82D8-871521A86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8B3F45-BD6E-42DD-80BB-900DB7791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9B77F-06FE-4282-A2E4-12511B56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A85815-66C6-43A2-815A-6EBC16C7421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09701" y="650682"/>
            <a:ext cx="6019800" cy="3379115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504EEEE-CD21-4044-A41F-2F341F6FD05C}"/>
              </a:ext>
            </a:extLst>
          </p:cNvPr>
          <p:cNvCxnSpPr/>
          <p:nvPr/>
        </p:nvCxnSpPr>
        <p:spPr>
          <a:xfrm>
            <a:off x="2746515" y="4343400"/>
            <a:ext cx="0" cy="381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3390E9DD-01D8-49B3-B2E9-A409BB88A651}"/>
              </a:ext>
            </a:extLst>
          </p:cNvPr>
          <p:cNvSpPr/>
          <p:nvPr/>
        </p:nvSpPr>
        <p:spPr>
          <a:xfrm>
            <a:off x="2708415" y="4680479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E83418-6816-4788-BB0E-D215CD71D075}"/>
              </a:ext>
            </a:extLst>
          </p:cNvPr>
          <p:cNvSpPr txBox="1"/>
          <p:nvPr/>
        </p:nvSpPr>
        <p:spPr>
          <a:xfrm>
            <a:off x="2389343" y="3917319"/>
            <a:ext cx="860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Vdd</a:t>
            </a:r>
            <a:r>
              <a:rPr lang="en-US" dirty="0"/>
              <a:t> (1)</a:t>
            </a:r>
            <a:endParaRPr lang="ca-E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7149187-93FB-4233-B9AF-78D4645BA085}"/>
              </a:ext>
            </a:extLst>
          </p:cNvPr>
          <p:cNvSpPr/>
          <p:nvPr/>
        </p:nvSpPr>
        <p:spPr>
          <a:xfrm>
            <a:off x="2708415" y="4311596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0F1B9EE-0188-4DEF-8DAF-D6F21852FAE1}"/>
              </a:ext>
            </a:extLst>
          </p:cNvPr>
          <p:cNvCxnSpPr/>
          <p:nvPr/>
        </p:nvCxnSpPr>
        <p:spPr>
          <a:xfrm>
            <a:off x="2746515" y="4692121"/>
            <a:ext cx="0" cy="381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CEBCB7F3-B5CE-42C0-9C6E-EB2A49CF0299}"/>
              </a:ext>
            </a:extLst>
          </p:cNvPr>
          <p:cNvSpPr/>
          <p:nvPr/>
        </p:nvSpPr>
        <p:spPr>
          <a:xfrm>
            <a:off x="2708415" y="502920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0A78312-5266-49EA-9B88-C20FA5EA190E}"/>
              </a:ext>
            </a:extLst>
          </p:cNvPr>
          <p:cNvCxnSpPr/>
          <p:nvPr/>
        </p:nvCxnSpPr>
        <p:spPr>
          <a:xfrm>
            <a:off x="2746515" y="5040842"/>
            <a:ext cx="0" cy="381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0DBC8BED-B0F4-440B-8FB0-AD7418837138}"/>
              </a:ext>
            </a:extLst>
          </p:cNvPr>
          <p:cNvSpPr/>
          <p:nvPr/>
        </p:nvSpPr>
        <p:spPr>
          <a:xfrm>
            <a:off x="2708415" y="5377921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1DF0A53-C454-4522-B284-7397C7EAEFA7}"/>
              </a:ext>
            </a:extLst>
          </p:cNvPr>
          <p:cNvCxnSpPr>
            <a:cxnSpLocks/>
          </p:cNvCxnSpPr>
          <p:nvPr/>
        </p:nvCxnSpPr>
        <p:spPr>
          <a:xfrm flipH="1">
            <a:off x="2514600" y="5389563"/>
            <a:ext cx="231915" cy="3370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7CA5676D-C8FD-49C6-80E8-9927B8938E0C}"/>
              </a:ext>
            </a:extLst>
          </p:cNvPr>
          <p:cNvSpPr/>
          <p:nvPr/>
        </p:nvSpPr>
        <p:spPr>
          <a:xfrm>
            <a:off x="2708415" y="5726642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5621FEF-76C1-49CA-9881-533576B0DCEF}"/>
              </a:ext>
            </a:extLst>
          </p:cNvPr>
          <p:cNvCxnSpPr/>
          <p:nvPr/>
        </p:nvCxnSpPr>
        <p:spPr>
          <a:xfrm>
            <a:off x="2746515" y="5738284"/>
            <a:ext cx="0" cy="381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4256557F-3ABE-4D8D-AFEA-880A34009DCE}"/>
              </a:ext>
            </a:extLst>
          </p:cNvPr>
          <p:cNvSpPr/>
          <p:nvPr/>
        </p:nvSpPr>
        <p:spPr>
          <a:xfrm>
            <a:off x="2708415" y="6075363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1307D1-FF35-4FAC-9E7E-A5DE5CCC8F5B}"/>
              </a:ext>
            </a:extLst>
          </p:cNvPr>
          <p:cNvSpPr txBox="1"/>
          <p:nvPr/>
        </p:nvSpPr>
        <p:spPr>
          <a:xfrm>
            <a:off x="2370873" y="6140771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Gnd</a:t>
            </a:r>
            <a:r>
              <a:rPr lang="en-US" dirty="0"/>
              <a:t> (0)</a:t>
            </a:r>
            <a:endParaRPr lang="ca-E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A15146A-BDAE-47FD-AF9B-B0515D5ABE93}"/>
              </a:ext>
            </a:extLst>
          </p:cNvPr>
          <p:cNvSpPr>
            <a:spLocks noChangeAspect="1"/>
          </p:cNvSpPr>
          <p:nvPr/>
        </p:nvSpPr>
        <p:spPr>
          <a:xfrm>
            <a:off x="2630555" y="4829756"/>
            <a:ext cx="91440" cy="9144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E08E51C-1EDC-485D-8C3E-2053CCF7A2AE}"/>
              </a:ext>
            </a:extLst>
          </p:cNvPr>
          <p:cNvCxnSpPr/>
          <p:nvPr/>
        </p:nvCxnSpPr>
        <p:spPr>
          <a:xfrm flipH="1">
            <a:off x="2133600" y="5562600"/>
            <a:ext cx="49695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5E0BBD0E-137D-4EE5-B30C-15536BB42AF7}"/>
              </a:ext>
            </a:extLst>
          </p:cNvPr>
          <p:cNvCxnSpPr>
            <a:endCxn id="34" idx="2"/>
          </p:cNvCxnSpPr>
          <p:nvPr/>
        </p:nvCxnSpPr>
        <p:spPr>
          <a:xfrm rot="5400000" flipH="1" flipV="1">
            <a:off x="2038515" y="4970561"/>
            <a:ext cx="687124" cy="496955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D8F9201-A222-4863-BF78-BF6513A7A51B}"/>
              </a:ext>
            </a:extLst>
          </p:cNvPr>
          <p:cNvCxnSpPr/>
          <p:nvPr/>
        </p:nvCxnSpPr>
        <p:spPr>
          <a:xfrm flipH="1">
            <a:off x="1905000" y="5205359"/>
            <a:ext cx="22859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ACD240F-C18C-457F-BBC6-93D25F8EF499}"/>
              </a:ext>
            </a:extLst>
          </p:cNvPr>
          <p:cNvCxnSpPr>
            <a:cxnSpLocks/>
          </p:cNvCxnSpPr>
          <p:nvPr/>
        </p:nvCxnSpPr>
        <p:spPr>
          <a:xfrm flipV="1">
            <a:off x="2740035" y="5216906"/>
            <a:ext cx="491985" cy="21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C25C623C-D169-442D-8889-F2A0F023FFCB}"/>
              </a:ext>
            </a:extLst>
          </p:cNvPr>
          <p:cNvSpPr txBox="1"/>
          <p:nvPr/>
        </p:nvSpPr>
        <p:spPr>
          <a:xfrm>
            <a:off x="1650023" y="50215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ca-E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30259B9-6117-413D-8C46-6AE2A4F336BA}"/>
              </a:ext>
            </a:extLst>
          </p:cNvPr>
          <p:cNvSpPr txBox="1"/>
          <p:nvPr/>
        </p:nvSpPr>
        <p:spPr>
          <a:xfrm>
            <a:off x="3225538" y="50345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ca-ES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36BD8DD-9EE2-443F-B55D-C40E8C3D2580}"/>
              </a:ext>
            </a:extLst>
          </p:cNvPr>
          <p:cNvCxnSpPr/>
          <p:nvPr/>
        </p:nvCxnSpPr>
        <p:spPr>
          <a:xfrm>
            <a:off x="6354292" y="4345401"/>
            <a:ext cx="0" cy="381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2DE7BA3A-B6DD-4DFE-BB8E-7B446E31E8D9}"/>
              </a:ext>
            </a:extLst>
          </p:cNvPr>
          <p:cNvSpPr/>
          <p:nvPr/>
        </p:nvSpPr>
        <p:spPr>
          <a:xfrm>
            <a:off x="6316192" y="468248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213A5DD-FC4C-4073-A8B9-CD8BCD2F3C94}"/>
              </a:ext>
            </a:extLst>
          </p:cNvPr>
          <p:cNvSpPr txBox="1"/>
          <p:nvPr/>
        </p:nvSpPr>
        <p:spPr>
          <a:xfrm>
            <a:off x="5997120" y="3919320"/>
            <a:ext cx="860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Vdd</a:t>
            </a:r>
            <a:r>
              <a:rPr lang="en-US" dirty="0"/>
              <a:t> (1)</a:t>
            </a:r>
            <a:endParaRPr lang="ca-ES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F07712A-F46F-4739-909D-C418697F3186}"/>
              </a:ext>
            </a:extLst>
          </p:cNvPr>
          <p:cNvSpPr/>
          <p:nvPr/>
        </p:nvSpPr>
        <p:spPr>
          <a:xfrm>
            <a:off x="6316192" y="4313597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5E80019-C9E9-4124-8A5B-BBEF32A35F13}"/>
              </a:ext>
            </a:extLst>
          </p:cNvPr>
          <p:cNvCxnSpPr>
            <a:cxnSpLocks/>
          </p:cNvCxnSpPr>
          <p:nvPr/>
        </p:nvCxnSpPr>
        <p:spPr>
          <a:xfrm flipH="1">
            <a:off x="6111240" y="4694122"/>
            <a:ext cx="243052" cy="3274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135A8968-7537-4EEC-94D0-A5E1AEA93B84}"/>
              </a:ext>
            </a:extLst>
          </p:cNvPr>
          <p:cNvSpPr/>
          <p:nvPr/>
        </p:nvSpPr>
        <p:spPr>
          <a:xfrm>
            <a:off x="6316192" y="5031201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4FA1C8F-21BD-4E13-AB19-ED99C43D8B6D}"/>
              </a:ext>
            </a:extLst>
          </p:cNvPr>
          <p:cNvCxnSpPr/>
          <p:nvPr/>
        </p:nvCxnSpPr>
        <p:spPr>
          <a:xfrm>
            <a:off x="6354292" y="5042843"/>
            <a:ext cx="0" cy="381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EC52C333-0751-4AAC-8953-4D9C5A47DF5B}"/>
              </a:ext>
            </a:extLst>
          </p:cNvPr>
          <p:cNvSpPr/>
          <p:nvPr/>
        </p:nvSpPr>
        <p:spPr>
          <a:xfrm>
            <a:off x="6316192" y="5379922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F11B71C-951E-4416-8688-EFEFDA07BACE}"/>
              </a:ext>
            </a:extLst>
          </p:cNvPr>
          <p:cNvCxnSpPr>
            <a:cxnSpLocks/>
            <a:endCxn id="57" idx="0"/>
          </p:cNvCxnSpPr>
          <p:nvPr/>
        </p:nvCxnSpPr>
        <p:spPr>
          <a:xfrm flipH="1">
            <a:off x="6354292" y="5391564"/>
            <a:ext cx="2" cy="3370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A1703D08-F263-4A8D-8AAA-E82E32175A1C}"/>
              </a:ext>
            </a:extLst>
          </p:cNvPr>
          <p:cNvSpPr/>
          <p:nvPr/>
        </p:nvSpPr>
        <p:spPr>
          <a:xfrm>
            <a:off x="6316192" y="5728643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0070995-CF80-4FA1-B64B-CB038652C959}"/>
              </a:ext>
            </a:extLst>
          </p:cNvPr>
          <p:cNvCxnSpPr/>
          <p:nvPr/>
        </p:nvCxnSpPr>
        <p:spPr>
          <a:xfrm>
            <a:off x="6354292" y="5740285"/>
            <a:ext cx="0" cy="381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AA7F2535-F325-4FC1-9C14-41CF18F82166}"/>
              </a:ext>
            </a:extLst>
          </p:cNvPr>
          <p:cNvSpPr/>
          <p:nvPr/>
        </p:nvSpPr>
        <p:spPr>
          <a:xfrm>
            <a:off x="6316192" y="607736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7CA7CBC-019A-4D5A-B3FB-84AC4785BB46}"/>
              </a:ext>
            </a:extLst>
          </p:cNvPr>
          <p:cNvSpPr txBox="1"/>
          <p:nvPr/>
        </p:nvSpPr>
        <p:spPr>
          <a:xfrm>
            <a:off x="5978650" y="6142772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Gnd</a:t>
            </a:r>
            <a:r>
              <a:rPr lang="en-US" dirty="0"/>
              <a:t> (0)</a:t>
            </a:r>
            <a:endParaRPr lang="ca-ES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20971701-0684-4F02-8DCB-A9FCFA4FCB70}"/>
              </a:ext>
            </a:extLst>
          </p:cNvPr>
          <p:cNvSpPr>
            <a:spLocks noChangeAspect="1"/>
          </p:cNvSpPr>
          <p:nvPr/>
        </p:nvSpPr>
        <p:spPr>
          <a:xfrm>
            <a:off x="6102824" y="4831757"/>
            <a:ext cx="91440" cy="9144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27DD9D8-0EB9-4A0F-9B3D-6E19F74493CD}"/>
              </a:ext>
            </a:extLst>
          </p:cNvPr>
          <p:cNvCxnSpPr>
            <a:cxnSpLocks/>
          </p:cNvCxnSpPr>
          <p:nvPr/>
        </p:nvCxnSpPr>
        <p:spPr>
          <a:xfrm flipH="1">
            <a:off x="5741375" y="5586089"/>
            <a:ext cx="61291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E81352AF-A834-44B8-9941-110C0BBEF28F}"/>
              </a:ext>
            </a:extLst>
          </p:cNvPr>
          <p:cNvCxnSpPr>
            <a:cxnSpLocks/>
            <a:endCxn id="61" idx="2"/>
          </p:cNvCxnSpPr>
          <p:nvPr/>
        </p:nvCxnSpPr>
        <p:spPr>
          <a:xfrm rot="5400000" flipH="1" flipV="1">
            <a:off x="5571783" y="5053550"/>
            <a:ext cx="707113" cy="354969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B5A110D-50F5-4783-AF09-1AB4C39FBC3D}"/>
              </a:ext>
            </a:extLst>
          </p:cNvPr>
          <p:cNvCxnSpPr/>
          <p:nvPr/>
        </p:nvCxnSpPr>
        <p:spPr>
          <a:xfrm flipH="1">
            <a:off x="5512777" y="5207360"/>
            <a:ext cx="22859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5B1190D-B863-4517-9F33-8D0A1903F3AF}"/>
              </a:ext>
            </a:extLst>
          </p:cNvPr>
          <p:cNvCxnSpPr>
            <a:cxnSpLocks/>
          </p:cNvCxnSpPr>
          <p:nvPr/>
        </p:nvCxnSpPr>
        <p:spPr>
          <a:xfrm flipV="1">
            <a:off x="6347812" y="5218907"/>
            <a:ext cx="491985" cy="21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97176927-5DA9-4E28-BBCB-99F8723145D6}"/>
              </a:ext>
            </a:extLst>
          </p:cNvPr>
          <p:cNvSpPr txBox="1"/>
          <p:nvPr/>
        </p:nvSpPr>
        <p:spPr>
          <a:xfrm>
            <a:off x="5257800" y="50235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ca-E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F74D66C-400E-4E64-AE98-0877AA60958F}"/>
              </a:ext>
            </a:extLst>
          </p:cNvPr>
          <p:cNvSpPr txBox="1"/>
          <p:nvPr/>
        </p:nvSpPr>
        <p:spPr>
          <a:xfrm>
            <a:off x="6833315" y="50365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ca-ES" dirty="0"/>
          </a:p>
        </p:txBody>
      </p:sp>
      <p:sp>
        <p:nvSpPr>
          <p:cNvPr id="76" name="Arrow: Bent 75">
            <a:extLst>
              <a:ext uri="{FF2B5EF4-FFF2-40B4-BE49-F238E27FC236}">
                <a16:creationId xmlns:a16="http://schemas.microsoft.com/office/drawing/2014/main" id="{030F9B28-FE37-4D9E-B2ED-3A04D22D7C07}"/>
              </a:ext>
            </a:extLst>
          </p:cNvPr>
          <p:cNvSpPr/>
          <p:nvPr/>
        </p:nvSpPr>
        <p:spPr>
          <a:xfrm rot="16200000" flipH="1">
            <a:off x="6180040" y="5543295"/>
            <a:ext cx="868066" cy="335454"/>
          </a:xfrm>
          <a:prstGeom prst="bentArrow">
            <a:avLst>
              <a:gd name="adj1" fmla="val 11778"/>
              <a:gd name="adj2" fmla="val 19406"/>
              <a:gd name="adj3" fmla="val 21948"/>
              <a:gd name="adj4" fmla="val 43750"/>
            </a:avLst>
          </a:prstGeom>
          <a:solidFill>
            <a:srgbClr val="0099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>
              <a:solidFill>
                <a:schemeClr val="tx1"/>
              </a:solidFill>
            </a:endParaRPr>
          </a:p>
        </p:txBody>
      </p:sp>
      <p:sp>
        <p:nvSpPr>
          <p:cNvPr id="77" name="Arrow: Bent 76">
            <a:extLst>
              <a:ext uri="{FF2B5EF4-FFF2-40B4-BE49-F238E27FC236}">
                <a16:creationId xmlns:a16="http://schemas.microsoft.com/office/drawing/2014/main" id="{23873D24-B0EC-46B4-B192-881E051DB234}"/>
              </a:ext>
            </a:extLst>
          </p:cNvPr>
          <p:cNvSpPr/>
          <p:nvPr/>
        </p:nvSpPr>
        <p:spPr>
          <a:xfrm rot="10800000" flipH="1">
            <a:off x="2888330" y="4343400"/>
            <a:ext cx="337207" cy="806173"/>
          </a:xfrm>
          <a:prstGeom prst="bentArrow">
            <a:avLst>
              <a:gd name="adj1" fmla="val 6187"/>
              <a:gd name="adj2" fmla="val 13349"/>
              <a:gd name="adj3" fmla="val 21948"/>
              <a:gd name="adj4" fmla="val 43750"/>
            </a:avLst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7116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EDBB08-AFEB-4E7B-98DB-240B43549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BB4734-746F-4567-8563-BA62E88CA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DC363-F5F0-4A66-AF74-889ED2EF3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A85F43-F0D8-40DC-B9D7-6AF073AF0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407" y="0"/>
            <a:ext cx="5472793" cy="651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8155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25B624-E086-490C-91F9-D71054B21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CDBAC-D55B-4B1E-9E87-97F48E7D7DEB}" type="slidenum">
              <a:rPr lang="en-US" smtClean="0"/>
              <a:t>23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B3A6B4-1EEB-4F4C-92BE-DD092E035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74" y="1431236"/>
            <a:ext cx="8081662" cy="402866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813FF-E762-C810-D315-AC2230EAC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75AB3-18E4-A6FA-7C63-C586D51C1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</p:spTree>
    <p:extLst>
      <p:ext uri="{BB962C8B-B14F-4D97-AF65-F5344CB8AC3E}">
        <p14:creationId xmlns:p14="http://schemas.microsoft.com/office/powerpoint/2010/main" val="23560367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A5FE7-6A99-4E5D-AB88-32343272D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CMOS logic</a:t>
            </a:r>
            <a:endParaRPr lang="ca-E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8D2FAC-4EED-43C0-974E-F9A3DCDE0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3FF22C-975E-4489-B535-D010E279D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E54E10-4E90-4FFF-AF72-933469AD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D5C705-7D00-40AC-B024-FEB82E45599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90800" y="3790950"/>
            <a:ext cx="3971925" cy="291465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1A3FB48-F20D-4309-8523-448322024560}"/>
              </a:ext>
            </a:extLst>
          </p:cNvPr>
          <p:cNvGrpSpPr/>
          <p:nvPr/>
        </p:nvGrpSpPr>
        <p:grpSpPr>
          <a:xfrm>
            <a:off x="1905000" y="609600"/>
            <a:ext cx="5442609" cy="3150097"/>
            <a:chOff x="2009108" y="3631703"/>
            <a:chExt cx="5442609" cy="315009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BBCE175-56D5-447D-B0A3-2F95C4E420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009108" y="3631703"/>
              <a:ext cx="5153692" cy="315009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5790EAE-7E8B-44FC-8E3D-ED9A30523B3B}"/>
                    </a:ext>
                  </a:extLst>
                </p:cNvPr>
                <p:cNvSpPr txBox="1"/>
                <p:nvPr/>
              </p:nvSpPr>
              <p:spPr>
                <a:xfrm>
                  <a:off x="3292909" y="4812067"/>
                  <a:ext cx="1242648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</m:acc>
                      </m:oMath>
                    </m:oMathPara>
                  </a14:m>
                  <a:endParaRPr lang="ca-ES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5790EAE-7E8B-44FC-8E3D-ED9A30523B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2909" y="4812067"/>
                  <a:ext cx="124264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ca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43DDF19-0FFA-4148-81E2-E311E5C9A137}"/>
                    </a:ext>
                  </a:extLst>
                </p:cNvPr>
                <p:cNvSpPr txBox="1"/>
                <p:nvPr/>
              </p:nvSpPr>
              <p:spPr>
                <a:xfrm>
                  <a:off x="6172200" y="4876800"/>
                  <a:ext cx="1242648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∨</m:t>
                            </m:r>
                            <m: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</m:acc>
                      </m:oMath>
                    </m:oMathPara>
                  </a14:m>
                  <a:endParaRPr lang="ca-ES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43DDF19-0FFA-4148-81E2-E311E5C9A1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4876800"/>
                  <a:ext cx="124264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ca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76F5C04-B669-4312-BF49-957E4964B302}"/>
                    </a:ext>
                  </a:extLst>
                </p:cNvPr>
                <p:cNvSpPr txBox="1"/>
                <p:nvPr/>
              </p:nvSpPr>
              <p:spPr>
                <a:xfrm>
                  <a:off x="3300453" y="5105400"/>
                  <a:ext cx="1003801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𝑨𝑩</m:t>
                            </m:r>
                          </m:e>
                        </m:acc>
                      </m:oMath>
                    </m:oMathPara>
                  </a14:m>
                  <a:endParaRPr lang="ca-ES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76F5C04-B669-4312-BF49-957E4964B3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0453" y="5105400"/>
                  <a:ext cx="100380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ca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129A54B-7D2A-4A87-B879-7123F4180BE6}"/>
                    </a:ext>
                  </a:extLst>
                </p:cNvPr>
                <p:cNvSpPr txBox="1"/>
                <p:nvPr/>
              </p:nvSpPr>
              <p:spPr>
                <a:xfrm>
                  <a:off x="6172200" y="5148872"/>
                  <a:ext cx="12795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</m:acc>
                      </m:oMath>
                    </m:oMathPara>
                  </a14:m>
                  <a:endParaRPr lang="ca-ES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129A54B-7D2A-4A87-B879-7123F4180B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5148872"/>
                  <a:ext cx="1279517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ca-E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69DBAF24-97D0-4BE4-9B54-79780B6197E9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4068" t="69895" r="65311"/>
          <a:stretch/>
        </p:blipFill>
        <p:spPr>
          <a:xfrm>
            <a:off x="76200" y="1516028"/>
            <a:ext cx="1676400" cy="19601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EAB6FA1-1D83-4A3F-A62D-0712FFF4F18F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35952" t="70214" r="34809"/>
          <a:stretch/>
        </p:blipFill>
        <p:spPr>
          <a:xfrm>
            <a:off x="7480190" y="1536636"/>
            <a:ext cx="1600200" cy="193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428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39E2D4-4E62-4347-9E69-C62F4DB8D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7E7980-6280-45F5-9B5D-065C3434F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694D9-15B5-4215-9A81-8B5082C0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E52822-1F1E-4BC9-8430-B3D5F2F05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9229"/>
            <a:ext cx="9144000" cy="4701571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FF3475E-5BB5-4881-A09F-202DEC315A2E}"/>
              </a:ext>
            </a:extLst>
          </p:cNvPr>
          <p:cNvGrpSpPr/>
          <p:nvPr/>
        </p:nvGrpSpPr>
        <p:grpSpPr>
          <a:xfrm>
            <a:off x="604131" y="331363"/>
            <a:ext cx="2564492" cy="1369814"/>
            <a:chOff x="604131" y="331363"/>
            <a:chExt cx="2564492" cy="136981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155DD09-6D22-4A85-A8B5-D17D8858CB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372634"/>
              <a:ext cx="1981200" cy="128055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58D8A0-48C5-48F2-B051-9C9834E39F81}"/>
                </a:ext>
              </a:extLst>
            </p:cNvPr>
            <p:cNvSpPr txBox="1"/>
            <p:nvPr/>
          </p:nvSpPr>
          <p:spPr>
            <a:xfrm>
              <a:off x="604131" y="331363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  <a:endParaRPr lang="ca-E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B0B471C-8769-43D8-9389-392A53424344}"/>
                </a:ext>
              </a:extLst>
            </p:cNvPr>
            <p:cNvSpPr txBox="1"/>
            <p:nvPr/>
          </p:nvSpPr>
          <p:spPr>
            <a:xfrm>
              <a:off x="604131" y="664857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  <a:endParaRPr lang="ca-E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9F923FF-7CE1-4E9D-A13A-59EAE738699D}"/>
                </a:ext>
              </a:extLst>
            </p:cNvPr>
            <p:cNvSpPr txBox="1"/>
            <p:nvPr/>
          </p:nvSpPr>
          <p:spPr>
            <a:xfrm>
              <a:off x="604131" y="998351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  <a:endParaRPr lang="ca-E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6ADADCE-0E99-4276-B4B8-2D7374D4A0C2}"/>
                </a:ext>
              </a:extLst>
            </p:cNvPr>
            <p:cNvSpPr txBox="1"/>
            <p:nvPr/>
          </p:nvSpPr>
          <p:spPr>
            <a:xfrm>
              <a:off x="604131" y="1331845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  <a:endParaRPr lang="ca-E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41905AE-EDB9-438A-8A75-685CFBDAB93D}"/>
                </a:ext>
              </a:extLst>
            </p:cNvPr>
            <p:cNvSpPr txBox="1"/>
            <p:nvPr/>
          </p:nvSpPr>
          <p:spPr>
            <a:xfrm>
              <a:off x="2871747" y="828246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  <a:endParaRPr lang="ca-ES" dirty="0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DFCCC5F4-1296-436A-953F-E5CE73CBD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77031"/>
            <a:ext cx="2743200" cy="144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200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B930EC-FB87-4312-ADAE-B7EF12412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CDBAC-D55B-4B1E-9E87-97F48E7D7DEB}" type="slidenum">
              <a:rPr lang="en-US" smtClean="0"/>
              <a:t>26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BD9B30-CAD8-42C9-8C26-819CC436A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241" y="2054085"/>
            <a:ext cx="8278741" cy="374373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B8CF53-D47D-4C72-9933-352EBA3B9969}"/>
              </a:ext>
            </a:extLst>
          </p:cNvPr>
          <p:cNvSpPr/>
          <p:nvPr/>
        </p:nvSpPr>
        <p:spPr>
          <a:xfrm>
            <a:off x="5420139" y="2067339"/>
            <a:ext cx="3326296" cy="19679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463A63-F179-4B83-9946-3EED2304DACD}"/>
              </a:ext>
            </a:extLst>
          </p:cNvPr>
          <p:cNvSpPr txBox="1"/>
          <p:nvPr/>
        </p:nvSpPr>
        <p:spPr>
          <a:xfrm>
            <a:off x="1702905" y="413845"/>
            <a:ext cx="125867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Y = ?</a:t>
            </a:r>
            <a:endParaRPr lang="ca-ES" sz="44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498BC46-BC67-0E3A-E7FA-C2F33FF3B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32621ED-7543-7FA9-0EE7-BF0B28199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</p:spTree>
    <p:extLst>
      <p:ext uri="{BB962C8B-B14F-4D97-AF65-F5344CB8AC3E}">
        <p14:creationId xmlns:p14="http://schemas.microsoft.com/office/powerpoint/2010/main" val="1062050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31059-2A43-420C-B498-DFC5D1A31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Adder</a:t>
            </a:r>
            <a:endParaRPr lang="ca-E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C30CE0-A56C-424E-91E1-A3BDC9E1B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32E5E2-2A38-44A1-A9D2-557056EE6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E7079E-7AAF-4051-BB39-E3A29764B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940BCE-DE03-4605-B1F1-ADAA70B80243}"/>
              </a:ext>
            </a:extLst>
          </p:cNvPr>
          <p:cNvSpPr txBox="1"/>
          <p:nvPr/>
        </p:nvSpPr>
        <p:spPr>
          <a:xfrm>
            <a:off x="914400" y="1234847"/>
            <a:ext cx="387157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01010100</a:t>
            </a:r>
            <a:br>
              <a:rPr 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+ 00110101</a:t>
            </a:r>
            <a:endParaRPr lang="ca-ES" sz="4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BE129D3-6344-4B28-AEDF-BDB2DB40A663}"/>
              </a:ext>
            </a:extLst>
          </p:cNvPr>
          <p:cNvCxnSpPr>
            <a:cxnSpLocks/>
          </p:cNvCxnSpPr>
          <p:nvPr/>
        </p:nvCxnSpPr>
        <p:spPr>
          <a:xfrm>
            <a:off x="1676400" y="2804507"/>
            <a:ext cx="3124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FC2CE31-0673-409D-8F16-CA4830578A58}"/>
              </a:ext>
            </a:extLst>
          </p:cNvPr>
          <p:cNvSpPr txBox="1"/>
          <p:nvPr/>
        </p:nvSpPr>
        <p:spPr>
          <a:xfrm>
            <a:off x="6096000" y="1234847"/>
            <a:ext cx="165942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84</a:t>
            </a:r>
          </a:p>
          <a:p>
            <a:r>
              <a:rPr 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+ 53</a:t>
            </a:r>
            <a:endParaRPr lang="ca-ES" sz="4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75724DC-74E6-443F-9F91-68DE53CD4A31}"/>
              </a:ext>
            </a:extLst>
          </p:cNvPr>
          <p:cNvCxnSpPr>
            <a:cxnSpLocks/>
          </p:cNvCxnSpPr>
          <p:nvPr/>
        </p:nvCxnSpPr>
        <p:spPr>
          <a:xfrm>
            <a:off x="6248400" y="2804507"/>
            <a:ext cx="1447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5CC7438-88AF-4877-ABA3-684380DE96A2}"/>
              </a:ext>
            </a:extLst>
          </p:cNvPr>
          <p:cNvSpPr txBox="1"/>
          <p:nvPr/>
        </p:nvSpPr>
        <p:spPr>
          <a:xfrm>
            <a:off x="6096000" y="2826603"/>
            <a:ext cx="1659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137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67A01B-7EDD-48D9-A891-DF34CC9EA389}"/>
              </a:ext>
            </a:extLst>
          </p:cNvPr>
          <p:cNvSpPr txBox="1"/>
          <p:nvPr/>
        </p:nvSpPr>
        <p:spPr>
          <a:xfrm>
            <a:off x="4194516" y="2826603"/>
            <a:ext cx="5533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ca-ES" sz="4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A740AD-4DEC-4F09-9BC4-0DD6FE2A27C6}"/>
              </a:ext>
            </a:extLst>
          </p:cNvPr>
          <p:cNvSpPr txBox="1"/>
          <p:nvPr/>
        </p:nvSpPr>
        <p:spPr>
          <a:xfrm>
            <a:off x="3829050" y="2826603"/>
            <a:ext cx="5533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ca-ES" sz="4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7CEFF0-676D-4AA1-9941-2FE8CA53130B}"/>
              </a:ext>
            </a:extLst>
          </p:cNvPr>
          <p:cNvSpPr txBox="1"/>
          <p:nvPr/>
        </p:nvSpPr>
        <p:spPr>
          <a:xfrm>
            <a:off x="3463584" y="2826603"/>
            <a:ext cx="5533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ca-ES" sz="4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F3F368-FA13-44C9-8911-116D6E70BED9}"/>
              </a:ext>
            </a:extLst>
          </p:cNvPr>
          <p:cNvSpPr txBox="1"/>
          <p:nvPr/>
        </p:nvSpPr>
        <p:spPr>
          <a:xfrm>
            <a:off x="3098118" y="2826603"/>
            <a:ext cx="5533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ca-ES" sz="4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B3C440-AE9E-40C3-85DC-BF647933884D}"/>
              </a:ext>
            </a:extLst>
          </p:cNvPr>
          <p:cNvSpPr txBox="1"/>
          <p:nvPr/>
        </p:nvSpPr>
        <p:spPr>
          <a:xfrm>
            <a:off x="2732652" y="2826603"/>
            <a:ext cx="5533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ca-ES" sz="4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220501-9684-424A-B06A-2FDBE82494BA}"/>
              </a:ext>
            </a:extLst>
          </p:cNvPr>
          <p:cNvSpPr txBox="1"/>
          <p:nvPr/>
        </p:nvSpPr>
        <p:spPr>
          <a:xfrm>
            <a:off x="2367186" y="2826603"/>
            <a:ext cx="5533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ca-ES" sz="4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DB395F-3178-425E-8966-D86E5E7D84C9}"/>
              </a:ext>
            </a:extLst>
          </p:cNvPr>
          <p:cNvSpPr txBox="1"/>
          <p:nvPr/>
        </p:nvSpPr>
        <p:spPr>
          <a:xfrm>
            <a:off x="2001720" y="2826603"/>
            <a:ext cx="5533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ca-ES" sz="4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7C5854-2001-43CB-908E-919CD531D076}"/>
              </a:ext>
            </a:extLst>
          </p:cNvPr>
          <p:cNvSpPr txBox="1"/>
          <p:nvPr/>
        </p:nvSpPr>
        <p:spPr>
          <a:xfrm>
            <a:off x="1636254" y="2826603"/>
            <a:ext cx="5533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ca-ES" sz="4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Arrow: Curved Down 23">
            <a:extLst>
              <a:ext uri="{FF2B5EF4-FFF2-40B4-BE49-F238E27FC236}">
                <a16:creationId xmlns:a16="http://schemas.microsoft.com/office/drawing/2014/main" id="{C96795F7-6A28-4B65-B34D-9DAC8AD60F77}"/>
              </a:ext>
            </a:extLst>
          </p:cNvPr>
          <p:cNvSpPr/>
          <p:nvPr/>
        </p:nvSpPr>
        <p:spPr>
          <a:xfrm flipH="1">
            <a:off x="3429000" y="1162050"/>
            <a:ext cx="304800" cy="168047"/>
          </a:xfrm>
          <a:prstGeom prst="curved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>
              <a:solidFill>
                <a:schemeClr val="tx1"/>
              </a:solidFill>
            </a:endParaRPr>
          </a:p>
        </p:txBody>
      </p:sp>
      <p:sp>
        <p:nvSpPr>
          <p:cNvPr id="25" name="Arrow: Curved Down 24">
            <a:extLst>
              <a:ext uri="{FF2B5EF4-FFF2-40B4-BE49-F238E27FC236}">
                <a16:creationId xmlns:a16="http://schemas.microsoft.com/office/drawing/2014/main" id="{E926D3F9-8E27-42C3-BE24-7442CD3BF1D3}"/>
              </a:ext>
            </a:extLst>
          </p:cNvPr>
          <p:cNvSpPr/>
          <p:nvPr/>
        </p:nvSpPr>
        <p:spPr>
          <a:xfrm flipH="1">
            <a:off x="2667000" y="1162050"/>
            <a:ext cx="304800" cy="168047"/>
          </a:xfrm>
          <a:prstGeom prst="curved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>
              <a:solidFill>
                <a:schemeClr val="tx1"/>
              </a:solidFill>
            </a:endParaRPr>
          </a:p>
        </p:txBody>
      </p:sp>
      <p:sp>
        <p:nvSpPr>
          <p:cNvPr id="26" name="Arrow: Curved Down 25">
            <a:extLst>
              <a:ext uri="{FF2B5EF4-FFF2-40B4-BE49-F238E27FC236}">
                <a16:creationId xmlns:a16="http://schemas.microsoft.com/office/drawing/2014/main" id="{C710EA15-11E8-4B7F-9BAC-7CAED871E57E}"/>
              </a:ext>
            </a:extLst>
          </p:cNvPr>
          <p:cNvSpPr/>
          <p:nvPr/>
        </p:nvSpPr>
        <p:spPr>
          <a:xfrm flipH="1">
            <a:off x="2286000" y="1162050"/>
            <a:ext cx="304800" cy="168047"/>
          </a:xfrm>
          <a:prstGeom prst="curved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>
              <a:solidFill>
                <a:schemeClr val="tx1"/>
              </a:solidFill>
            </a:endParaRPr>
          </a:p>
        </p:txBody>
      </p:sp>
      <p:sp>
        <p:nvSpPr>
          <p:cNvPr id="27" name="Arrow: Curved Down 26">
            <a:extLst>
              <a:ext uri="{FF2B5EF4-FFF2-40B4-BE49-F238E27FC236}">
                <a16:creationId xmlns:a16="http://schemas.microsoft.com/office/drawing/2014/main" id="{9D40199D-197B-4ABB-868A-8DA3775BAB70}"/>
              </a:ext>
            </a:extLst>
          </p:cNvPr>
          <p:cNvSpPr/>
          <p:nvPr/>
        </p:nvSpPr>
        <p:spPr>
          <a:xfrm flipH="1">
            <a:off x="1905000" y="1162050"/>
            <a:ext cx="304800" cy="168047"/>
          </a:xfrm>
          <a:prstGeom prst="curved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>
              <a:solidFill>
                <a:schemeClr val="tx1"/>
              </a:solidFill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8F93FA3-F787-46FE-BB7D-05D654279723}"/>
              </a:ext>
            </a:extLst>
          </p:cNvPr>
          <p:cNvGrpSpPr/>
          <p:nvPr/>
        </p:nvGrpSpPr>
        <p:grpSpPr>
          <a:xfrm>
            <a:off x="3352800" y="3618558"/>
            <a:ext cx="3397944" cy="2982912"/>
            <a:chOff x="3343689" y="3618558"/>
            <a:chExt cx="3397944" cy="2982912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31FA569-86D7-47A3-8E0C-F7A566F73D86}"/>
                </a:ext>
              </a:extLst>
            </p:cNvPr>
            <p:cNvSpPr/>
            <p:nvPr/>
          </p:nvSpPr>
          <p:spPr>
            <a:xfrm>
              <a:off x="4572000" y="4495811"/>
              <a:ext cx="990600" cy="129538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1-bit</a:t>
              </a:r>
              <a:br>
                <a:rPr lang="en-US" sz="2400" dirty="0">
                  <a:solidFill>
                    <a:schemeClr val="tx1"/>
                  </a:solidFill>
                </a:rPr>
              </a:br>
              <a:r>
                <a:rPr lang="en-US" sz="2400" dirty="0">
                  <a:solidFill>
                    <a:schemeClr val="tx1"/>
                  </a:solidFill>
                </a:rPr>
                <a:t>adder</a:t>
              </a:r>
              <a:endParaRPr lang="ca-E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119BC3A1-BD9F-4165-BE6C-82D56ECB9FF8}"/>
                </a:ext>
              </a:extLst>
            </p:cNvPr>
            <p:cNvCxnSpPr/>
            <p:nvPr/>
          </p:nvCxnSpPr>
          <p:spPr>
            <a:xfrm>
              <a:off x="4781550" y="4038600"/>
              <a:ext cx="0" cy="45721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9773768-E0CF-4A58-90E2-9B5FF04DFCEC}"/>
                </a:ext>
              </a:extLst>
            </p:cNvPr>
            <p:cNvCxnSpPr/>
            <p:nvPr/>
          </p:nvCxnSpPr>
          <p:spPr>
            <a:xfrm>
              <a:off x="5410200" y="4038600"/>
              <a:ext cx="0" cy="45721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62A9CAB-7E91-4227-BA75-F92D106F9CC4}"/>
                    </a:ext>
                  </a:extLst>
                </p:cNvPr>
                <p:cNvSpPr txBox="1"/>
                <p:nvPr/>
              </p:nvSpPr>
              <p:spPr>
                <a:xfrm>
                  <a:off x="4570194" y="3618558"/>
                  <a:ext cx="43261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ca-ES" sz="24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62A9CAB-7E91-4227-BA75-F92D106F9C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0194" y="3618558"/>
                  <a:ext cx="432618" cy="46166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ca-E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315F3AD-D10C-45FF-A062-B8B36D76D5A9}"/>
                </a:ext>
              </a:extLst>
            </p:cNvPr>
            <p:cNvCxnSpPr/>
            <p:nvPr/>
          </p:nvCxnSpPr>
          <p:spPr>
            <a:xfrm>
              <a:off x="5057775" y="5791189"/>
              <a:ext cx="0" cy="45721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588E12C3-84A0-42C3-A589-76EC230AAADC}"/>
                </a:ext>
              </a:extLst>
            </p:cNvPr>
            <p:cNvCxnSpPr>
              <a:cxnSpLocks/>
              <a:endCxn id="28" idx="3"/>
            </p:cNvCxnSpPr>
            <p:nvPr/>
          </p:nvCxnSpPr>
          <p:spPr>
            <a:xfrm flipH="1">
              <a:off x="5562600" y="5143506"/>
              <a:ext cx="533400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7EF101BC-C471-462E-B855-5595A2CAC426}"/>
                </a:ext>
              </a:extLst>
            </p:cNvPr>
            <p:cNvCxnSpPr>
              <a:cxnSpLocks/>
              <a:stCxn id="28" idx="1"/>
            </p:cNvCxnSpPr>
            <p:nvPr/>
          </p:nvCxnSpPr>
          <p:spPr>
            <a:xfrm flipH="1">
              <a:off x="4074621" y="5143506"/>
              <a:ext cx="497379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72B4026-078D-4798-9180-ED67A33AC393}"/>
                    </a:ext>
                  </a:extLst>
                </p:cNvPr>
                <p:cNvSpPr txBox="1"/>
                <p:nvPr/>
              </p:nvSpPr>
              <p:spPr>
                <a:xfrm>
                  <a:off x="5192710" y="3638550"/>
                  <a:ext cx="42704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ca-ES" sz="2400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72B4026-078D-4798-9180-ED67A33AC3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2710" y="3638550"/>
                  <a:ext cx="427040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ca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6735F84-BA8B-4BD5-87A4-5408AB63D7F6}"/>
                    </a:ext>
                  </a:extLst>
                </p:cNvPr>
                <p:cNvSpPr txBox="1"/>
                <p:nvPr/>
              </p:nvSpPr>
              <p:spPr>
                <a:xfrm>
                  <a:off x="4844898" y="6139805"/>
                  <a:ext cx="40254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ca-ES" sz="2400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6735F84-BA8B-4BD5-87A4-5408AB63D7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4898" y="6139805"/>
                  <a:ext cx="402546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ca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98E035A6-0EC5-43F9-A846-8BCAB57F1D2E}"/>
                    </a:ext>
                  </a:extLst>
                </p:cNvPr>
                <p:cNvSpPr txBox="1"/>
                <p:nvPr/>
              </p:nvSpPr>
              <p:spPr>
                <a:xfrm>
                  <a:off x="3343689" y="4904164"/>
                  <a:ext cx="78425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oMath>
                    </m:oMathPara>
                  </a14:m>
                  <a:endParaRPr lang="ca-ES" sz="240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98E035A6-0EC5-43F9-A846-8BCAB57F1D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3689" y="4904164"/>
                  <a:ext cx="784254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ca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DD1ADBC3-15B6-4835-8F9C-B16F1A3185AA}"/>
                    </a:ext>
                  </a:extLst>
                </p:cNvPr>
                <p:cNvSpPr txBox="1"/>
                <p:nvPr/>
              </p:nvSpPr>
              <p:spPr>
                <a:xfrm>
                  <a:off x="6113448" y="4884097"/>
                  <a:ext cx="62818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oMath>
                    </m:oMathPara>
                  </a14:m>
                  <a:endParaRPr lang="ca-ES" sz="2400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DD1ADBC3-15B6-4835-8F9C-B16F1A3185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3448" y="4884097"/>
                  <a:ext cx="628185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ca-E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2835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 animBg="1"/>
      <p:bldP spid="25" grpId="0" animBg="1"/>
      <p:bldP spid="26" grpId="0" animBg="1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FD4B8-59EF-4E89-9922-FED98FA21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Adder</a:t>
            </a:r>
            <a:endParaRPr lang="ca-E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4CF2A-84BF-4AFD-8A10-B0C05A07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20C829-2487-4816-BDB5-F7FC3DFFF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06A116-C763-4320-8C83-D909003AE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FCC2C1-4CBC-4FD7-88E9-745042B52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12" y="1628775"/>
            <a:ext cx="6886575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3900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20FD4B8-59EF-4E89-9922-FED98FA2174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-bit adder</a:t>
                </a:r>
                <a:endParaRPr lang="ca-E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20FD4B8-59EF-4E89-9922-FED98FA217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6814" b="-38938"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4CF2A-84BF-4AFD-8A10-B0C05A07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20C829-2487-4816-BDB5-F7FC3DFFF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06A116-C763-4320-8C83-D909003AE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29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B30AA9-883D-49A7-A6D5-FF670A9C694D}"/>
              </a:ext>
            </a:extLst>
          </p:cNvPr>
          <p:cNvSpPr/>
          <p:nvPr/>
        </p:nvSpPr>
        <p:spPr>
          <a:xfrm>
            <a:off x="7393830" y="2629853"/>
            <a:ext cx="990600" cy="129538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1-bit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adder</a:t>
            </a:r>
            <a:endParaRPr lang="ca-ES" sz="2400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0AD84EF-33AE-4247-8749-DC1AE50FEEF3}"/>
              </a:ext>
            </a:extLst>
          </p:cNvPr>
          <p:cNvCxnSpPr/>
          <p:nvPr/>
        </p:nvCxnSpPr>
        <p:spPr>
          <a:xfrm>
            <a:off x="7603380" y="2172642"/>
            <a:ext cx="0" cy="45721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6CEEE0C-E912-4EFC-8D2E-198DAFE25EA3}"/>
              </a:ext>
            </a:extLst>
          </p:cNvPr>
          <p:cNvCxnSpPr/>
          <p:nvPr/>
        </p:nvCxnSpPr>
        <p:spPr>
          <a:xfrm>
            <a:off x="8232030" y="2172642"/>
            <a:ext cx="0" cy="45721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DC6A16-3897-4B69-9299-DD7B025773B1}"/>
                  </a:ext>
                </a:extLst>
              </p:cNvPr>
              <p:cNvSpPr txBox="1"/>
              <p:nvPr/>
            </p:nvSpPr>
            <p:spPr>
              <a:xfrm>
                <a:off x="7363449" y="1752600"/>
                <a:ext cx="5677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ca-E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DC6A16-3897-4B69-9299-DD7B02577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3449" y="1752600"/>
                <a:ext cx="567720" cy="46166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1014187-5C87-4A80-9A63-557C0FEFE07B}"/>
              </a:ext>
            </a:extLst>
          </p:cNvPr>
          <p:cNvCxnSpPr/>
          <p:nvPr/>
        </p:nvCxnSpPr>
        <p:spPr>
          <a:xfrm>
            <a:off x="7879605" y="3925231"/>
            <a:ext cx="0" cy="45721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AEB8E30-99E6-4FD4-84E3-E8BC2071A18F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8384430" y="3277548"/>
            <a:ext cx="31860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3A2BA3F-C3BC-49A2-A6DE-114FD3045C70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6896451" y="3277548"/>
            <a:ext cx="497379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5993EC8-4C5A-4407-BED2-F99D87D8D3E6}"/>
                  </a:ext>
                </a:extLst>
              </p:cNvPr>
              <p:cNvSpPr txBox="1"/>
              <p:nvPr/>
            </p:nvSpPr>
            <p:spPr>
              <a:xfrm>
                <a:off x="7985965" y="1772592"/>
                <a:ext cx="5531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ca-E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5993EC8-4C5A-4407-BED2-F99D87D8D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5965" y="1772592"/>
                <a:ext cx="55316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271F306-6D74-483D-A4C3-0CC8CFE297A3}"/>
                  </a:ext>
                </a:extLst>
              </p:cNvPr>
              <p:cNvSpPr txBox="1"/>
              <p:nvPr/>
            </p:nvSpPr>
            <p:spPr>
              <a:xfrm>
                <a:off x="7590528" y="4273847"/>
                <a:ext cx="5313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ca-E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271F306-6D74-483D-A4C3-0CC8CFE29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0528" y="4273847"/>
                <a:ext cx="531364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02872E9-38F2-4B3D-A1DC-604B40EB381E}"/>
                  </a:ext>
                </a:extLst>
              </p:cNvPr>
              <p:cNvSpPr txBox="1"/>
              <p:nvPr/>
            </p:nvSpPr>
            <p:spPr>
              <a:xfrm>
                <a:off x="8677275" y="3018139"/>
                <a:ext cx="5297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ca-ES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02872E9-38F2-4B3D-A1DC-604B40EB3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7275" y="3018139"/>
                <a:ext cx="529760" cy="461665"/>
              </a:xfrm>
              <a:prstGeom prst="rect">
                <a:avLst/>
              </a:prstGeom>
              <a:blipFill>
                <a:blip r:embed="rId6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80FECC4C-E600-46D0-BDDE-CE9B28A9A2E9}"/>
              </a:ext>
            </a:extLst>
          </p:cNvPr>
          <p:cNvSpPr/>
          <p:nvPr/>
        </p:nvSpPr>
        <p:spPr>
          <a:xfrm>
            <a:off x="5915376" y="2629853"/>
            <a:ext cx="990600" cy="129538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1-bit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adder</a:t>
            </a:r>
            <a:endParaRPr lang="ca-ES" sz="2400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AC8A954-37E9-41C1-85BC-B3B2CE8FD217}"/>
              </a:ext>
            </a:extLst>
          </p:cNvPr>
          <p:cNvCxnSpPr/>
          <p:nvPr/>
        </p:nvCxnSpPr>
        <p:spPr>
          <a:xfrm>
            <a:off x="6124926" y="2172642"/>
            <a:ext cx="0" cy="45721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626C573-59D1-4AB8-B86F-27F0324EC822}"/>
              </a:ext>
            </a:extLst>
          </p:cNvPr>
          <p:cNvCxnSpPr/>
          <p:nvPr/>
        </p:nvCxnSpPr>
        <p:spPr>
          <a:xfrm>
            <a:off x="6753576" y="2172642"/>
            <a:ext cx="0" cy="45721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3A100F4-3B84-4724-ADC1-0A74CE5A927D}"/>
                  </a:ext>
                </a:extLst>
              </p:cNvPr>
              <p:cNvSpPr txBox="1"/>
              <p:nvPr/>
            </p:nvSpPr>
            <p:spPr>
              <a:xfrm>
                <a:off x="5884995" y="1752600"/>
                <a:ext cx="56060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ca-E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3A100F4-3B84-4724-ADC1-0A74CE5A92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4995" y="1752600"/>
                <a:ext cx="560603" cy="461665"/>
              </a:xfrm>
              <a:prstGeom prst="rect">
                <a:avLst/>
              </a:prstGeom>
              <a:blipFill>
                <a:blip r:embed="rId7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CB54147-522C-4735-B4CD-A37A4E76F6F2}"/>
              </a:ext>
            </a:extLst>
          </p:cNvPr>
          <p:cNvCxnSpPr/>
          <p:nvPr/>
        </p:nvCxnSpPr>
        <p:spPr>
          <a:xfrm>
            <a:off x="6401151" y="3925231"/>
            <a:ext cx="0" cy="45721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3D01C5D-DCFE-404F-8FE9-D9FAFC36DDF2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5417997" y="3277548"/>
            <a:ext cx="497379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2117C5D-3344-4608-A4A7-FBF5A22EC9BD}"/>
                  </a:ext>
                </a:extLst>
              </p:cNvPr>
              <p:cNvSpPr txBox="1"/>
              <p:nvPr/>
            </p:nvSpPr>
            <p:spPr>
              <a:xfrm>
                <a:off x="6507511" y="1772592"/>
                <a:ext cx="5460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ca-E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2117C5D-3344-4608-A4A7-FBF5A22EC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7511" y="1772592"/>
                <a:ext cx="546047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E63F24D-614A-4E5F-BB1C-3249CD54EA6D}"/>
                  </a:ext>
                </a:extLst>
              </p:cNvPr>
              <p:cNvSpPr txBox="1"/>
              <p:nvPr/>
            </p:nvSpPr>
            <p:spPr>
              <a:xfrm>
                <a:off x="6112074" y="4273847"/>
                <a:ext cx="5242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ca-E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E63F24D-614A-4E5F-BB1C-3249CD54E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2074" y="4273847"/>
                <a:ext cx="524246" cy="461665"/>
              </a:xfrm>
              <a:prstGeom prst="rect">
                <a:avLst/>
              </a:prstGeom>
              <a:blipFill>
                <a:blip r:embed="rId9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879BD782-C583-4527-ABD8-5E2832A9BD90}"/>
              </a:ext>
            </a:extLst>
          </p:cNvPr>
          <p:cNvSpPr/>
          <p:nvPr/>
        </p:nvSpPr>
        <p:spPr>
          <a:xfrm>
            <a:off x="4419951" y="2629853"/>
            <a:ext cx="990600" cy="129538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1-bit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adder</a:t>
            </a:r>
            <a:endParaRPr lang="ca-ES" sz="2400" dirty="0">
              <a:solidFill>
                <a:schemeClr val="tx1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DF1BF02-0F11-4218-A799-D7B9F8EAA4C1}"/>
              </a:ext>
            </a:extLst>
          </p:cNvPr>
          <p:cNvCxnSpPr/>
          <p:nvPr/>
        </p:nvCxnSpPr>
        <p:spPr>
          <a:xfrm>
            <a:off x="4629501" y="2172642"/>
            <a:ext cx="0" cy="45721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7F26850-6058-4317-8820-D416E9836DC9}"/>
              </a:ext>
            </a:extLst>
          </p:cNvPr>
          <p:cNvCxnSpPr/>
          <p:nvPr/>
        </p:nvCxnSpPr>
        <p:spPr>
          <a:xfrm>
            <a:off x="5258151" y="2172642"/>
            <a:ext cx="0" cy="45721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17960AC-3539-4610-BAC4-F8BD86742577}"/>
                  </a:ext>
                </a:extLst>
              </p:cNvPr>
              <p:cNvSpPr txBox="1"/>
              <p:nvPr/>
            </p:nvSpPr>
            <p:spPr>
              <a:xfrm>
                <a:off x="4389570" y="1752600"/>
                <a:ext cx="5677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ca-ES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17960AC-3539-4610-BAC4-F8BD86742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570" y="1752600"/>
                <a:ext cx="567720" cy="461665"/>
              </a:xfrm>
              <a:prstGeom prst="rect">
                <a:avLst/>
              </a:prstGeom>
              <a:blipFill>
                <a:blip r:embed="rId10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D877A4C-E0B0-41CD-A241-62361CCD6E5A}"/>
              </a:ext>
            </a:extLst>
          </p:cNvPr>
          <p:cNvCxnSpPr/>
          <p:nvPr/>
        </p:nvCxnSpPr>
        <p:spPr>
          <a:xfrm>
            <a:off x="4905726" y="3925231"/>
            <a:ext cx="0" cy="45721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57A8664-E2F7-4908-99C1-D148A347132F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3922572" y="3277548"/>
            <a:ext cx="497379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289CE51-6BFB-488B-B485-0A0098A47681}"/>
                  </a:ext>
                </a:extLst>
              </p:cNvPr>
              <p:cNvSpPr txBox="1"/>
              <p:nvPr/>
            </p:nvSpPr>
            <p:spPr>
              <a:xfrm>
                <a:off x="5012086" y="1772592"/>
                <a:ext cx="5531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ca-ES" sz="2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289CE51-6BFB-488B-B485-0A0098A47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2086" y="1772592"/>
                <a:ext cx="553165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20B5595-941C-481A-A552-6E34B8B68B72}"/>
                  </a:ext>
                </a:extLst>
              </p:cNvPr>
              <p:cNvSpPr txBox="1"/>
              <p:nvPr/>
            </p:nvSpPr>
            <p:spPr>
              <a:xfrm>
                <a:off x="4616649" y="4273847"/>
                <a:ext cx="5313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ca-ES" sz="24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20B5595-941C-481A-A552-6E34B8B68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6649" y="4273847"/>
                <a:ext cx="531364" cy="461665"/>
              </a:xfrm>
              <a:prstGeom prst="rect">
                <a:avLst/>
              </a:prstGeom>
              <a:blipFill>
                <a:blip r:embed="rId12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EA4A75AC-DCD4-47F2-8206-3A7B28EE0F7C}"/>
              </a:ext>
            </a:extLst>
          </p:cNvPr>
          <p:cNvSpPr/>
          <p:nvPr/>
        </p:nvSpPr>
        <p:spPr>
          <a:xfrm>
            <a:off x="2924526" y="2629853"/>
            <a:ext cx="990600" cy="129538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1-bit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adder</a:t>
            </a:r>
            <a:endParaRPr lang="ca-ES" sz="2400" dirty="0">
              <a:solidFill>
                <a:schemeClr val="tx1"/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DDD09AD-230A-4B1A-B96D-7EECF368AF22}"/>
              </a:ext>
            </a:extLst>
          </p:cNvPr>
          <p:cNvCxnSpPr/>
          <p:nvPr/>
        </p:nvCxnSpPr>
        <p:spPr>
          <a:xfrm>
            <a:off x="3134076" y="2172642"/>
            <a:ext cx="0" cy="45721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DC2819C-764D-4A56-B06B-E46B89780DB6}"/>
              </a:ext>
            </a:extLst>
          </p:cNvPr>
          <p:cNvCxnSpPr/>
          <p:nvPr/>
        </p:nvCxnSpPr>
        <p:spPr>
          <a:xfrm>
            <a:off x="3762726" y="2172642"/>
            <a:ext cx="0" cy="45721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CB1F8C4-2FA5-4EEB-ADE1-BB9DA1BAB5E0}"/>
                  </a:ext>
                </a:extLst>
              </p:cNvPr>
              <p:cNvSpPr txBox="1"/>
              <p:nvPr/>
            </p:nvSpPr>
            <p:spPr>
              <a:xfrm>
                <a:off x="2894145" y="1752600"/>
                <a:ext cx="5677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ca-ES" sz="24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CB1F8C4-2FA5-4EEB-ADE1-BB9DA1BAB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4145" y="1752600"/>
                <a:ext cx="567720" cy="461665"/>
              </a:xfrm>
              <a:prstGeom prst="rect">
                <a:avLst/>
              </a:prstGeom>
              <a:blipFill>
                <a:blip r:embed="rId1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0D7B114-FE27-4B38-81BB-C3D550F10771}"/>
              </a:ext>
            </a:extLst>
          </p:cNvPr>
          <p:cNvCxnSpPr/>
          <p:nvPr/>
        </p:nvCxnSpPr>
        <p:spPr>
          <a:xfrm>
            <a:off x="3410301" y="3925231"/>
            <a:ext cx="0" cy="45721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2A44C46-3C46-476A-BCF3-E8F0E172FE9C}"/>
              </a:ext>
            </a:extLst>
          </p:cNvPr>
          <p:cNvCxnSpPr>
            <a:cxnSpLocks/>
          </p:cNvCxnSpPr>
          <p:nvPr/>
        </p:nvCxnSpPr>
        <p:spPr>
          <a:xfrm flipH="1">
            <a:off x="1873614" y="3276600"/>
            <a:ext cx="419099" cy="94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2F86C0A-C0C4-4D0F-8C5A-D923C9606BE3}"/>
                  </a:ext>
                </a:extLst>
              </p:cNvPr>
              <p:cNvSpPr txBox="1"/>
              <p:nvPr/>
            </p:nvSpPr>
            <p:spPr>
              <a:xfrm>
                <a:off x="3516661" y="1772592"/>
                <a:ext cx="5531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ca-ES" sz="24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2F86C0A-C0C4-4D0F-8C5A-D923C9606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661" y="1772592"/>
                <a:ext cx="553165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10C2360-680C-4AA3-BEB1-7E7C1B9C41F5}"/>
                  </a:ext>
                </a:extLst>
              </p:cNvPr>
              <p:cNvSpPr txBox="1"/>
              <p:nvPr/>
            </p:nvSpPr>
            <p:spPr>
              <a:xfrm>
                <a:off x="3121224" y="4273847"/>
                <a:ext cx="5313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ca-ES" sz="2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10C2360-680C-4AA3-BEB1-7E7C1B9C4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1224" y="4273847"/>
                <a:ext cx="531364" cy="461665"/>
              </a:xfrm>
              <a:prstGeom prst="rect">
                <a:avLst/>
              </a:prstGeom>
              <a:blipFill>
                <a:blip r:embed="rId1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3175E588-32C5-4924-A873-BEED038AEA0C}"/>
              </a:ext>
            </a:extLst>
          </p:cNvPr>
          <p:cNvSpPr/>
          <p:nvPr/>
        </p:nvSpPr>
        <p:spPr>
          <a:xfrm>
            <a:off x="885092" y="2629853"/>
            <a:ext cx="990600" cy="129538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1-bit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adder</a:t>
            </a:r>
            <a:endParaRPr lang="ca-ES" sz="2400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67ACBA0-1D42-49E1-89A1-D65868F0A5E9}"/>
              </a:ext>
            </a:extLst>
          </p:cNvPr>
          <p:cNvCxnSpPr/>
          <p:nvPr/>
        </p:nvCxnSpPr>
        <p:spPr>
          <a:xfrm>
            <a:off x="1094642" y="2172642"/>
            <a:ext cx="0" cy="45721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F84D1DA-C8DC-466F-A170-EB071EF7D1D6}"/>
              </a:ext>
            </a:extLst>
          </p:cNvPr>
          <p:cNvCxnSpPr/>
          <p:nvPr/>
        </p:nvCxnSpPr>
        <p:spPr>
          <a:xfrm>
            <a:off x="1723292" y="2172642"/>
            <a:ext cx="0" cy="45721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09DDE8D-C55E-468C-BFB8-F58263A8034B}"/>
                  </a:ext>
                </a:extLst>
              </p:cNvPr>
              <p:cNvSpPr txBox="1"/>
              <p:nvPr/>
            </p:nvSpPr>
            <p:spPr>
              <a:xfrm>
                <a:off x="662104" y="1752600"/>
                <a:ext cx="8809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ca-ES" sz="24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09DDE8D-C55E-468C-BFB8-F58263A80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104" y="1752600"/>
                <a:ext cx="880946" cy="461665"/>
              </a:xfrm>
              <a:prstGeom prst="rect">
                <a:avLst/>
              </a:prstGeom>
              <a:blipFill>
                <a:blip r:embed="rId16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131E3D3-981F-43E0-9D23-4EFB42923B63}"/>
              </a:ext>
            </a:extLst>
          </p:cNvPr>
          <p:cNvCxnSpPr/>
          <p:nvPr/>
        </p:nvCxnSpPr>
        <p:spPr>
          <a:xfrm>
            <a:off x="1370867" y="3925231"/>
            <a:ext cx="0" cy="45721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66A84AA-9523-4655-8D6A-CFF13234D95C}"/>
              </a:ext>
            </a:extLst>
          </p:cNvPr>
          <p:cNvCxnSpPr>
            <a:cxnSpLocks/>
            <a:stCxn id="44" idx="1"/>
          </p:cNvCxnSpPr>
          <p:nvPr/>
        </p:nvCxnSpPr>
        <p:spPr>
          <a:xfrm flipH="1" flipV="1">
            <a:off x="457200" y="3276600"/>
            <a:ext cx="427892" cy="94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8EF7C51-3364-4CA8-85AB-0572AB3A7193}"/>
                  </a:ext>
                </a:extLst>
              </p:cNvPr>
              <p:cNvSpPr txBox="1"/>
              <p:nvPr/>
            </p:nvSpPr>
            <p:spPr>
              <a:xfrm>
                <a:off x="1371600" y="1772592"/>
                <a:ext cx="8663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ca-ES" sz="2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8EF7C51-3364-4CA8-85AB-0572AB3A7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1772592"/>
                <a:ext cx="866391" cy="4616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4832DF2-D4E3-4E55-A282-E85649824D54}"/>
                  </a:ext>
                </a:extLst>
              </p:cNvPr>
              <p:cNvSpPr txBox="1"/>
              <p:nvPr/>
            </p:nvSpPr>
            <p:spPr>
              <a:xfrm>
                <a:off x="1081790" y="4273847"/>
                <a:ext cx="8445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ca-ES" sz="2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4832DF2-D4E3-4E55-A282-E85649824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790" y="4273847"/>
                <a:ext cx="844590" cy="461665"/>
              </a:xfrm>
              <a:prstGeom prst="rect">
                <a:avLst/>
              </a:prstGeom>
              <a:blipFill>
                <a:blip r:embed="rId18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C551706-B8AB-4BFD-BA5F-75B0189BF72E}"/>
              </a:ext>
            </a:extLst>
          </p:cNvPr>
          <p:cNvCxnSpPr>
            <a:cxnSpLocks/>
          </p:cNvCxnSpPr>
          <p:nvPr/>
        </p:nvCxnSpPr>
        <p:spPr>
          <a:xfrm flipH="1">
            <a:off x="2607038" y="3276600"/>
            <a:ext cx="304801" cy="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D25B2F1-5D12-49B3-A3FA-F508D662A71A}"/>
              </a:ext>
            </a:extLst>
          </p:cNvPr>
          <p:cNvCxnSpPr>
            <a:cxnSpLocks/>
          </p:cNvCxnSpPr>
          <p:nvPr/>
        </p:nvCxnSpPr>
        <p:spPr>
          <a:xfrm flipH="1">
            <a:off x="2254613" y="3276600"/>
            <a:ext cx="304801" cy="0"/>
          </a:xfrm>
          <a:prstGeom prst="straightConnector1">
            <a:avLst/>
          </a:prstGeom>
          <a:ln w="571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CBAB50C-5DF7-4DA7-B514-510B258880CD}"/>
                  </a:ext>
                </a:extLst>
              </p:cNvPr>
              <p:cNvSpPr txBox="1"/>
              <p:nvPr/>
            </p:nvSpPr>
            <p:spPr>
              <a:xfrm>
                <a:off x="28575" y="3034010"/>
                <a:ext cx="54963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ca-ES" sz="24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CBAB50C-5DF7-4DA7-B514-510B258880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5" y="3034010"/>
                <a:ext cx="549638" cy="46166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92880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E658C-4F1D-41FB-A16A-B70F73CF7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Layout of a 1-bit adder</a:t>
            </a:r>
            <a:endParaRPr lang="ca-E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AC388A-25B7-4474-81FF-BC6BAA765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14C49-C88F-4F4F-9078-7F15B2575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477C39-3F6E-4B6B-ACA1-2C73197DC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E1EEFC-9FA8-47A7-966C-8A40C9B996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50" y="609600"/>
            <a:ext cx="7972096" cy="6119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6442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31">
            <a:extLst>
              <a:ext uri="{FF2B5EF4-FFF2-40B4-BE49-F238E27FC236}">
                <a16:creationId xmlns:a16="http://schemas.microsoft.com/office/drawing/2014/main" id="{F23AE432-76AA-4A66-B52D-4C7F79D61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inverter: layout</a:t>
            </a:r>
            <a:endParaRPr lang="ca-E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DFB502-D11A-46F0-84EC-FBE7C4BC6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56EB4-9000-4C38-88DD-D208EC79A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2E578D-CFB8-4DC3-BCDF-1CCCD4FCD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CDBAC-D55B-4B1E-9E87-97F48E7D7DEB}" type="slidenum">
              <a:rPr lang="en-US" smtClean="0"/>
              <a:t>31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255767-34CD-4EEF-8192-D4882DB7B6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059" y="1219200"/>
            <a:ext cx="6408341" cy="5105400"/>
          </a:xfrm>
          <a:prstGeom prst="rect">
            <a:avLst/>
          </a:prstGeom>
        </p:spPr>
      </p:pic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DA2C1490-923F-4001-8841-20419BF9705E}"/>
              </a:ext>
            </a:extLst>
          </p:cNvPr>
          <p:cNvCxnSpPr/>
          <p:nvPr/>
        </p:nvCxnSpPr>
        <p:spPr>
          <a:xfrm rot="16200000" flipV="1">
            <a:off x="921601" y="4806896"/>
            <a:ext cx="685800" cy="304800"/>
          </a:xfrm>
          <a:prstGeom prst="bentConnector3">
            <a:avLst/>
          </a:prstGeom>
          <a:ln w="28575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205CF37D-9A43-4EA7-A658-49D56915357A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921601" y="4229100"/>
            <a:ext cx="685800" cy="304800"/>
          </a:xfrm>
          <a:prstGeom prst="bentConnector3">
            <a:avLst/>
          </a:prstGeom>
          <a:ln w="28575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91EE630-9AFA-464E-A4AA-FCCF3098D45E}"/>
              </a:ext>
            </a:extLst>
          </p:cNvPr>
          <p:cNvCxnSpPr>
            <a:cxnSpLocks/>
          </p:cNvCxnSpPr>
          <p:nvPr/>
        </p:nvCxnSpPr>
        <p:spPr>
          <a:xfrm rot="16200000">
            <a:off x="731101" y="4672053"/>
            <a:ext cx="6096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1EFE8F-D6F1-4CA3-A541-9B14816052F6}"/>
              </a:ext>
            </a:extLst>
          </p:cNvPr>
          <p:cNvCxnSpPr>
            <a:cxnSpLocks/>
          </p:cNvCxnSpPr>
          <p:nvPr/>
        </p:nvCxnSpPr>
        <p:spPr>
          <a:xfrm rot="16200000">
            <a:off x="845401" y="4481553"/>
            <a:ext cx="0" cy="381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187AA79-69C7-4BFD-9974-A88C47768C51}"/>
              </a:ext>
            </a:extLst>
          </p:cNvPr>
          <p:cNvCxnSpPr/>
          <p:nvPr/>
        </p:nvCxnSpPr>
        <p:spPr>
          <a:xfrm rot="16200000" flipV="1">
            <a:off x="921601" y="3568646"/>
            <a:ext cx="685800" cy="304800"/>
          </a:xfrm>
          <a:prstGeom prst="bentConnector3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4A5713F2-F1D6-4410-9D60-798E65A7A133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921601" y="2990850"/>
            <a:ext cx="685800" cy="304800"/>
          </a:xfrm>
          <a:prstGeom prst="bentConnector3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4C0947D-1971-40DC-87A0-C1A42BDB3150}"/>
              </a:ext>
            </a:extLst>
          </p:cNvPr>
          <p:cNvCxnSpPr>
            <a:cxnSpLocks/>
          </p:cNvCxnSpPr>
          <p:nvPr/>
        </p:nvCxnSpPr>
        <p:spPr>
          <a:xfrm rot="16200000">
            <a:off x="731101" y="3433803"/>
            <a:ext cx="6096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C608E4C-319A-4B6D-ADF9-46D50FEF9E6C}"/>
              </a:ext>
            </a:extLst>
          </p:cNvPr>
          <p:cNvCxnSpPr>
            <a:cxnSpLocks/>
          </p:cNvCxnSpPr>
          <p:nvPr/>
        </p:nvCxnSpPr>
        <p:spPr>
          <a:xfrm rot="16200000">
            <a:off x="845401" y="3243303"/>
            <a:ext cx="0" cy="381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D92FFA85-0956-4887-9D5F-DB8AD43AFBFB}"/>
              </a:ext>
            </a:extLst>
          </p:cNvPr>
          <p:cNvSpPr/>
          <p:nvPr/>
        </p:nvSpPr>
        <p:spPr>
          <a:xfrm rot="16200000">
            <a:off x="883501" y="3357603"/>
            <a:ext cx="152400" cy="152400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02A4908-68A1-4675-9078-B5A126594146}"/>
              </a:ext>
            </a:extLst>
          </p:cNvPr>
          <p:cNvCxnSpPr/>
          <p:nvPr/>
        </p:nvCxnSpPr>
        <p:spPr>
          <a:xfrm>
            <a:off x="654901" y="3425717"/>
            <a:ext cx="0" cy="124633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F66B75C-66FE-495D-826F-8A15D90BC82D}"/>
              </a:ext>
            </a:extLst>
          </p:cNvPr>
          <p:cNvCxnSpPr/>
          <p:nvPr/>
        </p:nvCxnSpPr>
        <p:spPr>
          <a:xfrm>
            <a:off x="1416900" y="4063946"/>
            <a:ext cx="304801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017CCE3-89E7-4442-BC95-771A54520827}"/>
              </a:ext>
            </a:extLst>
          </p:cNvPr>
          <p:cNvCxnSpPr/>
          <p:nvPr/>
        </p:nvCxnSpPr>
        <p:spPr>
          <a:xfrm>
            <a:off x="350100" y="4067175"/>
            <a:ext cx="30480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A2016C6-F608-477D-BAC1-B640956C5ECB}"/>
              </a:ext>
            </a:extLst>
          </p:cNvPr>
          <p:cNvSpPr txBox="1"/>
          <p:nvPr/>
        </p:nvSpPr>
        <p:spPr>
          <a:xfrm>
            <a:off x="1150200" y="2428875"/>
            <a:ext cx="549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F0"/>
                </a:solidFill>
              </a:rPr>
              <a:t>Vdd</a:t>
            </a:r>
            <a:endParaRPr lang="ca-ES" dirty="0">
              <a:solidFill>
                <a:srgbClr val="00B0F0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9B4F4C8-A214-4F8F-8487-77AC52F05ABA}"/>
              </a:ext>
            </a:extLst>
          </p:cNvPr>
          <p:cNvCxnSpPr/>
          <p:nvPr/>
        </p:nvCxnSpPr>
        <p:spPr>
          <a:xfrm>
            <a:off x="1264501" y="5302196"/>
            <a:ext cx="304800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CDA983E-C9F5-475D-8523-184C139851A3}"/>
              </a:ext>
            </a:extLst>
          </p:cNvPr>
          <p:cNvSpPr txBox="1"/>
          <p:nvPr/>
        </p:nvSpPr>
        <p:spPr>
          <a:xfrm>
            <a:off x="1150201" y="5278993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F0"/>
                </a:solidFill>
              </a:rPr>
              <a:t>Gnd</a:t>
            </a:r>
            <a:endParaRPr lang="ca-ES" dirty="0">
              <a:solidFill>
                <a:srgbClr val="00B0F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0F0796-C97E-4309-8468-87D02CEEF140}"/>
              </a:ext>
            </a:extLst>
          </p:cNvPr>
          <p:cNvSpPr txBox="1"/>
          <p:nvPr/>
        </p:nvSpPr>
        <p:spPr>
          <a:xfrm>
            <a:off x="35848" y="388834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</a:t>
            </a:r>
            <a:endParaRPr lang="ca-ES" dirty="0"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5D0ED8-0467-4D96-A54C-EEFD883C175B}"/>
              </a:ext>
            </a:extLst>
          </p:cNvPr>
          <p:cNvSpPr txBox="1"/>
          <p:nvPr/>
        </p:nvSpPr>
        <p:spPr>
          <a:xfrm>
            <a:off x="1674076" y="3888343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Out</a:t>
            </a:r>
            <a:endParaRPr lang="ca-ES" dirty="0">
              <a:solidFill>
                <a:srgbClr val="00B0F0"/>
              </a:solidFill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960E0EF-AECA-49B9-81D9-668D4B9D5D49}"/>
              </a:ext>
            </a:extLst>
          </p:cNvPr>
          <p:cNvCxnSpPr/>
          <p:nvPr/>
        </p:nvCxnSpPr>
        <p:spPr>
          <a:xfrm>
            <a:off x="1416901" y="3888343"/>
            <a:ext cx="0" cy="369332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8BBB267-1CFB-4145-9007-E14FECEBC855}"/>
              </a:ext>
            </a:extLst>
          </p:cNvPr>
          <p:cNvCxnSpPr>
            <a:cxnSpLocks/>
          </p:cNvCxnSpPr>
          <p:nvPr/>
        </p:nvCxnSpPr>
        <p:spPr>
          <a:xfrm>
            <a:off x="1416900" y="5105401"/>
            <a:ext cx="0" cy="196795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7942B5F-233C-40BD-A727-836575A9B6EA}"/>
              </a:ext>
            </a:extLst>
          </p:cNvPr>
          <p:cNvCxnSpPr>
            <a:cxnSpLocks/>
          </p:cNvCxnSpPr>
          <p:nvPr/>
        </p:nvCxnSpPr>
        <p:spPr>
          <a:xfrm>
            <a:off x="1419225" y="2781300"/>
            <a:ext cx="0" cy="196795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4111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2FBED9-B931-4210-B16A-66D09FBF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4A9AB4-BE82-4C67-9B0F-C7BE1C55E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96D3B5-1589-425D-8C5E-0A9F77707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8CB4D2-F320-400B-B4B5-CDF9DD1CF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364" y="0"/>
            <a:ext cx="4605636" cy="6781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27E756-61E4-4AF8-804F-4B5C6EF7A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76200"/>
            <a:ext cx="1559859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2445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2FBED9-B931-4210-B16A-66D09FBF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4A9AB4-BE82-4C67-9B0F-C7BE1C55E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96D3B5-1589-425D-8C5E-0A9F77707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8CB4D2-F320-400B-B4B5-CDF9DD1CF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5964" y="0"/>
            <a:ext cx="4605636" cy="6781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4119AC-594F-4241-8E77-EB77E2FBF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781050"/>
            <a:ext cx="4211686" cy="1962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D6A39B-1EE9-416A-A479-6D7870D3F24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" b="1647"/>
          <a:stretch/>
        </p:blipFill>
        <p:spPr>
          <a:xfrm>
            <a:off x="295275" y="3101975"/>
            <a:ext cx="3667125" cy="322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8463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ctho.org/3ds/fulladder/perspective1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51" t="29015" r="9803" b="776"/>
          <a:stretch/>
        </p:blipFill>
        <p:spPr bwMode="auto">
          <a:xfrm>
            <a:off x="2415654" y="2310721"/>
            <a:ext cx="4339988" cy="3230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://ctho.org/3ds/fulladder/side1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507" b="18567"/>
          <a:stretch/>
        </p:blipFill>
        <p:spPr bwMode="auto">
          <a:xfrm>
            <a:off x="640078" y="5090613"/>
            <a:ext cx="7620000" cy="1767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http://ctho.org/3ds/fulladder/top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88" b="26687"/>
          <a:stretch/>
        </p:blipFill>
        <p:spPr bwMode="auto">
          <a:xfrm>
            <a:off x="844788" y="0"/>
            <a:ext cx="7620000" cy="2470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986018-0FE4-4505-A768-F6663ED99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CDBAC-D55B-4B1E-9E87-97F48E7D7DEB}" type="slidenum">
              <a:rPr lang="en-US" smtClean="0"/>
              <a:t>34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DCF983-E0E9-43B8-BDE5-16575C38B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CF6C34-D5E6-4051-AF2D-0447DB4EC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</p:spTree>
    <p:extLst>
      <p:ext uri="{BB962C8B-B14F-4D97-AF65-F5344CB8AC3E}">
        <p14:creationId xmlns:p14="http://schemas.microsoft.com/office/powerpoint/2010/main" val="6565054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D09847-C64F-4B18-850F-2AD1108ED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CDBAC-D55B-4B1E-9E87-97F48E7D7DEB}" type="slidenum">
              <a:rPr lang="en-US" smtClean="0"/>
              <a:t>35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0D1D23-9243-4A01-8207-673494593B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79" y="0"/>
            <a:ext cx="1576552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8E7699-5627-44C0-8C0E-F48BDD7B04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846" y="0"/>
            <a:ext cx="2102069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140DC5-9614-4541-A8FD-6DFF4FBF37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976" y="0"/>
            <a:ext cx="3153103" cy="6858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4ED38-2C38-4DA8-8192-97A6A710D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4FFCA-A9C9-4E9E-9DD3-1DD100B9D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</p:spTree>
    <p:extLst>
      <p:ext uri="{BB962C8B-B14F-4D97-AF65-F5344CB8AC3E}">
        <p14:creationId xmlns:p14="http://schemas.microsoft.com/office/powerpoint/2010/main" val="35605479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D09847-C64F-4B18-850F-2AD1108ED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CDBAC-D55B-4B1E-9E87-97F48E7D7DEB}" type="slidenum">
              <a:rPr lang="en-US" smtClean="0"/>
              <a:t>36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0D1D23-9243-4A01-8207-673494593B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860" y="0"/>
            <a:ext cx="1576552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8E7699-5627-44C0-8C0E-F48BDD7B04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846" y="0"/>
            <a:ext cx="2102069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140DC5-9614-4541-A8FD-6DFF4FBF37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4711" y="0"/>
            <a:ext cx="3153103" cy="6858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569045-D250-4125-AA9F-FA1C3DADA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104E9-72B5-4CDF-9ECC-7233F6FE7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</p:spTree>
    <p:extLst>
      <p:ext uri="{BB962C8B-B14F-4D97-AF65-F5344CB8AC3E}">
        <p14:creationId xmlns:p14="http://schemas.microsoft.com/office/powerpoint/2010/main" val="16828644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B92B1C-CAB2-467C-A3E4-D78E62277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CDBAC-D55B-4B1E-9E87-97F48E7D7DEB}" type="slidenum">
              <a:rPr lang="en-US" smtClean="0"/>
              <a:t>37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82B090-D6DE-468A-AC2C-1AF871604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51" y="345456"/>
            <a:ext cx="7586803" cy="61818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E37381-3509-4CF6-A85E-FE06CD439A7E}"/>
              </a:ext>
            </a:extLst>
          </p:cNvPr>
          <p:cNvSpPr txBox="1"/>
          <p:nvPr/>
        </p:nvSpPr>
        <p:spPr>
          <a:xfrm>
            <a:off x="202327" y="384773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VDD</a:t>
            </a:r>
            <a:endParaRPr lang="ca-E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A13EF5-9C07-4B4C-B98E-6395A8906A73}"/>
              </a:ext>
            </a:extLst>
          </p:cNvPr>
          <p:cNvSpPr txBox="1"/>
          <p:nvPr/>
        </p:nvSpPr>
        <p:spPr>
          <a:xfrm>
            <a:off x="202327" y="4235496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VDD</a:t>
            </a:r>
            <a:endParaRPr lang="ca-E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1A3309-6CF3-4957-BA3D-DA7132D1C286}"/>
              </a:ext>
            </a:extLst>
          </p:cNvPr>
          <p:cNvSpPr txBox="1"/>
          <p:nvPr/>
        </p:nvSpPr>
        <p:spPr>
          <a:xfrm>
            <a:off x="181488" y="2253172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GND</a:t>
            </a:r>
            <a:endParaRPr lang="ca-E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78C39A-4080-47A3-AD78-2ADC4A0087CB}"/>
              </a:ext>
            </a:extLst>
          </p:cNvPr>
          <p:cNvSpPr txBox="1"/>
          <p:nvPr/>
        </p:nvSpPr>
        <p:spPr>
          <a:xfrm>
            <a:off x="181488" y="6139701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GND</a:t>
            </a:r>
            <a:endParaRPr lang="ca-E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92AEDB-8044-4076-B26F-B37CD668519E}"/>
              </a:ext>
            </a:extLst>
          </p:cNvPr>
          <p:cNvSpPr txBox="1"/>
          <p:nvPr/>
        </p:nvSpPr>
        <p:spPr>
          <a:xfrm>
            <a:off x="8283920" y="801231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pMOS</a:t>
            </a:r>
            <a:endParaRPr lang="ca-E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E7D111-8F4E-481A-A779-9F01067F700E}"/>
              </a:ext>
            </a:extLst>
          </p:cNvPr>
          <p:cNvSpPr txBox="1"/>
          <p:nvPr/>
        </p:nvSpPr>
        <p:spPr>
          <a:xfrm>
            <a:off x="8291462" y="1750335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nMOS</a:t>
            </a:r>
            <a:endParaRPr lang="ca-E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B9A26C-0010-409F-B181-DAE31A5296D7}"/>
              </a:ext>
            </a:extLst>
          </p:cNvPr>
          <p:cNvSpPr txBox="1"/>
          <p:nvPr/>
        </p:nvSpPr>
        <p:spPr>
          <a:xfrm>
            <a:off x="8299007" y="2744706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nMOS</a:t>
            </a:r>
            <a:endParaRPr lang="ca-E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B880AD-ED22-4D04-979C-A325824AD7D2}"/>
              </a:ext>
            </a:extLst>
          </p:cNvPr>
          <p:cNvSpPr txBox="1"/>
          <p:nvPr/>
        </p:nvSpPr>
        <p:spPr>
          <a:xfrm>
            <a:off x="8306552" y="5812311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nMOS</a:t>
            </a:r>
            <a:endParaRPr lang="ca-E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4D5238-AB3B-46E7-9414-3F646A99B2FE}"/>
              </a:ext>
            </a:extLst>
          </p:cNvPr>
          <p:cNvSpPr txBox="1"/>
          <p:nvPr/>
        </p:nvSpPr>
        <p:spPr>
          <a:xfrm>
            <a:off x="8286935" y="3674185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pMOS</a:t>
            </a:r>
            <a:endParaRPr lang="ca-E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45923A-1CFD-414D-BCC9-3F2DBEB6F7C3}"/>
              </a:ext>
            </a:extLst>
          </p:cNvPr>
          <p:cNvSpPr txBox="1"/>
          <p:nvPr/>
        </p:nvSpPr>
        <p:spPr>
          <a:xfrm>
            <a:off x="8289950" y="4772666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pMOS</a:t>
            </a:r>
            <a:endParaRPr lang="ca-E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358768-038D-4AB3-A5B6-7B76E2DFF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271C7D0E-3835-4D61-A04C-A59D9D39B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</p:spTree>
    <p:extLst>
      <p:ext uri="{BB962C8B-B14F-4D97-AF65-F5344CB8AC3E}">
        <p14:creationId xmlns:p14="http://schemas.microsoft.com/office/powerpoint/2010/main" val="38625566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A90BC10-9FED-4FAE-B0A4-37E5CD2C7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Gridded layout</a:t>
            </a:r>
            <a:endParaRPr lang="ca-E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CE143D-021D-4451-99DA-0570B9C30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6AFF767-0F0A-4925-8CBB-D9D897E8A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D09847-C64F-4B18-850F-2AD1108ED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CDBAC-D55B-4B1E-9E87-97F48E7D7DEB}" type="slidenum">
              <a:rPr lang="en-US" smtClean="0"/>
              <a:t>38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338E656-23BE-4956-9FC1-DF6468DDC284}"/>
              </a:ext>
            </a:extLst>
          </p:cNvPr>
          <p:cNvGrpSpPr>
            <a:grpSpLocks noChangeAspect="1"/>
          </p:cNvGrpSpPr>
          <p:nvPr/>
        </p:nvGrpSpPr>
        <p:grpSpPr>
          <a:xfrm>
            <a:off x="125140" y="990600"/>
            <a:ext cx="8893719" cy="2834640"/>
            <a:chOff x="6" y="-2"/>
            <a:chExt cx="9754401" cy="310896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708E5BB-7F4D-436A-98F0-B129DF01801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" y="-2"/>
              <a:ext cx="4996929" cy="3108960"/>
              <a:chOff x="0" y="-9056"/>
              <a:chExt cx="11027464" cy="6861009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294C2311-1D98-4B5E-9FFC-AD3A29629167}"/>
                  </a:ext>
                </a:extLst>
              </p:cNvPr>
              <p:cNvGrpSpPr/>
              <p:nvPr/>
            </p:nvGrpSpPr>
            <p:grpSpPr>
              <a:xfrm>
                <a:off x="0" y="-9056"/>
                <a:ext cx="5777954" cy="6858000"/>
                <a:chOff x="1859860" y="0"/>
                <a:chExt cx="5777954" cy="6858000"/>
              </a:xfrm>
            </p:grpSpPr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790D1D23-9243-4A01-8207-673494593B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59860" y="0"/>
                  <a:ext cx="1576552" cy="6858000"/>
                </a:xfrm>
                <a:prstGeom prst="rect">
                  <a:avLst/>
                </a:prstGeom>
              </p:spPr>
            </p:pic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0C8E7699-5627-44C0-8C0E-F48BDD7B04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09846" y="0"/>
                  <a:ext cx="2102069" cy="6858000"/>
                </a:xfrm>
                <a:prstGeom prst="rect">
                  <a:avLst/>
                </a:prstGeom>
              </p:spPr>
            </p:pic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95140DC5-9614-4541-A8FD-6DFF4FBF37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484711" y="0"/>
                  <a:ext cx="3153103" cy="6858000"/>
                </a:xfrm>
                <a:prstGeom prst="rect">
                  <a:avLst/>
                </a:prstGeom>
              </p:spPr>
            </p:pic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A1273AC9-B3BC-48BD-AF78-02257CC281D6}"/>
                  </a:ext>
                </a:extLst>
              </p:cNvPr>
              <p:cNvGrpSpPr/>
              <p:nvPr/>
            </p:nvGrpSpPr>
            <p:grpSpPr>
              <a:xfrm>
                <a:off x="5249510" y="-6047"/>
                <a:ext cx="5777954" cy="6858000"/>
                <a:chOff x="1859860" y="0"/>
                <a:chExt cx="5777954" cy="6858000"/>
              </a:xfrm>
            </p:grpSpPr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40A6DE00-E686-4991-82A5-903398DE70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59860" y="0"/>
                  <a:ext cx="1576552" cy="6858000"/>
                </a:xfrm>
                <a:prstGeom prst="rect">
                  <a:avLst/>
                </a:prstGeom>
              </p:spPr>
            </p:pic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90CE8150-0491-4D43-9101-0BA498537D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09846" y="0"/>
                  <a:ext cx="2102069" cy="6858000"/>
                </a:xfrm>
                <a:prstGeom prst="rect">
                  <a:avLst/>
                </a:prstGeom>
              </p:spPr>
            </p:pic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37E1C295-ABE8-4A0B-A474-3EBB257A08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484711" y="0"/>
                  <a:ext cx="3153103" cy="68580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892579D-AF27-458A-92A0-F1972CCAD05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57478" y="0"/>
              <a:ext cx="4996929" cy="3108960"/>
              <a:chOff x="0" y="-9056"/>
              <a:chExt cx="11027464" cy="6861009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A45032E5-D8DA-4540-9C70-E6F78725D964}"/>
                  </a:ext>
                </a:extLst>
              </p:cNvPr>
              <p:cNvGrpSpPr/>
              <p:nvPr/>
            </p:nvGrpSpPr>
            <p:grpSpPr>
              <a:xfrm>
                <a:off x="0" y="-9056"/>
                <a:ext cx="5777954" cy="6858000"/>
                <a:chOff x="1859860" y="0"/>
                <a:chExt cx="5777954" cy="6858000"/>
              </a:xfrm>
            </p:grpSpPr>
            <p:pic>
              <p:nvPicPr>
                <p:cNvPr id="21" name="Picture 20">
                  <a:extLst>
                    <a:ext uri="{FF2B5EF4-FFF2-40B4-BE49-F238E27FC236}">
                      <a16:creationId xmlns:a16="http://schemas.microsoft.com/office/drawing/2014/main" id="{A71D210C-657C-47B6-A1C6-6C9D29F7DC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59860" y="0"/>
                  <a:ext cx="1576552" cy="6858000"/>
                </a:xfrm>
                <a:prstGeom prst="rect">
                  <a:avLst/>
                </a:prstGeom>
              </p:spPr>
            </p:pic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71859321-65F0-4A3D-94D7-C14F5147F3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09846" y="0"/>
                  <a:ext cx="2102069" cy="6858000"/>
                </a:xfrm>
                <a:prstGeom prst="rect">
                  <a:avLst/>
                </a:prstGeom>
              </p:spPr>
            </p:pic>
            <p:pic>
              <p:nvPicPr>
                <p:cNvPr id="23" name="Picture 22">
                  <a:extLst>
                    <a:ext uri="{FF2B5EF4-FFF2-40B4-BE49-F238E27FC236}">
                      <a16:creationId xmlns:a16="http://schemas.microsoft.com/office/drawing/2014/main" id="{D9646706-9F36-413B-8B67-6B63A6FE74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484711" y="0"/>
                  <a:ext cx="3153103" cy="6858000"/>
                </a:xfrm>
                <a:prstGeom prst="rect">
                  <a:avLst/>
                </a:prstGeom>
              </p:spPr>
            </p:pic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9B82B882-0D0B-4A9F-BD79-9B6A05A9C526}"/>
                  </a:ext>
                </a:extLst>
              </p:cNvPr>
              <p:cNvGrpSpPr/>
              <p:nvPr/>
            </p:nvGrpSpPr>
            <p:grpSpPr>
              <a:xfrm>
                <a:off x="5249510" y="-6047"/>
                <a:ext cx="5777954" cy="6858000"/>
                <a:chOff x="1859860" y="0"/>
                <a:chExt cx="5777954" cy="6858000"/>
              </a:xfrm>
            </p:grpSpPr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4E7421AA-92FB-4454-86DE-B048A4BB64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59860" y="0"/>
                  <a:ext cx="1576552" cy="6858000"/>
                </a:xfrm>
                <a:prstGeom prst="rect">
                  <a:avLst/>
                </a:prstGeom>
              </p:spPr>
            </p:pic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41729982-2172-4822-858B-11251851CA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09846" y="0"/>
                  <a:ext cx="2102069" cy="6858000"/>
                </a:xfrm>
                <a:prstGeom prst="rect">
                  <a:avLst/>
                </a:prstGeom>
              </p:spPr>
            </p:pic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C8B5F0B4-B9C0-4CBA-8330-0549FAF10F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484711" y="0"/>
                  <a:ext cx="3153103" cy="685800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AD86F42-7AC5-4D6E-900A-B6E2D2E1BFCA}"/>
              </a:ext>
            </a:extLst>
          </p:cNvPr>
          <p:cNvGrpSpPr>
            <a:grpSpLocks noChangeAspect="1"/>
          </p:cNvGrpSpPr>
          <p:nvPr/>
        </p:nvGrpSpPr>
        <p:grpSpPr>
          <a:xfrm flipV="1">
            <a:off x="125140" y="3396551"/>
            <a:ext cx="8893719" cy="2834640"/>
            <a:chOff x="6" y="-2"/>
            <a:chExt cx="9754401" cy="310896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A34DB4B6-55D3-4FE5-A3D7-0E65EA155D1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" y="-2"/>
              <a:ext cx="4996929" cy="3108960"/>
              <a:chOff x="0" y="-9056"/>
              <a:chExt cx="11027464" cy="6861009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B3D22261-31BA-44DA-8180-305C77A1D7AB}"/>
                  </a:ext>
                </a:extLst>
              </p:cNvPr>
              <p:cNvGrpSpPr/>
              <p:nvPr/>
            </p:nvGrpSpPr>
            <p:grpSpPr>
              <a:xfrm>
                <a:off x="0" y="-9056"/>
                <a:ext cx="5777954" cy="6858000"/>
                <a:chOff x="1859860" y="0"/>
                <a:chExt cx="5777954" cy="6858000"/>
              </a:xfrm>
            </p:grpSpPr>
            <p:pic>
              <p:nvPicPr>
                <p:cNvPr id="43" name="Picture 42">
                  <a:extLst>
                    <a:ext uri="{FF2B5EF4-FFF2-40B4-BE49-F238E27FC236}">
                      <a16:creationId xmlns:a16="http://schemas.microsoft.com/office/drawing/2014/main" id="{DA1CDCAE-FE68-4606-AED6-D435E3C73B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59860" y="0"/>
                  <a:ext cx="1576552" cy="6858000"/>
                </a:xfrm>
                <a:prstGeom prst="rect">
                  <a:avLst/>
                </a:prstGeom>
              </p:spPr>
            </p:pic>
            <p:pic>
              <p:nvPicPr>
                <p:cNvPr id="44" name="Picture 43">
                  <a:extLst>
                    <a:ext uri="{FF2B5EF4-FFF2-40B4-BE49-F238E27FC236}">
                      <a16:creationId xmlns:a16="http://schemas.microsoft.com/office/drawing/2014/main" id="{8FEFBA33-C17F-4299-9AAD-C0240A4E69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09846" y="0"/>
                  <a:ext cx="2102069" cy="6858000"/>
                </a:xfrm>
                <a:prstGeom prst="rect">
                  <a:avLst/>
                </a:prstGeom>
              </p:spPr>
            </p:pic>
            <p:pic>
              <p:nvPicPr>
                <p:cNvPr id="45" name="Picture 44">
                  <a:extLst>
                    <a:ext uri="{FF2B5EF4-FFF2-40B4-BE49-F238E27FC236}">
                      <a16:creationId xmlns:a16="http://schemas.microsoft.com/office/drawing/2014/main" id="{6109B9A2-9901-4170-8D14-BF5D234812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484711" y="0"/>
                  <a:ext cx="3153103" cy="6858000"/>
                </a:xfrm>
                <a:prstGeom prst="rect">
                  <a:avLst/>
                </a:prstGeom>
              </p:spPr>
            </p:pic>
          </p:grp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75027560-4258-4BA4-B898-FF68161C07CF}"/>
                  </a:ext>
                </a:extLst>
              </p:cNvPr>
              <p:cNvGrpSpPr/>
              <p:nvPr/>
            </p:nvGrpSpPr>
            <p:grpSpPr>
              <a:xfrm>
                <a:off x="5249510" y="-6047"/>
                <a:ext cx="5777954" cy="6858000"/>
                <a:chOff x="1859860" y="0"/>
                <a:chExt cx="5777954" cy="6858000"/>
              </a:xfrm>
            </p:grpSpPr>
            <p:pic>
              <p:nvPicPr>
                <p:cNvPr id="40" name="Picture 39">
                  <a:extLst>
                    <a:ext uri="{FF2B5EF4-FFF2-40B4-BE49-F238E27FC236}">
                      <a16:creationId xmlns:a16="http://schemas.microsoft.com/office/drawing/2014/main" id="{D31F0B83-A2DB-4574-AD8A-F08E6A93AE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59860" y="0"/>
                  <a:ext cx="1576552" cy="6858000"/>
                </a:xfrm>
                <a:prstGeom prst="rect">
                  <a:avLst/>
                </a:prstGeom>
              </p:spPr>
            </p:pic>
            <p:pic>
              <p:nvPicPr>
                <p:cNvPr id="41" name="Picture 40">
                  <a:extLst>
                    <a:ext uri="{FF2B5EF4-FFF2-40B4-BE49-F238E27FC236}">
                      <a16:creationId xmlns:a16="http://schemas.microsoft.com/office/drawing/2014/main" id="{71193D35-1FED-4F5F-BF7D-FFCC7721FE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09846" y="0"/>
                  <a:ext cx="2102069" cy="6858000"/>
                </a:xfrm>
                <a:prstGeom prst="rect">
                  <a:avLst/>
                </a:prstGeom>
              </p:spPr>
            </p:pic>
            <p:pic>
              <p:nvPicPr>
                <p:cNvPr id="42" name="Picture 41">
                  <a:extLst>
                    <a:ext uri="{FF2B5EF4-FFF2-40B4-BE49-F238E27FC236}">
                      <a16:creationId xmlns:a16="http://schemas.microsoft.com/office/drawing/2014/main" id="{DF963747-7961-401D-865A-69ACA8E0C1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484711" y="0"/>
                  <a:ext cx="3153103" cy="68580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CD8B37CE-8F68-49A1-941A-B13B4A10736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57478" y="0"/>
              <a:ext cx="4996929" cy="3108960"/>
              <a:chOff x="0" y="-9056"/>
              <a:chExt cx="11027464" cy="6861009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FC8DB651-8E23-4CBA-9FBA-4E8251229477}"/>
                  </a:ext>
                </a:extLst>
              </p:cNvPr>
              <p:cNvGrpSpPr/>
              <p:nvPr/>
            </p:nvGrpSpPr>
            <p:grpSpPr>
              <a:xfrm>
                <a:off x="0" y="-9056"/>
                <a:ext cx="5777954" cy="6858000"/>
                <a:chOff x="1859860" y="0"/>
                <a:chExt cx="5777954" cy="6858000"/>
              </a:xfrm>
            </p:grpSpPr>
            <p:pic>
              <p:nvPicPr>
                <p:cNvPr id="35" name="Picture 34">
                  <a:extLst>
                    <a:ext uri="{FF2B5EF4-FFF2-40B4-BE49-F238E27FC236}">
                      <a16:creationId xmlns:a16="http://schemas.microsoft.com/office/drawing/2014/main" id="{D84844A5-5CE0-41A9-9F1B-CFD806B37D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59860" y="0"/>
                  <a:ext cx="1576552" cy="6858000"/>
                </a:xfrm>
                <a:prstGeom prst="rect">
                  <a:avLst/>
                </a:prstGeom>
              </p:spPr>
            </p:pic>
            <p:pic>
              <p:nvPicPr>
                <p:cNvPr id="36" name="Picture 35">
                  <a:extLst>
                    <a:ext uri="{FF2B5EF4-FFF2-40B4-BE49-F238E27FC236}">
                      <a16:creationId xmlns:a16="http://schemas.microsoft.com/office/drawing/2014/main" id="{1B875046-066D-4BEB-B03D-6E5C16D83F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09846" y="0"/>
                  <a:ext cx="2102069" cy="6858000"/>
                </a:xfrm>
                <a:prstGeom prst="rect">
                  <a:avLst/>
                </a:prstGeom>
              </p:spPr>
            </p:pic>
            <p:pic>
              <p:nvPicPr>
                <p:cNvPr id="37" name="Picture 36">
                  <a:extLst>
                    <a:ext uri="{FF2B5EF4-FFF2-40B4-BE49-F238E27FC236}">
                      <a16:creationId xmlns:a16="http://schemas.microsoft.com/office/drawing/2014/main" id="{20E5EE75-459D-46E9-8E90-91D4BAAABD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484711" y="0"/>
                  <a:ext cx="3153103" cy="6858000"/>
                </a:xfrm>
                <a:prstGeom prst="rect">
                  <a:avLst/>
                </a:prstGeom>
              </p:spPr>
            </p:pic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67FCDE95-B90A-456F-AA03-74FEC7384B3C}"/>
                  </a:ext>
                </a:extLst>
              </p:cNvPr>
              <p:cNvGrpSpPr/>
              <p:nvPr/>
            </p:nvGrpSpPr>
            <p:grpSpPr>
              <a:xfrm>
                <a:off x="5249510" y="-6047"/>
                <a:ext cx="5777954" cy="6858000"/>
                <a:chOff x="1859860" y="0"/>
                <a:chExt cx="5777954" cy="6858000"/>
              </a:xfrm>
            </p:grpSpPr>
            <p:pic>
              <p:nvPicPr>
                <p:cNvPr id="32" name="Picture 31">
                  <a:extLst>
                    <a:ext uri="{FF2B5EF4-FFF2-40B4-BE49-F238E27FC236}">
                      <a16:creationId xmlns:a16="http://schemas.microsoft.com/office/drawing/2014/main" id="{D81CF995-E739-4ABA-B103-BDAF3F0CEF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59860" y="0"/>
                  <a:ext cx="1576552" cy="6858000"/>
                </a:xfrm>
                <a:prstGeom prst="rect">
                  <a:avLst/>
                </a:prstGeom>
              </p:spPr>
            </p:pic>
            <p:pic>
              <p:nvPicPr>
                <p:cNvPr id="33" name="Picture 32">
                  <a:extLst>
                    <a:ext uri="{FF2B5EF4-FFF2-40B4-BE49-F238E27FC236}">
                      <a16:creationId xmlns:a16="http://schemas.microsoft.com/office/drawing/2014/main" id="{1DFFBCCB-0D48-47EE-ABBE-D5D9172D40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09846" y="0"/>
                  <a:ext cx="2102069" cy="6858000"/>
                </a:xfrm>
                <a:prstGeom prst="rect">
                  <a:avLst/>
                </a:prstGeom>
              </p:spPr>
            </p:pic>
            <p:pic>
              <p:nvPicPr>
                <p:cNvPr id="34" name="Picture 33">
                  <a:extLst>
                    <a:ext uri="{FF2B5EF4-FFF2-40B4-BE49-F238E27FC236}">
                      <a16:creationId xmlns:a16="http://schemas.microsoft.com/office/drawing/2014/main" id="{371D626B-4279-4E90-9146-E9032F15D8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484711" y="0"/>
                  <a:ext cx="3153103" cy="6858000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1554753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F77AF09-B122-473B-8952-0CA8E00BC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After routing</a:t>
            </a:r>
            <a:endParaRPr lang="ca-E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42DA49-8F4C-49EA-861D-5EE084320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B16D05-4464-4BA8-9112-5323AAABB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EC1FC-FEF3-4C15-8D0E-644C93BAD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2370F6-2A2D-4932-884E-AE64022A9D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75" y="762000"/>
            <a:ext cx="7934325" cy="603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7689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E658C-4F1D-41FB-A16A-B70F73CF7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Gridded layout</a:t>
            </a:r>
            <a:endParaRPr lang="ca-E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AC388A-25B7-4474-81FF-BC6BAA765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14C49-C88F-4F4F-9078-7F15B2575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477C39-3F6E-4B6B-ACA1-2C73197DC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E1EEFC-9FA8-47A7-966C-8A40C9B996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50" y="609600"/>
            <a:ext cx="7972096" cy="6119756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CE68479F-F7EB-4DCE-93C7-32FA5801ECA3}"/>
              </a:ext>
            </a:extLst>
          </p:cNvPr>
          <p:cNvGrpSpPr/>
          <p:nvPr/>
        </p:nvGrpSpPr>
        <p:grpSpPr>
          <a:xfrm>
            <a:off x="830249" y="1143000"/>
            <a:ext cx="7499404" cy="5029200"/>
            <a:chOff x="830249" y="1143000"/>
            <a:chExt cx="7499404" cy="50292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4A720BF-E279-4433-893D-3DEC09075535}"/>
                </a:ext>
              </a:extLst>
            </p:cNvPr>
            <p:cNvCxnSpPr>
              <a:cxnSpLocks/>
            </p:cNvCxnSpPr>
            <p:nvPr/>
          </p:nvCxnSpPr>
          <p:spPr>
            <a:xfrm>
              <a:off x="1298962" y="1143000"/>
              <a:ext cx="0" cy="50292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DAA841B-6620-4420-B087-C788D3EF5CD3}"/>
                </a:ext>
              </a:extLst>
            </p:cNvPr>
            <p:cNvCxnSpPr>
              <a:cxnSpLocks/>
            </p:cNvCxnSpPr>
            <p:nvPr/>
          </p:nvCxnSpPr>
          <p:spPr>
            <a:xfrm>
              <a:off x="830249" y="1143000"/>
              <a:ext cx="0" cy="50292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75F3391-60F1-460E-9B75-0C48456A35BB}"/>
                </a:ext>
              </a:extLst>
            </p:cNvPr>
            <p:cNvCxnSpPr>
              <a:cxnSpLocks/>
            </p:cNvCxnSpPr>
            <p:nvPr/>
          </p:nvCxnSpPr>
          <p:spPr>
            <a:xfrm>
              <a:off x="1767675" y="1143000"/>
              <a:ext cx="0" cy="50292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3C032D9-4668-4F23-95D6-EBBD7A431D21}"/>
                </a:ext>
              </a:extLst>
            </p:cNvPr>
            <p:cNvCxnSpPr>
              <a:cxnSpLocks/>
            </p:cNvCxnSpPr>
            <p:nvPr/>
          </p:nvCxnSpPr>
          <p:spPr>
            <a:xfrm>
              <a:off x="2236388" y="1143000"/>
              <a:ext cx="0" cy="50292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5A7C3C9-5F36-4D4E-9B11-6C44DE5E7242}"/>
                </a:ext>
              </a:extLst>
            </p:cNvPr>
            <p:cNvCxnSpPr>
              <a:cxnSpLocks/>
            </p:cNvCxnSpPr>
            <p:nvPr/>
          </p:nvCxnSpPr>
          <p:spPr>
            <a:xfrm>
              <a:off x="2705101" y="1143000"/>
              <a:ext cx="0" cy="50292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7E5DADA-AFCF-4DD0-9551-7A72FD3FE0CC}"/>
                </a:ext>
              </a:extLst>
            </p:cNvPr>
            <p:cNvCxnSpPr>
              <a:cxnSpLocks/>
            </p:cNvCxnSpPr>
            <p:nvPr/>
          </p:nvCxnSpPr>
          <p:spPr>
            <a:xfrm>
              <a:off x="3173814" y="1143000"/>
              <a:ext cx="0" cy="50292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F3BD2EA-2344-40A4-8569-3170FBA14353}"/>
                </a:ext>
              </a:extLst>
            </p:cNvPr>
            <p:cNvCxnSpPr>
              <a:cxnSpLocks/>
            </p:cNvCxnSpPr>
            <p:nvPr/>
          </p:nvCxnSpPr>
          <p:spPr>
            <a:xfrm>
              <a:off x="3642527" y="1143000"/>
              <a:ext cx="0" cy="50292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0C33B7-E68C-4411-9C90-31D6093516F1}"/>
                </a:ext>
              </a:extLst>
            </p:cNvPr>
            <p:cNvCxnSpPr>
              <a:cxnSpLocks/>
            </p:cNvCxnSpPr>
            <p:nvPr/>
          </p:nvCxnSpPr>
          <p:spPr>
            <a:xfrm>
              <a:off x="4111240" y="1143000"/>
              <a:ext cx="0" cy="50292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2118277-ADC6-4517-8F01-8B6C0019DD6C}"/>
                </a:ext>
              </a:extLst>
            </p:cNvPr>
            <p:cNvCxnSpPr>
              <a:cxnSpLocks/>
            </p:cNvCxnSpPr>
            <p:nvPr/>
          </p:nvCxnSpPr>
          <p:spPr>
            <a:xfrm>
              <a:off x="4579953" y="1143000"/>
              <a:ext cx="0" cy="50292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2FB34E9-6781-406E-A323-94B72D1A552A}"/>
                </a:ext>
              </a:extLst>
            </p:cNvPr>
            <p:cNvCxnSpPr>
              <a:cxnSpLocks/>
            </p:cNvCxnSpPr>
            <p:nvPr/>
          </p:nvCxnSpPr>
          <p:spPr>
            <a:xfrm>
              <a:off x="5048666" y="1143000"/>
              <a:ext cx="0" cy="50292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425B086-893D-484D-81F3-1CFE37829948}"/>
                </a:ext>
              </a:extLst>
            </p:cNvPr>
            <p:cNvCxnSpPr>
              <a:cxnSpLocks/>
            </p:cNvCxnSpPr>
            <p:nvPr/>
          </p:nvCxnSpPr>
          <p:spPr>
            <a:xfrm>
              <a:off x="5517379" y="1143000"/>
              <a:ext cx="0" cy="50292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E024A37-B9AA-47DC-B479-2C3D86602479}"/>
                </a:ext>
              </a:extLst>
            </p:cNvPr>
            <p:cNvCxnSpPr>
              <a:cxnSpLocks/>
            </p:cNvCxnSpPr>
            <p:nvPr/>
          </p:nvCxnSpPr>
          <p:spPr>
            <a:xfrm>
              <a:off x="5986092" y="1143000"/>
              <a:ext cx="0" cy="50292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1A3BBAB-576C-4576-9A34-E1F1D3B15F80}"/>
                </a:ext>
              </a:extLst>
            </p:cNvPr>
            <p:cNvCxnSpPr>
              <a:cxnSpLocks/>
            </p:cNvCxnSpPr>
            <p:nvPr/>
          </p:nvCxnSpPr>
          <p:spPr>
            <a:xfrm>
              <a:off x="6454805" y="1143000"/>
              <a:ext cx="0" cy="50292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14441AD-2F88-4E3A-9F40-AF909F48C24B}"/>
                </a:ext>
              </a:extLst>
            </p:cNvPr>
            <p:cNvCxnSpPr>
              <a:cxnSpLocks/>
            </p:cNvCxnSpPr>
            <p:nvPr/>
          </p:nvCxnSpPr>
          <p:spPr>
            <a:xfrm>
              <a:off x="6923518" y="1143000"/>
              <a:ext cx="0" cy="50292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C365EE4-FA76-4BE8-A7E3-70AB2A594F6D}"/>
                </a:ext>
              </a:extLst>
            </p:cNvPr>
            <p:cNvCxnSpPr>
              <a:cxnSpLocks/>
            </p:cNvCxnSpPr>
            <p:nvPr/>
          </p:nvCxnSpPr>
          <p:spPr>
            <a:xfrm>
              <a:off x="7392231" y="1143000"/>
              <a:ext cx="0" cy="50292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7E9E9D2-DCD7-447C-A4C5-A0A140724842}"/>
                </a:ext>
              </a:extLst>
            </p:cNvPr>
            <p:cNvCxnSpPr>
              <a:cxnSpLocks/>
            </p:cNvCxnSpPr>
            <p:nvPr/>
          </p:nvCxnSpPr>
          <p:spPr>
            <a:xfrm>
              <a:off x="7860944" y="1143000"/>
              <a:ext cx="0" cy="50292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28D7799-1F94-4323-8DBD-08958607E41D}"/>
                </a:ext>
              </a:extLst>
            </p:cNvPr>
            <p:cNvCxnSpPr>
              <a:cxnSpLocks/>
            </p:cNvCxnSpPr>
            <p:nvPr/>
          </p:nvCxnSpPr>
          <p:spPr>
            <a:xfrm>
              <a:off x="8329653" y="1143000"/>
              <a:ext cx="0" cy="50292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631457F-4A30-4DBA-A5AA-200A8E430FD8}"/>
              </a:ext>
            </a:extLst>
          </p:cNvPr>
          <p:cNvGrpSpPr/>
          <p:nvPr/>
        </p:nvGrpSpPr>
        <p:grpSpPr>
          <a:xfrm>
            <a:off x="661947" y="1676400"/>
            <a:ext cx="7867650" cy="3969020"/>
            <a:chOff x="661947" y="1676400"/>
            <a:chExt cx="7867650" cy="396902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6647E65-B12A-4E1A-BFB4-831BA82D1218}"/>
                </a:ext>
              </a:extLst>
            </p:cNvPr>
            <p:cNvCxnSpPr/>
            <p:nvPr/>
          </p:nvCxnSpPr>
          <p:spPr>
            <a:xfrm>
              <a:off x="661947" y="1676400"/>
              <a:ext cx="7867650" cy="0"/>
            </a:xfrm>
            <a:prstGeom prst="line">
              <a:avLst/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8C2A545-A592-496C-9AD7-A6F396C0C30F}"/>
                </a:ext>
              </a:extLst>
            </p:cNvPr>
            <p:cNvCxnSpPr/>
            <p:nvPr/>
          </p:nvCxnSpPr>
          <p:spPr>
            <a:xfrm>
              <a:off x="661947" y="2073302"/>
              <a:ext cx="7867650" cy="0"/>
            </a:xfrm>
            <a:prstGeom prst="line">
              <a:avLst/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7203F49-D566-4976-9AA2-8853326AC5E0}"/>
                </a:ext>
              </a:extLst>
            </p:cNvPr>
            <p:cNvCxnSpPr/>
            <p:nvPr/>
          </p:nvCxnSpPr>
          <p:spPr>
            <a:xfrm>
              <a:off x="661947" y="2470204"/>
              <a:ext cx="7867650" cy="0"/>
            </a:xfrm>
            <a:prstGeom prst="line">
              <a:avLst/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F3578A0-3027-41B6-A881-E03E10C71A32}"/>
                </a:ext>
              </a:extLst>
            </p:cNvPr>
            <p:cNvCxnSpPr/>
            <p:nvPr/>
          </p:nvCxnSpPr>
          <p:spPr>
            <a:xfrm>
              <a:off x="661947" y="2867106"/>
              <a:ext cx="7867650" cy="0"/>
            </a:xfrm>
            <a:prstGeom prst="line">
              <a:avLst/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C37B784-4101-4352-9FC7-1C20A77A9971}"/>
                </a:ext>
              </a:extLst>
            </p:cNvPr>
            <p:cNvCxnSpPr/>
            <p:nvPr/>
          </p:nvCxnSpPr>
          <p:spPr>
            <a:xfrm>
              <a:off x="661947" y="3264008"/>
              <a:ext cx="7867650" cy="0"/>
            </a:xfrm>
            <a:prstGeom prst="line">
              <a:avLst/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00B5667-F8B0-4B1E-836B-898B9618FF11}"/>
                </a:ext>
              </a:extLst>
            </p:cNvPr>
            <p:cNvCxnSpPr/>
            <p:nvPr/>
          </p:nvCxnSpPr>
          <p:spPr>
            <a:xfrm>
              <a:off x="661947" y="3660910"/>
              <a:ext cx="7867650" cy="0"/>
            </a:xfrm>
            <a:prstGeom prst="line">
              <a:avLst/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041E527-530D-4B44-8B13-3FD023917F0E}"/>
                </a:ext>
              </a:extLst>
            </p:cNvPr>
            <p:cNvCxnSpPr/>
            <p:nvPr/>
          </p:nvCxnSpPr>
          <p:spPr>
            <a:xfrm>
              <a:off x="661947" y="4057812"/>
              <a:ext cx="7867650" cy="0"/>
            </a:xfrm>
            <a:prstGeom prst="line">
              <a:avLst/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76CAB32-D807-4773-9CEB-E359DDDC8FAA}"/>
                </a:ext>
              </a:extLst>
            </p:cNvPr>
            <p:cNvCxnSpPr/>
            <p:nvPr/>
          </p:nvCxnSpPr>
          <p:spPr>
            <a:xfrm>
              <a:off x="661947" y="4454714"/>
              <a:ext cx="7867650" cy="0"/>
            </a:xfrm>
            <a:prstGeom prst="line">
              <a:avLst/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E29CEB6-C397-4590-BCEC-C5E661430FC9}"/>
                </a:ext>
              </a:extLst>
            </p:cNvPr>
            <p:cNvCxnSpPr/>
            <p:nvPr/>
          </p:nvCxnSpPr>
          <p:spPr>
            <a:xfrm>
              <a:off x="661947" y="4851616"/>
              <a:ext cx="7867650" cy="0"/>
            </a:xfrm>
            <a:prstGeom prst="line">
              <a:avLst/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79950E4-4501-4708-8691-EC86A7C66AA4}"/>
                </a:ext>
              </a:extLst>
            </p:cNvPr>
            <p:cNvCxnSpPr/>
            <p:nvPr/>
          </p:nvCxnSpPr>
          <p:spPr>
            <a:xfrm>
              <a:off x="661947" y="5248518"/>
              <a:ext cx="7867650" cy="0"/>
            </a:xfrm>
            <a:prstGeom prst="line">
              <a:avLst/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A1012CA-18DF-478F-89AB-090AEB0A9A09}"/>
                </a:ext>
              </a:extLst>
            </p:cNvPr>
            <p:cNvCxnSpPr/>
            <p:nvPr/>
          </p:nvCxnSpPr>
          <p:spPr>
            <a:xfrm>
              <a:off x="661947" y="5645420"/>
              <a:ext cx="7867650" cy="0"/>
            </a:xfrm>
            <a:prstGeom prst="line">
              <a:avLst/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55237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1FE2D9-E213-430E-B536-28388A93C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F79D8-BE20-49AF-B407-245E9A81C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0EE5A3-90DB-4B43-A6F1-0EE797957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26AB89-33A8-4806-B727-B8D8FB43E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22" y="0"/>
            <a:ext cx="90225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2411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9A5128-0640-417E-8813-115B84752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D4C7F4-0FE0-4110-879B-D55C4BA62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A33EF-4B10-4976-9CEB-17454FD3D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77C3B3-6AEE-4F5F-B872-E28963910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29" y="0"/>
            <a:ext cx="87799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8566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36A3409-5485-4A36-B9EE-0BAC08DEE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Optical Proximity Correction (OPC)</a:t>
            </a:r>
            <a:endParaRPr lang="ca-E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ACA87-2442-4DC2-9E37-867064803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6AD12-FA9D-417F-A5D0-29AAC20AC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97978-88FC-4B99-B429-16F2F5228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51C466-89C8-4DCC-9830-FDCB1F17B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5433"/>
            <a:ext cx="9144000" cy="470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1378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9540AB-850D-4BF7-A176-8128E0ADB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14D15A-ADAF-473E-B264-EFDEC751A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E11B7A-C428-4ED8-AA3A-E4D707427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6E0EBB-166C-4639-9B63-06D4BBE39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2" y="1447800"/>
            <a:ext cx="5368222" cy="40306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1B81DB-15CD-449C-921C-CB69E8DB6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551" y="381000"/>
            <a:ext cx="3194049" cy="23955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31DC20-C2C2-44E6-9656-4AEFF566EB9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1620"/>
          <a:stretch/>
        </p:blipFill>
        <p:spPr>
          <a:xfrm>
            <a:off x="6477000" y="3155950"/>
            <a:ext cx="2133600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839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Introduction: CMOS </a:t>
            </a:r>
            <a:r>
              <a:rPr lang="en-GB" dirty="0"/>
              <a:t>videos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>
                <a:hlinkClick r:id="rId2"/>
              </a:rPr>
              <a:t>How the transistor works</a:t>
            </a:r>
            <a:r>
              <a:rPr lang="en-US" dirty="0"/>
              <a:t>*</a:t>
            </a:r>
          </a:p>
          <a:p>
            <a:endParaRPr lang="en-US" dirty="0"/>
          </a:p>
          <a:p>
            <a:r>
              <a:rPr lang="en-US" dirty="0">
                <a:hlinkClick r:id="rId3"/>
              </a:rPr>
              <a:t>CMOS transistor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hlinkClick r:id="rId4"/>
              </a:rPr>
              <a:t>Photolithography</a:t>
            </a:r>
            <a:r>
              <a:rPr lang="en-US" dirty="0"/>
              <a:t>*</a:t>
            </a:r>
          </a:p>
          <a:p>
            <a:endParaRPr lang="en-US" dirty="0"/>
          </a:p>
          <a:p>
            <a:r>
              <a:rPr lang="en-US" dirty="0">
                <a:hlinkClick r:id="rId5"/>
              </a:rPr>
              <a:t>How Billions Of Microchips Are Made Inside The World’s Most </a:t>
            </a:r>
            <a:r>
              <a:rPr lang="en-US">
                <a:hlinkClick r:id="rId5"/>
              </a:rPr>
              <a:t>Advanced Factory</a:t>
            </a:r>
            <a:r>
              <a:rPr lang="en-US"/>
              <a:t>*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6"/>
              </a:rPr>
              <a:t>How Are Microchips Made?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7"/>
              </a:rPr>
              <a:t>VLSI fabrication process (Global Foundries)</a:t>
            </a:r>
            <a:endParaRPr lang="en-US" dirty="0"/>
          </a:p>
          <a:p>
            <a:endParaRPr lang="en-US" dirty="0"/>
          </a:p>
          <a:p>
            <a:r>
              <a:rPr lang="en-GB" dirty="0">
                <a:hlinkClick r:id="rId8"/>
              </a:rPr>
              <a:t>Semiconductor Manufacturing Process (Samsung)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US" dirty="0">
                <a:hlinkClick r:id="rId9"/>
              </a:rPr>
              <a:t>Fabrication of Integrated Circuits (Intel)</a:t>
            </a:r>
            <a:endParaRPr lang="en-US" dirty="0"/>
          </a:p>
          <a:p>
            <a:pPr marL="0" indent="0">
              <a:buNone/>
            </a:pPr>
            <a:endParaRPr lang="en-GB" dirty="0"/>
          </a:p>
          <a:p>
            <a:r>
              <a:rPr lang="en-US" dirty="0">
                <a:hlinkClick r:id="rId10"/>
              </a:rPr>
              <a:t>Intel: The Making of a Chip with 22nm/3D Transistors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1BED36-2C12-447E-85A9-1FB94D004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CDBAC-D55B-4B1E-9E87-97F48E7D7DEB}" type="slidenum">
              <a:rPr lang="en-US" smtClean="0"/>
              <a:t>45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684812-11E2-ECAD-C2FD-8563F6DBC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AVLSI introduction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8B55A-3640-C7F5-7E4F-5827DDFDA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Dept. CS, UPC</a:t>
            </a:r>
          </a:p>
        </p:txBody>
      </p:sp>
    </p:spTree>
    <p:extLst>
      <p:ext uri="{BB962C8B-B14F-4D97-AF65-F5344CB8AC3E}">
        <p14:creationId xmlns:p14="http://schemas.microsoft.com/office/powerpoint/2010/main" val="4073226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2385</TotalTime>
  <Words>833</Words>
  <Application>Microsoft Macintosh PowerPoint</Application>
  <PresentationFormat>On-screen Show (4:3)</PresentationFormat>
  <Paragraphs>305</Paragraphs>
  <Slides>45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Calibri</vt:lpstr>
      <vt:lpstr>Cambria Math</vt:lpstr>
      <vt:lpstr>Courier New</vt:lpstr>
      <vt:lpstr>Wingdings</vt:lpstr>
      <vt:lpstr>Office Theme</vt:lpstr>
      <vt:lpstr>Introduction</vt:lpstr>
      <vt:lpstr>Objectives</vt:lpstr>
      <vt:lpstr>Organization</vt:lpstr>
      <vt:lpstr>Projects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Outline</vt:lpstr>
      <vt:lpstr>Crystalline silicon</vt:lpstr>
      <vt:lpstr>Silicon and Phosphorus: similar size</vt:lpstr>
      <vt:lpstr>Doped silicon: Phosphorus and Boron</vt:lpstr>
      <vt:lpstr>Doped silicon</vt:lpstr>
      <vt:lpstr>n-type transistor</vt:lpstr>
      <vt:lpstr>PowerPoint Presentation</vt:lpstr>
      <vt:lpstr>PowerPoint Presentation</vt:lpstr>
      <vt:lpstr>Transistor as a switch</vt:lpstr>
      <vt:lpstr>PowerPoint Presentation</vt:lpstr>
      <vt:lpstr>The inverter (NOT)</vt:lpstr>
      <vt:lpstr>PowerPoint Presentation</vt:lpstr>
      <vt:lpstr>PowerPoint Presentation</vt:lpstr>
      <vt:lpstr>CMOS logic</vt:lpstr>
      <vt:lpstr>PowerPoint Presentation</vt:lpstr>
      <vt:lpstr>PowerPoint Presentation</vt:lpstr>
      <vt:lpstr>Adder</vt:lpstr>
      <vt:lpstr>Adder</vt:lpstr>
      <vt:lpstr>n-bit adder</vt:lpstr>
      <vt:lpstr>Layout of a 1-bit adder</vt:lpstr>
      <vt:lpstr>The inverter: layout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Gridded layout</vt:lpstr>
      <vt:lpstr>After routing</vt:lpstr>
      <vt:lpstr>Gridded layout</vt:lpstr>
      <vt:lpstr>PowerPoint Presentation</vt:lpstr>
      <vt:lpstr>PowerPoint Presentation</vt:lpstr>
      <vt:lpstr>Optical Proximity Correction (OPC)</vt:lpstr>
      <vt:lpstr>PowerPoint Presentation</vt:lpstr>
      <vt:lpstr>Introduction: CMOS videos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Jordi</dc:creator>
  <cp:lastModifiedBy>Jordi Cortadella</cp:lastModifiedBy>
  <cp:revision>1412</cp:revision>
  <dcterms:created xsi:type="dcterms:W3CDTF">2018-02-06T17:20:32Z</dcterms:created>
  <dcterms:modified xsi:type="dcterms:W3CDTF">2026-09-07T08:44:37Z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1033-10.1.0.5672</vt:lpwstr>
  </property>
</Properties>
</file>